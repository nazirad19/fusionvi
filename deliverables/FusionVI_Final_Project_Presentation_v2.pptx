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e1651883c74465e" /><Relationship Type="http://schemas.openxmlformats.org/officeDocument/2006/relationships/extended-properties" Target="/docProps/app.xml" Id="R39bcebcd1c184d3a" /><Relationship Type="http://schemas.openxmlformats.org/officeDocument/2006/relationships/officeDocument" Target="/ppt/presentation.xml" Id="R4c3a84dcb6b446dd" /></Relationships>
</file>

<file path=ppt/presentation.xml><?xml version="1.0" encoding="utf-8"?>
<p:presentation xmlns:p="http://schemas.openxmlformats.org/presentationml/2006/main">
  <p:sldMasterIdLst>
    <p:sldMasterId xmlns:r="http://schemas.openxmlformats.org/officeDocument/2006/relationships" id="2147483648" r:id="R6285024d537a40da"/>
  </p:sldMasterIdLst>
  <p:notesMasterIdLst>
    <p:notesMasterId xmlns:r="http://schemas.openxmlformats.org/officeDocument/2006/relationships" r:id="R4ac17e01b91e43c3"/>
  </p:notesMasterIdLst>
  <p:sldIdLst>
    <p:sldId xmlns:r="http://schemas.openxmlformats.org/officeDocument/2006/relationships" id="256" r:id="R2aa8b4ed23414d92"/>
    <p:sldId xmlns:r="http://schemas.openxmlformats.org/officeDocument/2006/relationships" id="257" r:id="R70e4f421ee8e4c01"/>
    <p:sldId xmlns:r="http://schemas.openxmlformats.org/officeDocument/2006/relationships" id="258" r:id="R4f72e48db82d4ccc"/>
    <p:sldId xmlns:r="http://schemas.openxmlformats.org/officeDocument/2006/relationships" id="259" r:id="R1a21659c114648a7"/>
    <p:sldId xmlns:r="http://schemas.openxmlformats.org/officeDocument/2006/relationships" id="260" r:id="R462b7c313ac34836"/>
    <p:sldId xmlns:r="http://schemas.openxmlformats.org/officeDocument/2006/relationships" id="261" r:id="Rc7dcf328b3364b2a"/>
    <p:sldId xmlns:r="http://schemas.openxmlformats.org/officeDocument/2006/relationships" id="262" r:id="R1b0ab9238fb3483f"/>
    <p:sldId xmlns:r="http://schemas.openxmlformats.org/officeDocument/2006/relationships" id="263" r:id="R402ff2f3fcda458c"/>
    <p:sldId xmlns:r="http://schemas.openxmlformats.org/officeDocument/2006/relationships" id="264" r:id="Rc010f08b3dfa46f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0e66f52d59643b1" /><Relationship Type="http://schemas.openxmlformats.org/officeDocument/2006/relationships/slideMaster" Target="/ppt/slideMasters/slideMaster1.xml" Id="R6285024d537a40da" /><Relationship Type="http://schemas.openxmlformats.org/officeDocument/2006/relationships/notesMaster" Target="/ppt/notesMasters/notesMaster1.xml" Id="R4ac17e01b91e43c3" /><Relationship Type="http://schemas.openxmlformats.org/officeDocument/2006/relationships/presProps" Target="/ppt/presProps.xml" Id="R45d5250be01540a5" /><Relationship Type="http://schemas.openxmlformats.org/officeDocument/2006/relationships/tableStyles" Target="/ppt/tableStyles.xml" Id="Ra62477afd9b142b2" /><Relationship Type="http://schemas.openxmlformats.org/officeDocument/2006/relationships/slide" Target="/ppt/slides/slide1.xml" Id="R2aa8b4ed23414d92" /><Relationship Type="http://schemas.openxmlformats.org/officeDocument/2006/relationships/slide" Target="/ppt/slides/slide2.xml" Id="R70e4f421ee8e4c01" /><Relationship Type="http://schemas.openxmlformats.org/officeDocument/2006/relationships/slide" Target="/ppt/slides/slide3.xml" Id="R4f72e48db82d4ccc" /><Relationship Type="http://schemas.openxmlformats.org/officeDocument/2006/relationships/slide" Target="/ppt/slides/slide4.xml" Id="R1a21659c114648a7" /><Relationship Type="http://schemas.openxmlformats.org/officeDocument/2006/relationships/slide" Target="/ppt/slides/slide5.xml" Id="R462b7c313ac34836" /><Relationship Type="http://schemas.openxmlformats.org/officeDocument/2006/relationships/slide" Target="/ppt/slides/slide6.xml" Id="Rc7dcf328b3364b2a" /><Relationship Type="http://schemas.openxmlformats.org/officeDocument/2006/relationships/slide" Target="/ppt/slides/slide7.xml" Id="R1b0ab9238fb3483f" /><Relationship Type="http://schemas.openxmlformats.org/officeDocument/2006/relationships/slide" Target="/ppt/slides/slide8.xml" Id="R402ff2f3fcda458c" /><Relationship Type="http://schemas.openxmlformats.org/officeDocument/2006/relationships/slide" Target="/ppt/slides/slide9.xml" Id="Rc010f08b3dfa46f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88b8cdc1fc484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37552e21ccf4827" /><Relationship Type="http://schemas.openxmlformats.org/officeDocument/2006/relationships/notesMaster" Target="/ppt/notesMasters/notesMaster1.xml" Id="R35005a93aff44b3e" /></Relationships>
</file>

<file path=ppt/notesSlides/_rels/notesSlide2.xml.rels>&#65279;<?xml version="1.0" encoding="utf-8"?><Relationships xmlns="http://schemas.openxmlformats.org/package/2006/relationships"><Relationship Type="http://schemas.openxmlformats.org/officeDocument/2006/relationships/slide" Target="/ppt/slides/slide2.xml" Id="Rf91f63dd990942e9" /><Relationship Type="http://schemas.openxmlformats.org/officeDocument/2006/relationships/notesMaster" Target="/ppt/notesMasters/notesMaster1.xml" Id="Rd598ebdfa91c482b" /></Relationships>
</file>

<file path=ppt/notesSlides/_rels/notesSlide3.xml.rels>&#65279;<?xml version="1.0" encoding="utf-8"?><Relationships xmlns="http://schemas.openxmlformats.org/package/2006/relationships"><Relationship Type="http://schemas.openxmlformats.org/officeDocument/2006/relationships/slide" Target="/ppt/slides/slide3.xml" Id="R10fcb2d30fc44a22" /><Relationship Type="http://schemas.openxmlformats.org/officeDocument/2006/relationships/notesMaster" Target="/ppt/notesMasters/notesMaster1.xml" Id="Rd8a8a8b2be114024" /></Relationships>
</file>

<file path=ppt/notesSlides/_rels/notesSlide4.xml.rels>&#65279;<?xml version="1.0" encoding="utf-8"?><Relationships xmlns="http://schemas.openxmlformats.org/package/2006/relationships"><Relationship Type="http://schemas.openxmlformats.org/officeDocument/2006/relationships/slide" Target="/ppt/slides/slide4.xml" Id="Rf6587dba0587444d" /><Relationship Type="http://schemas.openxmlformats.org/officeDocument/2006/relationships/notesMaster" Target="/ppt/notesMasters/notesMaster1.xml" Id="R5a9791d032dc4ea7" /></Relationships>
</file>

<file path=ppt/notesSlides/_rels/notesSlide5.xml.rels>&#65279;<?xml version="1.0" encoding="utf-8"?><Relationships xmlns="http://schemas.openxmlformats.org/package/2006/relationships"><Relationship Type="http://schemas.openxmlformats.org/officeDocument/2006/relationships/slide" Target="/ppt/slides/slide5.xml" Id="Rf4eab5e9eb57408e" /><Relationship Type="http://schemas.openxmlformats.org/officeDocument/2006/relationships/notesMaster" Target="/ppt/notesMasters/notesMaster1.xml" Id="R0323d0dcda5a4a06"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56172c97f846a7" /><Relationship Type="http://schemas.openxmlformats.org/officeDocument/2006/relationships/notesMaster" Target="/ppt/notesMasters/notesMaster1.xml" Id="R9ae13a8fe08746f7" /></Relationships>
</file>

<file path=ppt/notesSlides/_rels/notesSlide7.xml.rels>&#65279;<?xml version="1.0" encoding="utf-8"?><Relationships xmlns="http://schemas.openxmlformats.org/package/2006/relationships"><Relationship Type="http://schemas.openxmlformats.org/officeDocument/2006/relationships/slide" Target="/ppt/slides/slide7.xml" Id="Rc3952cfc948f411f" /><Relationship Type="http://schemas.openxmlformats.org/officeDocument/2006/relationships/notesMaster" Target="/ppt/notesMasters/notesMaster1.xml" Id="R92d5e466e4324fd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c2666b161cf48a2" /><Relationship Type="http://schemas.openxmlformats.org/officeDocument/2006/relationships/notesMaster" Target="/ppt/notesMasters/notesMaster1.xml" Id="R83b630844f9d47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6ad9d548aee344c7" /><Relationship Type="http://schemas.openxmlformats.org/officeDocument/2006/relationships/notesMaster" Target="/ppt/notesMasters/notesMaster1.xml" Id="Re1c9c1edb59445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question: Can a model recognize an activation surface phenotype when RNA points in a different direction? This project changes only the totalVI inference network and evaluates new donors. Presentation timing: about 35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Lawlor et al. showed that CITE-seq can capture transcript and surface-protein activation responses after LPS or anti-CD3/CD28 stimulation. totalVI assumes a shared latent cell state while retaining modality-specific likelihoods. Sources: https://www.frontiersin.org/journals/immunology/articles/10.3389/fimmu.2021.636720/full ; https://pmc.ncbi.nlm.nih.gov/articles/PMC7954949/ . Timing: 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original study profiled 10 donors at baseline and after 24 hours of LPS or anti-CD3/CD28. It used 39 antibodies and recovered 16,382 cells after filtering. The project uses a strict leave-one-donor-out design and sequencing lane as the batch covariate. Source: Lawlor et al., Frontiers in Immunology 2021, DOI 10.3389/fimmu.2021.636720. Timing: 50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totalVI maps joint RNA and protein counts to a latent state and decodes both modalities with modality-specific likelihoods. FusionVI replaces only the encoder: equal-width RNA and protein branches feed a learned scalar sigmoid gate for each cell. The original totalVI decoder and ELBO remain. FusionVI has fewer parameters, so capacity is reported as a limitation. Source: Gayoso et al., Nature Methods 2021, DOI 10.1038/s41592-020-01050-x. Timing: 65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evaluation addresses circularity. The three activation proteins are hidden from encoder inputs. Performance is computed independently in each held-out donor. The harder subset contains cells where transcript and protein ranks strongly disagree. Cells are never treated as biological replicates. Timing: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direct T-cell and monocyte contrasts are perfect for both models. NK and B responses are also close to perfect. Even RNA PCA performs at ceiling. This endpoint confirms that the models learned biology, but it cannot discriminate FusionVI from totalVI. Results generated by this project. Timing: 45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CD25 reconstruction is unchanged. CD69 rises by 0.0045 and HLA-DR by 0.017, but neither is significant after correction. In RNA-protein discordant cells, FusionVI improves CD25 and HLA-DR modestly and worsens CD69. HLA-DR is highly variable across donors. Timing: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gate did not collapse. It used more protein under anti-CD3/CD28 and strongly increased protein weight in cells with CD69 RNA-protein disagreement. Yet CD69 reconstruction on those cells did not improve. The architecture recognizes context, but the unsupervised ELBO does not force the gate to use that context for the biomarker endpoint. Timing: 55 seconds.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conclusion should be stated directly: the gate is biologically responsive, but that responsiveness does not improve the targeted recovery task. This is acceptable under the course criteria because the project is rigorous, reproducible and interpretable. The next method should constrain the gate using a cross-modal objective and use a dataset with more doses and timepoints. Timing: 45 seconds, leaving about three minutes for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03178570f434b5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a7b71516b204971" /><Relationship Type="http://schemas.openxmlformats.org/officeDocument/2006/relationships/slideLayout" Target="/ppt/slideLayouts/slideLayout1.xml" Id="R1a8e33a8b16a4e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a8e33a8b16a4e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3c9fe943221149be" /><Relationship Type="http://schemas.openxmlformats.org/officeDocument/2006/relationships/notesSlide" Target="/ppt/notesSlides/notesSlide1.xml" Id="Rdc4c46fb88ac46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2842dc951849a7" /><Relationship Type="http://schemas.openxmlformats.org/officeDocument/2006/relationships/notesSlide" Target="/ppt/notesSlides/notesSlide2.xml" Id="R0667d8231a854e5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d026ae32e794b0b" /><Relationship Type="http://schemas.openxmlformats.org/officeDocument/2006/relationships/notesSlide" Target="/ppt/notesSlides/notesSlide3.xml" Id="Ra8030c38bf34447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20912a26f7d4022" /><Relationship Type="http://schemas.openxmlformats.org/officeDocument/2006/relationships/notesSlide" Target="/ppt/notesSlides/notesSlide4.xml" Id="R96b3d627b3d744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6e32213cd5847b5" /><Relationship Type="http://schemas.openxmlformats.org/officeDocument/2006/relationships/notesSlide" Target="/ppt/notesSlides/notesSlide5.xml" Id="R9285c5d9a833406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d92f8e016044bf9" /><Relationship Type="http://schemas.openxmlformats.org/officeDocument/2006/relationships/image" Target="/ppt/media/image.png" Id="R0f223273a1b64ebb" /><Relationship Type="http://schemas.openxmlformats.org/officeDocument/2006/relationships/notesSlide" Target="/ppt/notesSlides/notesSlide6.xml" Id="Rb705d139ca7a48a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0f2f0c814124654" /><Relationship Type="http://schemas.openxmlformats.org/officeDocument/2006/relationships/image" Target="/ppt/media/image2.png" Id="R0f132edd9e034a57" /><Relationship Type="http://schemas.openxmlformats.org/officeDocument/2006/relationships/notesSlide" Target="/ppt/notesSlides/notesSlide7.xml" Id="R4f52730e3a7f4f3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5cd5661fcfa4191" /><Relationship Type="http://schemas.openxmlformats.org/officeDocument/2006/relationships/image" Target="/ppt/media/image3.png" Id="R9f2b0c17206b4a53" /><Relationship Type="http://schemas.openxmlformats.org/officeDocument/2006/relationships/notesSlide" Target="/ppt/notesSlides/notesSlide8.xml" Id="Rfcfc2b8dd4914af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94febdfe9ce43dc" /><Relationship Type="http://schemas.openxmlformats.org/officeDocument/2006/relationships/notesSlide" Target="/ppt/notesSlides/notesSlide9.xml" Id="Rbf3e0504f64e440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B1BF5D7-31CE-4B79-B24F-18A9897AC9F3}"/>
              </a:ext>
            </a:extLst>
          </p:cNvPr>
          <p:cNvSpPr>
            <a:spLocks xmlns:a="http://schemas.openxmlformats.org/drawingml/2006/main" noGrp="1"/>
          </p:cNvSpPr>
          <p:nvPr/>
        </p:nvSpPr>
        <p:spPr>
          <a:xfrm xmlns:a="http://schemas.openxmlformats.org/drawingml/2006/main">
            <a:off x="0" y="0"/>
            <a:ext cx="285750" cy="6858000"/>
          </a:xfrm>
          <a:prstGeom xmlns:a="http://schemas.openxmlformats.org/drawingml/2006/main" prst="rect">
            <a:avLst/>
          </a:prstGeom>
          <a:solidFill xmlns:a="http://schemas.openxmlformats.org/drawingml/2006/main">
            <a:srgbClr val="0D8A9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C4CE277-5A24-4FEA-AE0D-287AE99DD5DA}"/>
              </a:ext>
            </a:extLst>
          </p:cNvPr>
          <p:cNvSpPr>
            <a:spLocks xmlns:a="http://schemas.openxmlformats.org/drawingml/2006/main" noGrp="1"/>
          </p:cNvSpPr>
          <p:nvPr/>
        </p:nvSpPr>
        <p:spPr>
          <a:xfrm xmlns:a="http://schemas.openxmlformats.org/drawingml/2006/main">
            <a:off x="8858250" y="0"/>
            <a:ext cx="3333750" cy="6858000"/>
          </a:xfrm>
          <a:prstGeom xmlns:a="http://schemas.openxmlformats.org/drawingml/2006/main" prst="rect">
            <a:avLst/>
          </a:prstGeom>
          <a:solidFill xmlns:a="http://schemas.openxmlformats.org/drawingml/2006/main">
            <a:srgbClr val="DDF3F2"/>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FFA81ACA-2786-4981-931F-E3C860600356}"/>
              </a:ext>
            </a:extLst>
          </p:cNvPr>
          <p:cNvSpPr>
            <a:spLocks xmlns:a="http://schemas.openxmlformats.org/drawingml/2006/main" noGrp="1"/>
          </p:cNvSpPr>
          <p:nvPr/>
        </p:nvSpPr>
        <p:spPr>
          <a:xfrm xmlns:a="http://schemas.openxmlformats.org/drawingml/2006/main">
            <a:off x="685800" y="533400"/>
            <a:ext cx="5715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275" b="1">
                <a:solidFill>
                  <a:srgbClr val="0D8A9A"/>
                </a:solidFill>
                <a:latin typeface="Arial"/>
                <a:ea typeface="Arial"/>
                <a:cs typeface="Arial"/>
              </a:defRPr>
            </a:pPr>
            <a:r>
              <a:rPr sz="1275" b="1">
                <a:solidFill>
                  <a:srgbClr val="0D8A9A"/>
                </a:solidFill>
                <a:latin typeface="Arial"/>
                <a:ea typeface="Arial"/>
                <a:cs typeface="Arial"/>
              </a:rPr>
              <a:t>FUSIONVI</a:t>
            </a:r>
          </a:p>
        </p:txBody>
      </p:sp>
      <p:sp>
        <p:nvSpPr>
          <p:cNvPr id="4" name="">
            <a:extLst xmlns:a="http://schemas.openxmlformats.org/drawingml/2006/main">
              <a:ext uri="{FF2B5EF4-FFF2-40B4-BE49-F238E27FC236}">
                <a16:creationId xmlns:a16="http://schemas.microsoft.com/office/drawing/2014/main" id="{4715F157-AD79-4D7A-B9F2-0D929D393195}"/>
              </a:ext>
            </a:extLst>
          </p:cNvPr>
          <p:cNvSpPr>
            <a:spLocks xmlns:a="http://schemas.openxmlformats.org/drawingml/2006/main" noGrp="1"/>
          </p:cNvSpPr>
          <p:nvPr/>
        </p:nvSpPr>
        <p:spPr>
          <a:xfrm xmlns:a="http://schemas.openxmlformats.org/drawingml/2006/main">
            <a:off x="685800" y="1276350"/>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983"/>
          </a:bodyPr>
          <a:lstStyle xmlns:a="http://schemas.openxmlformats.org/drawingml/2006/main"/>
          <a:p xmlns:a="http://schemas.openxmlformats.org/drawingml/2006/main">
            <a:pPr algn="l">
              <a:lnSpc>
                <a:spcPct val="104000"/>
              </a:lnSpc>
              <a:buNone/>
              <a:defRPr sz="4350" b="1">
                <a:solidFill>
                  <a:srgbClr val="17223B"/>
                </a:solidFill>
                <a:latin typeface="Arial"/>
                <a:ea typeface="Arial"/>
                <a:cs typeface="Arial"/>
              </a:defRPr>
            </a:pPr>
            <a:r>
              <a:rPr sz="4350" b="1">
                <a:solidFill>
                  <a:srgbClr val="17223B"/>
                </a:solidFill>
                <a:latin typeface="Arial"/>
                <a:ea typeface="Arial"/>
                <a:cs typeface="Arial"/>
              </a:rPr>
              <a:t>When RNA and protein</a:t>
            </a:r>
          </a:p>
          <a:p xmlns:a="http://schemas.openxmlformats.org/drawingml/2006/main">
            <a:pPr algn="l">
              <a:lnSpc>
                <a:spcPct val="104000"/>
              </a:lnSpc>
              <a:buNone/>
              <a:defRPr sz="4350" b="1">
                <a:solidFill>
                  <a:srgbClr val="17223B"/>
                </a:solidFill>
                <a:latin typeface="Arial"/>
                <a:ea typeface="Arial"/>
                <a:cs typeface="Arial"/>
              </a:defRPr>
            </a:pPr>
            <a:r>
              <a:rPr sz="4350" b="1">
                <a:solidFill>
                  <a:srgbClr val="17223B"/>
                </a:solidFill>
                <a:latin typeface="Arial"/>
                <a:ea typeface="Arial"/>
                <a:cs typeface="Arial"/>
              </a:rPr>
              <a:t>disagree</a:t>
            </a:r>
          </a:p>
        </p:txBody>
      </p:sp>
      <p:sp>
        <p:nvSpPr>
          <p:cNvPr id="5" name="">
            <a:extLst xmlns:a="http://schemas.openxmlformats.org/drawingml/2006/main">
              <a:ext uri="{FF2B5EF4-FFF2-40B4-BE49-F238E27FC236}">
                <a16:creationId xmlns:a16="http://schemas.microsoft.com/office/drawing/2014/main" id="{2106FF98-EF62-4512-ACB1-AF074E0C4A7C}"/>
              </a:ext>
            </a:extLst>
          </p:cNvPr>
          <p:cNvSpPr>
            <a:spLocks xmlns:a="http://schemas.openxmlformats.org/drawingml/2006/main" noGrp="1"/>
          </p:cNvSpPr>
          <p:nvPr/>
        </p:nvSpPr>
        <p:spPr>
          <a:xfrm xmlns:a="http://schemas.openxmlformats.org/drawingml/2006/main">
            <a:off x="723900" y="2952750"/>
            <a:ext cx="72390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875" b="0">
                <a:solidFill>
                  <a:srgbClr val="223A69"/>
                </a:solidFill>
                <a:latin typeface="Arial"/>
                <a:ea typeface="Arial"/>
                <a:cs typeface="Arial"/>
              </a:defRPr>
            </a:pPr>
            <a:r>
              <a:rPr sz="1875" b="0">
                <a:solidFill>
                  <a:srgbClr val="223A69"/>
                </a:solidFill>
                <a:latin typeface="Arial"/>
                <a:ea typeface="Arial"/>
                <a:cs typeface="Arial"/>
              </a:rPr>
              <a:t>A gated totalVI encoder for donor-generalized pharmacodynamic response profiling</a:t>
            </a:r>
          </a:p>
        </p:txBody>
      </p:sp>
      <p:sp>
        <p:nvSpPr>
          <p:cNvPr id="6" name="">
            <a:extLst xmlns:a="http://schemas.openxmlformats.org/drawingml/2006/main">
              <a:ext uri="{FF2B5EF4-FFF2-40B4-BE49-F238E27FC236}">
                <a16:creationId xmlns:a16="http://schemas.microsoft.com/office/drawing/2014/main" id="{4D9AA2EA-A3C5-49A2-B783-80F635920915}"/>
              </a:ext>
            </a:extLst>
          </p:cNvPr>
          <p:cNvSpPr>
            <a:spLocks xmlns:a="http://schemas.openxmlformats.org/drawingml/2006/main" noGrp="1"/>
          </p:cNvSpPr>
          <p:nvPr/>
        </p:nvSpPr>
        <p:spPr>
          <a:xfrm xmlns:a="http://schemas.openxmlformats.org/drawingml/2006/main">
            <a:off x="723900" y="4210050"/>
            <a:ext cx="1390650" cy="361950"/>
          </a:xfrm>
          <a:prstGeom xmlns:a="http://schemas.openxmlformats.org/drawingml/2006/main" prst="roundRect">
            <a:avLst>
              <a:gd name="adj" fmla="val 42105"/>
            </a:avLst>
          </a:prstGeom>
          <a:solidFill xmlns:a="http://schemas.openxmlformats.org/drawingml/2006/main">
            <a:srgbClr val="FFE7E5"/>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74D2973-BBF1-4B5C-B558-2F1A27BCE80A}"/>
              </a:ext>
            </a:extLst>
          </p:cNvPr>
          <p:cNvSpPr>
            <a:spLocks xmlns:a="http://schemas.openxmlformats.org/drawingml/2006/main" noGrp="1"/>
          </p:cNvSpPr>
          <p:nvPr/>
        </p:nvSpPr>
        <p:spPr>
          <a:xfrm xmlns:a="http://schemas.openxmlformats.org/drawingml/2006/main">
            <a:off x="800100" y="4257675"/>
            <a:ext cx="1238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F15B64"/>
                </a:solidFill>
                <a:latin typeface="Arial"/>
                <a:ea typeface="Arial"/>
                <a:cs typeface="Arial"/>
              </a:defRPr>
            </a:pPr>
            <a:r>
              <a:rPr sz="1200" b="1">
                <a:solidFill>
                  <a:srgbClr val="F15B64"/>
                </a:solidFill>
                <a:latin typeface="Arial"/>
                <a:ea typeface="Arial"/>
                <a:cs typeface="Arial"/>
              </a:rPr>
              <a:t>10 donors</a:t>
            </a:r>
          </a:p>
        </p:txBody>
      </p:sp>
      <p:sp>
        <p:nvSpPr>
          <p:cNvPr id="8" name="">
            <a:extLst xmlns:a="http://schemas.openxmlformats.org/drawingml/2006/main">
              <a:ext uri="{FF2B5EF4-FFF2-40B4-BE49-F238E27FC236}">
                <a16:creationId xmlns:a16="http://schemas.microsoft.com/office/drawing/2014/main" id="{7D54711D-F023-46DF-B24E-A048E680C2D7}"/>
              </a:ext>
            </a:extLst>
          </p:cNvPr>
          <p:cNvSpPr>
            <a:spLocks xmlns:a="http://schemas.openxmlformats.org/drawingml/2006/main" noGrp="1"/>
          </p:cNvSpPr>
          <p:nvPr/>
        </p:nvSpPr>
        <p:spPr>
          <a:xfrm xmlns:a="http://schemas.openxmlformats.org/drawingml/2006/main">
            <a:off x="2247900" y="4210050"/>
            <a:ext cx="1657350" cy="361950"/>
          </a:xfrm>
          <a:prstGeom xmlns:a="http://schemas.openxmlformats.org/drawingml/2006/main" prst="roundRect">
            <a:avLst>
              <a:gd name="adj" fmla="val 42105"/>
            </a:avLst>
          </a:prstGeom>
          <a:solidFill xmlns:a="http://schemas.openxmlformats.org/drawingml/2006/main">
            <a:srgbClr val="DDF3F2"/>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83F38A76-238D-4DCF-B700-B399703953A3}"/>
              </a:ext>
            </a:extLst>
          </p:cNvPr>
          <p:cNvSpPr>
            <a:spLocks xmlns:a="http://schemas.openxmlformats.org/drawingml/2006/main" noGrp="1"/>
          </p:cNvSpPr>
          <p:nvPr/>
        </p:nvSpPr>
        <p:spPr>
          <a:xfrm xmlns:a="http://schemas.openxmlformats.org/drawingml/2006/main">
            <a:off x="2324100" y="4257675"/>
            <a:ext cx="15049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16,382 cells</a:t>
            </a:r>
          </a:p>
        </p:txBody>
      </p:sp>
      <p:sp>
        <p:nvSpPr>
          <p:cNvPr id="10" name="">
            <a:extLst xmlns:a="http://schemas.openxmlformats.org/drawingml/2006/main">
              <a:ext uri="{FF2B5EF4-FFF2-40B4-BE49-F238E27FC236}">
                <a16:creationId xmlns:a16="http://schemas.microsoft.com/office/drawing/2014/main" id="{0BDCC2BB-B572-4BDE-A30A-2592244FB888}"/>
              </a:ext>
            </a:extLst>
          </p:cNvPr>
          <p:cNvSpPr>
            <a:spLocks xmlns:a="http://schemas.openxmlformats.org/drawingml/2006/main" noGrp="1"/>
          </p:cNvSpPr>
          <p:nvPr/>
        </p:nvSpPr>
        <p:spPr>
          <a:xfrm xmlns:a="http://schemas.openxmlformats.org/drawingml/2006/main">
            <a:off x="4038600" y="4210050"/>
            <a:ext cx="2095500" cy="361950"/>
          </a:xfrm>
          <a:prstGeom xmlns:a="http://schemas.openxmlformats.org/drawingml/2006/main" prst="roundRect">
            <a:avLst>
              <a:gd name="adj" fmla="val 42105"/>
            </a:avLst>
          </a:prstGeom>
          <a:solidFill xmlns:a="http://schemas.openxmlformats.org/drawingml/2006/main">
            <a:srgbClr val="EEE7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2B6B892-948A-4A1F-931A-6E6CB26B6C19}"/>
              </a:ext>
            </a:extLst>
          </p:cNvPr>
          <p:cNvSpPr>
            <a:spLocks xmlns:a="http://schemas.openxmlformats.org/drawingml/2006/main" noGrp="1"/>
          </p:cNvSpPr>
          <p:nvPr/>
        </p:nvSpPr>
        <p:spPr>
          <a:xfrm xmlns:a="http://schemas.openxmlformats.org/drawingml/2006/main">
            <a:off x="4114800" y="4257675"/>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6C3ED9"/>
                </a:solidFill>
                <a:latin typeface="Arial"/>
                <a:ea typeface="Arial"/>
                <a:cs typeface="Arial"/>
              </a:defRPr>
            </a:pPr>
            <a:r>
              <a:rPr sz="1200" b="1">
                <a:solidFill>
                  <a:srgbClr val="6C3ED9"/>
                </a:solidFill>
                <a:latin typeface="Arial"/>
                <a:ea typeface="Arial"/>
                <a:cs typeface="Arial"/>
              </a:rPr>
              <a:t>RNA + 39 proteins</a:t>
            </a:r>
          </a:p>
        </p:txBody>
      </p:sp>
      <p:sp>
        <p:nvSpPr>
          <p:cNvPr id="12" name="">
            <a:extLst xmlns:a="http://schemas.openxmlformats.org/drawingml/2006/main">
              <a:ext uri="{FF2B5EF4-FFF2-40B4-BE49-F238E27FC236}">
                <a16:creationId xmlns:a16="http://schemas.microsoft.com/office/drawing/2014/main" id="{B358CF14-D81B-4166-BA95-431E4B290FDC}"/>
              </a:ext>
            </a:extLst>
          </p:cNvPr>
          <p:cNvSpPr>
            <a:spLocks xmlns:a="http://schemas.openxmlformats.org/drawingml/2006/main" noGrp="1"/>
          </p:cNvSpPr>
          <p:nvPr/>
        </p:nvSpPr>
        <p:spPr>
          <a:xfrm xmlns:a="http://schemas.openxmlformats.org/drawingml/2006/main">
            <a:off x="723900" y="5886450"/>
            <a:ext cx="5715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812"/>
          </a:bodyPr>
          <a:lstStyle xmlns:a="http://schemas.openxmlformats.org/drawingml/2006/main"/>
          <a:p xmlns:a="http://schemas.openxmlformats.org/drawingml/2006/main">
            <a:pPr algn="l">
              <a:lnSpc>
                <a:spcPct val="104000"/>
              </a:lnSpc>
              <a:buNone/>
              <a:defRPr sz="1350" b="1">
                <a:solidFill>
                  <a:srgbClr val="687086"/>
                </a:solidFill>
                <a:latin typeface="Arial"/>
                <a:ea typeface="Arial"/>
                <a:cs typeface="Arial"/>
              </a:defRPr>
            </a:pPr>
            <a:r>
              <a:rPr sz="1350" b="1">
                <a:solidFill>
                  <a:srgbClr val="687086"/>
                </a:solidFill>
                <a:latin typeface="Arial"/>
                <a:ea typeface="Arial"/>
                <a:cs typeface="Arial"/>
              </a:rPr>
              <a:t>Multimodal AI for therapeutic discovery</a:t>
            </a:r>
          </a:p>
        </p:txBody>
      </p:sp>
      <p:sp>
        <p:nvSpPr>
          <p:cNvPr id="13" name="">
            <a:extLst xmlns:a="http://schemas.openxmlformats.org/drawingml/2006/main">
              <a:ext uri="{FF2B5EF4-FFF2-40B4-BE49-F238E27FC236}">
                <a16:creationId xmlns:a16="http://schemas.microsoft.com/office/drawing/2014/main" id="{3A3EA46A-452F-4713-ACF1-A89BD4F1630A}"/>
              </a:ext>
            </a:extLst>
          </p:cNvPr>
          <p:cNvSpPr>
            <a:spLocks xmlns:a="http://schemas.openxmlformats.org/drawingml/2006/main" noGrp="1"/>
          </p:cNvSpPr>
          <p:nvPr/>
        </p:nvSpPr>
        <p:spPr>
          <a:xfrm xmlns:a="http://schemas.openxmlformats.org/drawingml/2006/main">
            <a:off x="9258300" y="5562600"/>
            <a:ext cx="2286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6721"/>
          </a:bodyPr>
          <a:lstStyle xmlns:a="http://schemas.openxmlformats.org/drawingml/2006/main"/>
          <a:p xmlns:a="http://schemas.openxmlformats.org/drawingml/2006/main">
            <a:pPr algn="ctr">
              <a:lnSpc>
                <a:spcPct val="104000"/>
              </a:lnSpc>
              <a:buNone/>
              <a:defRPr sz="1575" b="1">
                <a:solidFill>
                  <a:srgbClr val="223A69"/>
                </a:solidFill>
                <a:latin typeface="Arial"/>
                <a:ea typeface="Arial"/>
                <a:cs typeface="Arial"/>
              </a:defRPr>
            </a:pPr>
            <a:r>
              <a:rPr sz="1575" b="1">
                <a:solidFill>
                  <a:srgbClr val="223A69"/>
                </a:solidFill>
                <a:latin typeface="Arial"/>
                <a:ea typeface="Arial"/>
                <a:cs typeface="Arial"/>
              </a:rPr>
              <a:t>Negative results included</a:t>
            </a:r>
          </a:p>
        </p:txBody>
      </p:sp>
    </p:spTree>
    <p:extLst>
      <p:ext uri="{BB962C8B-B14F-4D97-AF65-F5344CB8AC3E}">
        <p14:creationId xmlns:p14="http://schemas.microsoft.com/office/powerpoint/2010/main" val="12174511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A81646FA-5841-4384-9FCE-D09C5C9B3B70}"/>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THERAPEUTIC DISCOVERY QUESTION</a:t>
            </a:r>
          </a:p>
        </p:txBody>
      </p:sp>
      <p:sp>
        <p:nvSpPr>
          <p:cNvPr id="2" name="">
            <a:extLst xmlns:a="http://schemas.openxmlformats.org/drawingml/2006/main">
              <a:ext uri="{FF2B5EF4-FFF2-40B4-BE49-F238E27FC236}">
                <a16:creationId xmlns:a16="http://schemas.microsoft.com/office/drawing/2014/main" id="{C85358FA-C5B5-49B9-BDC2-9FC9074A6437}"/>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The biological problem</a:t>
            </a:r>
          </a:p>
        </p:txBody>
      </p:sp>
      <p:sp>
        <p:nvSpPr>
          <p:cNvPr id="3" name="">
            <a:extLst xmlns:a="http://schemas.openxmlformats.org/drawingml/2006/main">
              <a:ext uri="{FF2B5EF4-FFF2-40B4-BE49-F238E27FC236}">
                <a16:creationId xmlns:a16="http://schemas.microsoft.com/office/drawing/2014/main" id="{F97B3A14-5E66-4770-9412-585DAAC9C2F9}"/>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878DEA3-E455-46F0-8710-1696BDE02D65}"/>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02</a:t>
            </a:r>
          </a:p>
        </p:txBody>
      </p:sp>
      <p:sp>
        <p:nvSpPr>
          <p:cNvPr id="5" name="">
            <a:extLst xmlns:a="http://schemas.openxmlformats.org/drawingml/2006/main">
              <a:ext uri="{FF2B5EF4-FFF2-40B4-BE49-F238E27FC236}">
                <a16:creationId xmlns:a16="http://schemas.microsoft.com/office/drawing/2014/main" id="{9828565B-81F5-49E2-82A1-DE0E6035BF64}"/>
              </a:ext>
            </a:extLst>
          </p:cNvPr>
          <p:cNvSpPr>
            <a:spLocks xmlns:a="http://schemas.openxmlformats.org/drawingml/2006/main" noGrp="1"/>
          </p:cNvSpPr>
          <p:nvPr/>
        </p:nvSpPr>
        <p:spPr>
          <a:xfrm xmlns:a="http://schemas.openxmlformats.org/drawingml/2006/main">
            <a:off x="685800" y="1524000"/>
            <a:ext cx="685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863"/>
          </a:bodyPr>
          <a:lstStyle xmlns:a="http://schemas.openxmlformats.org/drawingml/2006/main"/>
          <a:p xmlns:a="http://schemas.openxmlformats.org/drawingml/2006/main">
            <a:pPr algn="l">
              <a:lnSpc>
                <a:spcPct val="104000"/>
              </a:lnSpc>
              <a:buNone/>
              <a:defRPr sz="1950" b="1">
                <a:solidFill>
                  <a:srgbClr val="223A69"/>
                </a:solidFill>
                <a:latin typeface="Arial"/>
                <a:ea typeface="Arial"/>
                <a:cs typeface="Arial"/>
              </a:defRPr>
            </a:pPr>
            <a:r>
              <a:rPr sz="1950" b="1">
                <a:solidFill>
                  <a:srgbClr val="223A69"/>
                </a:solidFill>
                <a:latin typeface="Arial"/>
                <a:ea typeface="Arial"/>
                <a:cs typeface="Arial"/>
              </a:rPr>
              <a:t>A perturbation can move RNA and surface protein on different clocks</a:t>
            </a:r>
          </a:p>
        </p:txBody>
      </p:sp>
      <p:sp>
        <p:nvSpPr>
          <p:cNvPr id="6" name="">
            <a:extLst xmlns:a="http://schemas.openxmlformats.org/drawingml/2006/main">
              <a:ext uri="{FF2B5EF4-FFF2-40B4-BE49-F238E27FC236}">
                <a16:creationId xmlns:a16="http://schemas.microsoft.com/office/drawing/2014/main" id="{C5D4090A-8352-4C60-AB9E-14B6BD9EAAD6}"/>
              </a:ext>
            </a:extLst>
          </p:cNvPr>
          <p:cNvSpPr>
            <a:spLocks xmlns:a="http://schemas.openxmlformats.org/drawingml/2006/main" noGrp="1"/>
          </p:cNvSpPr>
          <p:nvPr/>
        </p:nvSpPr>
        <p:spPr>
          <a:xfrm xmlns:a="http://schemas.openxmlformats.org/drawingml/2006/main">
            <a:off x="781050" y="2381250"/>
            <a:ext cx="1809750" cy="1238250"/>
          </a:xfrm>
          <a:prstGeom xmlns:a="http://schemas.openxmlformats.org/drawingml/2006/main" prst="roundRect">
            <a:avLst>
              <a:gd name="adj" fmla="val 12308"/>
            </a:avLst>
          </a:prstGeom>
          <a:solidFill xmlns:a="http://schemas.openxmlformats.org/drawingml/2006/main">
            <a:srgbClr val="DDF3F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05BB8849-E825-4410-8E01-4B3AED2850D7}"/>
              </a:ext>
            </a:extLst>
          </p:cNvPr>
          <p:cNvSpPr>
            <a:spLocks xmlns:a="http://schemas.openxmlformats.org/drawingml/2006/main" noGrp="1"/>
          </p:cNvSpPr>
          <p:nvPr/>
        </p:nvSpPr>
        <p:spPr>
          <a:xfrm xmlns:a="http://schemas.openxmlformats.org/drawingml/2006/main">
            <a:off x="971550" y="2571750"/>
            <a:ext cx="142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644"/>
          </a:bodyPr>
          <a:lstStyle xmlns:a="http://schemas.openxmlformats.org/drawingml/2006/main"/>
          <a:p xmlns:a="http://schemas.openxmlformats.org/drawingml/2006/main">
            <a:pPr algn="ctr">
              <a:lnSpc>
                <a:spcPct val="104000"/>
              </a:lnSpc>
              <a:buNone/>
              <a:defRPr sz="2550" b="1">
                <a:solidFill>
                  <a:srgbClr val="0D8A9A"/>
                </a:solidFill>
                <a:latin typeface="Arial"/>
                <a:ea typeface="Arial"/>
                <a:cs typeface="Arial"/>
              </a:defRPr>
            </a:pPr>
            <a:r>
              <a:rPr sz="2550" b="1">
                <a:solidFill>
                  <a:srgbClr val="0D8A9A"/>
                </a:solidFill>
                <a:latin typeface="Arial"/>
                <a:ea typeface="Arial"/>
                <a:cs typeface="Arial"/>
              </a:rPr>
              <a:t>RNA</a:t>
            </a:r>
          </a:p>
        </p:txBody>
      </p:sp>
      <p:sp>
        <p:nvSpPr>
          <p:cNvPr id="8" name="">
            <a:extLst xmlns:a="http://schemas.openxmlformats.org/drawingml/2006/main">
              <a:ext uri="{FF2B5EF4-FFF2-40B4-BE49-F238E27FC236}">
                <a16:creationId xmlns:a16="http://schemas.microsoft.com/office/drawing/2014/main" id="{EFF7A1BD-9BA9-4FD3-9CBB-0F3C3AE4B982}"/>
              </a:ext>
            </a:extLst>
          </p:cNvPr>
          <p:cNvSpPr>
            <a:spLocks xmlns:a="http://schemas.openxmlformats.org/drawingml/2006/main" noGrp="1"/>
          </p:cNvSpPr>
          <p:nvPr/>
        </p:nvSpPr>
        <p:spPr>
          <a:xfrm xmlns:a="http://schemas.openxmlformats.org/drawingml/2006/main">
            <a:off x="971550" y="3028950"/>
            <a:ext cx="142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70"/>
          </a:bodyPr>
          <a:lstStyle xmlns:a="http://schemas.openxmlformats.org/drawingml/2006/main"/>
          <a:p xmlns:a="http://schemas.openxmlformats.org/drawingml/2006/main">
            <a:pPr algn="ctr">
              <a:lnSpc>
                <a:spcPct val="104000"/>
              </a:lnSpc>
              <a:buNone/>
              <a:defRPr sz="1350" b="0">
                <a:solidFill>
                  <a:srgbClr val="17223B"/>
                </a:solidFill>
                <a:latin typeface="Arial"/>
                <a:ea typeface="Arial"/>
                <a:cs typeface="Arial"/>
              </a:defRPr>
            </a:pPr>
            <a:r>
              <a:rPr sz="1350" b="0">
                <a:solidFill>
                  <a:srgbClr val="17223B"/>
                </a:solidFill>
                <a:latin typeface="Arial"/>
                <a:ea typeface="Arial"/>
                <a:cs typeface="Arial"/>
              </a:rPr>
              <a:t>fast transcriptional</a:t>
            </a:r>
          </a:p>
          <a:p xmlns:a="http://schemas.openxmlformats.org/drawingml/2006/main">
            <a:pPr algn="ctr">
              <a:lnSpc>
                <a:spcPct val="104000"/>
              </a:lnSpc>
              <a:buNone/>
              <a:defRPr sz="1350" b="0">
                <a:solidFill>
                  <a:srgbClr val="17223B"/>
                </a:solidFill>
                <a:latin typeface="Arial"/>
                <a:ea typeface="Arial"/>
                <a:cs typeface="Arial"/>
              </a:defRPr>
            </a:pPr>
            <a:r>
              <a:rPr sz="1350" b="0">
                <a:solidFill>
                  <a:srgbClr val="17223B"/>
                </a:solidFill>
                <a:latin typeface="Arial"/>
                <a:ea typeface="Arial"/>
                <a:cs typeface="Arial"/>
              </a:rPr>
              <a:t>response</a:t>
            </a:r>
          </a:p>
        </p:txBody>
      </p:sp>
      <p:sp>
        <p:nvSpPr>
          <p:cNvPr id="9" name="">
            <a:extLst xmlns:a="http://schemas.openxmlformats.org/drawingml/2006/main">
              <a:ext uri="{FF2B5EF4-FFF2-40B4-BE49-F238E27FC236}">
                <a16:creationId xmlns:a16="http://schemas.microsoft.com/office/drawing/2014/main" id="{B141340F-02ED-4290-B01B-DC5F9E0790F7}"/>
              </a:ext>
            </a:extLst>
          </p:cNvPr>
          <p:cNvSpPr>
            <a:spLocks xmlns:a="http://schemas.openxmlformats.org/drawingml/2006/main" noGrp="1"/>
          </p:cNvSpPr>
          <p:nvPr/>
        </p:nvSpPr>
        <p:spPr>
          <a:xfrm xmlns:a="http://schemas.openxmlformats.org/drawingml/2006/main">
            <a:off x="2857500" y="27051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3450" b="1">
                <a:solidFill>
                  <a:srgbClr val="F15B64"/>
                </a:solidFill>
                <a:latin typeface="Arial"/>
                <a:ea typeface="Arial"/>
                <a:cs typeface="Arial"/>
              </a:defRPr>
            </a:pPr>
            <a:r>
              <a:rPr sz="3450" b="1">
                <a:solidFill>
                  <a:srgbClr val="F15B64"/>
                </a:solidFill>
                <a:latin typeface="Arial"/>
                <a:ea typeface="Arial"/>
                <a:cs typeface="Arial"/>
              </a:rPr>
              <a:t>≠</a:t>
            </a:r>
          </a:p>
        </p:txBody>
      </p:sp>
      <p:sp>
        <p:nvSpPr>
          <p:cNvPr id="10" name="">
            <a:extLst xmlns:a="http://schemas.openxmlformats.org/drawingml/2006/main">
              <a:ext uri="{FF2B5EF4-FFF2-40B4-BE49-F238E27FC236}">
                <a16:creationId xmlns:a16="http://schemas.microsoft.com/office/drawing/2014/main" id="{17FE80D5-C4D0-4F93-9744-0409D9EDF6D2}"/>
              </a:ext>
            </a:extLst>
          </p:cNvPr>
          <p:cNvSpPr>
            <a:spLocks xmlns:a="http://schemas.openxmlformats.org/drawingml/2006/main" noGrp="1"/>
          </p:cNvSpPr>
          <p:nvPr/>
        </p:nvSpPr>
        <p:spPr>
          <a:xfrm xmlns:a="http://schemas.openxmlformats.org/drawingml/2006/main">
            <a:off x="3790950" y="2381250"/>
            <a:ext cx="2095500" cy="1238250"/>
          </a:xfrm>
          <a:prstGeom xmlns:a="http://schemas.openxmlformats.org/drawingml/2006/main" prst="roundRect">
            <a:avLst>
              <a:gd name="adj" fmla="val 12308"/>
            </a:avLst>
          </a:prstGeom>
          <a:solidFill xmlns:a="http://schemas.openxmlformats.org/drawingml/2006/main">
            <a:srgbClr val="EEE7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A164B21-36B9-44F1-8B60-2FA895C73B3A}"/>
              </a:ext>
            </a:extLst>
          </p:cNvPr>
          <p:cNvSpPr>
            <a:spLocks xmlns:a="http://schemas.openxmlformats.org/drawingml/2006/main" noGrp="1"/>
          </p:cNvSpPr>
          <p:nvPr/>
        </p:nvSpPr>
        <p:spPr>
          <a:xfrm xmlns:a="http://schemas.openxmlformats.org/drawingml/2006/main">
            <a:off x="3981450" y="2533650"/>
            <a:ext cx="1714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8434"/>
          </a:bodyPr>
          <a:lstStyle xmlns:a="http://schemas.openxmlformats.org/drawingml/2006/main"/>
          <a:p xmlns:a="http://schemas.openxmlformats.org/drawingml/2006/main">
            <a:pPr algn="ctr">
              <a:lnSpc>
                <a:spcPct val="104000"/>
              </a:lnSpc>
              <a:buNone/>
              <a:defRPr sz="2100" b="1">
                <a:solidFill>
                  <a:srgbClr val="6C3ED9"/>
                </a:solidFill>
                <a:latin typeface="Arial"/>
                <a:ea typeface="Arial"/>
                <a:cs typeface="Arial"/>
              </a:defRPr>
            </a:pPr>
            <a:r>
              <a:rPr sz="2100" b="1">
                <a:solidFill>
                  <a:srgbClr val="6C3ED9"/>
                </a:solidFill>
                <a:latin typeface="Arial"/>
                <a:ea typeface="Arial"/>
                <a:cs typeface="Arial"/>
              </a:rPr>
              <a:t>Surface protein</a:t>
            </a:r>
          </a:p>
        </p:txBody>
      </p:sp>
      <p:sp>
        <p:nvSpPr>
          <p:cNvPr id="12" name="">
            <a:extLst xmlns:a="http://schemas.openxmlformats.org/drawingml/2006/main">
              <a:ext uri="{FF2B5EF4-FFF2-40B4-BE49-F238E27FC236}">
                <a16:creationId xmlns:a16="http://schemas.microsoft.com/office/drawing/2014/main" id="{B8C60EBC-2B03-47B6-BDB3-75DF08C6BD35}"/>
              </a:ext>
            </a:extLst>
          </p:cNvPr>
          <p:cNvSpPr>
            <a:spLocks xmlns:a="http://schemas.openxmlformats.org/drawingml/2006/main" noGrp="1"/>
          </p:cNvSpPr>
          <p:nvPr/>
        </p:nvSpPr>
        <p:spPr>
          <a:xfrm xmlns:a="http://schemas.openxmlformats.org/drawingml/2006/main">
            <a:off x="3981450" y="3028950"/>
            <a:ext cx="1714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470"/>
          </a:bodyPr>
          <a:lstStyle xmlns:a="http://schemas.openxmlformats.org/drawingml/2006/main"/>
          <a:p xmlns:a="http://schemas.openxmlformats.org/drawingml/2006/main">
            <a:pPr algn="ctr">
              <a:lnSpc>
                <a:spcPct val="104000"/>
              </a:lnSpc>
              <a:buNone/>
              <a:defRPr sz="1350" b="0">
                <a:solidFill>
                  <a:srgbClr val="17223B"/>
                </a:solidFill>
                <a:latin typeface="Arial"/>
                <a:ea typeface="Arial"/>
                <a:cs typeface="Arial"/>
              </a:defRPr>
            </a:pPr>
            <a:r>
              <a:rPr sz="1350" b="0">
                <a:solidFill>
                  <a:srgbClr val="17223B"/>
                </a:solidFill>
                <a:latin typeface="Arial"/>
                <a:ea typeface="Arial"/>
                <a:cs typeface="Arial"/>
              </a:rPr>
              <a:t>translation, trafficking,</a:t>
            </a:r>
          </a:p>
          <a:p xmlns:a="http://schemas.openxmlformats.org/drawingml/2006/main">
            <a:pPr algn="ctr">
              <a:lnSpc>
                <a:spcPct val="104000"/>
              </a:lnSpc>
              <a:buNone/>
              <a:defRPr sz="1350" b="0">
                <a:solidFill>
                  <a:srgbClr val="17223B"/>
                </a:solidFill>
                <a:latin typeface="Arial"/>
                <a:ea typeface="Arial"/>
                <a:cs typeface="Arial"/>
              </a:defRPr>
            </a:pPr>
            <a:r>
              <a:rPr sz="1350" b="0">
                <a:solidFill>
                  <a:srgbClr val="17223B"/>
                </a:solidFill>
                <a:latin typeface="Arial"/>
                <a:ea typeface="Arial"/>
                <a:cs typeface="Arial"/>
              </a:rPr>
              <a:t>internalization</a:t>
            </a:r>
          </a:p>
        </p:txBody>
      </p:sp>
      <p:sp>
        <p:nvSpPr>
          <p:cNvPr id="13" name="">
            <a:extLst xmlns:a="http://schemas.openxmlformats.org/drawingml/2006/main">
              <a:ext uri="{FF2B5EF4-FFF2-40B4-BE49-F238E27FC236}">
                <a16:creationId xmlns:a16="http://schemas.microsoft.com/office/drawing/2014/main" id="{19240D78-0601-4021-B1A0-208DDE7CFEFC}"/>
              </a:ext>
            </a:extLst>
          </p:cNvPr>
          <p:cNvSpPr>
            <a:spLocks xmlns:a="http://schemas.openxmlformats.org/drawingml/2006/main" noGrp="1"/>
          </p:cNvSpPr>
          <p:nvPr/>
        </p:nvSpPr>
        <p:spPr>
          <a:xfrm xmlns:a="http://schemas.openxmlformats.org/drawingml/2006/main">
            <a:off x="2286000" y="40957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756"/>
          </a:bodyPr>
          <a:lstStyle xmlns:a="http://schemas.openxmlformats.org/drawingml/2006/main"/>
          <a:p xmlns:a="http://schemas.openxmlformats.org/drawingml/2006/main">
            <a:pPr algn="ctr">
              <a:lnSpc>
                <a:spcPct val="104000"/>
              </a:lnSpc>
              <a:buNone/>
              <a:defRPr sz="1500" b="1">
                <a:solidFill>
                  <a:srgbClr val="687086"/>
                </a:solidFill>
                <a:latin typeface="Arial"/>
                <a:ea typeface="Arial"/>
                <a:cs typeface="Arial"/>
              </a:defRPr>
            </a:pPr>
            <a:r>
              <a:rPr sz="1500" b="1">
                <a:solidFill>
                  <a:srgbClr val="687086"/>
                </a:solidFill>
                <a:latin typeface="Arial"/>
                <a:ea typeface="Arial"/>
                <a:cs typeface="Arial"/>
              </a:rPr>
              <a:t>24 h perturbation</a:t>
            </a:r>
          </a:p>
        </p:txBody>
      </p:sp>
      <p:sp>
        <p:nvSpPr>
          <p:cNvPr id="14" name="">
            <a:extLst xmlns:a="http://schemas.openxmlformats.org/drawingml/2006/main">
              <a:ext uri="{FF2B5EF4-FFF2-40B4-BE49-F238E27FC236}">
                <a16:creationId xmlns:a16="http://schemas.microsoft.com/office/drawing/2014/main" id="{DB267E00-D156-4061-B48C-FCCEE9AEDD33}"/>
              </a:ext>
            </a:extLst>
          </p:cNvPr>
          <p:cNvSpPr>
            <a:spLocks xmlns:a="http://schemas.openxmlformats.org/drawingml/2006/main" noGrp="1"/>
          </p:cNvSpPr>
          <p:nvPr/>
        </p:nvSpPr>
        <p:spPr>
          <a:xfrm xmlns:a="http://schemas.openxmlformats.org/drawingml/2006/main">
            <a:off x="4333875" y="4057650"/>
            <a:ext cx="1809750" cy="361950"/>
          </a:xfrm>
          <a:prstGeom xmlns:a="http://schemas.openxmlformats.org/drawingml/2006/main" prst="rightArrow">
            <a:avLst/>
          </a:prstGeom>
          <a:solidFill xmlns:a="http://schemas.openxmlformats.org/drawingml/2006/main">
            <a:srgbClr val="F15B64"/>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16F552A-B5A0-4BB6-BA74-A657149587ED}"/>
              </a:ext>
            </a:extLst>
          </p:cNvPr>
          <p:cNvSpPr>
            <a:spLocks xmlns:a="http://schemas.openxmlformats.org/drawingml/2006/main" noGrp="1"/>
          </p:cNvSpPr>
          <p:nvPr/>
        </p:nvSpPr>
        <p:spPr>
          <a:xfrm xmlns:a="http://schemas.openxmlformats.org/drawingml/2006/main">
            <a:off x="6477000" y="40005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650" b="1">
                <a:solidFill>
                  <a:srgbClr val="17223B"/>
                </a:solidFill>
                <a:latin typeface="Arial"/>
                <a:ea typeface="Arial"/>
                <a:cs typeface="Arial"/>
              </a:defRPr>
            </a:pPr>
            <a:r>
              <a:rPr sz="1650" b="1">
                <a:solidFill>
                  <a:srgbClr val="17223B"/>
                </a:solidFill>
                <a:latin typeface="Arial"/>
                <a:ea typeface="Arial"/>
                <a:cs typeface="Arial"/>
              </a:rPr>
              <a:t>pharmacodynamic phenotype</a:t>
            </a:r>
          </a:p>
        </p:txBody>
      </p:sp>
      <p:sp>
        <p:nvSpPr>
          <p:cNvPr id="16" name="">
            <a:extLst xmlns:a="http://schemas.openxmlformats.org/drawingml/2006/main">
              <a:ext uri="{FF2B5EF4-FFF2-40B4-BE49-F238E27FC236}">
                <a16:creationId xmlns:a16="http://schemas.microsoft.com/office/drawing/2014/main" id="{5197A369-5E69-43ED-8AF8-6005405C7C09}"/>
              </a:ext>
            </a:extLst>
          </p:cNvPr>
          <p:cNvSpPr>
            <a:spLocks xmlns:a="http://schemas.openxmlformats.org/drawingml/2006/main" noGrp="1"/>
          </p:cNvSpPr>
          <p:nvPr/>
        </p:nvSpPr>
        <p:spPr>
          <a:xfrm xmlns:a="http://schemas.openxmlformats.org/drawingml/2006/main">
            <a:off x="8115300" y="161925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131"/>
          </a:bodyPr>
          <a:lstStyle xmlns:a="http://schemas.openxmlformats.org/drawingml/2006/main"/>
          <a:p xmlns:a="http://schemas.openxmlformats.org/drawingml/2006/main">
            <a:pPr algn="l">
              <a:lnSpc>
                <a:spcPct val="104000"/>
              </a:lnSpc>
              <a:buNone/>
              <a:defRPr sz="1200" b="1">
                <a:solidFill>
                  <a:srgbClr val="F15B64"/>
                </a:solidFill>
                <a:latin typeface="Arial"/>
                <a:ea typeface="Arial"/>
                <a:cs typeface="Arial"/>
              </a:defRPr>
            </a:pPr>
            <a:r>
              <a:rPr sz="1200" b="1">
                <a:solidFill>
                  <a:srgbClr val="F15B64"/>
                </a:solidFill>
                <a:latin typeface="Arial"/>
                <a:ea typeface="Arial"/>
                <a:cs typeface="Arial"/>
              </a:rPr>
              <a:t>Question</a:t>
            </a:r>
          </a:p>
        </p:txBody>
      </p:sp>
      <p:sp>
        <p:nvSpPr>
          <p:cNvPr id="17" name="">
            <a:extLst xmlns:a="http://schemas.openxmlformats.org/drawingml/2006/main">
              <a:ext uri="{FF2B5EF4-FFF2-40B4-BE49-F238E27FC236}">
                <a16:creationId xmlns:a16="http://schemas.microsoft.com/office/drawing/2014/main" id="{38B734E1-652F-45FD-A75F-AF967AEA259F}"/>
              </a:ext>
            </a:extLst>
          </p:cNvPr>
          <p:cNvSpPr>
            <a:spLocks xmlns:a="http://schemas.openxmlformats.org/drawingml/2006/main" noGrp="1"/>
          </p:cNvSpPr>
          <p:nvPr/>
        </p:nvSpPr>
        <p:spPr>
          <a:xfrm xmlns:a="http://schemas.openxmlformats.org/drawingml/2006/main">
            <a:off x="8115300" y="1962150"/>
            <a:ext cx="323850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388"/>
          </a:bodyPr>
          <a:lstStyle xmlns:a="http://schemas.openxmlformats.org/drawingml/2006/main"/>
          <a:p xmlns:a="http://schemas.openxmlformats.org/drawingml/2006/main">
            <a:pPr algn="l">
              <a:lnSpc>
                <a:spcPct val="104000"/>
              </a:lnSpc>
              <a:buNone/>
              <a:defRPr sz="2250" b="1">
                <a:solidFill>
                  <a:srgbClr val="17223B"/>
                </a:solidFill>
                <a:latin typeface="Arial"/>
                <a:ea typeface="Arial"/>
                <a:cs typeface="Arial"/>
              </a:defRPr>
            </a:pPr>
            <a:r>
              <a:rPr sz="2250" b="1">
                <a:solidFill>
                  <a:srgbClr val="17223B"/>
                </a:solidFill>
                <a:latin typeface="Arial"/>
                <a:ea typeface="Arial"/>
                <a:cs typeface="Arial"/>
              </a:rPr>
              <a:t>Can multimodal AI preserve this biologically meaningful disagreement and recover activation markers in a new donor?</a:t>
            </a:r>
          </a:p>
        </p:txBody>
      </p:sp>
      <p:sp>
        <p:nvSpPr>
          <p:cNvPr id="18" name="">
            <a:extLst xmlns:a="http://schemas.openxmlformats.org/drawingml/2006/main">
              <a:ext uri="{FF2B5EF4-FFF2-40B4-BE49-F238E27FC236}">
                <a16:creationId xmlns:a16="http://schemas.microsoft.com/office/drawing/2014/main" id="{1581C6F8-4DE1-430A-82F5-D8465A990281}"/>
              </a:ext>
            </a:extLst>
          </p:cNvPr>
          <p:cNvSpPr>
            <a:spLocks xmlns:a="http://schemas.openxmlformats.org/drawingml/2006/main" noGrp="1"/>
          </p:cNvSpPr>
          <p:nvPr/>
        </p:nvSpPr>
        <p:spPr>
          <a:xfrm xmlns:a="http://schemas.openxmlformats.org/drawingml/2006/main">
            <a:off x="8115300" y="4343400"/>
            <a:ext cx="152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131"/>
          </a:bodyPr>
          <a:lstStyle xmlns:a="http://schemas.openxmlformats.org/drawingml/2006/main"/>
          <a:p xmlns:a="http://schemas.openxmlformats.org/drawingml/2006/main">
            <a:pPr algn="l">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Why it matters</a:t>
            </a:r>
          </a:p>
        </p:txBody>
      </p:sp>
      <p:sp>
        <p:nvSpPr>
          <p:cNvPr id="19" name="">
            <a:extLst xmlns:a="http://schemas.openxmlformats.org/drawingml/2006/main">
              <a:ext uri="{FF2B5EF4-FFF2-40B4-BE49-F238E27FC236}">
                <a16:creationId xmlns:a16="http://schemas.microsoft.com/office/drawing/2014/main" id="{472A9848-C168-40C1-9047-6832F37EBBA2}"/>
              </a:ext>
            </a:extLst>
          </p:cNvPr>
          <p:cNvSpPr>
            <a:spLocks xmlns:a="http://schemas.openxmlformats.org/drawingml/2006/main" noGrp="1"/>
          </p:cNvSpPr>
          <p:nvPr/>
        </p:nvSpPr>
        <p:spPr>
          <a:xfrm xmlns:a="http://schemas.openxmlformats.org/drawingml/2006/main">
            <a:off x="8115300" y="468630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5025"/>
          </a:bodyPr>
          <a:lstStyle xmlns:a="http://schemas.openxmlformats.org/drawingml/2006/main"/>
          <a:p xmlns:a="http://schemas.openxmlformats.org/drawingml/2006/main">
            <a:pPr algn="l">
              <a:lnSpc>
                <a:spcPct val="104000"/>
              </a:lnSpc>
              <a:buNone/>
              <a:defRPr sz="1650" b="0">
                <a:solidFill>
                  <a:srgbClr val="223A69"/>
                </a:solidFill>
                <a:latin typeface="Arial"/>
                <a:ea typeface="Arial"/>
                <a:cs typeface="Arial"/>
              </a:defRPr>
            </a:pPr>
            <a:r>
              <a:rPr sz="1650" b="0">
                <a:solidFill>
                  <a:srgbClr val="223A69"/>
                </a:solidFill>
                <a:latin typeface="Arial"/>
                <a:ea typeface="Arial"/>
                <a:cs typeface="Arial"/>
              </a:rPr>
              <a:t>Biomarker selection fails if the model averages away the modality that carries the response.</a:t>
            </a:r>
          </a:p>
        </p:txBody>
      </p:sp>
    </p:spTree>
    <p:extLst>
      <p:ext uri="{BB962C8B-B14F-4D97-AF65-F5344CB8AC3E}">
        <p14:creationId xmlns:p14="http://schemas.microsoft.com/office/powerpoint/2010/main" val="1066429028"/>
      </p:ext>
    </p:extLst>
  </p:cSld>
</p:sld>
</file>

<file path=ppt/slides/slide3.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1E06F0BB-4B73-4B53-BAD7-DB2C8FBB5D40}"/>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DATASET AND STUDY DESIGN</a:t>
            </a:r>
          </a:p>
        </p:txBody>
      </p:sp>
      <p:sp>
        <p:nvSpPr>
          <p:cNvPr id="2" name="">
            <a:extLst xmlns:a="http://schemas.openxmlformats.org/drawingml/2006/main">
              <a:ext uri="{FF2B5EF4-FFF2-40B4-BE49-F238E27FC236}">
                <a16:creationId xmlns:a16="http://schemas.microsoft.com/office/drawing/2014/main" id="{B8A4803E-9270-4D27-959C-07E7C1200E77}"/>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Paired immune perturbation study</a:t>
            </a:r>
          </a:p>
        </p:txBody>
      </p:sp>
      <p:sp>
        <p:nvSpPr>
          <p:cNvPr id="3" name="">
            <a:extLst xmlns:a="http://schemas.openxmlformats.org/drawingml/2006/main">
              <a:ext uri="{FF2B5EF4-FFF2-40B4-BE49-F238E27FC236}">
                <a16:creationId xmlns:a16="http://schemas.microsoft.com/office/drawing/2014/main" id="{174E3685-3078-4833-82E9-81C9757C9524}"/>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89B527A-1339-482A-8160-4709D912E958}"/>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03</a:t>
            </a:r>
          </a:p>
        </p:txBody>
      </p:sp>
      <p:sp>
        <p:nvSpPr>
          <p:cNvPr id="5" name="">
            <a:extLst xmlns:a="http://schemas.openxmlformats.org/drawingml/2006/main">
              <a:ext uri="{FF2B5EF4-FFF2-40B4-BE49-F238E27FC236}">
                <a16:creationId xmlns:a16="http://schemas.microsoft.com/office/drawing/2014/main" id="{B2E8B541-060D-4700-818B-010DD0369963}"/>
              </a:ext>
            </a:extLst>
          </p:cNvPr>
          <p:cNvSpPr>
            <a:spLocks xmlns:a="http://schemas.openxmlformats.org/drawingml/2006/main" noGrp="1"/>
          </p:cNvSpPr>
          <p:nvPr/>
        </p:nvSpPr>
        <p:spPr>
          <a:xfrm xmlns:a="http://schemas.openxmlformats.org/drawingml/2006/main">
            <a:off x="685800" y="167640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412"/>
          </a:bodyPr>
          <a:lstStyle xmlns:a="http://schemas.openxmlformats.org/drawingml/2006/main"/>
          <a:p xmlns:a="http://schemas.openxmlformats.org/drawingml/2006/main">
            <a:pPr algn="l">
              <a:lnSpc>
                <a:spcPct val="104000"/>
              </a:lnSpc>
              <a:buNone/>
              <a:defRPr sz="2025" b="1">
                <a:solidFill>
                  <a:srgbClr val="17223B"/>
                </a:solidFill>
                <a:latin typeface="Arial"/>
                <a:ea typeface="Arial"/>
                <a:cs typeface="Arial"/>
              </a:defRPr>
            </a:pPr>
            <a:r>
              <a:rPr sz="2025" b="1">
                <a:solidFill>
                  <a:srgbClr val="17223B"/>
                </a:solidFill>
                <a:latin typeface="Arial"/>
                <a:ea typeface="Arial"/>
                <a:cs typeface="Arial"/>
              </a:rPr>
              <a:t>10 healthy donors</a:t>
            </a:r>
          </a:p>
        </p:txBody>
      </p:sp>
      <p:sp>
        <p:nvSpPr>
          <p:cNvPr id="6" name="">
            <a:extLst xmlns:a="http://schemas.openxmlformats.org/drawingml/2006/main">
              <a:ext uri="{FF2B5EF4-FFF2-40B4-BE49-F238E27FC236}">
                <a16:creationId xmlns:a16="http://schemas.microsoft.com/office/drawing/2014/main" id="{4391D595-35F3-42A7-87DE-ADB8BA9F3823}"/>
              </a:ext>
            </a:extLst>
          </p:cNvPr>
          <p:cNvSpPr>
            <a:spLocks xmlns:a="http://schemas.openxmlformats.org/drawingml/2006/main" noGrp="1"/>
          </p:cNvSpPr>
          <p:nvPr/>
        </p:nvSpPr>
        <p:spPr>
          <a:xfrm xmlns:a="http://schemas.openxmlformats.org/drawingml/2006/main">
            <a:off x="685800" y="2057400"/>
            <a:ext cx="342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812"/>
          </a:bodyPr>
          <a:lstStyle xmlns:a="http://schemas.openxmlformats.org/drawingml/2006/main"/>
          <a:p xmlns:a="http://schemas.openxmlformats.org/drawingml/2006/main">
            <a:pPr algn="l">
              <a:lnSpc>
                <a:spcPct val="104000"/>
              </a:lnSpc>
              <a:buNone/>
              <a:defRPr sz="1350" b="0">
                <a:solidFill>
                  <a:srgbClr val="687086"/>
                </a:solidFill>
                <a:latin typeface="Arial"/>
                <a:ea typeface="Arial"/>
                <a:cs typeface="Arial"/>
              </a:defRPr>
            </a:pPr>
            <a:r>
              <a:rPr sz="1350" b="0">
                <a:solidFill>
                  <a:srgbClr val="687086"/>
                </a:solidFill>
                <a:latin typeface="Arial"/>
                <a:ea typeface="Arial"/>
                <a:cs typeface="Arial"/>
              </a:rPr>
              <a:t>Each donor contributes all three conditions</a:t>
            </a:r>
          </a:p>
        </p:txBody>
      </p:sp>
      <p:sp>
        <p:nvSpPr>
          <p:cNvPr id="7" name="">
            <a:extLst xmlns:a="http://schemas.openxmlformats.org/drawingml/2006/main">
              <a:ext uri="{FF2B5EF4-FFF2-40B4-BE49-F238E27FC236}">
                <a16:creationId xmlns:a16="http://schemas.microsoft.com/office/drawing/2014/main" id="{1BA5EFA8-43AC-4A37-8206-EF8516031F68}"/>
              </a:ext>
            </a:extLst>
          </p:cNvPr>
          <p:cNvSpPr>
            <a:spLocks xmlns:a="http://schemas.openxmlformats.org/drawingml/2006/main" noGrp="1"/>
          </p:cNvSpPr>
          <p:nvPr/>
        </p:nvSpPr>
        <p:spPr>
          <a:xfrm xmlns:a="http://schemas.openxmlformats.org/drawingml/2006/main">
            <a:off x="742950" y="2724150"/>
            <a:ext cx="2190750" cy="1066800"/>
          </a:xfrm>
          <a:prstGeom xmlns:a="http://schemas.openxmlformats.org/drawingml/2006/main" prst="roundRect">
            <a:avLst>
              <a:gd name="adj" fmla="val 14286"/>
            </a:avLst>
          </a:prstGeom>
          <a:solidFill xmlns:a="http://schemas.openxmlformats.org/drawingml/2006/main">
            <a:srgbClr val="E7EA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2501E19C-F343-492A-8F3C-678983A8327E}"/>
              </a:ext>
            </a:extLst>
          </p:cNvPr>
          <p:cNvSpPr>
            <a:spLocks xmlns:a="http://schemas.openxmlformats.org/drawingml/2006/main" noGrp="1"/>
          </p:cNvSpPr>
          <p:nvPr/>
        </p:nvSpPr>
        <p:spPr>
          <a:xfrm xmlns:a="http://schemas.openxmlformats.org/drawingml/2006/main">
            <a:off x="885825" y="29051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lnSpc>
                <a:spcPct val="104000"/>
              </a:lnSpc>
              <a:buNone/>
              <a:defRPr sz="1875" b="1">
                <a:solidFill>
                  <a:srgbClr val="17223B"/>
                </a:solidFill>
                <a:latin typeface="Arial"/>
                <a:ea typeface="Arial"/>
                <a:cs typeface="Arial"/>
              </a:defRPr>
            </a:pPr>
            <a:r>
              <a:rPr sz="1875" b="1">
                <a:solidFill>
                  <a:srgbClr val="17223B"/>
                </a:solidFill>
                <a:latin typeface="Arial"/>
                <a:ea typeface="Arial"/>
                <a:cs typeface="Arial"/>
              </a:rPr>
              <a:t>Baseline</a:t>
            </a:r>
          </a:p>
        </p:txBody>
      </p:sp>
      <p:sp>
        <p:nvSpPr>
          <p:cNvPr id="9" name="">
            <a:extLst xmlns:a="http://schemas.openxmlformats.org/drawingml/2006/main">
              <a:ext uri="{FF2B5EF4-FFF2-40B4-BE49-F238E27FC236}">
                <a16:creationId xmlns:a16="http://schemas.microsoft.com/office/drawing/2014/main" id="{4837CD9E-8B17-4438-A6C5-1E2C5EAFD54C}"/>
              </a:ext>
            </a:extLst>
          </p:cNvPr>
          <p:cNvSpPr>
            <a:spLocks xmlns:a="http://schemas.openxmlformats.org/drawingml/2006/main" noGrp="1"/>
          </p:cNvSpPr>
          <p:nvPr/>
        </p:nvSpPr>
        <p:spPr>
          <a:xfrm xmlns:a="http://schemas.openxmlformats.org/drawingml/2006/main">
            <a:off x="885825" y="33337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115"/>
          </a:bodyPr>
          <a:lstStyle xmlns:a="http://schemas.openxmlformats.org/drawingml/2006/main"/>
          <a:p xmlns:a="http://schemas.openxmlformats.org/drawingml/2006/main">
            <a:pPr algn="ctr">
              <a:lnSpc>
                <a:spcPct val="104000"/>
              </a:lnSpc>
              <a:buNone/>
              <a:defRPr sz="1200" b="0">
                <a:solidFill>
                  <a:srgbClr val="687086"/>
                </a:solidFill>
                <a:latin typeface="Arial"/>
                <a:ea typeface="Arial"/>
                <a:cs typeface="Arial"/>
              </a:defRPr>
            </a:pPr>
            <a:r>
              <a:rPr sz="1200" b="0">
                <a:solidFill>
                  <a:srgbClr val="687086"/>
                </a:solidFill>
                <a:latin typeface="Arial"/>
                <a:ea typeface="Arial"/>
                <a:cs typeface="Arial"/>
              </a:rPr>
              <a:t>unstimulated</a:t>
            </a:r>
          </a:p>
        </p:txBody>
      </p:sp>
      <p:sp>
        <p:nvSpPr>
          <p:cNvPr id="10" name="">
            <a:extLst xmlns:a="http://schemas.openxmlformats.org/drawingml/2006/main">
              <a:ext uri="{FF2B5EF4-FFF2-40B4-BE49-F238E27FC236}">
                <a16:creationId xmlns:a16="http://schemas.microsoft.com/office/drawing/2014/main" id="{A8435E20-4C16-4A2D-9AA8-BF780E857337}"/>
              </a:ext>
            </a:extLst>
          </p:cNvPr>
          <p:cNvSpPr>
            <a:spLocks xmlns:a="http://schemas.openxmlformats.org/drawingml/2006/main" noGrp="1"/>
          </p:cNvSpPr>
          <p:nvPr/>
        </p:nvSpPr>
        <p:spPr>
          <a:xfrm xmlns:a="http://schemas.openxmlformats.org/drawingml/2006/main">
            <a:off x="3352800" y="2724150"/>
            <a:ext cx="2190750" cy="1066800"/>
          </a:xfrm>
          <a:prstGeom xmlns:a="http://schemas.openxmlformats.org/drawingml/2006/main" prst="roundRect">
            <a:avLst>
              <a:gd name="adj" fmla="val 14286"/>
            </a:avLst>
          </a:prstGeom>
          <a:solidFill xmlns:a="http://schemas.openxmlformats.org/drawingml/2006/main">
            <a:srgbClr val="DDF3F2"/>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AAB32BE-700A-461C-B403-60419FB4006D}"/>
              </a:ext>
            </a:extLst>
          </p:cNvPr>
          <p:cNvSpPr>
            <a:spLocks xmlns:a="http://schemas.openxmlformats.org/drawingml/2006/main" noGrp="1"/>
          </p:cNvSpPr>
          <p:nvPr/>
        </p:nvSpPr>
        <p:spPr>
          <a:xfrm xmlns:a="http://schemas.openxmlformats.org/drawingml/2006/main">
            <a:off x="3495675" y="29051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lnSpc>
                <a:spcPct val="104000"/>
              </a:lnSpc>
              <a:buNone/>
              <a:defRPr sz="1875" b="1">
                <a:solidFill>
                  <a:srgbClr val="17223B"/>
                </a:solidFill>
                <a:latin typeface="Arial"/>
                <a:ea typeface="Arial"/>
                <a:cs typeface="Arial"/>
              </a:defRPr>
            </a:pPr>
            <a:r>
              <a:rPr sz="1875" b="1">
                <a:solidFill>
                  <a:srgbClr val="17223B"/>
                </a:solidFill>
                <a:latin typeface="Arial"/>
                <a:ea typeface="Arial"/>
                <a:cs typeface="Arial"/>
              </a:rPr>
              <a:t>LPS</a:t>
            </a:r>
          </a:p>
        </p:txBody>
      </p:sp>
      <p:sp>
        <p:nvSpPr>
          <p:cNvPr id="12" name="">
            <a:extLst xmlns:a="http://schemas.openxmlformats.org/drawingml/2006/main">
              <a:ext uri="{FF2B5EF4-FFF2-40B4-BE49-F238E27FC236}">
                <a16:creationId xmlns:a16="http://schemas.microsoft.com/office/drawing/2014/main" id="{855A6463-1805-4334-999A-0C233370E749}"/>
              </a:ext>
            </a:extLst>
          </p:cNvPr>
          <p:cNvSpPr>
            <a:spLocks xmlns:a="http://schemas.openxmlformats.org/drawingml/2006/main" noGrp="1"/>
          </p:cNvSpPr>
          <p:nvPr/>
        </p:nvSpPr>
        <p:spPr>
          <a:xfrm xmlns:a="http://schemas.openxmlformats.org/drawingml/2006/main">
            <a:off x="3495675" y="33337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115"/>
          </a:bodyPr>
          <a:lstStyle xmlns:a="http://schemas.openxmlformats.org/drawingml/2006/main"/>
          <a:p xmlns:a="http://schemas.openxmlformats.org/drawingml/2006/main">
            <a:pPr algn="ctr">
              <a:lnSpc>
                <a:spcPct val="104000"/>
              </a:lnSpc>
              <a:buNone/>
              <a:defRPr sz="1200" b="0">
                <a:solidFill>
                  <a:srgbClr val="687086"/>
                </a:solidFill>
                <a:latin typeface="Arial"/>
                <a:ea typeface="Arial"/>
                <a:cs typeface="Arial"/>
              </a:defRPr>
            </a:pPr>
            <a:r>
              <a:rPr sz="1200" b="0">
                <a:solidFill>
                  <a:srgbClr val="687086"/>
                </a:solidFill>
                <a:latin typeface="Arial"/>
                <a:ea typeface="Arial"/>
                <a:cs typeface="Arial"/>
              </a:rPr>
              <a:t>monocyte response</a:t>
            </a:r>
          </a:p>
        </p:txBody>
      </p:sp>
      <p:sp>
        <p:nvSpPr>
          <p:cNvPr id="13" name="">
            <a:extLst xmlns:a="http://schemas.openxmlformats.org/drawingml/2006/main">
              <a:ext uri="{FF2B5EF4-FFF2-40B4-BE49-F238E27FC236}">
                <a16:creationId xmlns:a16="http://schemas.microsoft.com/office/drawing/2014/main" id="{7396BE16-23C8-46E9-B14C-6AD77073DA70}"/>
              </a:ext>
            </a:extLst>
          </p:cNvPr>
          <p:cNvSpPr>
            <a:spLocks xmlns:a="http://schemas.openxmlformats.org/drawingml/2006/main" noGrp="1"/>
          </p:cNvSpPr>
          <p:nvPr/>
        </p:nvSpPr>
        <p:spPr>
          <a:xfrm xmlns:a="http://schemas.openxmlformats.org/drawingml/2006/main">
            <a:off x="5962650" y="2724150"/>
            <a:ext cx="2190750" cy="1066800"/>
          </a:xfrm>
          <a:prstGeom xmlns:a="http://schemas.openxmlformats.org/drawingml/2006/main" prst="roundRect">
            <a:avLst>
              <a:gd name="adj" fmla="val 14286"/>
            </a:avLst>
          </a:prstGeom>
          <a:solidFill xmlns:a="http://schemas.openxmlformats.org/drawingml/2006/main">
            <a:srgbClr val="FFE7E5"/>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EE15ED1-1D36-45DC-B598-AADD5289D1A9}"/>
              </a:ext>
            </a:extLst>
          </p:cNvPr>
          <p:cNvSpPr>
            <a:spLocks xmlns:a="http://schemas.openxmlformats.org/drawingml/2006/main" noGrp="1"/>
          </p:cNvSpPr>
          <p:nvPr/>
        </p:nvSpPr>
        <p:spPr>
          <a:xfrm xmlns:a="http://schemas.openxmlformats.org/drawingml/2006/main">
            <a:off x="6105525" y="290512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1026"/>
          </a:bodyPr>
          <a:lstStyle xmlns:a="http://schemas.openxmlformats.org/drawingml/2006/main"/>
          <a:p xmlns:a="http://schemas.openxmlformats.org/drawingml/2006/main">
            <a:pPr algn="ctr">
              <a:lnSpc>
                <a:spcPct val="104000"/>
              </a:lnSpc>
              <a:buNone/>
              <a:defRPr sz="1875" b="1">
                <a:solidFill>
                  <a:srgbClr val="17223B"/>
                </a:solidFill>
                <a:latin typeface="Arial"/>
                <a:ea typeface="Arial"/>
                <a:cs typeface="Arial"/>
              </a:defRPr>
            </a:pPr>
            <a:r>
              <a:rPr sz="1875" b="1">
                <a:solidFill>
                  <a:srgbClr val="17223B"/>
                </a:solidFill>
                <a:latin typeface="Arial"/>
                <a:ea typeface="Arial"/>
                <a:cs typeface="Arial"/>
              </a:rPr>
              <a:t>anti-CD3/CD28</a:t>
            </a:r>
          </a:p>
        </p:txBody>
      </p:sp>
      <p:sp>
        <p:nvSpPr>
          <p:cNvPr id="15" name="">
            <a:extLst xmlns:a="http://schemas.openxmlformats.org/drawingml/2006/main">
              <a:ext uri="{FF2B5EF4-FFF2-40B4-BE49-F238E27FC236}">
                <a16:creationId xmlns:a16="http://schemas.microsoft.com/office/drawing/2014/main" id="{99DB6CFC-4704-413C-9677-B97CEFC93F40}"/>
              </a:ext>
            </a:extLst>
          </p:cNvPr>
          <p:cNvSpPr>
            <a:spLocks xmlns:a="http://schemas.openxmlformats.org/drawingml/2006/main" noGrp="1"/>
          </p:cNvSpPr>
          <p:nvPr/>
        </p:nvSpPr>
        <p:spPr>
          <a:xfrm xmlns:a="http://schemas.openxmlformats.org/drawingml/2006/main">
            <a:off x="6105525" y="333375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2115"/>
          </a:bodyPr>
          <a:lstStyle xmlns:a="http://schemas.openxmlformats.org/drawingml/2006/main"/>
          <a:p xmlns:a="http://schemas.openxmlformats.org/drawingml/2006/main">
            <a:pPr algn="ctr">
              <a:lnSpc>
                <a:spcPct val="104000"/>
              </a:lnSpc>
              <a:buNone/>
              <a:defRPr sz="1200" b="0">
                <a:solidFill>
                  <a:srgbClr val="687086"/>
                </a:solidFill>
                <a:latin typeface="Arial"/>
                <a:ea typeface="Arial"/>
                <a:cs typeface="Arial"/>
              </a:defRPr>
            </a:pPr>
            <a:r>
              <a:rPr sz="1200" b="0">
                <a:solidFill>
                  <a:srgbClr val="687086"/>
                </a:solidFill>
                <a:latin typeface="Arial"/>
                <a:ea typeface="Arial"/>
                <a:cs typeface="Arial"/>
              </a:rPr>
              <a:t>T-cell response</a:t>
            </a:r>
          </a:p>
        </p:txBody>
      </p:sp>
      <p:sp>
        <p:nvSpPr>
          <p:cNvPr id="16" name="">
            <a:extLst xmlns:a="http://schemas.openxmlformats.org/drawingml/2006/main">
              <a:ext uri="{FF2B5EF4-FFF2-40B4-BE49-F238E27FC236}">
                <a16:creationId xmlns:a16="http://schemas.microsoft.com/office/drawing/2014/main" id="{782EC046-3552-49CB-B492-A29896ECCDA3}"/>
              </a:ext>
            </a:extLst>
          </p:cNvPr>
          <p:cNvSpPr>
            <a:spLocks xmlns:a="http://schemas.openxmlformats.org/drawingml/2006/main" noGrp="1"/>
          </p:cNvSpPr>
          <p:nvPr/>
        </p:nvSpPr>
        <p:spPr>
          <a:xfrm xmlns:a="http://schemas.openxmlformats.org/drawingml/2006/main">
            <a:off x="8334375" y="29527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0929"/>
          </a:bodyPr>
          <a:lstStyle xmlns:a="http://schemas.openxmlformats.org/drawingml/2006/main"/>
          <a:p xmlns:a="http://schemas.openxmlformats.org/drawingml/2006/main">
            <a:pPr algn="ctr">
              <a:lnSpc>
                <a:spcPct val="104000"/>
              </a:lnSpc>
              <a:buNone/>
              <a:defRPr sz="3000" b="1">
                <a:solidFill>
                  <a:srgbClr val="F15B64"/>
                </a:solidFill>
                <a:latin typeface="Arial"/>
                <a:ea typeface="Arial"/>
                <a:cs typeface="Arial"/>
              </a:defRPr>
            </a:pPr>
            <a:r>
              <a:rPr sz="3000" b="1">
                <a:solidFill>
                  <a:srgbClr val="F15B64"/>
                </a:solidFill>
                <a:latin typeface="Arial"/>
                <a:ea typeface="Arial"/>
                <a:cs typeface="Arial"/>
              </a:rPr>
              <a:t>→</a:t>
            </a:r>
          </a:p>
        </p:txBody>
      </p:sp>
      <p:sp>
        <p:nvSpPr>
          <p:cNvPr id="17" name="">
            <a:extLst xmlns:a="http://schemas.openxmlformats.org/drawingml/2006/main">
              <a:ext uri="{FF2B5EF4-FFF2-40B4-BE49-F238E27FC236}">
                <a16:creationId xmlns:a16="http://schemas.microsoft.com/office/drawing/2014/main" id="{A050975A-016F-463B-8DCD-51B695FE5911}"/>
              </a:ext>
            </a:extLst>
          </p:cNvPr>
          <p:cNvSpPr>
            <a:spLocks xmlns:a="http://schemas.openxmlformats.org/drawingml/2006/main" noGrp="1"/>
          </p:cNvSpPr>
          <p:nvPr/>
        </p:nvSpPr>
        <p:spPr>
          <a:xfrm xmlns:a="http://schemas.openxmlformats.org/drawingml/2006/main">
            <a:off x="9086850" y="2457450"/>
            <a:ext cx="2400300" cy="1619250"/>
          </a:xfrm>
          <a:prstGeom xmlns:a="http://schemas.openxmlformats.org/drawingml/2006/main" prst="roundRect">
            <a:avLst>
              <a:gd name="adj" fmla="val 9412"/>
            </a:avLst>
          </a:prstGeom>
          <a:solidFill xmlns:a="http://schemas.openxmlformats.org/drawingml/2006/main">
            <a:srgbClr val="EEE7FF"/>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300977D-20F8-4550-B4AD-DA1EEB065F2F}"/>
              </a:ext>
            </a:extLst>
          </p:cNvPr>
          <p:cNvSpPr>
            <a:spLocks xmlns:a="http://schemas.openxmlformats.org/drawingml/2006/main" noGrp="1"/>
          </p:cNvSpPr>
          <p:nvPr/>
        </p:nvSpPr>
        <p:spPr>
          <a:xfrm xmlns:a="http://schemas.openxmlformats.org/drawingml/2006/main">
            <a:off x="9277350" y="2647950"/>
            <a:ext cx="2019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0513"/>
          </a:bodyPr>
          <a:lstStyle xmlns:a="http://schemas.openxmlformats.org/drawingml/2006/main"/>
          <a:p xmlns:a="http://schemas.openxmlformats.org/drawingml/2006/main">
            <a:pPr algn="ctr">
              <a:lnSpc>
                <a:spcPct val="104000"/>
              </a:lnSpc>
              <a:buNone/>
              <a:defRPr sz="2250" b="1">
                <a:solidFill>
                  <a:srgbClr val="6C3ED9"/>
                </a:solidFill>
                <a:latin typeface="Arial"/>
                <a:ea typeface="Arial"/>
                <a:cs typeface="Arial"/>
              </a:defRPr>
            </a:pPr>
            <a:r>
              <a:rPr sz="2250" b="1">
                <a:solidFill>
                  <a:srgbClr val="6C3ED9"/>
                </a:solidFill>
                <a:latin typeface="Arial"/>
                <a:ea typeface="Arial"/>
                <a:cs typeface="Arial"/>
              </a:rPr>
              <a:t>CITE-seq</a:t>
            </a:r>
          </a:p>
        </p:txBody>
      </p:sp>
      <p:sp>
        <p:nvSpPr>
          <p:cNvPr id="19" name="">
            <a:extLst xmlns:a="http://schemas.openxmlformats.org/drawingml/2006/main">
              <a:ext uri="{FF2B5EF4-FFF2-40B4-BE49-F238E27FC236}">
                <a16:creationId xmlns:a16="http://schemas.microsoft.com/office/drawing/2014/main" id="{BF96A253-DD2E-4AB8-AEDA-5326FAB7E1B3}"/>
              </a:ext>
            </a:extLst>
          </p:cNvPr>
          <p:cNvSpPr>
            <a:spLocks xmlns:a="http://schemas.openxmlformats.org/drawingml/2006/main" noGrp="1"/>
          </p:cNvSpPr>
          <p:nvPr/>
        </p:nvSpPr>
        <p:spPr>
          <a:xfrm xmlns:a="http://schemas.openxmlformats.org/drawingml/2006/main">
            <a:off x="9277350" y="3086100"/>
            <a:ext cx="20193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9359"/>
          </a:bodyPr>
          <a:lstStyle xmlns:a="http://schemas.openxmlformats.org/drawingml/2006/main"/>
          <a:p xmlns:a="http://schemas.openxmlformats.org/drawingml/2006/main">
            <a:pPr algn="ctr">
              <a:lnSpc>
                <a:spcPct val="104000"/>
              </a:lnSpc>
              <a:buNone/>
              <a:defRPr sz="1500" b="0">
                <a:solidFill>
                  <a:srgbClr val="17223B"/>
                </a:solidFill>
                <a:latin typeface="Arial"/>
                <a:ea typeface="Arial"/>
                <a:cs typeface="Arial"/>
              </a:defRPr>
            </a:pPr>
            <a:r>
              <a:rPr sz="1500" b="0">
                <a:solidFill>
                  <a:srgbClr val="17223B"/>
                </a:solidFill>
                <a:latin typeface="Arial"/>
                <a:ea typeface="Arial"/>
                <a:cs typeface="Arial"/>
              </a:rPr>
              <a:t>4,000 genes</a:t>
            </a:r>
          </a:p>
          <a:p xmlns:a="http://schemas.openxmlformats.org/drawingml/2006/main">
            <a:pPr algn="ctr">
              <a:lnSpc>
                <a:spcPct val="104000"/>
              </a:lnSpc>
              <a:buNone/>
              <a:defRPr sz="1500" b="0">
                <a:solidFill>
                  <a:srgbClr val="17223B"/>
                </a:solidFill>
                <a:latin typeface="Arial"/>
                <a:ea typeface="Arial"/>
                <a:cs typeface="Arial"/>
              </a:defRPr>
            </a:pPr>
            <a:r>
              <a:rPr sz="1500" b="0">
                <a:solidFill>
                  <a:srgbClr val="17223B"/>
                </a:solidFill>
                <a:latin typeface="Arial"/>
                <a:ea typeface="Arial"/>
                <a:cs typeface="Arial"/>
              </a:rPr>
              <a:t>39 surface proteins</a:t>
            </a:r>
          </a:p>
          <a:p xmlns:a="http://schemas.openxmlformats.org/drawingml/2006/main">
            <a:pPr algn="ctr">
              <a:lnSpc>
                <a:spcPct val="104000"/>
              </a:lnSpc>
              <a:buNone/>
              <a:defRPr sz="1500" b="0">
                <a:solidFill>
                  <a:srgbClr val="17223B"/>
                </a:solidFill>
                <a:latin typeface="Arial"/>
                <a:ea typeface="Arial"/>
                <a:cs typeface="Arial"/>
              </a:defRPr>
            </a:pPr>
            <a:r>
              <a:rPr sz="1500" b="0">
                <a:solidFill>
                  <a:srgbClr val="17223B"/>
                </a:solidFill>
                <a:latin typeface="Arial"/>
                <a:ea typeface="Arial"/>
                <a:cs typeface="Arial"/>
              </a:rPr>
              <a:t>16,382 cells</a:t>
            </a:r>
          </a:p>
        </p:txBody>
      </p:sp>
      <p:sp>
        <p:nvSpPr>
          <p:cNvPr id="20" name="">
            <a:extLst xmlns:a="http://schemas.openxmlformats.org/drawingml/2006/main">
              <a:ext uri="{FF2B5EF4-FFF2-40B4-BE49-F238E27FC236}">
                <a16:creationId xmlns:a16="http://schemas.microsoft.com/office/drawing/2014/main" id="{04428852-3CBD-421A-9509-563F966E59E4}"/>
              </a:ext>
            </a:extLst>
          </p:cNvPr>
          <p:cNvSpPr>
            <a:spLocks xmlns:a="http://schemas.openxmlformats.org/drawingml/2006/main" noGrp="1"/>
          </p:cNvSpPr>
          <p:nvPr/>
        </p:nvSpPr>
        <p:spPr>
          <a:xfrm xmlns:a="http://schemas.openxmlformats.org/drawingml/2006/main">
            <a:off x="685800" y="4572000"/>
            <a:ext cx="10801350" cy="19050"/>
          </a:xfrm>
          <a:prstGeom xmlns:a="http://schemas.openxmlformats.org/drawingml/2006/main" prst="rect">
            <a:avLst/>
          </a:prstGeom>
          <a:solidFill xmlns:a="http://schemas.openxmlformats.org/drawingml/2006/main">
            <a:srgbClr val="E7EAF0"/>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D6B2842-4A10-48F8-BB82-DC1D67BB593B}"/>
              </a:ext>
            </a:extLst>
          </p:cNvPr>
          <p:cNvSpPr>
            <a:spLocks xmlns:a="http://schemas.openxmlformats.org/drawingml/2006/main" noGrp="1"/>
          </p:cNvSpPr>
          <p:nvPr/>
        </p:nvSpPr>
        <p:spPr>
          <a:xfrm xmlns:a="http://schemas.openxmlformats.org/drawingml/2006/main">
            <a:off x="685800" y="4857750"/>
            <a:ext cx="161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6154"/>
          </a:bodyPr>
          <a:lstStyle xmlns:a="http://schemas.openxmlformats.org/drawingml/2006/main"/>
          <a:p xmlns:a="http://schemas.openxmlformats.org/drawingml/2006/main">
            <a:pPr algn="l">
              <a:lnSpc>
                <a:spcPct val="104000"/>
              </a:lnSpc>
              <a:buNone/>
              <a:defRPr sz="1275" b="1">
                <a:solidFill>
                  <a:srgbClr val="0D8A9A"/>
                </a:solidFill>
                <a:latin typeface="Arial"/>
                <a:ea typeface="Arial"/>
                <a:cs typeface="Arial"/>
              </a:defRPr>
            </a:pPr>
            <a:r>
              <a:rPr sz="1275" b="1">
                <a:solidFill>
                  <a:srgbClr val="0D8A9A"/>
                </a:solidFill>
                <a:latin typeface="Arial"/>
                <a:ea typeface="Arial"/>
                <a:cs typeface="Arial"/>
              </a:rPr>
              <a:t>Validation</a:t>
            </a:r>
          </a:p>
        </p:txBody>
      </p:sp>
      <p:sp>
        <p:nvSpPr>
          <p:cNvPr id="22" name="">
            <a:extLst xmlns:a="http://schemas.openxmlformats.org/drawingml/2006/main">
              <a:ext uri="{FF2B5EF4-FFF2-40B4-BE49-F238E27FC236}">
                <a16:creationId xmlns:a16="http://schemas.microsoft.com/office/drawing/2014/main" id="{0897D18C-2077-4580-AB77-0D92560D0F1A}"/>
              </a:ext>
            </a:extLst>
          </p:cNvPr>
          <p:cNvSpPr>
            <a:spLocks xmlns:a="http://schemas.openxmlformats.org/drawingml/2006/main" noGrp="1"/>
          </p:cNvSpPr>
          <p:nvPr/>
        </p:nvSpPr>
        <p:spPr>
          <a:xfrm xmlns:a="http://schemas.openxmlformats.org/drawingml/2006/main">
            <a:off x="685800" y="5219700"/>
            <a:ext cx="2952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100" b="1">
                <a:solidFill>
                  <a:srgbClr val="17223B"/>
                </a:solidFill>
                <a:latin typeface="Arial"/>
                <a:ea typeface="Arial"/>
                <a:cs typeface="Arial"/>
              </a:defRPr>
            </a:pPr>
            <a:r>
              <a:rPr sz="2100" b="1">
                <a:solidFill>
                  <a:srgbClr val="17223B"/>
                </a:solidFill>
                <a:latin typeface="Arial"/>
                <a:ea typeface="Arial"/>
                <a:cs typeface="Arial"/>
              </a:rPr>
              <a:t>Leave one donor out</a:t>
            </a:r>
          </a:p>
        </p:txBody>
      </p:sp>
      <p:sp>
        <p:nvSpPr>
          <p:cNvPr id="23" name="">
            <a:extLst xmlns:a="http://schemas.openxmlformats.org/drawingml/2006/main">
              <a:ext uri="{FF2B5EF4-FFF2-40B4-BE49-F238E27FC236}">
                <a16:creationId xmlns:a16="http://schemas.microsoft.com/office/drawing/2014/main" id="{6F13C78C-D019-457D-9D30-B578CAD807BF}"/>
              </a:ext>
            </a:extLst>
          </p:cNvPr>
          <p:cNvSpPr>
            <a:spLocks xmlns:a="http://schemas.openxmlformats.org/drawingml/2006/main" noGrp="1"/>
          </p:cNvSpPr>
          <p:nvPr/>
        </p:nvSpPr>
        <p:spPr>
          <a:xfrm xmlns:a="http://schemas.openxmlformats.org/drawingml/2006/main">
            <a:off x="4000500" y="521970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650" b="1">
                <a:solidFill>
                  <a:srgbClr val="223A69"/>
                </a:solidFill>
                <a:latin typeface="Arial"/>
                <a:ea typeface="Arial"/>
                <a:cs typeface="Arial"/>
              </a:defRPr>
            </a:pPr>
            <a:r>
              <a:rPr sz="1650" b="1">
                <a:solidFill>
                  <a:srgbClr val="223A69"/>
                </a:solidFill>
                <a:latin typeface="Arial"/>
                <a:ea typeface="Arial"/>
                <a:cs typeface="Arial"/>
              </a:rPr>
              <a:t>Train on 9 donors</a:t>
            </a:r>
          </a:p>
        </p:txBody>
      </p:sp>
      <p:sp>
        <p:nvSpPr>
          <p:cNvPr id="24" name="">
            <a:extLst xmlns:a="http://schemas.openxmlformats.org/drawingml/2006/main">
              <a:ext uri="{FF2B5EF4-FFF2-40B4-BE49-F238E27FC236}">
                <a16:creationId xmlns:a16="http://schemas.microsoft.com/office/drawing/2014/main" id="{C1BF4DCE-3F8E-4B7C-BA5B-5D4D70F928A8}"/>
              </a:ext>
            </a:extLst>
          </p:cNvPr>
          <p:cNvSpPr>
            <a:spLocks xmlns:a="http://schemas.openxmlformats.org/drawingml/2006/main" noGrp="1"/>
          </p:cNvSpPr>
          <p:nvPr/>
        </p:nvSpPr>
        <p:spPr>
          <a:xfrm xmlns:a="http://schemas.openxmlformats.org/drawingml/2006/main">
            <a:off x="6419850" y="5143500"/>
            <a:ext cx="666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0972"/>
          </a:bodyPr>
          <a:lstStyle xmlns:a="http://schemas.openxmlformats.org/drawingml/2006/main"/>
          <a:p xmlns:a="http://schemas.openxmlformats.org/drawingml/2006/main">
            <a:pPr algn="ctr">
              <a:lnSpc>
                <a:spcPct val="104000"/>
              </a:lnSpc>
              <a:buNone/>
              <a:defRPr sz="2850" b="1">
                <a:solidFill>
                  <a:srgbClr val="F15B64"/>
                </a:solidFill>
                <a:latin typeface="Arial"/>
                <a:ea typeface="Arial"/>
                <a:cs typeface="Arial"/>
              </a:defRPr>
            </a:pPr>
            <a:r>
              <a:rPr sz="2850" b="1">
                <a:solidFill>
                  <a:srgbClr val="F15B64"/>
                </a:solidFill>
                <a:latin typeface="Arial"/>
                <a:ea typeface="Arial"/>
                <a:cs typeface="Arial"/>
              </a:rPr>
              <a:t>→</a:t>
            </a:r>
          </a:p>
        </p:txBody>
      </p:sp>
      <p:sp>
        <p:nvSpPr>
          <p:cNvPr id="25" name="">
            <a:extLst xmlns:a="http://schemas.openxmlformats.org/drawingml/2006/main">
              <a:ext uri="{FF2B5EF4-FFF2-40B4-BE49-F238E27FC236}">
                <a16:creationId xmlns:a16="http://schemas.microsoft.com/office/drawing/2014/main" id="{68951F36-0D66-48BA-A722-C1C94269C6F7}"/>
              </a:ext>
            </a:extLst>
          </p:cNvPr>
          <p:cNvSpPr>
            <a:spLocks xmlns:a="http://schemas.openxmlformats.org/drawingml/2006/main" noGrp="1"/>
          </p:cNvSpPr>
          <p:nvPr/>
        </p:nvSpPr>
        <p:spPr>
          <a:xfrm xmlns:a="http://schemas.openxmlformats.org/drawingml/2006/main">
            <a:off x="7239000" y="5219700"/>
            <a:ext cx="314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ctr">
              <a:lnSpc>
                <a:spcPct val="104000"/>
              </a:lnSpc>
              <a:buNone/>
              <a:defRPr sz="1650" b="1">
                <a:solidFill>
                  <a:srgbClr val="223A69"/>
                </a:solidFill>
                <a:latin typeface="Arial"/>
                <a:ea typeface="Arial"/>
                <a:cs typeface="Arial"/>
              </a:defRPr>
            </a:pPr>
            <a:r>
              <a:rPr sz="1650" b="1">
                <a:solidFill>
                  <a:srgbClr val="223A69"/>
                </a:solidFill>
                <a:latin typeface="Arial"/>
                <a:ea typeface="Arial"/>
                <a:cs typeface="Arial"/>
              </a:rPr>
              <a:t>Test the unseen donor</a:t>
            </a:r>
          </a:p>
        </p:txBody>
      </p:sp>
      <p:sp>
        <p:nvSpPr>
          <p:cNvPr id="26" name="">
            <a:extLst xmlns:a="http://schemas.openxmlformats.org/drawingml/2006/main">
              <a:ext uri="{FF2B5EF4-FFF2-40B4-BE49-F238E27FC236}">
                <a16:creationId xmlns:a16="http://schemas.microsoft.com/office/drawing/2014/main" id="{36E94C29-730D-4102-BD33-1DAAF3426D6E}"/>
              </a:ext>
            </a:extLst>
          </p:cNvPr>
          <p:cNvSpPr>
            <a:spLocks xmlns:a="http://schemas.openxmlformats.org/drawingml/2006/main" noGrp="1"/>
          </p:cNvSpPr>
          <p:nvPr/>
        </p:nvSpPr>
        <p:spPr>
          <a:xfrm xmlns:a="http://schemas.openxmlformats.org/drawingml/2006/main">
            <a:off x="9144000" y="5905500"/>
            <a:ext cx="2286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587"/>
          </a:bodyPr>
          <a:lstStyle xmlns:a="http://schemas.openxmlformats.org/drawingml/2006/main"/>
          <a:p xmlns:a="http://schemas.openxmlformats.org/drawingml/2006/main">
            <a:pPr algn="r">
              <a:lnSpc>
                <a:spcPct val="104000"/>
              </a:lnSpc>
              <a:buNone/>
              <a:defRPr sz="1275" b="1">
                <a:solidFill>
                  <a:srgbClr val="687086"/>
                </a:solidFill>
                <a:latin typeface="Arial"/>
                <a:ea typeface="Arial"/>
                <a:cs typeface="Arial"/>
              </a:defRPr>
            </a:pPr>
            <a:r>
              <a:rPr sz="1275" b="1">
                <a:solidFill>
                  <a:srgbClr val="687086"/>
                </a:solidFill>
                <a:latin typeface="Arial"/>
                <a:ea typeface="Arial"/>
                <a:cs typeface="Arial"/>
              </a:rPr>
              <a:t>× 10 folds per model</a:t>
            </a:r>
          </a:p>
        </p:txBody>
      </p:sp>
    </p:spTree>
    <p:extLst>
      <p:ext uri="{BB962C8B-B14F-4D97-AF65-F5344CB8AC3E}">
        <p14:creationId xmlns:p14="http://schemas.microsoft.com/office/powerpoint/2010/main" val="212268520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8AA5161E-6705-47FB-B219-C21EADAB2360}"/>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FUSIONVI ARCHITECTURE</a:t>
            </a:r>
          </a:p>
        </p:txBody>
      </p:sp>
      <p:sp>
        <p:nvSpPr>
          <p:cNvPr id="2" name="">
            <a:extLst xmlns:a="http://schemas.openxmlformats.org/drawingml/2006/main">
              <a:ext uri="{FF2B5EF4-FFF2-40B4-BE49-F238E27FC236}">
                <a16:creationId xmlns:a16="http://schemas.microsoft.com/office/drawing/2014/main" id="{2053028A-CFAA-43DB-82A1-1E50AD225FC0}"/>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One controlled change to totalVI</a:t>
            </a:r>
          </a:p>
        </p:txBody>
      </p:sp>
      <p:sp>
        <p:nvSpPr>
          <p:cNvPr id="3" name="">
            <a:extLst xmlns:a="http://schemas.openxmlformats.org/drawingml/2006/main">
              <a:ext uri="{FF2B5EF4-FFF2-40B4-BE49-F238E27FC236}">
                <a16:creationId xmlns:a16="http://schemas.microsoft.com/office/drawing/2014/main" id="{73F92A8D-A7D1-46E2-92C6-BC0EE64806B1}"/>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B2D2EA-2F1F-4458-A0D9-6B7B5937D8A3}"/>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04</a:t>
            </a:r>
          </a:p>
        </p:txBody>
      </p:sp>
      <p:sp>
        <p:nvSpPr>
          <p:cNvPr id="5" name="">
            <a:extLst xmlns:a="http://schemas.openxmlformats.org/drawingml/2006/main">
              <a:ext uri="{FF2B5EF4-FFF2-40B4-BE49-F238E27FC236}">
                <a16:creationId xmlns:a16="http://schemas.microsoft.com/office/drawing/2014/main" id="{20F9DF1F-2E19-4D37-8BB5-A6A3BE66E829}"/>
              </a:ext>
            </a:extLst>
          </p:cNvPr>
          <p:cNvSpPr>
            <a:spLocks xmlns:a="http://schemas.openxmlformats.org/drawingml/2006/main" noGrp="1"/>
          </p:cNvSpPr>
          <p:nvPr/>
        </p:nvSpPr>
        <p:spPr>
          <a:xfrm xmlns:a="http://schemas.openxmlformats.org/drawingml/2006/main">
            <a:off x="762000" y="16002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6"/>
          </a:bodyPr>
          <a:lstStyle xmlns:a="http://schemas.openxmlformats.org/drawingml/2006/main"/>
          <a:p xmlns:a="http://schemas.openxmlformats.org/drawingml/2006/main">
            <a:pPr algn="l">
              <a:lnSpc>
                <a:spcPct val="104000"/>
              </a:lnSpc>
              <a:buNone/>
              <a:defRPr sz="1725" b="1">
                <a:solidFill>
                  <a:srgbClr val="5267D9"/>
                </a:solidFill>
                <a:latin typeface="Arial"/>
                <a:ea typeface="Arial"/>
                <a:cs typeface="Arial"/>
              </a:defRPr>
            </a:pPr>
            <a:r>
              <a:rPr sz="1725" b="1">
                <a:solidFill>
                  <a:srgbClr val="5267D9"/>
                </a:solidFill>
                <a:latin typeface="Arial"/>
                <a:ea typeface="Arial"/>
                <a:cs typeface="Arial"/>
              </a:rPr>
              <a:t>Standard totalVI</a:t>
            </a:r>
          </a:p>
        </p:txBody>
      </p:sp>
      <p:sp>
        <p:nvSpPr>
          <p:cNvPr id="6" name="">
            <a:extLst xmlns:a="http://schemas.openxmlformats.org/drawingml/2006/main">
              <a:ext uri="{FF2B5EF4-FFF2-40B4-BE49-F238E27FC236}">
                <a16:creationId xmlns:a16="http://schemas.microsoft.com/office/drawing/2014/main" id="{1FFCC3BE-6EB7-4193-BA43-6A7311DD729E}"/>
              </a:ext>
            </a:extLst>
          </p:cNvPr>
          <p:cNvSpPr>
            <a:spLocks xmlns:a="http://schemas.openxmlformats.org/drawingml/2006/main" noGrp="1"/>
          </p:cNvSpPr>
          <p:nvPr/>
        </p:nvSpPr>
        <p:spPr>
          <a:xfrm xmlns:a="http://schemas.openxmlformats.org/drawingml/2006/main">
            <a:off x="762000" y="2095500"/>
            <a:ext cx="2571750" cy="723900"/>
          </a:xfrm>
          <a:prstGeom xmlns:a="http://schemas.openxmlformats.org/drawingml/2006/main" prst="roundRect">
            <a:avLst>
              <a:gd name="adj" fmla="val 15789"/>
            </a:avLst>
          </a:prstGeom>
          <a:solidFill xmlns:a="http://schemas.openxmlformats.org/drawingml/2006/main">
            <a:srgbClr val="E7EA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146FDE6-5472-474A-860C-32378B68685C}"/>
              </a:ext>
            </a:extLst>
          </p:cNvPr>
          <p:cNvSpPr>
            <a:spLocks xmlns:a="http://schemas.openxmlformats.org/drawingml/2006/main" noGrp="1"/>
          </p:cNvSpPr>
          <p:nvPr/>
        </p:nvSpPr>
        <p:spPr>
          <a:xfrm xmlns:a="http://schemas.openxmlformats.org/drawingml/2006/main">
            <a:off x="933450" y="22669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41"/>
          </a:bodyPr>
          <a:lstStyle xmlns:a="http://schemas.openxmlformats.org/drawingml/2006/main"/>
          <a:p xmlns:a="http://schemas.openxmlformats.org/drawingml/2006/main">
            <a:pPr algn="ctr">
              <a:lnSpc>
                <a:spcPct val="104000"/>
              </a:lnSpc>
              <a:buNone/>
              <a:defRPr sz="1800" b="1">
                <a:solidFill>
                  <a:srgbClr val="17223B"/>
                </a:solidFill>
                <a:latin typeface="Arial"/>
                <a:ea typeface="Arial"/>
                <a:cs typeface="Arial"/>
              </a:defRPr>
            </a:pPr>
            <a:r>
              <a:rPr sz="1800" b="1">
                <a:solidFill>
                  <a:srgbClr val="17223B"/>
                </a:solidFill>
                <a:latin typeface="Arial"/>
                <a:ea typeface="Arial"/>
                <a:cs typeface="Arial"/>
              </a:rPr>
              <a:t>RNA + protein</a:t>
            </a:r>
          </a:p>
        </p:txBody>
      </p:sp>
      <p:sp>
        <p:nvSpPr>
          <p:cNvPr id="8" name="">
            <a:extLst xmlns:a="http://schemas.openxmlformats.org/drawingml/2006/main">
              <a:ext uri="{FF2B5EF4-FFF2-40B4-BE49-F238E27FC236}">
                <a16:creationId xmlns:a16="http://schemas.microsoft.com/office/drawing/2014/main" id="{C8CA4A03-43A9-4743-9946-5393957F48E8}"/>
              </a:ext>
            </a:extLst>
          </p:cNvPr>
          <p:cNvSpPr>
            <a:spLocks xmlns:a="http://schemas.openxmlformats.org/drawingml/2006/main" noGrp="1"/>
          </p:cNvSpPr>
          <p:nvPr/>
        </p:nvSpPr>
        <p:spPr>
          <a:xfrm xmlns:a="http://schemas.openxmlformats.org/drawingml/2006/main">
            <a:off x="3429000" y="219075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9" name="">
            <a:extLst xmlns:a="http://schemas.openxmlformats.org/drawingml/2006/main">
              <a:ext uri="{FF2B5EF4-FFF2-40B4-BE49-F238E27FC236}">
                <a16:creationId xmlns:a16="http://schemas.microsoft.com/office/drawing/2014/main" id="{246DF049-B256-486E-BA34-FBCA19F9DDFA}"/>
              </a:ext>
            </a:extLst>
          </p:cNvPr>
          <p:cNvSpPr>
            <a:spLocks xmlns:a="http://schemas.openxmlformats.org/drawingml/2006/main" noGrp="1"/>
          </p:cNvSpPr>
          <p:nvPr/>
        </p:nvSpPr>
        <p:spPr>
          <a:xfrm xmlns:a="http://schemas.openxmlformats.org/drawingml/2006/main">
            <a:off x="4076700" y="2000250"/>
            <a:ext cx="2238375" cy="914400"/>
          </a:xfrm>
          <a:prstGeom xmlns:a="http://schemas.openxmlformats.org/drawingml/2006/main" prst="roundRect">
            <a:avLst>
              <a:gd name="adj" fmla="val 12500"/>
            </a:avLst>
          </a:prstGeom>
          <a:solidFill xmlns:a="http://schemas.openxmlformats.org/drawingml/2006/main">
            <a:srgbClr val="EEE7FF"/>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626CF4E-220C-45DF-BB60-9AC974135818}"/>
              </a:ext>
            </a:extLst>
          </p:cNvPr>
          <p:cNvSpPr>
            <a:spLocks xmlns:a="http://schemas.openxmlformats.org/drawingml/2006/main" noGrp="1"/>
          </p:cNvSpPr>
          <p:nvPr/>
        </p:nvSpPr>
        <p:spPr>
          <a:xfrm xmlns:a="http://schemas.openxmlformats.org/drawingml/2006/main">
            <a:off x="4248150" y="2247900"/>
            <a:ext cx="1905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7436"/>
          </a:bodyPr>
          <a:lstStyle xmlns:a="http://schemas.openxmlformats.org/drawingml/2006/main"/>
          <a:p xmlns:a="http://schemas.openxmlformats.org/drawingml/2006/main">
            <a:pPr algn="ctr">
              <a:lnSpc>
                <a:spcPct val="104000"/>
              </a:lnSpc>
              <a:buNone/>
              <a:defRPr sz="1875" b="1">
                <a:solidFill>
                  <a:srgbClr val="6C3ED9"/>
                </a:solidFill>
                <a:latin typeface="Arial"/>
                <a:ea typeface="Arial"/>
                <a:cs typeface="Arial"/>
              </a:defRPr>
            </a:pPr>
            <a:r>
              <a:rPr sz="1875" b="1">
                <a:solidFill>
                  <a:srgbClr val="6C3ED9"/>
                </a:solidFill>
                <a:latin typeface="Arial"/>
                <a:ea typeface="Arial"/>
                <a:cs typeface="Arial"/>
              </a:rPr>
              <a:t>joint encoder</a:t>
            </a:r>
          </a:p>
        </p:txBody>
      </p:sp>
      <p:sp>
        <p:nvSpPr>
          <p:cNvPr id="11" name="">
            <a:extLst xmlns:a="http://schemas.openxmlformats.org/drawingml/2006/main">
              <a:ext uri="{FF2B5EF4-FFF2-40B4-BE49-F238E27FC236}">
                <a16:creationId xmlns:a16="http://schemas.microsoft.com/office/drawing/2014/main" id="{17A235A1-01C0-4E0D-9529-886BC27B7377}"/>
              </a:ext>
            </a:extLst>
          </p:cNvPr>
          <p:cNvSpPr>
            <a:spLocks xmlns:a="http://schemas.openxmlformats.org/drawingml/2006/main" noGrp="1"/>
          </p:cNvSpPr>
          <p:nvPr/>
        </p:nvSpPr>
        <p:spPr>
          <a:xfrm xmlns:a="http://schemas.openxmlformats.org/drawingml/2006/main">
            <a:off x="6419850" y="219075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12" name="">
            <a:extLst xmlns:a="http://schemas.openxmlformats.org/drawingml/2006/main">
              <a:ext uri="{FF2B5EF4-FFF2-40B4-BE49-F238E27FC236}">
                <a16:creationId xmlns:a16="http://schemas.microsoft.com/office/drawing/2014/main" id="{66B6C2DF-6447-4994-A568-248C2590CD21}"/>
              </a:ext>
            </a:extLst>
          </p:cNvPr>
          <p:cNvSpPr>
            <a:spLocks xmlns:a="http://schemas.openxmlformats.org/drawingml/2006/main" noGrp="1"/>
          </p:cNvSpPr>
          <p:nvPr/>
        </p:nvSpPr>
        <p:spPr>
          <a:xfrm xmlns:a="http://schemas.openxmlformats.org/drawingml/2006/main">
            <a:off x="7067550" y="2095500"/>
            <a:ext cx="1714500" cy="723900"/>
          </a:xfrm>
          <a:prstGeom xmlns:a="http://schemas.openxmlformats.org/drawingml/2006/main" prst="roundRect">
            <a:avLst>
              <a:gd name="adj" fmla="val 15789"/>
            </a:avLst>
          </a:prstGeom>
          <a:solidFill xmlns:a="http://schemas.openxmlformats.org/drawingml/2006/main">
            <a:srgbClr val="DDF3F2"/>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7774C9A-7332-4A2C-B87F-C59A5967830D}"/>
              </a:ext>
            </a:extLst>
          </p:cNvPr>
          <p:cNvSpPr>
            <a:spLocks xmlns:a="http://schemas.openxmlformats.org/drawingml/2006/main" noGrp="1"/>
          </p:cNvSpPr>
          <p:nvPr/>
        </p:nvSpPr>
        <p:spPr>
          <a:xfrm xmlns:a="http://schemas.openxmlformats.org/drawingml/2006/main">
            <a:off x="7239000" y="2266950"/>
            <a:ext cx="13716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141"/>
          </a:bodyPr>
          <a:lstStyle xmlns:a="http://schemas.openxmlformats.org/drawingml/2006/main"/>
          <a:p xmlns:a="http://schemas.openxmlformats.org/drawingml/2006/main">
            <a:pPr algn="ctr">
              <a:lnSpc>
                <a:spcPct val="104000"/>
              </a:lnSpc>
              <a:buNone/>
              <a:defRPr sz="1800" b="1">
                <a:solidFill>
                  <a:srgbClr val="0D8A9A"/>
                </a:solidFill>
                <a:latin typeface="Arial"/>
                <a:ea typeface="Arial"/>
                <a:cs typeface="Arial"/>
              </a:defRPr>
            </a:pPr>
            <a:r>
              <a:rPr sz="1800" b="1">
                <a:solidFill>
                  <a:srgbClr val="0D8A9A"/>
                </a:solidFill>
                <a:latin typeface="Arial"/>
                <a:ea typeface="Arial"/>
                <a:cs typeface="Arial"/>
              </a:rPr>
              <a:t>latent z</a:t>
            </a:r>
          </a:p>
        </p:txBody>
      </p:sp>
      <p:sp>
        <p:nvSpPr>
          <p:cNvPr id="14" name="">
            <a:extLst xmlns:a="http://schemas.openxmlformats.org/drawingml/2006/main">
              <a:ext uri="{FF2B5EF4-FFF2-40B4-BE49-F238E27FC236}">
                <a16:creationId xmlns:a16="http://schemas.microsoft.com/office/drawing/2014/main" id="{C6639B48-6BDA-4F31-A93E-0A361468AE4A}"/>
              </a:ext>
            </a:extLst>
          </p:cNvPr>
          <p:cNvSpPr>
            <a:spLocks xmlns:a="http://schemas.openxmlformats.org/drawingml/2006/main" noGrp="1"/>
          </p:cNvSpPr>
          <p:nvPr/>
        </p:nvSpPr>
        <p:spPr>
          <a:xfrm xmlns:a="http://schemas.openxmlformats.org/drawingml/2006/main">
            <a:off x="8877300" y="219075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15" name="">
            <a:extLst xmlns:a="http://schemas.openxmlformats.org/drawingml/2006/main">
              <a:ext uri="{FF2B5EF4-FFF2-40B4-BE49-F238E27FC236}">
                <a16:creationId xmlns:a16="http://schemas.microsoft.com/office/drawing/2014/main" id="{F2403AB5-383A-47F7-8B41-80C61CDD38E8}"/>
              </a:ext>
            </a:extLst>
          </p:cNvPr>
          <p:cNvSpPr>
            <a:spLocks xmlns:a="http://schemas.openxmlformats.org/drawingml/2006/main" noGrp="1"/>
          </p:cNvSpPr>
          <p:nvPr/>
        </p:nvSpPr>
        <p:spPr>
          <a:xfrm xmlns:a="http://schemas.openxmlformats.org/drawingml/2006/main">
            <a:off x="9525000" y="2000250"/>
            <a:ext cx="1905000" cy="914400"/>
          </a:xfrm>
          <a:prstGeom xmlns:a="http://schemas.openxmlformats.org/drawingml/2006/main" prst="roundRect">
            <a:avLst>
              <a:gd name="adj" fmla="val 12500"/>
            </a:avLst>
          </a:prstGeom>
          <a:solidFill xmlns:a="http://schemas.openxmlformats.org/drawingml/2006/main">
            <a:srgbClr val="FFE7E5"/>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D61CD377-C962-485B-85B2-ED10FE5AFDD3}"/>
              </a:ext>
            </a:extLst>
          </p:cNvPr>
          <p:cNvSpPr>
            <a:spLocks xmlns:a="http://schemas.openxmlformats.org/drawingml/2006/main" noGrp="1"/>
          </p:cNvSpPr>
          <p:nvPr/>
        </p:nvSpPr>
        <p:spPr>
          <a:xfrm xmlns:a="http://schemas.openxmlformats.org/drawingml/2006/main">
            <a:off x="9696450" y="2152650"/>
            <a:ext cx="15621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7793"/>
          </a:bodyPr>
          <a:lstStyle xmlns:a="http://schemas.openxmlformats.org/drawingml/2006/main"/>
          <a:p xmlns:a="http://schemas.openxmlformats.org/drawingml/2006/main">
            <a:pPr algn="ctr">
              <a:lnSpc>
                <a:spcPct val="104000"/>
              </a:lnSpc>
              <a:buNone/>
              <a:defRPr sz="1725" b="1">
                <a:solidFill>
                  <a:srgbClr val="F15B64"/>
                </a:solidFill>
                <a:latin typeface="Arial"/>
                <a:ea typeface="Arial"/>
                <a:cs typeface="Arial"/>
              </a:defRPr>
            </a:pPr>
            <a:r>
              <a:rPr sz="1725" b="1">
                <a:solidFill>
                  <a:srgbClr val="F15B64"/>
                </a:solidFill>
                <a:latin typeface="Arial"/>
                <a:ea typeface="Arial"/>
                <a:cs typeface="Arial"/>
              </a:rPr>
              <a:t>totalVI</a:t>
            </a:r>
          </a:p>
          <a:p xmlns:a="http://schemas.openxmlformats.org/drawingml/2006/main">
            <a:pPr algn="ctr">
              <a:lnSpc>
                <a:spcPct val="104000"/>
              </a:lnSpc>
              <a:buNone/>
              <a:defRPr sz="1725" b="1">
                <a:solidFill>
                  <a:srgbClr val="F15B64"/>
                </a:solidFill>
                <a:latin typeface="Arial"/>
                <a:ea typeface="Arial"/>
                <a:cs typeface="Arial"/>
              </a:defRPr>
            </a:pPr>
            <a:r>
              <a:rPr sz="1725" b="1">
                <a:solidFill>
                  <a:srgbClr val="F15B64"/>
                </a:solidFill>
                <a:latin typeface="Arial"/>
                <a:ea typeface="Arial"/>
                <a:cs typeface="Arial"/>
              </a:rPr>
              <a:t>decoders</a:t>
            </a:r>
          </a:p>
        </p:txBody>
      </p:sp>
      <p:sp>
        <p:nvSpPr>
          <p:cNvPr id="17" name="">
            <a:extLst xmlns:a="http://schemas.openxmlformats.org/drawingml/2006/main">
              <a:ext uri="{FF2B5EF4-FFF2-40B4-BE49-F238E27FC236}">
                <a16:creationId xmlns:a16="http://schemas.microsoft.com/office/drawing/2014/main" id="{208846D2-124A-43B0-9519-ACBDBFD4DEFE}"/>
              </a:ext>
            </a:extLst>
          </p:cNvPr>
          <p:cNvSpPr>
            <a:spLocks xmlns:a="http://schemas.openxmlformats.org/drawingml/2006/main" noGrp="1"/>
          </p:cNvSpPr>
          <p:nvPr/>
        </p:nvSpPr>
        <p:spPr>
          <a:xfrm xmlns:a="http://schemas.openxmlformats.org/drawingml/2006/main">
            <a:off x="762000" y="3390900"/>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006"/>
          </a:bodyPr>
          <a:lstStyle xmlns:a="http://schemas.openxmlformats.org/drawingml/2006/main"/>
          <a:p xmlns:a="http://schemas.openxmlformats.org/drawingml/2006/main">
            <a:pPr algn="l">
              <a:lnSpc>
                <a:spcPct val="104000"/>
              </a:lnSpc>
              <a:buNone/>
              <a:defRPr sz="1725" b="1">
                <a:solidFill>
                  <a:srgbClr val="F15B64"/>
                </a:solidFill>
                <a:latin typeface="Arial"/>
                <a:ea typeface="Arial"/>
                <a:cs typeface="Arial"/>
              </a:defRPr>
            </a:pPr>
            <a:r>
              <a:rPr sz="1725" b="1">
                <a:solidFill>
                  <a:srgbClr val="F15B64"/>
                </a:solidFill>
                <a:latin typeface="Arial"/>
                <a:ea typeface="Arial"/>
                <a:cs typeface="Arial"/>
              </a:rPr>
              <a:t>FusionVI</a:t>
            </a:r>
          </a:p>
        </p:txBody>
      </p:sp>
      <p:sp>
        <p:nvSpPr>
          <p:cNvPr id="18" name="">
            <a:extLst xmlns:a="http://schemas.openxmlformats.org/drawingml/2006/main">
              <a:ext uri="{FF2B5EF4-FFF2-40B4-BE49-F238E27FC236}">
                <a16:creationId xmlns:a16="http://schemas.microsoft.com/office/drawing/2014/main" id="{F593E9B4-075C-4B30-B818-C58B94A416E3}"/>
              </a:ext>
            </a:extLst>
          </p:cNvPr>
          <p:cNvSpPr>
            <a:spLocks xmlns:a="http://schemas.openxmlformats.org/drawingml/2006/main" noGrp="1"/>
          </p:cNvSpPr>
          <p:nvPr/>
        </p:nvSpPr>
        <p:spPr>
          <a:xfrm xmlns:a="http://schemas.openxmlformats.org/drawingml/2006/main">
            <a:off x="762000" y="3924300"/>
            <a:ext cx="1752600" cy="590550"/>
          </a:xfrm>
          <a:prstGeom xmlns:a="http://schemas.openxmlformats.org/drawingml/2006/main" prst="roundRect">
            <a:avLst>
              <a:gd name="adj" fmla="val 19355"/>
            </a:avLst>
          </a:prstGeom>
          <a:solidFill xmlns:a="http://schemas.openxmlformats.org/drawingml/2006/main">
            <a:srgbClr val="DDF3F2"/>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9D2EB76E-67F8-4DD9-8E80-D44523C89B85}"/>
              </a:ext>
            </a:extLst>
          </p:cNvPr>
          <p:cNvSpPr>
            <a:spLocks xmlns:a="http://schemas.openxmlformats.org/drawingml/2006/main" noGrp="1"/>
          </p:cNvSpPr>
          <p:nvPr/>
        </p:nvSpPr>
        <p:spPr>
          <a:xfrm xmlns:a="http://schemas.openxmlformats.org/drawingml/2006/main">
            <a:off x="914400" y="40386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6"/>
          </a:bodyPr>
          <a:lstStyle xmlns:a="http://schemas.openxmlformats.org/drawingml/2006/main"/>
          <a:p xmlns:a="http://schemas.openxmlformats.org/drawingml/2006/main">
            <a:pPr algn="ctr">
              <a:lnSpc>
                <a:spcPct val="104000"/>
              </a:lnSpc>
              <a:buNone/>
              <a:defRPr sz="1725" b="1">
                <a:solidFill>
                  <a:srgbClr val="0D8A9A"/>
                </a:solidFill>
                <a:latin typeface="Arial"/>
                <a:ea typeface="Arial"/>
                <a:cs typeface="Arial"/>
              </a:defRPr>
            </a:pPr>
            <a:r>
              <a:rPr sz="1725" b="1">
                <a:solidFill>
                  <a:srgbClr val="0D8A9A"/>
                </a:solidFill>
                <a:latin typeface="Arial"/>
                <a:ea typeface="Arial"/>
                <a:cs typeface="Arial"/>
              </a:rPr>
              <a:t>RNA</a:t>
            </a:r>
          </a:p>
        </p:txBody>
      </p:sp>
      <p:sp>
        <p:nvSpPr>
          <p:cNvPr id="20" name="">
            <a:extLst xmlns:a="http://schemas.openxmlformats.org/drawingml/2006/main">
              <a:ext uri="{FF2B5EF4-FFF2-40B4-BE49-F238E27FC236}">
                <a16:creationId xmlns:a16="http://schemas.microsoft.com/office/drawing/2014/main" id="{F31273C9-7673-4608-A57C-D4ACD3B45D90}"/>
              </a:ext>
            </a:extLst>
          </p:cNvPr>
          <p:cNvSpPr>
            <a:spLocks xmlns:a="http://schemas.openxmlformats.org/drawingml/2006/main" noGrp="1"/>
          </p:cNvSpPr>
          <p:nvPr/>
        </p:nvSpPr>
        <p:spPr>
          <a:xfrm xmlns:a="http://schemas.openxmlformats.org/drawingml/2006/main">
            <a:off x="762000" y="4762500"/>
            <a:ext cx="1752600" cy="590550"/>
          </a:xfrm>
          <a:prstGeom xmlns:a="http://schemas.openxmlformats.org/drawingml/2006/main" prst="roundRect">
            <a:avLst>
              <a:gd name="adj" fmla="val 19355"/>
            </a:avLst>
          </a:prstGeom>
          <a:solidFill xmlns:a="http://schemas.openxmlformats.org/drawingml/2006/main">
            <a:srgbClr val="EEE7FF"/>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F09512D0-1302-4F2A-9636-1C9FC1D8BAC6}"/>
              </a:ext>
            </a:extLst>
          </p:cNvPr>
          <p:cNvSpPr>
            <a:spLocks xmlns:a="http://schemas.openxmlformats.org/drawingml/2006/main" noGrp="1"/>
          </p:cNvSpPr>
          <p:nvPr/>
        </p:nvSpPr>
        <p:spPr>
          <a:xfrm xmlns:a="http://schemas.openxmlformats.org/drawingml/2006/main">
            <a:off x="914400" y="4876800"/>
            <a:ext cx="1447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5006"/>
          </a:bodyPr>
          <a:lstStyle xmlns:a="http://schemas.openxmlformats.org/drawingml/2006/main"/>
          <a:p xmlns:a="http://schemas.openxmlformats.org/drawingml/2006/main">
            <a:pPr algn="ctr">
              <a:lnSpc>
                <a:spcPct val="104000"/>
              </a:lnSpc>
              <a:buNone/>
              <a:defRPr sz="1725" b="1">
                <a:solidFill>
                  <a:srgbClr val="6C3ED9"/>
                </a:solidFill>
                <a:latin typeface="Arial"/>
                <a:ea typeface="Arial"/>
                <a:cs typeface="Arial"/>
              </a:defRPr>
            </a:pPr>
            <a:r>
              <a:rPr sz="1725" b="1">
                <a:solidFill>
                  <a:srgbClr val="6C3ED9"/>
                </a:solidFill>
                <a:latin typeface="Arial"/>
                <a:ea typeface="Arial"/>
                <a:cs typeface="Arial"/>
              </a:rPr>
              <a:t>protein</a:t>
            </a:r>
          </a:p>
        </p:txBody>
      </p:sp>
      <p:sp>
        <p:nvSpPr>
          <p:cNvPr id="22" name="">
            <a:extLst xmlns:a="http://schemas.openxmlformats.org/drawingml/2006/main">
              <a:ext uri="{FF2B5EF4-FFF2-40B4-BE49-F238E27FC236}">
                <a16:creationId xmlns:a16="http://schemas.microsoft.com/office/drawing/2014/main" id="{82AD3B9A-ECD9-42D8-A18F-F0AFC1E4C008}"/>
              </a:ext>
            </a:extLst>
          </p:cNvPr>
          <p:cNvSpPr>
            <a:spLocks xmlns:a="http://schemas.openxmlformats.org/drawingml/2006/main" noGrp="1"/>
          </p:cNvSpPr>
          <p:nvPr/>
        </p:nvSpPr>
        <p:spPr>
          <a:xfrm xmlns:a="http://schemas.openxmlformats.org/drawingml/2006/main">
            <a:off x="2628900" y="4095750"/>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114"/>
          </a:bodyPr>
          <a:lstStyle xmlns:a="http://schemas.openxmlformats.org/drawingml/2006/main"/>
          <a:p xmlns:a="http://schemas.openxmlformats.org/drawingml/2006/main">
            <a:pPr algn="ctr">
              <a:lnSpc>
                <a:spcPct val="104000"/>
              </a:lnSpc>
              <a:buNone/>
              <a:defRPr sz="2400" b="1">
                <a:solidFill>
                  <a:srgbClr val="687086"/>
                </a:solidFill>
                <a:latin typeface="Arial"/>
                <a:ea typeface="Arial"/>
                <a:cs typeface="Arial"/>
              </a:defRPr>
            </a:pPr>
            <a:r>
              <a:rPr sz="2400" b="1">
                <a:solidFill>
                  <a:srgbClr val="687086"/>
                </a:solidFill>
                <a:latin typeface="Arial"/>
                <a:ea typeface="Arial"/>
                <a:cs typeface="Arial"/>
              </a:rPr>
              <a:t>→</a:t>
            </a:r>
          </a:p>
        </p:txBody>
      </p:sp>
      <p:sp>
        <p:nvSpPr>
          <p:cNvPr id="23" name="">
            <a:extLst xmlns:a="http://schemas.openxmlformats.org/drawingml/2006/main">
              <a:ext uri="{FF2B5EF4-FFF2-40B4-BE49-F238E27FC236}">
                <a16:creationId xmlns:a16="http://schemas.microsoft.com/office/drawing/2014/main" id="{CF1D093F-24F6-488B-92D7-1A6FC7CECC96}"/>
              </a:ext>
            </a:extLst>
          </p:cNvPr>
          <p:cNvSpPr>
            <a:spLocks xmlns:a="http://schemas.openxmlformats.org/drawingml/2006/main" noGrp="1"/>
          </p:cNvSpPr>
          <p:nvPr/>
        </p:nvSpPr>
        <p:spPr>
          <a:xfrm xmlns:a="http://schemas.openxmlformats.org/drawingml/2006/main">
            <a:off x="2628900" y="4933950"/>
            <a:ext cx="53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1114"/>
          </a:bodyPr>
          <a:lstStyle xmlns:a="http://schemas.openxmlformats.org/drawingml/2006/main"/>
          <a:p xmlns:a="http://schemas.openxmlformats.org/drawingml/2006/main">
            <a:pPr algn="ctr">
              <a:lnSpc>
                <a:spcPct val="104000"/>
              </a:lnSpc>
              <a:buNone/>
              <a:defRPr sz="2400" b="1">
                <a:solidFill>
                  <a:srgbClr val="687086"/>
                </a:solidFill>
                <a:latin typeface="Arial"/>
                <a:ea typeface="Arial"/>
                <a:cs typeface="Arial"/>
              </a:defRPr>
            </a:pPr>
            <a:r>
              <a:rPr sz="2400" b="1">
                <a:solidFill>
                  <a:srgbClr val="687086"/>
                </a:solidFill>
                <a:latin typeface="Arial"/>
                <a:ea typeface="Arial"/>
                <a:cs typeface="Arial"/>
              </a:rPr>
              <a:t>→</a:t>
            </a:r>
          </a:p>
        </p:txBody>
      </p:sp>
      <p:sp>
        <p:nvSpPr>
          <p:cNvPr id="24" name="">
            <a:extLst xmlns:a="http://schemas.openxmlformats.org/drawingml/2006/main">
              <a:ext uri="{FF2B5EF4-FFF2-40B4-BE49-F238E27FC236}">
                <a16:creationId xmlns:a16="http://schemas.microsoft.com/office/drawing/2014/main" id="{C9863E2B-BB06-4FFE-8B61-3AAB91744E5D}"/>
              </a:ext>
            </a:extLst>
          </p:cNvPr>
          <p:cNvSpPr>
            <a:spLocks xmlns:a="http://schemas.openxmlformats.org/drawingml/2006/main" noGrp="1"/>
          </p:cNvSpPr>
          <p:nvPr/>
        </p:nvSpPr>
        <p:spPr>
          <a:xfrm xmlns:a="http://schemas.openxmlformats.org/drawingml/2006/main">
            <a:off x="3238500" y="3790950"/>
            <a:ext cx="2019300" cy="742950"/>
          </a:xfrm>
          <a:prstGeom xmlns:a="http://schemas.openxmlformats.org/drawingml/2006/main" prst="roundRect">
            <a:avLst>
              <a:gd name="adj" fmla="val 15385"/>
            </a:avLst>
          </a:prstGeom>
          <a:solidFill xmlns:a="http://schemas.openxmlformats.org/drawingml/2006/main">
            <a:srgbClr val="DDF3F2"/>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987498E6-8F11-4EF2-BDF8-0FDF235FE07B}"/>
              </a:ext>
            </a:extLst>
          </p:cNvPr>
          <p:cNvSpPr>
            <a:spLocks xmlns:a="http://schemas.openxmlformats.org/drawingml/2006/main" noGrp="1"/>
          </p:cNvSpPr>
          <p:nvPr/>
        </p:nvSpPr>
        <p:spPr>
          <a:xfrm xmlns:a="http://schemas.openxmlformats.org/drawingml/2006/main">
            <a:off x="3390900" y="39814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54"/>
          </a:bodyPr>
          <a:lstStyle xmlns:a="http://schemas.openxmlformats.org/drawingml/2006/main"/>
          <a:p xmlns:a="http://schemas.openxmlformats.org/drawingml/2006/main">
            <a:pPr algn="ctr">
              <a:lnSpc>
                <a:spcPct val="104000"/>
              </a:lnSpc>
              <a:buNone/>
              <a:defRPr sz="1650" b="1">
                <a:solidFill>
                  <a:srgbClr val="0D8A9A"/>
                </a:solidFill>
                <a:latin typeface="Arial"/>
                <a:ea typeface="Arial"/>
                <a:cs typeface="Arial"/>
              </a:defRPr>
            </a:pPr>
            <a:r>
              <a:rPr sz="1650" b="1">
                <a:solidFill>
                  <a:srgbClr val="0D8A9A"/>
                </a:solidFill>
                <a:latin typeface="Arial"/>
                <a:ea typeface="Arial"/>
                <a:cs typeface="Arial"/>
              </a:rPr>
              <a:t>RNA encoder</a:t>
            </a:r>
          </a:p>
        </p:txBody>
      </p:sp>
      <p:sp>
        <p:nvSpPr>
          <p:cNvPr id="26" name="">
            <a:extLst xmlns:a="http://schemas.openxmlformats.org/drawingml/2006/main">
              <a:ext uri="{FF2B5EF4-FFF2-40B4-BE49-F238E27FC236}">
                <a16:creationId xmlns:a16="http://schemas.microsoft.com/office/drawing/2014/main" id="{77E72247-4C7E-4E42-9340-E3BBB4A342D9}"/>
              </a:ext>
            </a:extLst>
          </p:cNvPr>
          <p:cNvSpPr>
            <a:spLocks xmlns:a="http://schemas.openxmlformats.org/drawingml/2006/main" noGrp="1"/>
          </p:cNvSpPr>
          <p:nvPr/>
        </p:nvSpPr>
        <p:spPr>
          <a:xfrm xmlns:a="http://schemas.openxmlformats.org/drawingml/2006/main">
            <a:off x="3238500" y="4629150"/>
            <a:ext cx="2019300" cy="742950"/>
          </a:xfrm>
          <a:prstGeom xmlns:a="http://schemas.openxmlformats.org/drawingml/2006/main" prst="roundRect">
            <a:avLst>
              <a:gd name="adj" fmla="val 15385"/>
            </a:avLst>
          </a:prstGeom>
          <a:solidFill xmlns:a="http://schemas.openxmlformats.org/drawingml/2006/main">
            <a:srgbClr val="EEE7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E6AED076-C884-4D3E-AE17-FBAE83E9FC46}"/>
              </a:ext>
            </a:extLst>
          </p:cNvPr>
          <p:cNvSpPr>
            <a:spLocks xmlns:a="http://schemas.openxmlformats.org/drawingml/2006/main" noGrp="1"/>
          </p:cNvSpPr>
          <p:nvPr/>
        </p:nvSpPr>
        <p:spPr>
          <a:xfrm xmlns:a="http://schemas.openxmlformats.org/drawingml/2006/main">
            <a:off x="3390900" y="4819650"/>
            <a:ext cx="1714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54"/>
          </a:bodyPr>
          <a:lstStyle xmlns:a="http://schemas.openxmlformats.org/drawingml/2006/main"/>
          <a:p xmlns:a="http://schemas.openxmlformats.org/drawingml/2006/main">
            <a:pPr algn="ctr">
              <a:lnSpc>
                <a:spcPct val="104000"/>
              </a:lnSpc>
              <a:buNone/>
              <a:defRPr sz="1650" b="1">
                <a:solidFill>
                  <a:srgbClr val="6C3ED9"/>
                </a:solidFill>
                <a:latin typeface="Arial"/>
                <a:ea typeface="Arial"/>
                <a:cs typeface="Arial"/>
              </a:defRPr>
            </a:pPr>
            <a:r>
              <a:rPr sz="1650" b="1">
                <a:solidFill>
                  <a:srgbClr val="6C3ED9"/>
                </a:solidFill>
                <a:latin typeface="Arial"/>
                <a:ea typeface="Arial"/>
                <a:cs typeface="Arial"/>
              </a:rPr>
              <a:t>protein encoder</a:t>
            </a:r>
          </a:p>
        </p:txBody>
      </p:sp>
      <p:sp>
        <p:nvSpPr>
          <p:cNvPr id="28" name="">
            <a:extLst xmlns:a="http://schemas.openxmlformats.org/drawingml/2006/main">
              <a:ext uri="{FF2B5EF4-FFF2-40B4-BE49-F238E27FC236}">
                <a16:creationId xmlns:a16="http://schemas.microsoft.com/office/drawing/2014/main" id="{E00C5719-2A12-4FC3-844C-CC4F2CA48C4F}"/>
              </a:ext>
            </a:extLst>
          </p:cNvPr>
          <p:cNvSpPr>
            <a:spLocks xmlns:a="http://schemas.openxmlformats.org/drawingml/2006/main" noGrp="1"/>
          </p:cNvSpPr>
          <p:nvPr/>
        </p:nvSpPr>
        <p:spPr>
          <a:xfrm xmlns:a="http://schemas.openxmlformats.org/drawingml/2006/main">
            <a:off x="5391150" y="4114800"/>
            <a:ext cx="552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29" name="">
            <a:extLst xmlns:a="http://schemas.openxmlformats.org/drawingml/2006/main">
              <a:ext uri="{FF2B5EF4-FFF2-40B4-BE49-F238E27FC236}">
                <a16:creationId xmlns:a16="http://schemas.microsoft.com/office/drawing/2014/main" id="{6884C575-6EC5-4EF7-A868-D8843790A7E1}"/>
              </a:ext>
            </a:extLst>
          </p:cNvPr>
          <p:cNvSpPr>
            <a:spLocks xmlns:a="http://schemas.openxmlformats.org/drawingml/2006/main" noGrp="1"/>
          </p:cNvSpPr>
          <p:nvPr/>
        </p:nvSpPr>
        <p:spPr>
          <a:xfrm xmlns:a="http://schemas.openxmlformats.org/drawingml/2006/main">
            <a:off x="5391150" y="4781550"/>
            <a:ext cx="5524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30" name="">
            <a:extLst xmlns:a="http://schemas.openxmlformats.org/drawingml/2006/main">
              <a:ext uri="{FF2B5EF4-FFF2-40B4-BE49-F238E27FC236}">
                <a16:creationId xmlns:a16="http://schemas.microsoft.com/office/drawing/2014/main" id="{50ADE323-F9E2-4C70-B421-E1D57CA6A3F0}"/>
              </a:ext>
            </a:extLst>
          </p:cNvPr>
          <p:cNvSpPr>
            <a:spLocks xmlns:a="http://schemas.openxmlformats.org/drawingml/2006/main" noGrp="1"/>
          </p:cNvSpPr>
          <p:nvPr/>
        </p:nvSpPr>
        <p:spPr>
          <a:xfrm xmlns:a="http://schemas.openxmlformats.org/drawingml/2006/main">
            <a:off x="5962650" y="4095750"/>
            <a:ext cx="1809750" cy="971550"/>
          </a:xfrm>
          <a:prstGeom xmlns:a="http://schemas.openxmlformats.org/drawingml/2006/main" prst="roundRect">
            <a:avLst>
              <a:gd name="adj" fmla="val 15686"/>
            </a:avLst>
          </a:prstGeom>
          <a:solidFill xmlns:a="http://schemas.openxmlformats.org/drawingml/2006/main">
            <a:srgbClr val="FFE7E5"/>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AD58CFEE-B208-4AB6-954C-0DEAD36851DD}"/>
              </a:ext>
            </a:extLst>
          </p:cNvPr>
          <p:cNvSpPr>
            <a:spLocks xmlns:a="http://schemas.openxmlformats.org/drawingml/2006/main" noGrp="1"/>
          </p:cNvSpPr>
          <p:nvPr/>
        </p:nvSpPr>
        <p:spPr>
          <a:xfrm xmlns:a="http://schemas.openxmlformats.org/drawingml/2006/main">
            <a:off x="6153150" y="4267200"/>
            <a:ext cx="14287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0812"/>
          </a:bodyPr>
          <a:lstStyle xmlns:a="http://schemas.openxmlformats.org/drawingml/2006/main"/>
          <a:p xmlns:a="http://schemas.openxmlformats.org/drawingml/2006/main">
            <a:pPr algn="ctr">
              <a:lnSpc>
                <a:spcPct val="104000"/>
              </a:lnSpc>
              <a:buNone/>
              <a:defRPr sz="1800" b="1">
                <a:solidFill>
                  <a:srgbClr val="F15B64"/>
                </a:solidFill>
                <a:latin typeface="Arial"/>
                <a:ea typeface="Arial"/>
                <a:cs typeface="Arial"/>
              </a:defRPr>
            </a:pPr>
            <a:r>
              <a:rPr sz="1800" b="1">
                <a:solidFill>
                  <a:srgbClr val="F15B64"/>
                </a:solidFill>
                <a:latin typeface="Arial"/>
                <a:ea typeface="Arial"/>
                <a:cs typeface="Arial"/>
              </a:rPr>
              <a:t>per-cell</a:t>
            </a:r>
          </a:p>
          <a:p xmlns:a="http://schemas.openxmlformats.org/drawingml/2006/main">
            <a:pPr algn="ctr">
              <a:lnSpc>
                <a:spcPct val="104000"/>
              </a:lnSpc>
              <a:buNone/>
              <a:defRPr sz="1800" b="1">
                <a:solidFill>
                  <a:srgbClr val="F15B64"/>
                </a:solidFill>
                <a:latin typeface="Arial"/>
                <a:ea typeface="Arial"/>
                <a:cs typeface="Arial"/>
              </a:defRPr>
            </a:pPr>
            <a:r>
              <a:rPr sz="1800" b="1">
                <a:solidFill>
                  <a:srgbClr val="F15B64"/>
                </a:solidFill>
                <a:latin typeface="Arial"/>
                <a:ea typeface="Arial"/>
                <a:cs typeface="Arial"/>
              </a:rPr>
              <a:t>scalar gate</a:t>
            </a:r>
          </a:p>
        </p:txBody>
      </p:sp>
      <p:sp>
        <p:nvSpPr>
          <p:cNvPr id="32" name="">
            <a:extLst xmlns:a="http://schemas.openxmlformats.org/drawingml/2006/main">
              <a:ext uri="{FF2B5EF4-FFF2-40B4-BE49-F238E27FC236}">
                <a16:creationId xmlns:a16="http://schemas.microsoft.com/office/drawing/2014/main" id="{C60C7223-0D9B-442D-94DD-67D94BEE5393}"/>
              </a:ext>
            </a:extLst>
          </p:cNvPr>
          <p:cNvSpPr>
            <a:spLocks xmlns:a="http://schemas.openxmlformats.org/drawingml/2006/main" noGrp="1"/>
          </p:cNvSpPr>
          <p:nvPr/>
        </p:nvSpPr>
        <p:spPr>
          <a:xfrm xmlns:a="http://schemas.openxmlformats.org/drawingml/2006/main">
            <a:off x="7867650" y="4381500"/>
            <a:ext cx="57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357"/>
          </a:bodyPr>
          <a:lstStyle xmlns:a="http://schemas.openxmlformats.org/drawingml/2006/main"/>
          <a:p xmlns:a="http://schemas.openxmlformats.org/drawingml/2006/main">
            <a:pPr algn="ctr">
              <a:lnSpc>
                <a:spcPct val="104000"/>
              </a:lnSpc>
              <a:buNone/>
              <a:defRPr sz="2550" b="1">
                <a:solidFill>
                  <a:srgbClr val="687086"/>
                </a:solidFill>
                <a:latin typeface="Arial"/>
                <a:ea typeface="Arial"/>
                <a:cs typeface="Arial"/>
              </a:defRPr>
            </a:pPr>
            <a:r>
              <a:rPr sz="2550" b="1">
                <a:solidFill>
                  <a:srgbClr val="687086"/>
                </a:solidFill>
                <a:latin typeface="Arial"/>
                <a:ea typeface="Arial"/>
                <a:cs typeface="Arial"/>
              </a:rPr>
              <a:t>→</a:t>
            </a:r>
          </a:p>
        </p:txBody>
      </p:sp>
      <p:sp>
        <p:nvSpPr>
          <p:cNvPr id="33" name="">
            <a:extLst xmlns:a="http://schemas.openxmlformats.org/drawingml/2006/main">
              <a:ext uri="{FF2B5EF4-FFF2-40B4-BE49-F238E27FC236}">
                <a16:creationId xmlns:a16="http://schemas.microsoft.com/office/drawing/2014/main" id="{8583466A-B858-437C-A33C-6BD0D22B9341}"/>
              </a:ext>
            </a:extLst>
          </p:cNvPr>
          <p:cNvSpPr>
            <a:spLocks xmlns:a="http://schemas.openxmlformats.org/drawingml/2006/main" noGrp="1"/>
          </p:cNvSpPr>
          <p:nvPr/>
        </p:nvSpPr>
        <p:spPr>
          <a:xfrm xmlns:a="http://schemas.openxmlformats.org/drawingml/2006/main">
            <a:off x="8515350" y="4210050"/>
            <a:ext cx="1238250" cy="723900"/>
          </a:xfrm>
          <a:prstGeom xmlns:a="http://schemas.openxmlformats.org/drawingml/2006/main" prst="roundRect">
            <a:avLst>
              <a:gd name="adj" fmla="val 15789"/>
            </a:avLst>
          </a:prstGeom>
          <a:solidFill xmlns:a="http://schemas.openxmlformats.org/drawingml/2006/main">
            <a:srgbClr val="DDF3F2"/>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DA74A5A-C135-47F0-9571-7D63873E9301}"/>
              </a:ext>
            </a:extLst>
          </p:cNvPr>
          <p:cNvSpPr>
            <a:spLocks xmlns:a="http://schemas.openxmlformats.org/drawingml/2006/main" noGrp="1"/>
          </p:cNvSpPr>
          <p:nvPr/>
        </p:nvSpPr>
        <p:spPr>
          <a:xfrm xmlns:a="http://schemas.openxmlformats.org/drawingml/2006/main">
            <a:off x="8667750" y="4381500"/>
            <a:ext cx="9334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54"/>
          </a:bodyPr>
          <a:lstStyle xmlns:a="http://schemas.openxmlformats.org/drawingml/2006/main"/>
          <a:p xmlns:a="http://schemas.openxmlformats.org/drawingml/2006/main">
            <a:pPr algn="ctr">
              <a:lnSpc>
                <a:spcPct val="104000"/>
              </a:lnSpc>
              <a:buNone/>
              <a:defRPr sz="1650" b="1">
                <a:solidFill>
                  <a:srgbClr val="0D8A9A"/>
                </a:solidFill>
                <a:latin typeface="Arial"/>
                <a:ea typeface="Arial"/>
                <a:cs typeface="Arial"/>
              </a:defRPr>
            </a:pPr>
            <a:r>
              <a:rPr sz="1650" b="1">
                <a:solidFill>
                  <a:srgbClr val="0D8A9A"/>
                </a:solidFill>
                <a:latin typeface="Arial"/>
                <a:ea typeface="Arial"/>
                <a:cs typeface="Arial"/>
              </a:rPr>
              <a:t>latent z</a:t>
            </a:r>
          </a:p>
        </p:txBody>
      </p:sp>
      <p:sp>
        <p:nvSpPr>
          <p:cNvPr id="35" name="">
            <a:extLst xmlns:a="http://schemas.openxmlformats.org/drawingml/2006/main">
              <a:ext uri="{FF2B5EF4-FFF2-40B4-BE49-F238E27FC236}">
                <a16:creationId xmlns:a16="http://schemas.microsoft.com/office/drawing/2014/main" id="{D51943B1-4AFB-4A8E-A45D-9A8451F1A2AE}"/>
              </a:ext>
            </a:extLst>
          </p:cNvPr>
          <p:cNvSpPr>
            <a:spLocks xmlns:a="http://schemas.openxmlformats.org/drawingml/2006/main" noGrp="1"/>
          </p:cNvSpPr>
          <p:nvPr/>
        </p:nvSpPr>
        <p:spPr>
          <a:xfrm xmlns:a="http://schemas.openxmlformats.org/drawingml/2006/main">
            <a:off x="9829800" y="4381500"/>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130"/>
          </a:bodyPr>
          <a:lstStyle xmlns:a="http://schemas.openxmlformats.org/drawingml/2006/main"/>
          <a:p xmlns:a="http://schemas.openxmlformats.org/drawingml/2006/main">
            <a:pPr algn="ctr">
              <a:lnSpc>
                <a:spcPct val="104000"/>
              </a:lnSpc>
              <a:buNone/>
              <a:defRPr sz="2400" b="1">
                <a:solidFill>
                  <a:srgbClr val="687086"/>
                </a:solidFill>
                <a:latin typeface="Arial"/>
                <a:ea typeface="Arial"/>
                <a:cs typeface="Arial"/>
              </a:defRPr>
            </a:pPr>
            <a:r>
              <a:rPr sz="2400" b="1">
                <a:solidFill>
                  <a:srgbClr val="687086"/>
                </a:solidFill>
                <a:latin typeface="Arial"/>
                <a:ea typeface="Arial"/>
                <a:cs typeface="Arial"/>
              </a:rPr>
              <a:t>→</a:t>
            </a:r>
          </a:p>
        </p:txBody>
      </p:sp>
      <p:sp>
        <p:nvSpPr>
          <p:cNvPr id="36" name="">
            <a:extLst xmlns:a="http://schemas.openxmlformats.org/drawingml/2006/main">
              <a:ext uri="{FF2B5EF4-FFF2-40B4-BE49-F238E27FC236}">
                <a16:creationId xmlns:a16="http://schemas.microsoft.com/office/drawing/2014/main" id="{190E27FC-C377-4D87-9C62-A3B95E20FF7D}"/>
              </a:ext>
            </a:extLst>
          </p:cNvPr>
          <p:cNvSpPr>
            <a:spLocks xmlns:a="http://schemas.openxmlformats.org/drawingml/2006/main" noGrp="1"/>
          </p:cNvSpPr>
          <p:nvPr/>
        </p:nvSpPr>
        <p:spPr>
          <a:xfrm xmlns:a="http://schemas.openxmlformats.org/drawingml/2006/main">
            <a:off x="10382250" y="4095750"/>
            <a:ext cx="1123950" cy="971550"/>
          </a:xfrm>
          <a:prstGeom xmlns:a="http://schemas.openxmlformats.org/drawingml/2006/main" prst="roundRect">
            <a:avLst>
              <a:gd name="adj" fmla="val 11765"/>
            </a:avLst>
          </a:prstGeom>
          <a:solidFill xmlns:a="http://schemas.openxmlformats.org/drawingml/2006/main">
            <a:srgbClr val="FFE7E5"/>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878CB63F-60A4-4335-AD15-6F2EE8E7BAF0}"/>
              </a:ext>
            </a:extLst>
          </p:cNvPr>
          <p:cNvSpPr>
            <a:spLocks xmlns:a="http://schemas.openxmlformats.org/drawingml/2006/main" noGrp="1"/>
          </p:cNvSpPr>
          <p:nvPr/>
        </p:nvSpPr>
        <p:spPr>
          <a:xfrm xmlns:a="http://schemas.openxmlformats.org/drawingml/2006/main">
            <a:off x="10477500" y="4267200"/>
            <a:ext cx="9334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8882"/>
          </a:bodyPr>
          <a:lstStyle xmlns:a="http://schemas.openxmlformats.org/drawingml/2006/main"/>
          <a:p xmlns:a="http://schemas.openxmlformats.org/drawingml/2006/main">
            <a:pPr algn="ctr">
              <a:lnSpc>
                <a:spcPct val="104000"/>
              </a:lnSpc>
              <a:buNone/>
              <a:defRPr sz="1500" b="1">
                <a:solidFill>
                  <a:srgbClr val="F15B64"/>
                </a:solidFill>
                <a:latin typeface="Arial"/>
                <a:ea typeface="Arial"/>
                <a:cs typeface="Arial"/>
              </a:defRPr>
            </a:pPr>
            <a:r>
              <a:rPr sz="1500" b="1">
                <a:solidFill>
                  <a:srgbClr val="F15B64"/>
                </a:solidFill>
                <a:latin typeface="Arial"/>
                <a:ea typeface="Arial"/>
                <a:cs typeface="Arial"/>
              </a:rPr>
              <a:t>same</a:t>
            </a:r>
          </a:p>
          <a:p xmlns:a="http://schemas.openxmlformats.org/drawingml/2006/main">
            <a:pPr algn="ctr">
              <a:lnSpc>
                <a:spcPct val="104000"/>
              </a:lnSpc>
              <a:buNone/>
              <a:defRPr sz="1500" b="1">
                <a:solidFill>
                  <a:srgbClr val="F15B64"/>
                </a:solidFill>
                <a:latin typeface="Arial"/>
                <a:ea typeface="Arial"/>
                <a:cs typeface="Arial"/>
              </a:defRPr>
            </a:pPr>
            <a:r>
              <a:rPr sz="1500" b="1">
                <a:solidFill>
                  <a:srgbClr val="F15B64"/>
                </a:solidFill>
                <a:latin typeface="Arial"/>
                <a:ea typeface="Arial"/>
                <a:cs typeface="Arial"/>
              </a:rPr>
              <a:t>decoders</a:t>
            </a:r>
          </a:p>
        </p:txBody>
      </p:sp>
      <p:sp>
        <p:nvSpPr>
          <p:cNvPr id="38" name="">
            <a:extLst xmlns:a="http://schemas.openxmlformats.org/drawingml/2006/main">
              <a:ext uri="{FF2B5EF4-FFF2-40B4-BE49-F238E27FC236}">
                <a16:creationId xmlns:a16="http://schemas.microsoft.com/office/drawing/2014/main" id="{15EF91BD-9C62-428A-ABDF-70376B40885C}"/>
              </a:ext>
            </a:extLst>
          </p:cNvPr>
          <p:cNvSpPr>
            <a:spLocks xmlns:a="http://schemas.openxmlformats.org/drawingml/2006/main" noGrp="1"/>
          </p:cNvSpPr>
          <p:nvPr/>
        </p:nvSpPr>
        <p:spPr>
          <a:xfrm xmlns:a="http://schemas.openxmlformats.org/drawingml/2006/main">
            <a:off x="800100" y="5924550"/>
            <a:ext cx="1524000" cy="361950"/>
          </a:xfrm>
          <a:prstGeom xmlns:a="http://schemas.openxmlformats.org/drawingml/2006/main" prst="roundRect">
            <a:avLst>
              <a:gd name="adj" fmla="val 42105"/>
            </a:avLst>
          </a:prstGeom>
          <a:solidFill xmlns:a="http://schemas.openxmlformats.org/drawingml/2006/main">
            <a:srgbClr val="E7EAF0"/>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1AB4C1C2-42A0-46DD-8F4A-57AEBBA6571C}"/>
              </a:ext>
            </a:extLst>
          </p:cNvPr>
          <p:cNvSpPr>
            <a:spLocks xmlns:a="http://schemas.openxmlformats.org/drawingml/2006/main" noGrp="1"/>
          </p:cNvSpPr>
          <p:nvPr/>
        </p:nvSpPr>
        <p:spPr>
          <a:xfrm xmlns:a="http://schemas.openxmlformats.org/drawingml/2006/main">
            <a:off x="876300" y="5972175"/>
            <a:ext cx="137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223A69"/>
                </a:solidFill>
                <a:latin typeface="Arial"/>
                <a:ea typeface="Arial"/>
                <a:cs typeface="Arial"/>
              </a:defRPr>
            </a:pPr>
            <a:r>
              <a:rPr sz="1200" b="1">
                <a:solidFill>
                  <a:srgbClr val="223A69"/>
                </a:solidFill>
                <a:latin typeface="Arial"/>
                <a:ea typeface="Arial"/>
                <a:cs typeface="Arial"/>
              </a:rPr>
              <a:t>Same ELBO</a:t>
            </a:r>
          </a:p>
        </p:txBody>
      </p:sp>
      <p:sp>
        <p:nvSpPr>
          <p:cNvPr id="40" name="">
            <a:extLst xmlns:a="http://schemas.openxmlformats.org/drawingml/2006/main">
              <a:ext uri="{FF2B5EF4-FFF2-40B4-BE49-F238E27FC236}">
                <a16:creationId xmlns:a16="http://schemas.microsoft.com/office/drawing/2014/main" id="{2777B081-D642-4372-B4E7-99DD1E62C8F2}"/>
              </a:ext>
            </a:extLst>
          </p:cNvPr>
          <p:cNvSpPr>
            <a:spLocks xmlns:a="http://schemas.openxmlformats.org/drawingml/2006/main" noGrp="1"/>
          </p:cNvSpPr>
          <p:nvPr/>
        </p:nvSpPr>
        <p:spPr>
          <a:xfrm xmlns:a="http://schemas.openxmlformats.org/drawingml/2006/main">
            <a:off x="2476500" y="5924550"/>
            <a:ext cx="1809750" cy="361950"/>
          </a:xfrm>
          <a:prstGeom xmlns:a="http://schemas.openxmlformats.org/drawingml/2006/main" prst="roundRect">
            <a:avLst>
              <a:gd name="adj" fmla="val 42105"/>
            </a:avLst>
          </a:prstGeom>
          <a:solidFill xmlns:a="http://schemas.openxmlformats.org/drawingml/2006/main">
            <a:srgbClr val="E7EAF0"/>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7071228A-9E0F-4940-9C9E-1D1DF7225C02}"/>
              </a:ext>
            </a:extLst>
          </p:cNvPr>
          <p:cNvSpPr>
            <a:spLocks xmlns:a="http://schemas.openxmlformats.org/drawingml/2006/main" noGrp="1"/>
          </p:cNvSpPr>
          <p:nvPr/>
        </p:nvSpPr>
        <p:spPr>
          <a:xfrm xmlns:a="http://schemas.openxmlformats.org/drawingml/2006/main">
            <a:off x="2552700" y="5972175"/>
            <a:ext cx="1657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223A69"/>
                </a:solidFill>
                <a:latin typeface="Arial"/>
                <a:ea typeface="Arial"/>
                <a:cs typeface="Arial"/>
              </a:defRPr>
            </a:pPr>
            <a:r>
              <a:rPr sz="1200" b="1">
                <a:solidFill>
                  <a:srgbClr val="223A69"/>
                </a:solidFill>
                <a:latin typeface="Arial"/>
                <a:ea typeface="Arial"/>
                <a:cs typeface="Arial"/>
              </a:rPr>
              <a:t>Same likelihoods</a:t>
            </a:r>
          </a:p>
        </p:txBody>
      </p:sp>
      <p:sp>
        <p:nvSpPr>
          <p:cNvPr id="42" name="">
            <a:extLst xmlns:a="http://schemas.openxmlformats.org/drawingml/2006/main">
              <a:ext uri="{FF2B5EF4-FFF2-40B4-BE49-F238E27FC236}">
                <a16:creationId xmlns:a16="http://schemas.microsoft.com/office/drawing/2014/main" id="{DFCE7E27-43C8-4E06-BFA7-6672E21DD02F}"/>
              </a:ext>
            </a:extLst>
          </p:cNvPr>
          <p:cNvSpPr>
            <a:spLocks xmlns:a="http://schemas.openxmlformats.org/drawingml/2006/main" noGrp="1"/>
          </p:cNvSpPr>
          <p:nvPr/>
        </p:nvSpPr>
        <p:spPr>
          <a:xfrm xmlns:a="http://schemas.openxmlformats.org/drawingml/2006/main">
            <a:off x="4438650" y="5924550"/>
            <a:ext cx="1524000" cy="361950"/>
          </a:xfrm>
          <a:prstGeom xmlns:a="http://schemas.openxmlformats.org/drawingml/2006/main" prst="roundRect">
            <a:avLst>
              <a:gd name="adj" fmla="val 42105"/>
            </a:avLst>
          </a:prstGeom>
          <a:solidFill xmlns:a="http://schemas.openxmlformats.org/drawingml/2006/main">
            <a:srgbClr val="E7EAF0"/>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8799457B-080D-45DA-AF0C-8E1626C63CB6}"/>
              </a:ext>
            </a:extLst>
          </p:cNvPr>
          <p:cNvSpPr>
            <a:spLocks xmlns:a="http://schemas.openxmlformats.org/drawingml/2006/main" noGrp="1"/>
          </p:cNvSpPr>
          <p:nvPr/>
        </p:nvSpPr>
        <p:spPr>
          <a:xfrm xmlns:a="http://schemas.openxmlformats.org/drawingml/2006/main">
            <a:off x="4514850" y="5972175"/>
            <a:ext cx="1371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223A69"/>
                </a:solidFill>
                <a:latin typeface="Arial"/>
                <a:ea typeface="Arial"/>
                <a:cs typeface="Arial"/>
              </a:defRPr>
            </a:pPr>
            <a:r>
              <a:rPr sz="1200" b="1">
                <a:solidFill>
                  <a:srgbClr val="223A69"/>
                </a:solidFill>
                <a:latin typeface="Arial"/>
                <a:ea typeface="Arial"/>
                <a:cs typeface="Arial"/>
              </a:rPr>
              <a:t>15-D latent</a:t>
            </a:r>
          </a:p>
        </p:txBody>
      </p:sp>
      <p:sp>
        <p:nvSpPr>
          <p:cNvPr id="44" name="">
            <a:extLst xmlns:a="http://schemas.openxmlformats.org/drawingml/2006/main">
              <a:ext uri="{FF2B5EF4-FFF2-40B4-BE49-F238E27FC236}">
                <a16:creationId xmlns:a16="http://schemas.microsoft.com/office/drawing/2014/main" id="{4DE841AA-0982-49A2-BF13-9E7076469A25}"/>
              </a:ext>
            </a:extLst>
          </p:cNvPr>
          <p:cNvSpPr>
            <a:spLocks xmlns:a="http://schemas.openxmlformats.org/drawingml/2006/main" noGrp="1"/>
          </p:cNvSpPr>
          <p:nvPr/>
        </p:nvSpPr>
        <p:spPr>
          <a:xfrm xmlns:a="http://schemas.openxmlformats.org/drawingml/2006/main">
            <a:off x="6115050" y="5924550"/>
            <a:ext cx="2476500" cy="361950"/>
          </a:xfrm>
          <a:prstGeom xmlns:a="http://schemas.openxmlformats.org/drawingml/2006/main" prst="roundRect">
            <a:avLst>
              <a:gd name="adj" fmla="val 42105"/>
            </a:avLst>
          </a:prstGeom>
          <a:solidFill xmlns:a="http://schemas.openxmlformats.org/drawingml/2006/main">
            <a:srgbClr val="E7EAF0"/>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9EAE5A91-ABB0-470E-B62B-82E63F58E7F4}"/>
              </a:ext>
            </a:extLst>
          </p:cNvPr>
          <p:cNvSpPr>
            <a:spLocks xmlns:a="http://schemas.openxmlformats.org/drawingml/2006/main" noGrp="1"/>
          </p:cNvSpPr>
          <p:nvPr/>
        </p:nvSpPr>
        <p:spPr>
          <a:xfrm xmlns:a="http://schemas.openxmlformats.org/drawingml/2006/main">
            <a:off x="6191250" y="5972175"/>
            <a:ext cx="2324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223A69"/>
                </a:solidFill>
                <a:latin typeface="Arial"/>
                <a:ea typeface="Arial"/>
                <a:cs typeface="Arial"/>
              </a:defRPr>
            </a:pPr>
            <a:r>
              <a:rPr sz="1200" b="1">
                <a:solidFill>
                  <a:srgbClr val="223A69"/>
                </a:solidFill>
                <a:latin typeface="Arial"/>
                <a:ea typeface="Arial"/>
                <a:cs typeface="Arial"/>
              </a:rPr>
              <a:t>20.5% fewer parameters</a:t>
            </a:r>
          </a:p>
        </p:txBody>
      </p:sp>
    </p:spTree>
    <p:extLst>
      <p:ext uri="{BB962C8B-B14F-4D97-AF65-F5344CB8AC3E}">
        <p14:creationId xmlns:p14="http://schemas.microsoft.com/office/powerpoint/2010/main" val="903252201"/>
      </p:ext>
    </p:extLst>
  </p:cSld>
</p:sld>
</file>

<file path=ppt/slides/slide5.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06C0B087-5C9E-42A9-B88D-06343B3C27F4}"/>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EVALUATION PLAN</a:t>
            </a:r>
          </a:p>
        </p:txBody>
      </p:sp>
      <p:sp>
        <p:nvSpPr>
          <p:cNvPr id="2" name="">
            <a:extLst xmlns:a="http://schemas.openxmlformats.org/drawingml/2006/main">
              <a:ext uri="{FF2B5EF4-FFF2-40B4-BE49-F238E27FC236}">
                <a16:creationId xmlns:a16="http://schemas.microsoft.com/office/drawing/2014/main" id="{608C678F-7981-45D7-AEEF-8BC5F3A2BB5E}"/>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The test targets biology that the encoder cannot copy</a:t>
            </a:r>
          </a:p>
        </p:txBody>
      </p:sp>
      <p:sp>
        <p:nvSpPr>
          <p:cNvPr id="3" name="">
            <a:extLst xmlns:a="http://schemas.openxmlformats.org/drawingml/2006/main">
              <a:ext uri="{FF2B5EF4-FFF2-40B4-BE49-F238E27FC236}">
                <a16:creationId xmlns:a16="http://schemas.microsoft.com/office/drawing/2014/main" id="{0035F6E4-B24F-4A4D-B9A0-E955056F3D0D}"/>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2311372-61F2-4C04-B532-A23523B5687A}"/>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05</a:t>
            </a:r>
          </a:p>
        </p:txBody>
      </p:sp>
      <p:sp>
        <p:nvSpPr>
          <p:cNvPr id="5" name="">
            <a:extLst xmlns:a="http://schemas.openxmlformats.org/drawingml/2006/main">
              <a:ext uri="{FF2B5EF4-FFF2-40B4-BE49-F238E27FC236}">
                <a16:creationId xmlns:a16="http://schemas.microsoft.com/office/drawing/2014/main" id="{FBA5034B-AC96-4A13-BB5A-0457F41006C2}"/>
              </a:ext>
            </a:extLst>
          </p:cNvPr>
          <p:cNvSpPr>
            <a:spLocks xmlns:a="http://schemas.openxmlformats.org/drawingml/2006/main" noGrp="1"/>
          </p:cNvSpPr>
          <p:nvPr/>
        </p:nvSpPr>
        <p:spPr>
          <a:xfrm xmlns:a="http://schemas.openxmlformats.org/drawingml/2006/main">
            <a:off x="762000" y="16573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54"/>
          </a:bodyPr>
          <a:lstStyle xmlns:a="http://schemas.openxmlformats.org/drawingml/2006/main"/>
          <a:p xmlns:a="http://schemas.openxmlformats.org/drawingml/2006/main">
            <a:pPr algn="ctr">
              <a:lnSpc>
                <a:spcPct val="104000"/>
              </a:lnSpc>
              <a:buNone/>
              <a:defRPr sz="3150" b="1">
                <a:solidFill>
                  <a:srgbClr val="F15B64"/>
                </a:solidFill>
                <a:latin typeface="Arial"/>
                <a:ea typeface="Arial"/>
                <a:cs typeface="Arial"/>
              </a:defRPr>
            </a:pPr>
            <a:r>
              <a:rPr sz="3150" b="1">
                <a:solidFill>
                  <a:srgbClr val="F15B64"/>
                </a:solidFill>
                <a:latin typeface="Arial"/>
                <a:ea typeface="Arial"/>
                <a:cs typeface="Arial"/>
              </a:rPr>
              <a:t>1</a:t>
            </a:r>
          </a:p>
        </p:txBody>
      </p:sp>
      <p:sp>
        <p:nvSpPr>
          <p:cNvPr id="6" name="">
            <a:extLst xmlns:a="http://schemas.openxmlformats.org/drawingml/2006/main">
              <a:ext uri="{FF2B5EF4-FFF2-40B4-BE49-F238E27FC236}">
                <a16:creationId xmlns:a16="http://schemas.microsoft.com/office/drawing/2014/main" id="{09F19C5E-9A12-41F9-9265-975188F2AE8E}"/>
              </a:ext>
            </a:extLst>
          </p:cNvPr>
          <p:cNvSpPr>
            <a:spLocks xmlns:a="http://schemas.openxmlformats.org/drawingml/2006/main" noGrp="1"/>
          </p:cNvSpPr>
          <p:nvPr/>
        </p:nvSpPr>
        <p:spPr>
          <a:xfrm xmlns:a="http://schemas.openxmlformats.org/drawingml/2006/main">
            <a:off x="1428750" y="1676400"/>
            <a:ext cx="4000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348"/>
          </a:bodyPr>
          <a:lstStyle xmlns:a="http://schemas.openxmlformats.org/drawingml/2006/main"/>
          <a:p xmlns:a="http://schemas.openxmlformats.org/drawingml/2006/main">
            <a:pPr algn="l">
              <a:lnSpc>
                <a:spcPct val="104000"/>
              </a:lnSpc>
              <a:buNone/>
              <a:defRPr sz="2025" b="1">
                <a:solidFill>
                  <a:srgbClr val="17223B"/>
                </a:solidFill>
                <a:latin typeface="Arial"/>
                <a:ea typeface="Arial"/>
                <a:cs typeface="Arial"/>
              </a:defRPr>
            </a:pPr>
            <a:r>
              <a:rPr sz="2025" b="1">
                <a:solidFill>
                  <a:srgbClr val="17223B"/>
                </a:solidFill>
                <a:latin typeface="Arial"/>
                <a:ea typeface="Arial"/>
                <a:cs typeface="Arial"/>
              </a:rPr>
              <a:t>Hide activation proteins</a:t>
            </a:r>
          </a:p>
        </p:txBody>
      </p:sp>
      <p:sp>
        <p:nvSpPr>
          <p:cNvPr id="7" name="">
            <a:extLst xmlns:a="http://schemas.openxmlformats.org/drawingml/2006/main">
              <a:ext uri="{FF2B5EF4-FFF2-40B4-BE49-F238E27FC236}">
                <a16:creationId xmlns:a16="http://schemas.microsoft.com/office/drawing/2014/main" id="{78D67DF5-1B67-4E3B-B190-3E1ED9300728}"/>
              </a:ext>
            </a:extLst>
          </p:cNvPr>
          <p:cNvSpPr>
            <a:spLocks xmlns:a="http://schemas.openxmlformats.org/drawingml/2006/main" noGrp="1"/>
          </p:cNvSpPr>
          <p:nvPr/>
        </p:nvSpPr>
        <p:spPr>
          <a:xfrm xmlns:a="http://schemas.openxmlformats.org/drawingml/2006/main">
            <a:off x="1428750" y="2076450"/>
            <a:ext cx="4476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425" b="0">
                <a:solidFill>
                  <a:srgbClr val="687086"/>
                </a:solidFill>
                <a:latin typeface="Arial"/>
                <a:ea typeface="Arial"/>
                <a:cs typeface="Arial"/>
              </a:defRPr>
            </a:pPr>
            <a:r>
              <a:rPr sz="1425" b="0">
                <a:solidFill>
                  <a:srgbClr val="687086"/>
                </a:solidFill>
                <a:latin typeface="Arial"/>
                <a:ea typeface="Arial"/>
                <a:cs typeface="Arial"/>
              </a:rPr>
              <a:t>CD25, CD69 and HLA-DR are zeroed at encoder input, then reconstructed by the decoder.</a:t>
            </a:r>
          </a:p>
        </p:txBody>
      </p:sp>
      <p:sp>
        <p:nvSpPr>
          <p:cNvPr id="8" name="">
            <a:extLst xmlns:a="http://schemas.openxmlformats.org/drawingml/2006/main">
              <a:ext uri="{FF2B5EF4-FFF2-40B4-BE49-F238E27FC236}">
                <a16:creationId xmlns:a16="http://schemas.microsoft.com/office/drawing/2014/main" id="{CFEDB82A-EB71-452C-9BBB-3996E717AF1A}"/>
              </a:ext>
            </a:extLst>
          </p:cNvPr>
          <p:cNvSpPr>
            <a:spLocks xmlns:a="http://schemas.openxmlformats.org/drawingml/2006/main" noGrp="1"/>
          </p:cNvSpPr>
          <p:nvPr/>
        </p:nvSpPr>
        <p:spPr>
          <a:xfrm xmlns:a="http://schemas.openxmlformats.org/drawingml/2006/main">
            <a:off x="6381750" y="1657350"/>
            <a:ext cx="571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6154"/>
          </a:bodyPr>
          <a:lstStyle xmlns:a="http://schemas.openxmlformats.org/drawingml/2006/main"/>
          <a:p xmlns:a="http://schemas.openxmlformats.org/drawingml/2006/main">
            <a:pPr algn="ctr">
              <a:lnSpc>
                <a:spcPct val="104000"/>
              </a:lnSpc>
              <a:buNone/>
              <a:defRPr sz="3150" b="1">
                <a:solidFill>
                  <a:srgbClr val="F15B64"/>
                </a:solidFill>
                <a:latin typeface="Arial"/>
                <a:ea typeface="Arial"/>
                <a:cs typeface="Arial"/>
              </a:defRPr>
            </a:pPr>
            <a:r>
              <a:rPr sz="3150" b="1">
                <a:solidFill>
                  <a:srgbClr val="F15B64"/>
                </a:solidFill>
                <a:latin typeface="Arial"/>
                <a:ea typeface="Arial"/>
                <a:cs typeface="Arial"/>
              </a:rPr>
              <a:t>2</a:t>
            </a:r>
          </a:p>
        </p:txBody>
      </p:sp>
      <p:sp>
        <p:nvSpPr>
          <p:cNvPr id="9" name="">
            <a:extLst xmlns:a="http://schemas.openxmlformats.org/drawingml/2006/main">
              <a:ext uri="{FF2B5EF4-FFF2-40B4-BE49-F238E27FC236}">
                <a16:creationId xmlns:a16="http://schemas.microsoft.com/office/drawing/2014/main" id="{8A386331-7027-4C97-8F16-BE54BB0159A3}"/>
              </a:ext>
            </a:extLst>
          </p:cNvPr>
          <p:cNvSpPr>
            <a:spLocks xmlns:a="http://schemas.openxmlformats.org/drawingml/2006/main" noGrp="1"/>
          </p:cNvSpPr>
          <p:nvPr/>
        </p:nvSpPr>
        <p:spPr>
          <a:xfrm xmlns:a="http://schemas.openxmlformats.org/drawingml/2006/main">
            <a:off x="7048500" y="1676400"/>
            <a:ext cx="4095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8348"/>
          </a:bodyPr>
          <a:lstStyle xmlns:a="http://schemas.openxmlformats.org/drawingml/2006/main"/>
          <a:p xmlns:a="http://schemas.openxmlformats.org/drawingml/2006/main">
            <a:pPr algn="l">
              <a:lnSpc>
                <a:spcPct val="104000"/>
              </a:lnSpc>
              <a:buNone/>
              <a:defRPr sz="2025" b="1">
                <a:solidFill>
                  <a:srgbClr val="17223B"/>
                </a:solidFill>
                <a:latin typeface="Arial"/>
                <a:ea typeface="Arial"/>
                <a:cs typeface="Arial"/>
              </a:defRPr>
            </a:pPr>
            <a:r>
              <a:rPr sz="2025" b="1">
                <a:solidFill>
                  <a:srgbClr val="17223B"/>
                </a:solidFill>
                <a:latin typeface="Arial"/>
                <a:ea typeface="Arial"/>
                <a:cs typeface="Arial"/>
              </a:rPr>
              <a:t>Stress RNA-protein disagreement</a:t>
            </a:r>
          </a:p>
        </p:txBody>
      </p:sp>
      <p:sp>
        <p:nvSpPr>
          <p:cNvPr id="10" name="">
            <a:extLst xmlns:a="http://schemas.openxmlformats.org/drawingml/2006/main">
              <a:ext uri="{FF2B5EF4-FFF2-40B4-BE49-F238E27FC236}">
                <a16:creationId xmlns:a16="http://schemas.microsoft.com/office/drawing/2014/main" id="{6B78FBE4-AD39-41F5-9648-671FEC16AB0C}"/>
              </a:ext>
            </a:extLst>
          </p:cNvPr>
          <p:cNvSpPr>
            <a:spLocks xmlns:a="http://schemas.openxmlformats.org/drawingml/2006/main" noGrp="1"/>
          </p:cNvSpPr>
          <p:nvPr/>
        </p:nvSpPr>
        <p:spPr>
          <a:xfrm xmlns:a="http://schemas.openxmlformats.org/drawingml/2006/main">
            <a:off x="7048500" y="2076450"/>
            <a:ext cx="43815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425" b="0">
                <a:solidFill>
                  <a:srgbClr val="687086"/>
                </a:solidFill>
                <a:latin typeface="Arial"/>
                <a:ea typeface="Arial"/>
                <a:cs typeface="Arial"/>
              </a:defRPr>
            </a:pPr>
            <a:r>
              <a:rPr sz="1425" b="0">
                <a:solidFill>
                  <a:srgbClr val="687086"/>
                </a:solidFill>
                <a:latin typeface="Arial"/>
                <a:ea typeface="Arial"/>
                <a:cs typeface="Arial"/>
              </a:rPr>
              <a:t>Challenge cells differ by at least 50 percentile points between RNA proxy and measured surface protein.</a:t>
            </a:r>
          </a:p>
        </p:txBody>
      </p:sp>
      <p:sp>
        <p:nvSpPr>
          <p:cNvPr id="11" name="">
            <a:extLst xmlns:a="http://schemas.openxmlformats.org/drawingml/2006/main">
              <a:ext uri="{FF2B5EF4-FFF2-40B4-BE49-F238E27FC236}">
                <a16:creationId xmlns:a16="http://schemas.microsoft.com/office/drawing/2014/main" id="{8C2E1CE4-6909-4C28-8DBD-DED40BB5B762}"/>
              </a:ext>
            </a:extLst>
          </p:cNvPr>
          <p:cNvSpPr>
            <a:spLocks xmlns:a="http://schemas.openxmlformats.org/drawingml/2006/main" noGrp="1"/>
          </p:cNvSpPr>
          <p:nvPr/>
        </p:nvSpPr>
        <p:spPr>
          <a:xfrm xmlns:a="http://schemas.openxmlformats.org/drawingml/2006/main">
            <a:off x="762000" y="3028950"/>
            <a:ext cx="10668000" cy="19050"/>
          </a:xfrm>
          <a:prstGeom xmlns:a="http://schemas.openxmlformats.org/drawingml/2006/main" prst="rect">
            <a:avLst/>
          </a:prstGeom>
          <a:solidFill xmlns:a="http://schemas.openxmlformats.org/drawingml/2006/main">
            <a:srgbClr val="E7EA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E4A58F6B-290B-4DFD-96D2-6DC070A35D98}"/>
              </a:ext>
            </a:extLst>
          </p:cNvPr>
          <p:cNvSpPr>
            <a:spLocks xmlns:a="http://schemas.openxmlformats.org/drawingml/2006/main" noGrp="1"/>
          </p:cNvSpPr>
          <p:nvPr/>
        </p:nvSpPr>
        <p:spPr>
          <a:xfrm xmlns:a="http://schemas.openxmlformats.org/drawingml/2006/main">
            <a:off x="762000" y="33337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0812"/>
          </a:bodyPr>
          <a:lstStyle xmlns:a="http://schemas.openxmlformats.org/drawingml/2006/main"/>
          <a:p xmlns:a="http://schemas.openxmlformats.org/drawingml/2006/main">
            <a:pPr algn="l">
              <a:lnSpc>
                <a:spcPct val="104000"/>
              </a:lnSpc>
              <a:buNone/>
              <a:defRPr sz="1350" b="1">
                <a:solidFill>
                  <a:srgbClr val="0D8A9A"/>
                </a:solidFill>
                <a:latin typeface="Arial"/>
                <a:ea typeface="Arial"/>
                <a:cs typeface="Arial"/>
              </a:defRPr>
            </a:pPr>
            <a:r>
              <a:rPr sz="1350" b="1">
                <a:solidFill>
                  <a:srgbClr val="0D8A9A"/>
                </a:solidFill>
                <a:latin typeface="Arial"/>
                <a:ea typeface="Arial"/>
                <a:cs typeface="Arial"/>
              </a:rPr>
              <a:t>Biological readouts</a:t>
            </a:r>
          </a:p>
        </p:txBody>
      </p:sp>
      <p:sp>
        <p:nvSpPr>
          <p:cNvPr id="13" name="">
            <a:extLst xmlns:a="http://schemas.openxmlformats.org/drawingml/2006/main">
              <a:ext uri="{FF2B5EF4-FFF2-40B4-BE49-F238E27FC236}">
                <a16:creationId xmlns:a16="http://schemas.microsoft.com/office/drawing/2014/main" id="{A3B1FB61-81F6-4E6A-9643-4C8DAA0DD050}"/>
              </a:ext>
            </a:extLst>
          </p:cNvPr>
          <p:cNvSpPr>
            <a:spLocks xmlns:a="http://schemas.openxmlformats.org/drawingml/2006/main" noGrp="1"/>
          </p:cNvSpPr>
          <p:nvPr/>
        </p:nvSpPr>
        <p:spPr>
          <a:xfrm xmlns:a="http://schemas.openxmlformats.org/drawingml/2006/main">
            <a:off x="762000" y="3771900"/>
            <a:ext cx="2571750" cy="361950"/>
          </a:xfrm>
          <a:prstGeom xmlns:a="http://schemas.openxmlformats.org/drawingml/2006/main" prst="roundRect">
            <a:avLst>
              <a:gd name="adj" fmla="val 42105"/>
            </a:avLst>
          </a:prstGeom>
          <a:solidFill xmlns:a="http://schemas.openxmlformats.org/drawingml/2006/main">
            <a:srgbClr val="DDF3F2"/>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454BF95-232D-4E0F-BF26-5B706A5B3009}"/>
              </a:ext>
            </a:extLst>
          </p:cNvPr>
          <p:cNvSpPr>
            <a:spLocks xmlns:a="http://schemas.openxmlformats.org/drawingml/2006/main" noGrp="1"/>
          </p:cNvSpPr>
          <p:nvPr/>
        </p:nvSpPr>
        <p:spPr>
          <a:xfrm xmlns:a="http://schemas.openxmlformats.org/drawingml/2006/main">
            <a:off x="838200" y="3819525"/>
            <a:ext cx="2419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T cells: anti-CD3/CD28</a:t>
            </a:r>
          </a:p>
        </p:txBody>
      </p:sp>
      <p:sp>
        <p:nvSpPr>
          <p:cNvPr id="15" name="">
            <a:extLst xmlns:a="http://schemas.openxmlformats.org/drawingml/2006/main">
              <a:ext uri="{FF2B5EF4-FFF2-40B4-BE49-F238E27FC236}">
                <a16:creationId xmlns:a16="http://schemas.microsoft.com/office/drawing/2014/main" id="{1D85631B-C887-435F-875D-E4C0F09570BF}"/>
              </a:ext>
            </a:extLst>
          </p:cNvPr>
          <p:cNvSpPr>
            <a:spLocks xmlns:a="http://schemas.openxmlformats.org/drawingml/2006/main" noGrp="1"/>
          </p:cNvSpPr>
          <p:nvPr/>
        </p:nvSpPr>
        <p:spPr>
          <a:xfrm xmlns:a="http://schemas.openxmlformats.org/drawingml/2006/main">
            <a:off x="3524250" y="3771900"/>
            <a:ext cx="2000250" cy="361950"/>
          </a:xfrm>
          <a:prstGeom xmlns:a="http://schemas.openxmlformats.org/drawingml/2006/main" prst="roundRect">
            <a:avLst>
              <a:gd name="adj" fmla="val 42105"/>
            </a:avLst>
          </a:prstGeom>
          <a:solidFill xmlns:a="http://schemas.openxmlformats.org/drawingml/2006/main">
            <a:srgbClr val="DDF3F2"/>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D19917D-2678-4642-A2D1-DE2AE1ADD2C0}"/>
              </a:ext>
            </a:extLst>
          </p:cNvPr>
          <p:cNvSpPr>
            <a:spLocks xmlns:a="http://schemas.openxmlformats.org/drawingml/2006/main" noGrp="1"/>
          </p:cNvSpPr>
          <p:nvPr/>
        </p:nvSpPr>
        <p:spPr>
          <a:xfrm xmlns:a="http://schemas.openxmlformats.org/drawingml/2006/main">
            <a:off x="3600450" y="3819525"/>
            <a:ext cx="18478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Monocytes: LPS</a:t>
            </a:r>
          </a:p>
        </p:txBody>
      </p:sp>
      <p:sp>
        <p:nvSpPr>
          <p:cNvPr id="17" name="">
            <a:extLst xmlns:a="http://schemas.openxmlformats.org/drawingml/2006/main">
              <a:ext uri="{FF2B5EF4-FFF2-40B4-BE49-F238E27FC236}">
                <a16:creationId xmlns:a16="http://schemas.microsoft.com/office/drawing/2014/main" id="{180722B0-D6B2-4A97-B5E5-2D8B6AF30449}"/>
              </a:ext>
            </a:extLst>
          </p:cNvPr>
          <p:cNvSpPr>
            <a:spLocks xmlns:a="http://schemas.openxmlformats.org/drawingml/2006/main" noGrp="1"/>
          </p:cNvSpPr>
          <p:nvPr/>
        </p:nvSpPr>
        <p:spPr>
          <a:xfrm xmlns:a="http://schemas.openxmlformats.org/drawingml/2006/main">
            <a:off x="5715000" y="3771900"/>
            <a:ext cx="2628900" cy="361950"/>
          </a:xfrm>
          <a:prstGeom xmlns:a="http://schemas.openxmlformats.org/drawingml/2006/main" prst="roundRect">
            <a:avLst>
              <a:gd name="adj" fmla="val 42105"/>
            </a:avLst>
          </a:prstGeom>
          <a:solidFill xmlns:a="http://schemas.openxmlformats.org/drawingml/2006/main">
            <a:srgbClr val="DDF3F2"/>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393FB2C3-FA42-4DD3-8841-129EC3A48DCB}"/>
              </a:ext>
            </a:extLst>
          </p:cNvPr>
          <p:cNvSpPr>
            <a:spLocks xmlns:a="http://schemas.openxmlformats.org/drawingml/2006/main" noGrp="1"/>
          </p:cNvSpPr>
          <p:nvPr/>
        </p:nvSpPr>
        <p:spPr>
          <a:xfrm xmlns:a="http://schemas.openxmlformats.org/drawingml/2006/main">
            <a:off x="5791200" y="3819525"/>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NK + B indirect response</a:t>
            </a:r>
          </a:p>
        </p:txBody>
      </p:sp>
      <p:sp>
        <p:nvSpPr>
          <p:cNvPr id="19" name="">
            <a:extLst xmlns:a="http://schemas.openxmlformats.org/drawingml/2006/main">
              <a:ext uri="{FF2B5EF4-FFF2-40B4-BE49-F238E27FC236}">
                <a16:creationId xmlns:a16="http://schemas.microsoft.com/office/drawing/2014/main" id="{FFFA7418-C822-4E11-8EAA-44BE3C072D0E}"/>
              </a:ext>
            </a:extLst>
          </p:cNvPr>
          <p:cNvSpPr>
            <a:spLocks xmlns:a="http://schemas.openxmlformats.org/drawingml/2006/main" noGrp="1"/>
          </p:cNvSpPr>
          <p:nvPr/>
        </p:nvSpPr>
        <p:spPr>
          <a:xfrm xmlns:a="http://schemas.openxmlformats.org/drawingml/2006/main">
            <a:off x="8534400" y="3771900"/>
            <a:ext cx="2095500" cy="361950"/>
          </a:xfrm>
          <a:prstGeom xmlns:a="http://schemas.openxmlformats.org/drawingml/2006/main" prst="roundRect">
            <a:avLst>
              <a:gd name="adj" fmla="val 42105"/>
            </a:avLst>
          </a:prstGeom>
          <a:solidFill xmlns:a="http://schemas.openxmlformats.org/drawingml/2006/main">
            <a:srgbClr val="FFE7E5"/>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2D2BC9B2-B834-4587-AED1-D38063F67C81}"/>
              </a:ext>
            </a:extLst>
          </p:cNvPr>
          <p:cNvSpPr>
            <a:spLocks xmlns:a="http://schemas.openxmlformats.org/drawingml/2006/main" noGrp="1"/>
          </p:cNvSpPr>
          <p:nvPr/>
        </p:nvSpPr>
        <p:spPr>
          <a:xfrm xmlns:a="http://schemas.openxmlformats.org/drawingml/2006/main">
            <a:off x="8610600" y="3819525"/>
            <a:ext cx="19431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147"/>
          </a:bodyPr>
          <a:lstStyle xmlns:a="http://schemas.openxmlformats.org/drawingml/2006/main"/>
          <a:p xmlns:a="http://schemas.openxmlformats.org/drawingml/2006/main">
            <a:pPr algn="ctr">
              <a:lnSpc>
                <a:spcPct val="104000"/>
              </a:lnSpc>
              <a:buNone/>
              <a:defRPr sz="1200" b="1">
                <a:solidFill>
                  <a:srgbClr val="F15B64"/>
                </a:solidFill>
                <a:latin typeface="Arial"/>
                <a:ea typeface="Arial"/>
                <a:cs typeface="Arial"/>
              </a:defRPr>
            </a:pPr>
            <a:r>
              <a:rPr sz="1200" b="1">
                <a:solidFill>
                  <a:srgbClr val="F15B64"/>
                </a:solidFill>
                <a:latin typeface="Arial"/>
                <a:ea typeface="Arial"/>
                <a:cs typeface="Arial"/>
              </a:rPr>
              <a:t>Held-out markers</a:t>
            </a:r>
          </a:p>
        </p:txBody>
      </p:sp>
      <p:sp>
        <p:nvSpPr>
          <p:cNvPr id="21" name="">
            <a:extLst xmlns:a="http://schemas.openxmlformats.org/drawingml/2006/main">
              <a:ext uri="{FF2B5EF4-FFF2-40B4-BE49-F238E27FC236}">
                <a16:creationId xmlns:a16="http://schemas.microsoft.com/office/drawing/2014/main" id="{B97CA216-6A12-41DF-B597-AA30C06E9B75}"/>
              </a:ext>
            </a:extLst>
          </p:cNvPr>
          <p:cNvSpPr>
            <a:spLocks xmlns:a="http://schemas.openxmlformats.org/drawingml/2006/main" noGrp="1"/>
          </p:cNvSpPr>
          <p:nvPr/>
        </p:nvSpPr>
        <p:spPr>
          <a:xfrm xmlns:a="http://schemas.openxmlformats.org/drawingml/2006/main">
            <a:off x="762000" y="462915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6C3ED9"/>
                </a:solidFill>
                <a:latin typeface="Arial"/>
                <a:ea typeface="Arial"/>
                <a:cs typeface="Arial"/>
              </a:defRPr>
            </a:pPr>
            <a:r>
              <a:rPr sz="1350" b="1">
                <a:solidFill>
                  <a:srgbClr val="6C3ED9"/>
                </a:solidFill>
                <a:latin typeface="Arial"/>
                <a:ea typeface="Arial"/>
                <a:cs typeface="Arial"/>
              </a:rPr>
              <a:t>Baselines</a:t>
            </a:r>
          </a:p>
        </p:txBody>
      </p:sp>
      <p:sp>
        <p:nvSpPr>
          <p:cNvPr id="22" name="">
            <a:extLst xmlns:a="http://schemas.openxmlformats.org/drawingml/2006/main">
              <a:ext uri="{FF2B5EF4-FFF2-40B4-BE49-F238E27FC236}">
                <a16:creationId xmlns:a16="http://schemas.microsoft.com/office/drawing/2014/main" id="{AB5B58E6-6950-49C1-A84B-DC92F0FDCAD8}"/>
              </a:ext>
            </a:extLst>
          </p:cNvPr>
          <p:cNvSpPr>
            <a:spLocks xmlns:a="http://schemas.openxmlformats.org/drawingml/2006/main" noGrp="1"/>
          </p:cNvSpPr>
          <p:nvPr/>
        </p:nvSpPr>
        <p:spPr>
          <a:xfrm xmlns:a="http://schemas.openxmlformats.org/drawingml/2006/main">
            <a:off x="762000" y="5010150"/>
            <a:ext cx="7239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8869"/>
          </a:bodyPr>
          <a:lstStyle xmlns:a="http://schemas.openxmlformats.org/drawingml/2006/main"/>
          <a:p xmlns:a="http://schemas.openxmlformats.org/drawingml/2006/main">
            <a:pPr algn="l">
              <a:lnSpc>
                <a:spcPct val="104000"/>
              </a:lnSpc>
              <a:buNone/>
              <a:defRPr sz="1650" b="1">
                <a:solidFill>
                  <a:srgbClr val="17223B"/>
                </a:solidFill>
                <a:latin typeface="Arial"/>
                <a:ea typeface="Arial"/>
                <a:cs typeface="Arial"/>
              </a:defRPr>
            </a:pPr>
            <a:r>
              <a:rPr sz="1650" b="1">
                <a:solidFill>
                  <a:srgbClr val="17223B"/>
                </a:solidFill>
                <a:latin typeface="Arial"/>
                <a:ea typeface="Arial"/>
                <a:cs typeface="Arial"/>
              </a:rPr>
              <a:t>RNA PCA   •   protein PCA   •   equal late-fusion PCA   •   standard totalVI</a:t>
            </a:r>
          </a:p>
        </p:txBody>
      </p:sp>
      <p:sp>
        <p:nvSpPr>
          <p:cNvPr id="23" name="">
            <a:extLst xmlns:a="http://schemas.openxmlformats.org/drawingml/2006/main">
              <a:ext uri="{FF2B5EF4-FFF2-40B4-BE49-F238E27FC236}">
                <a16:creationId xmlns:a16="http://schemas.microsoft.com/office/drawing/2014/main" id="{A9575571-CABC-4175-B9A5-BD0FDA04714D}"/>
              </a:ext>
            </a:extLst>
          </p:cNvPr>
          <p:cNvSpPr>
            <a:spLocks xmlns:a="http://schemas.openxmlformats.org/drawingml/2006/main" noGrp="1"/>
          </p:cNvSpPr>
          <p:nvPr/>
        </p:nvSpPr>
        <p:spPr>
          <a:xfrm xmlns:a="http://schemas.openxmlformats.org/drawingml/2006/main">
            <a:off x="762000" y="57150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0D8A9A"/>
                </a:solidFill>
                <a:latin typeface="Arial"/>
                <a:ea typeface="Arial"/>
                <a:cs typeface="Arial"/>
              </a:defRPr>
            </a:pPr>
            <a:r>
              <a:rPr sz="1350" b="1">
                <a:solidFill>
                  <a:srgbClr val="0D8A9A"/>
                </a:solidFill>
                <a:latin typeface="Arial"/>
                <a:ea typeface="Arial"/>
                <a:cs typeface="Arial"/>
              </a:rPr>
              <a:t>Statistics</a:t>
            </a:r>
          </a:p>
        </p:txBody>
      </p:sp>
      <p:sp>
        <p:nvSpPr>
          <p:cNvPr id="24" name="">
            <a:extLst xmlns:a="http://schemas.openxmlformats.org/drawingml/2006/main">
              <a:ext uri="{FF2B5EF4-FFF2-40B4-BE49-F238E27FC236}">
                <a16:creationId xmlns:a16="http://schemas.microsoft.com/office/drawing/2014/main" id="{41CD7B12-6F58-49E4-9933-95DB77C22F71}"/>
              </a:ext>
            </a:extLst>
          </p:cNvPr>
          <p:cNvSpPr>
            <a:spLocks xmlns:a="http://schemas.openxmlformats.org/drawingml/2006/main" noGrp="1"/>
          </p:cNvSpPr>
          <p:nvPr/>
        </p:nvSpPr>
        <p:spPr>
          <a:xfrm xmlns:a="http://schemas.openxmlformats.org/drawingml/2006/main">
            <a:off x="762000" y="6057900"/>
            <a:ext cx="8953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731"/>
          </a:bodyPr>
          <a:lstStyle xmlns:a="http://schemas.openxmlformats.org/drawingml/2006/main"/>
          <a:p xmlns:a="http://schemas.openxmlformats.org/drawingml/2006/main">
            <a:pPr algn="l">
              <a:lnSpc>
                <a:spcPct val="104000"/>
              </a:lnSpc>
              <a:buNone/>
              <a:defRPr sz="1500" b="0">
                <a:solidFill>
                  <a:srgbClr val="17223B"/>
                </a:solidFill>
                <a:latin typeface="Arial"/>
                <a:ea typeface="Arial"/>
                <a:cs typeface="Arial"/>
              </a:defRPr>
            </a:pPr>
            <a:r>
              <a:rPr sz="1500" b="0">
                <a:solidFill>
                  <a:srgbClr val="17223B"/>
                </a:solidFill>
                <a:latin typeface="Arial"/>
                <a:ea typeface="Arial"/>
                <a:cs typeface="Arial"/>
              </a:rPr>
              <a:t>one value per donor  |  paired Wilcoxon  |  bootstrap CI  |  BH correction</a:t>
            </a:r>
          </a:p>
        </p:txBody>
      </p:sp>
    </p:spTree>
    <p:extLst>
      <p:ext uri="{BB962C8B-B14F-4D97-AF65-F5344CB8AC3E}">
        <p14:creationId xmlns:p14="http://schemas.microsoft.com/office/powerpoint/2010/main" val="2467214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DDEB8BC-41CB-40C3-9C2B-7A73CD1559E2}"/>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RESULT 1</a:t>
            </a:r>
          </a:p>
        </p:txBody>
      </p:sp>
      <p:sp>
        <p:nvSpPr>
          <p:cNvPr id="2" name="">
            <a:extLst xmlns:a="http://schemas.openxmlformats.org/drawingml/2006/main">
              <a:ext uri="{FF2B5EF4-FFF2-40B4-BE49-F238E27FC236}">
                <a16:creationId xmlns:a16="http://schemas.microsoft.com/office/drawing/2014/main" id="{91E2ACA0-B8E0-4632-A0BA-F6AC707D9D37}"/>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Broad stimulation labels were already solved</a:t>
            </a:r>
          </a:p>
        </p:txBody>
      </p:sp>
      <p:sp>
        <p:nvSpPr>
          <p:cNvPr id="3" name="">
            <a:extLst xmlns:a="http://schemas.openxmlformats.org/drawingml/2006/main">
              <a:ext uri="{FF2B5EF4-FFF2-40B4-BE49-F238E27FC236}">
                <a16:creationId xmlns:a16="http://schemas.microsoft.com/office/drawing/2014/main" id="{62645D8D-2B95-4153-908B-ACEF5961458B}"/>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CB1A65-DC88-4EC8-8253-DCCDF9B33001}"/>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06</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0f223273a1b64ebb"/>
          <a:stretch xmlns:a="http://schemas.openxmlformats.org/drawingml/2006/main"/>
        </p:blipFill>
        <p:spPr>
          <a:xfrm xmlns:a="http://schemas.openxmlformats.org/drawingml/2006/main">
            <a:off x="533400" y="2328730"/>
            <a:ext cx="8763000" cy="282919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749A429-44FC-4D42-B70A-5E9BAE8E94ED}"/>
              </a:ext>
            </a:extLst>
          </p:cNvPr>
          <p:cNvSpPr>
            <a:spLocks xmlns:a="http://schemas.openxmlformats.org/drawingml/2006/main" noGrp="1"/>
          </p:cNvSpPr>
          <p:nvPr/>
        </p:nvSpPr>
        <p:spPr>
          <a:xfrm xmlns:a="http://schemas.openxmlformats.org/drawingml/2006/main">
            <a:off x="9239250" y="1790700"/>
            <a:ext cx="266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2550" b="1">
                <a:solidFill>
                  <a:srgbClr val="F15B64"/>
                </a:solidFill>
                <a:latin typeface="Arial"/>
                <a:ea typeface="Arial"/>
                <a:cs typeface="Arial"/>
              </a:defRPr>
            </a:pPr>
            <a:r>
              <a:rPr sz="2550" b="1">
                <a:solidFill>
                  <a:srgbClr val="F15B64"/>
                </a:solidFill>
                <a:latin typeface="Arial"/>
                <a:ea typeface="Arial"/>
                <a:cs typeface="Arial"/>
              </a:rPr>
              <a:t>0.995–1.000</a:t>
            </a:r>
          </a:p>
        </p:txBody>
      </p:sp>
      <p:sp>
        <p:nvSpPr>
          <p:cNvPr id="7" name="">
            <a:extLst xmlns:a="http://schemas.openxmlformats.org/drawingml/2006/main">
              <a:ext uri="{FF2B5EF4-FFF2-40B4-BE49-F238E27FC236}">
                <a16:creationId xmlns:a16="http://schemas.microsoft.com/office/drawing/2014/main" id="{67EBFFC2-401E-4096-821D-A1234C8D6D51}"/>
              </a:ext>
            </a:extLst>
          </p:cNvPr>
          <p:cNvSpPr>
            <a:spLocks xmlns:a="http://schemas.openxmlformats.org/drawingml/2006/main" noGrp="1"/>
          </p:cNvSpPr>
          <p:nvPr/>
        </p:nvSpPr>
        <p:spPr>
          <a:xfrm xmlns:a="http://schemas.openxmlformats.org/drawingml/2006/main">
            <a:off x="9525000" y="24574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ctr">
              <a:lnSpc>
                <a:spcPct val="104000"/>
              </a:lnSpc>
              <a:buNone/>
              <a:defRPr sz="1350" b="1">
                <a:solidFill>
                  <a:srgbClr val="687086"/>
                </a:solidFill>
                <a:latin typeface="Arial"/>
                <a:ea typeface="Arial"/>
                <a:cs typeface="Arial"/>
              </a:defRPr>
            </a:pPr>
            <a:r>
              <a:rPr sz="1350" b="1">
                <a:solidFill>
                  <a:srgbClr val="687086"/>
                </a:solidFill>
                <a:latin typeface="Arial"/>
                <a:ea typeface="Arial"/>
                <a:cs typeface="Arial"/>
              </a:rPr>
              <a:t>mean totalVI AUC</a:t>
            </a:r>
          </a:p>
        </p:txBody>
      </p:sp>
      <p:sp>
        <p:nvSpPr>
          <p:cNvPr id="8" name="">
            <a:extLst xmlns:a="http://schemas.openxmlformats.org/drawingml/2006/main">
              <a:ext uri="{FF2B5EF4-FFF2-40B4-BE49-F238E27FC236}">
                <a16:creationId xmlns:a16="http://schemas.microsoft.com/office/drawing/2014/main" id="{5EB11E54-466C-4A0F-9E31-70203DEB8091}"/>
              </a:ext>
            </a:extLst>
          </p:cNvPr>
          <p:cNvSpPr>
            <a:spLocks xmlns:a="http://schemas.openxmlformats.org/drawingml/2006/main" noGrp="1"/>
          </p:cNvSpPr>
          <p:nvPr/>
        </p:nvSpPr>
        <p:spPr>
          <a:xfrm xmlns:a="http://schemas.openxmlformats.org/drawingml/2006/main">
            <a:off x="9696450" y="3067050"/>
            <a:ext cx="1714500" cy="2857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6B56C4D-799F-4BD4-AE76-EAFA2A4A20AC}"/>
              </a:ext>
            </a:extLst>
          </p:cNvPr>
          <p:cNvSpPr>
            <a:spLocks xmlns:a="http://schemas.openxmlformats.org/drawingml/2006/main" noGrp="1"/>
          </p:cNvSpPr>
          <p:nvPr/>
        </p:nvSpPr>
        <p:spPr>
          <a:xfrm xmlns:a="http://schemas.openxmlformats.org/drawingml/2006/main">
            <a:off x="9525000" y="3390900"/>
            <a:ext cx="2095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82799"/>
          </a:bodyPr>
          <a:lstStyle xmlns:a="http://schemas.openxmlformats.org/drawingml/2006/main"/>
          <a:p xmlns:a="http://schemas.openxmlformats.org/drawingml/2006/main">
            <a:pPr algn="ctr">
              <a:lnSpc>
                <a:spcPct val="104000"/>
              </a:lnSpc>
              <a:buNone/>
              <a:defRPr sz="1800" b="1">
                <a:solidFill>
                  <a:srgbClr val="223A69"/>
                </a:solidFill>
                <a:latin typeface="Arial"/>
                <a:ea typeface="Arial"/>
                <a:cs typeface="Arial"/>
              </a:defRPr>
            </a:pPr>
            <a:r>
              <a:rPr sz="1800" b="1">
                <a:solidFill>
                  <a:srgbClr val="223A69"/>
                </a:solidFill>
                <a:latin typeface="Arial"/>
                <a:ea typeface="Arial"/>
                <a:cs typeface="Arial"/>
              </a:rPr>
              <a:t>RNA PCA also reached</a:t>
            </a:r>
          </a:p>
          <a:p xmlns:a="http://schemas.openxmlformats.org/drawingml/2006/main">
            <a:pPr algn="ctr">
              <a:lnSpc>
                <a:spcPct val="104000"/>
              </a:lnSpc>
              <a:buNone/>
              <a:defRPr sz="1800" b="1">
                <a:solidFill>
                  <a:srgbClr val="223A69"/>
                </a:solidFill>
                <a:latin typeface="Arial"/>
                <a:ea typeface="Arial"/>
                <a:cs typeface="Arial"/>
              </a:defRPr>
            </a:pPr>
            <a:r>
              <a:rPr sz="1800" b="1">
                <a:solidFill>
                  <a:srgbClr val="223A69"/>
                </a:solidFill>
                <a:latin typeface="Arial"/>
                <a:ea typeface="Arial"/>
                <a:cs typeface="Arial"/>
              </a:rPr>
              <a:t>0.989–1.000</a:t>
            </a:r>
          </a:p>
        </p:txBody>
      </p:sp>
      <p:sp>
        <p:nvSpPr>
          <p:cNvPr id="10" name="">
            <a:extLst xmlns:a="http://schemas.openxmlformats.org/drawingml/2006/main">
              <a:ext uri="{FF2B5EF4-FFF2-40B4-BE49-F238E27FC236}">
                <a16:creationId xmlns:a16="http://schemas.microsoft.com/office/drawing/2014/main" id="{9804BEF4-990F-4CC4-ADB8-B562AC177C74}"/>
              </a:ext>
            </a:extLst>
          </p:cNvPr>
          <p:cNvSpPr>
            <a:spLocks xmlns:a="http://schemas.openxmlformats.org/drawingml/2006/main" noGrp="1"/>
          </p:cNvSpPr>
          <p:nvPr/>
        </p:nvSpPr>
        <p:spPr>
          <a:xfrm xmlns:a="http://schemas.openxmlformats.org/drawingml/2006/main">
            <a:off x="9525000" y="4686300"/>
            <a:ext cx="2095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131"/>
          </a:bodyPr>
          <a:lstStyle xmlns:a="http://schemas.openxmlformats.org/drawingml/2006/main"/>
          <a:p xmlns:a="http://schemas.openxmlformats.org/drawingml/2006/main">
            <a:pPr algn="ctr">
              <a:lnSpc>
                <a:spcPct val="104000"/>
              </a:lnSpc>
              <a:buNone/>
              <a:defRPr sz="1200" b="1">
                <a:solidFill>
                  <a:srgbClr val="0D8A9A"/>
                </a:solidFill>
                <a:latin typeface="Arial"/>
                <a:ea typeface="Arial"/>
                <a:cs typeface="Arial"/>
              </a:defRPr>
            </a:pPr>
            <a:r>
              <a:rPr sz="1200" b="1">
                <a:solidFill>
                  <a:srgbClr val="0D8A9A"/>
                </a:solidFill>
                <a:latin typeface="Arial"/>
                <a:ea typeface="Arial"/>
                <a:cs typeface="Arial"/>
              </a:rPr>
              <a:t>Interpretation</a:t>
            </a:r>
          </a:p>
        </p:txBody>
      </p:sp>
      <p:sp>
        <p:nvSpPr>
          <p:cNvPr id="11" name="">
            <a:extLst xmlns:a="http://schemas.openxmlformats.org/drawingml/2006/main">
              <a:ext uri="{FF2B5EF4-FFF2-40B4-BE49-F238E27FC236}">
                <a16:creationId xmlns:a16="http://schemas.microsoft.com/office/drawing/2014/main" id="{723EF110-8F6D-4336-AF07-46BF8C52F193}"/>
              </a:ext>
            </a:extLst>
          </p:cNvPr>
          <p:cNvSpPr>
            <a:spLocks xmlns:a="http://schemas.openxmlformats.org/drawingml/2006/main" noGrp="1"/>
          </p:cNvSpPr>
          <p:nvPr/>
        </p:nvSpPr>
        <p:spPr>
          <a:xfrm xmlns:a="http://schemas.openxmlformats.org/drawingml/2006/main">
            <a:off x="9429750" y="5010150"/>
            <a:ext cx="22860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500" b="0">
                <a:solidFill>
                  <a:srgbClr val="17223B"/>
                </a:solidFill>
                <a:latin typeface="Arial"/>
                <a:ea typeface="Arial"/>
                <a:cs typeface="Arial"/>
              </a:defRPr>
            </a:pPr>
            <a:r>
              <a:rPr sz="1500" b="0">
                <a:solidFill>
                  <a:srgbClr val="17223B"/>
                </a:solidFill>
                <a:latin typeface="Arial"/>
                <a:ea typeface="Arial"/>
                <a:cs typeface="Arial"/>
              </a:rPr>
              <a:t>Condition classification cannot reveal a better fusion strategy here.</a:t>
            </a:r>
          </a:p>
        </p:txBody>
      </p:sp>
    </p:spTree>
    <p:extLst>
      <p:ext uri="{BB962C8B-B14F-4D97-AF65-F5344CB8AC3E}">
        <p14:creationId xmlns:p14="http://schemas.microsoft.com/office/powerpoint/2010/main" val="1738283429"/>
      </p:ext>
    </p:extLst>
  </p:cSld>
</p:sld>
</file>

<file path=ppt/slides/slide7.xml><?xml version="1.0" encoding="utf-8"?>
<p:sld xmlns:p="http://schemas.openxmlformats.org/presentationml/2006/main">
  <p:cSld>
    <p:bg>
      <p:bgPr>
        <a:solidFill xmlns:a="http://schemas.openxmlformats.org/drawingml/2006/main">
          <a:srgbClr val="F7F9FC"/>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E7AC6C56-D9BD-4F01-81FF-517420C915EF}"/>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RESULT 2</a:t>
            </a:r>
          </a:p>
        </p:txBody>
      </p:sp>
      <p:sp>
        <p:nvSpPr>
          <p:cNvPr id="2" name="">
            <a:extLst xmlns:a="http://schemas.openxmlformats.org/drawingml/2006/main">
              <a:ext uri="{FF2B5EF4-FFF2-40B4-BE49-F238E27FC236}">
                <a16:creationId xmlns:a16="http://schemas.microsoft.com/office/drawing/2014/main" id="{9A728BBF-2365-4876-98A7-62BDF25628BF}"/>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Held-out marker recovery changed only modestly</a:t>
            </a:r>
          </a:p>
        </p:txBody>
      </p:sp>
      <p:sp>
        <p:nvSpPr>
          <p:cNvPr id="3" name="">
            <a:extLst xmlns:a="http://schemas.openxmlformats.org/drawingml/2006/main">
              <a:ext uri="{FF2B5EF4-FFF2-40B4-BE49-F238E27FC236}">
                <a16:creationId xmlns:a16="http://schemas.microsoft.com/office/drawing/2014/main" id="{A4FA0657-9A46-4396-8561-48BF383BB23D}"/>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DE513C5-25DC-470C-A66B-BF63E19ED212}"/>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07</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0f132edd9e034a57"/>
          <a:stretch xmlns:a="http://schemas.openxmlformats.org/drawingml/2006/main"/>
        </p:blipFill>
        <p:spPr>
          <a:xfrm xmlns:a="http://schemas.openxmlformats.org/drawingml/2006/main">
            <a:off x="476250" y="1422240"/>
            <a:ext cx="7715250" cy="4927919"/>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9D05C78-FB13-4881-ABD2-C55E8252B436}"/>
              </a:ext>
            </a:extLst>
          </p:cNvPr>
          <p:cNvSpPr>
            <a:spLocks xmlns:a="http://schemas.openxmlformats.org/drawingml/2006/main" noGrp="1"/>
          </p:cNvSpPr>
          <p:nvPr/>
        </p:nvSpPr>
        <p:spPr>
          <a:xfrm xmlns:a="http://schemas.openxmlformats.org/drawingml/2006/main">
            <a:off x="8572500" y="158115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0D8A9A"/>
                </a:solidFill>
                <a:latin typeface="Arial"/>
                <a:ea typeface="Arial"/>
                <a:cs typeface="Arial"/>
              </a:defRPr>
            </a:pPr>
            <a:r>
              <a:rPr sz="1350" b="1">
                <a:solidFill>
                  <a:srgbClr val="0D8A9A"/>
                </a:solidFill>
                <a:latin typeface="Arial"/>
                <a:ea typeface="Arial"/>
                <a:cs typeface="Arial"/>
              </a:rPr>
              <a:t>Global Spearman ρ</a:t>
            </a:r>
          </a:p>
        </p:txBody>
      </p:sp>
      <p:sp>
        <p:nvSpPr>
          <p:cNvPr id="7" name="">
            <a:extLst xmlns:a="http://schemas.openxmlformats.org/drawingml/2006/main">
              <a:ext uri="{FF2B5EF4-FFF2-40B4-BE49-F238E27FC236}">
                <a16:creationId xmlns:a16="http://schemas.microsoft.com/office/drawing/2014/main" id="{DDE1328E-1D44-4BF5-82BD-68B00AD06624}"/>
              </a:ext>
            </a:extLst>
          </p:cNvPr>
          <p:cNvSpPr>
            <a:spLocks xmlns:a="http://schemas.openxmlformats.org/drawingml/2006/main" noGrp="1"/>
          </p:cNvSpPr>
          <p:nvPr/>
        </p:nvSpPr>
        <p:spPr>
          <a:xfrm xmlns:a="http://schemas.openxmlformats.org/drawingml/2006/main">
            <a:off x="8572500" y="20193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l">
              <a:lnSpc>
                <a:spcPct val="104000"/>
              </a:lnSpc>
              <a:buNone/>
              <a:defRPr sz="1500" b="1">
                <a:solidFill>
                  <a:srgbClr val="17223B"/>
                </a:solidFill>
                <a:latin typeface="Arial"/>
                <a:ea typeface="Arial"/>
                <a:cs typeface="Arial"/>
              </a:defRPr>
            </a:pPr>
            <a:r>
              <a:rPr sz="1500" b="1">
                <a:solidFill>
                  <a:srgbClr val="17223B"/>
                </a:solidFill>
                <a:latin typeface="Arial"/>
                <a:ea typeface="Arial"/>
                <a:cs typeface="Arial"/>
              </a:rPr>
              <a:t>CD25</a:t>
            </a:r>
          </a:p>
        </p:txBody>
      </p:sp>
      <p:sp>
        <p:nvSpPr>
          <p:cNvPr id="8" name="">
            <a:extLst xmlns:a="http://schemas.openxmlformats.org/drawingml/2006/main">
              <a:ext uri="{FF2B5EF4-FFF2-40B4-BE49-F238E27FC236}">
                <a16:creationId xmlns:a16="http://schemas.microsoft.com/office/drawing/2014/main" id="{F44E62EC-F7CC-40D2-9575-76BA8E0DED77}"/>
              </a:ext>
            </a:extLst>
          </p:cNvPr>
          <p:cNvSpPr>
            <a:spLocks xmlns:a="http://schemas.openxmlformats.org/drawingml/2006/main" noGrp="1"/>
          </p:cNvSpPr>
          <p:nvPr/>
        </p:nvSpPr>
        <p:spPr>
          <a:xfrm xmlns:a="http://schemas.openxmlformats.org/drawingml/2006/main">
            <a:off x="9572625" y="2019300"/>
            <a:ext cx="1762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r">
              <a:lnSpc>
                <a:spcPct val="104000"/>
              </a:lnSpc>
              <a:buNone/>
              <a:defRPr sz="1500" b="1">
                <a:solidFill>
                  <a:srgbClr val="F15B64"/>
                </a:solidFill>
                <a:latin typeface="Arial"/>
                <a:ea typeface="Arial"/>
                <a:cs typeface="Arial"/>
              </a:defRPr>
            </a:pPr>
            <a:r>
              <a:rPr sz="1500" b="1">
                <a:solidFill>
                  <a:srgbClr val="F15B64"/>
                </a:solidFill>
                <a:latin typeface="Arial"/>
                <a:ea typeface="Arial"/>
                <a:cs typeface="Arial"/>
              </a:rPr>
              <a:t>0.779 → 0.779</a:t>
            </a:r>
          </a:p>
        </p:txBody>
      </p:sp>
      <p:sp>
        <p:nvSpPr>
          <p:cNvPr id="9" name="">
            <a:extLst xmlns:a="http://schemas.openxmlformats.org/drawingml/2006/main">
              <a:ext uri="{FF2B5EF4-FFF2-40B4-BE49-F238E27FC236}">
                <a16:creationId xmlns:a16="http://schemas.microsoft.com/office/drawing/2014/main" id="{2CE673D8-73B6-441E-9EFA-B4F17324522D}"/>
              </a:ext>
            </a:extLst>
          </p:cNvPr>
          <p:cNvSpPr>
            <a:spLocks xmlns:a="http://schemas.openxmlformats.org/drawingml/2006/main" noGrp="1"/>
          </p:cNvSpPr>
          <p:nvPr/>
        </p:nvSpPr>
        <p:spPr>
          <a:xfrm xmlns:a="http://schemas.openxmlformats.org/drawingml/2006/main">
            <a:off x="9572625" y="2305050"/>
            <a:ext cx="1762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239"/>
          </a:bodyPr>
          <a:lstStyle xmlns:a="http://schemas.openxmlformats.org/drawingml/2006/main"/>
          <a:p xmlns:a="http://schemas.openxmlformats.org/drawingml/2006/main">
            <a:pPr algn="r">
              <a:lnSpc>
                <a:spcPct val="104000"/>
              </a:lnSpc>
              <a:buNone/>
              <a:defRPr sz="1125" b="0">
                <a:solidFill>
                  <a:srgbClr val="687086"/>
                </a:solidFill>
                <a:latin typeface="Arial"/>
                <a:ea typeface="Arial"/>
                <a:cs typeface="Arial"/>
              </a:defRPr>
            </a:pPr>
            <a:r>
              <a:rPr sz="1125" b="0">
                <a:solidFill>
                  <a:srgbClr val="687086"/>
                </a:solidFill>
                <a:latin typeface="Arial"/>
                <a:ea typeface="Arial"/>
                <a:cs typeface="Arial"/>
              </a:rPr>
              <a:t>q = 1.000</a:t>
            </a:r>
          </a:p>
        </p:txBody>
      </p:sp>
      <p:sp>
        <p:nvSpPr>
          <p:cNvPr id="10" name="">
            <a:extLst xmlns:a="http://schemas.openxmlformats.org/drawingml/2006/main">
              <a:ext uri="{FF2B5EF4-FFF2-40B4-BE49-F238E27FC236}">
                <a16:creationId xmlns:a16="http://schemas.microsoft.com/office/drawing/2014/main" id="{03811760-6BDF-41FF-9E77-17C0375F9E48}"/>
              </a:ext>
            </a:extLst>
          </p:cNvPr>
          <p:cNvSpPr>
            <a:spLocks xmlns:a="http://schemas.openxmlformats.org/drawingml/2006/main" noGrp="1"/>
          </p:cNvSpPr>
          <p:nvPr/>
        </p:nvSpPr>
        <p:spPr>
          <a:xfrm xmlns:a="http://schemas.openxmlformats.org/drawingml/2006/main">
            <a:off x="8572500" y="28956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l">
              <a:lnSpc>
                <a:spcPct val="104000"/>
              </a:lnSpc>
              <a:buNone/>
              <a:defRPr sz="1500" b="1">
                <a:solidFill>
                  <a:srgbClr val="17223B"/>
                </a:solidFill>
                <a:latin typeface="Arial"/>
                <a:ea typeface="Arial"/>
                <a:cs typeface="Arial"/>
              </a:defRPr>
            </a:pPr>
            <a:r>
              <a:rPr sz="1500" b="1">
                <a:solidFill>
                  <a:srgbClr val="17223B"/>
                </a:solidFill>
                <a:latin typeface="Arial"/>
                <a:ea typeface="Arial"/>
                <a:cs typeface="Arial"/>
              </a:rPr>
              <a:t>CD69</a:t>
            </a:r>
          </a:p>
        </p:txBody>
      </p:sp>
      <p:sp>
        <p:nvSpPr>
          <p:cNvPr id="11" name="">
            <a:extLst xmlns:a="http://schemas.openxmlformats.org/drawingml/2006/main">
              <a:ext uri="{FF2B5EF4-FFF2-40B4-BE49-F238E27FC236}">
                <a16:creationId xmlns:a16="http://schemas.microsoft.com/office/drawing/2014/main" id="{A2B0C109-1E46-472B-9722-BCC21E7F242C}"/>
              </a:ext>
            </a:extLst>
          </p:cNvPr>
          <p:cNvSpPr>
            <a:spLocks xmlns:a="http://schemas.openxmlformats.org/drawingml/2006/main" noGrp="1"/>
          </p:cNvSpPr>
          <p:nvPr/>
        </p:nvSpPr>
        <p:spPr>
          <a:xfrm xmlns:a="http://schemas.openxmlformats.org/drawingml/2006/main">
            <a:off x="9572625" y="2895600"/>
            <a:ext cx="1762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r">
              <a:lnSpc>
                <a:spcPct val="104000"/>
              </a:lnSpc>
              <a:buNone/>
              <a:defRPr sz="1500" b="1">
                <a:solidFill>
                  <a:srgbClr val="F15B64"/>
                </a:solidFill>
                <a:latin typeface="Arial"/>
                <a:ea typeface="Arial"/>
                <a:cs typeface="Arial"/>
              </a:defRPr>
            </a:pPr>
            <a:r>
              <a:rPr sz="1500" b="1">
                <a:solidFill>
                  <a:srgbClr val="F15B64"/>
                </a:solidFill>
                <a:latin typeface="Arial"/>
                <a:ea typeface="Arial"/>
                <a:cs typeface="Arial"/>
              </a:rPr>
              <a:t>0.822 → 0.826</a:t>
            </a:r>
          </a:p>
        </p:txBody>
      </p:sp>
      <p:sp>
        <p:nvSpPr>
          <p:cNvPr id="12" name="">
            <a:extLst xmlns:a="http://schemas.openxmlformats.org/drawingml/2006/main">
              <a:ext uri="{FF2B5EF4-FFF2-40B4-BE49-F238E27FC236}">
                <a16:creationId xmlns:a16="http://schemas.microsoft.com/office/drawing/2014/main" id="{B8F73DE0-D632-4FB2-B8EE-621F95EDAA64}"/>
              </a:ext>
            </a:extLst>
          </p:cNvPr>
          <p:cNvSpPr>
            <a:spLocks xmlns:a="http://schemas.openxmlformats.org/drawingml/2006/main" noGrp="1"/>
          </p:cNvSpPr>
          <p:nvPr/>
        </p:nvSpPr>
        <p:spPr>
          <a:xfrm xmlns:a="http://schemas.openxmlformats.org/drawingml/2006/main">
            <a:off x="9572625" y="3181350"/>
            <a:ext cx="1762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239"/>
          </a:bodyPr>
          <a:lstStyle xmlns:a="http://schemas.openxmlformats.org/drawingml/2006/main"/>
          <a:p xmlns:a="http://schemas.openxmlformats.org/drawingml/2006/main">
            <a:pPr algn="r">
              <a:lnSpc>
                <a:spcPct val="104000"/>
              </a:lnSpc>
              <a:buNone/>
              <a:defRPr sz="1125" b="0">
                <a:solidFill>
                  <a:srgbClr val="687086"/>
                </a:solidFill>
                <a:latin typeface="Arial"/>
                <a:ea typeface="Arial"/>
                <a:cs typeface="Arial"/>
              </a:defRPr>
            </a:pPr>
            <a:r>
              <a:rPr sz="1125" b="0">
                <a:solidFill>
                  <a:srgbClr val="687086"/>
                </a:solidFill>
                <a:latin typeface="Arial"/>
                <a:ea typeface="Arial"/>
                <a:cs typeface="Arial"/>
              </a:rPr>
              <a:t>q = 0.165</a:t>
            </a:r>
          </a:p>
        </p:txBody>
      </p:sp>
      <p:sp>
        <p:nvSpPr>
          <p:cNvPr id="13" name="">
            <a:extLst xmlns:a="http://schemas.openxmlformats.org/drawingml/2006/main">
              <a:ext uri="{FF2B5EF4-FFF2-40B4-BE49-F238E27FC236}">
                <a16:creationId xmlns:a16="http://schemas.microsoft.com/office/drawing/2014/main" id="{758F8E1D-A2ED-4041-B2FD-6EDC290C8F9E}"/>
              </a:ext>
            </a:extLst>
          </p:cNvPr>
          <p:cNvSpPr>
            <a:spLocks xmlns:a="http://schemas.openxmlformats.org/drawingml/2006/main" noGrp="1"/>
          </p:cNvSpPr>
          <p:nvPr/>
        </p:nvSpPr>
        <p:spPr>
          <a:xfrm xmlns:a="http://schemas.openxmlformats.org/drawingml/2006/main">
            <a:off x="8572500" y="377190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l">
              <a:lnSpc>
                <a:spcPct val="104000"/>
              </a:lnSpc>
              <a:buNone/>
              <a:defRPr sz="1500" b="1">
                <a:solidFill>
                  <a:srgbClr val="17223B"/>
                </a:solidFill>
                <a:latin typeface="Arial"/>
                <a:ea typeface="Arial"/>
                <a:cs typeface="Arial"/>
              </a:defRPr>
            </a:pPr>
            <a:r>
              <a:rPr sz="1500" b="1">
                <a:solidFill>
                  <a:srgbClr val="17223B"/>
                </a:solidFill>
                <a:latin typeface="Arial"/>
                <a:ea typeface="Arial"/>
                <a:cs typeface="Arial"/>
              </a:rPr>
              <a:t>HLA-DR</a:t>
            </a:r>
          </a:p>
        </p:txBody>
      </p:sp>
      <p:sp>
        <p:nvSpPr>
          <p:cNvPr id="14" name="">
            <a:extLst xmlns:a="http://schemas.openxmlformats.org/drawingml/2006/main">
              <a:ext uri="{FF2B5EF4-FFF2-40B4-BE49-F238E27FC236}">
                <a16:creationId xmlns:a16="http://schemas.microsoft.com/office/drawing/2014/main" id="{255B43CB-779D-443D-A1F0-CEDC6497C5B8}"/>
              </a:ext>
            </a:extLst>
          </p:cNvPr>
          <p:cNvSpPr>
            <a:spLocks xmlns:a="http://schemas.openxmlformats.org/drawingml/2006/main" noGrp="1"/>
          </p:cNvSpPr>
          <p:nvPr/>
        </p:nvSpPr>
        <p:spPr>
          <a:xfrm xmlns:a="http://schemas.openxmlformats.org/drawingml/2006/main">
            <a:off x="9572625" y="3771900"/>
            <a:ext cx="1762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3718"/>
          </a:bodyPr>
          <a:lstStyle xmlns:a="http://schemas.openxmlformats.org/drawingml/2006/main"/>
          <a:p xmlns:a="http://schemas.openxmlformats.org/drawingml/2006/main">
            <a:pPr algn="r">
              <a:lnSpc>
                <a:spcPct val="104000"/>
              </a:lnSpc>
              <a:buNone/>
              <a:defRPr sz="1500" b="1">
                <a:solidFill>
                  <a:srgbClr val="F15B64"/>
                </a:solidFill>
                <a:latin typeface="Arial"/>
                <a:ea typeface="Arial"/>
                <a:cs typeface="Arial"/>
              </a:defRPr>
            </a:pPr>
            <a:r>
              <a:rPr sz="1500" b="1">
                <a:solidFill>
                  <a:srgbClr val="F15B64"/>
                </a:solidFill>
                <a:latin typeface="Arial"/>
                <a:ea typeface="Arial"/>
                <a:cs typeface="Arial"/>
              </a:rPr>
              <a:t>0.404 → 0.421</a:t>
            </a:r>
          </a:p>
        </p:txBody>
      </p:sp>
      <p:sp>
        <p:nvSpPr>
          <p:cNvPr id="15" name="">
            <a:extLst xmlns:a="http://schemas.openxmlformats.org/drawingml/2006/main">
              <a:ext uri="{FF2B5EF4-FFF2-40B4-BE49-F238E27FC236}">
                <a16:creationId xmlns:a16="http://schemas.microsoft.com/office/drawing/2014/main" id="{5C7FDC14-C50E-45CF-AB72-8BCBA282389E}"/>
              </a:ext>
            </a:extLst>
          </p:cNvPr>
          <p:cNvSpPr>
            <a:spLocks xmlns:a="http://schemas.openxmlformats.org/drawingml/2006/main" noGrp="1"/>
          </p:cNvSpPr>
          <p:nvPr/>
        </p:nvSpPr>
        <p:spPr>
          <a:xfrm xmlns:a="http://schemas.openxmlformats.org/drawingml/2006/main">
            <a:off x="9572625" y="4057650"/>
            <a:ext cx="17621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6239"/>
          </a:bodyPr>
          <a:lstStyle xmlns:a="http://schemas.openxmlformats.org/drawingml/2006/main"/>
          <a:p xmlns:a="http://schemas.openxmlformats.org/drawingml/2006/main">
            <a:pPr algn="r">
              <a:lnSpc>
                <a:spcPct val="104000"/>
              </a:lnSpc>
              <a:buNone/>
              <a:defRPr sz="1125" b="0">
                <a:solidFill>
                  <a:srgbClr val="687086"/>
                </a:solidFill>
                <a:latin typeface="Arial"/>
                <a:ea typeface="Arial"/>
                <a:cs typeface="Arial"/>
              </a:defRPr>
            </a:pPr>
            <a:r>
              <a:rPr sz="1125" b="0">
                <a:solidFill>
                  <a:srgbClr val="687086"/>
                </a:solidFill>
                <a:latin typeface="Arial"/>
                <a:ea typeface="Arial"/>
                <a:cs typeface="Arial"/>
              </a:rPr>
              <a:t>q = 0.382</a:t>
            </a:r>
          </a:p>
        </p:txBody>
      </p:sp>
      <p:sp>
        <p:nvSpPr>
          <p:cNvPr id="16" name="">
            <a:extLst xmlns:a="http://schemas.openxmlformats.org/drawingml/2006/main">
              <a:ext uri="{FF2B5EF4-FFF2-40B4-BE49-F238E27FC236}">
                <a16:creationId xmlns:a16="http://schemas.microsoft.com/office/drawing/2014/main" id="{D89651B6-AF2B-4FDB-BECA-4F8F57614744}"/>
              </a:ext>
            </a:extLst>
          </p:cNvPr>
          <p:cNvSpPr>
            <a:spLocks xmlns:a="http://schemas.openxmlformats.org/drawingml/2006/main" noGrp="1"/>
          </p:cNvSpPr>
          <p:nvPr/>
        </p:nvSpPr>
        <p:spPr>
          <a:xfrm xmlns:a="http://schemas.openxmlformats.org/drawingml/2006/main">
            <a:off x="8572500" y="4762500"/>
            <a:ext cx="266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6C3ED9"/>
                </a:solidFill>
                <a:latin typeface="Arial"/>
                <a:ea typeface="Arial"/>
                <a:cs typeface="Arial"/>
              </a:defRPr>
            </a:pPr>
            <a:r>
              <a:rPr sz="1350" b="1">
                <a:solidFill>
                  <a:srgbClr val="6C3ED9"/>
                </a:solidFill>
                <a:latin typeface="Arial"/>
                <a:ea typeface="Arial"/>
                <a:cs typeface="Arial"/>
              </a:rPr>
              <a:t>Discordant cells</a:t>
            </a:r>
          </a:p>
        </p:txBody>
      </p:sp>
      <p:sp>
        <p:nvSpPr>
          <p:cNvPr id="17" name="">
            <a:extLst xmlns:a="http://schemas.openxmlformats.org/drawingml/2006/main">
              <a:ext uri="{FF2B5EF4-FFF2-40B4-BE49-F238E27FC236}">
                <a16:creationId xmlns:a16="http://schemas.microsoft.com/office/drawing/2014/main" id="{ECED6D27-54DA-4D2D-842A-D1B8325099CC}"/>
              </a:ext>
            </a:extLst>
          </p:cNvPr>
          <p:cNvSpPr>
            <a:spLocks xmlns:a="http://schemas.openxmlformats.org/drawingml/2006/main" noGrp="1"/>
          </p:cNvSpPr>
          <p:nvPr/>
        </p:nvSpPr>
        <p:spPr>
          <a:xfrm xmlns:a="http://schemas.openxmlformats.org/drawingml/2006/main">
            <a:off x="8572500" y="5124450"/>
            <a:ext cx="27622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80"/>
          </a:bodyPr>
          <a:lstStyle xmlns:a="http://schemas.openxmlformats.org/drawingml/2006/main"/>
          <a:p xmlns:a="http://schemas.openxmlformats.org/drawingml/2006/main">
            <a:pPr algn="l">
              <a:lnSpc>
                <a:spcPct val="104000"/>
              </a:lnSpc>
              <a:buNone/>
              <a:defRPr sz="1575" b="1">
                <a:solidFill>
                  <a:srgbClr val="17223B"/>
                </a:solidFill>
                <a:latin typeface="Arial"/>
                <a:ea typeface="Arial"/>
                <a:cs typeface="Arial"/>
              </a:defRPr>
            </a:pPr>
            <a:r>
              <a:rPr sz="1575" b="1">
                <a:solidFill>
                  <a:srgbClr val="17223B"/>
                </a:solidFill>
                <a:latin typeface="Arial"/>
                <a:ea typeface="Arial"/>
                <a:cs typeface="Arial"/>
              </a:rPr>
              <a:t>Small gains for CD25 and HLA-DR; a small loss for CD69. None survived correction.</a:t>
            </a:r>
          </a:p>
        </p:txBody>
      </p:sp>
    </p:spTree>
    <p:extLst>
      <p:ext uri="{BB962C8B-B14F-4D97-AF65-F5344CB8AC3E}">
        <p14:creationId xmlns:p14="http://schemas.microsoft.com/office/powerpoint/2010/main" val="128264328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71BB5DA-A196-4940-BD5B-5E49F8DA6BF1}"/>
              </a:ext>
            </a:extLst>
          </p:cNvPr>
          <p:cNvSpPr>
            <a:spLocks xmlns:a="http://schemas.openxmlformats.org/drawingml/2006/main" noGrp="1"/>
          </p:cNvSpPr>
          <p:nvPr/>
        </p:nvSpPr>
        <p:spPr>
          <a:xfrm xmlns:a="http://schemas.openxmlformats.org/drawingml/2006/main">
            <a:off x="685800" y="323850"/>
            <a:ext cx="857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l">
              <a:lnSpc>
                <a:spcPct val="104000"/>
              </a:lnSpc>
              <a:buNone/>
              <a:defRPr sz="1050" b="1">
                <a:solidFill>
                  <a:srgbClr val="0D8A9A"/>
                </a:solidFill>
                <a:latin typeface="Arial"/>
                <a:ea typeface="Arial"/>
                <a:cs typeface="Arial"/>
              </a:defRPr>
            </a:pPr>
            <a:r>
              <a:rPr sz="1050" b="1">
                <a:solidFill>
                  <a:srgbClr val="0D8A9A"/>
                </a:solidFill>
                <a:latin typeface="Arial"/>
                <a:ea typeface="Arial"/>
                <a:cs typeface="Arial"/>
              </a:rPr>
              <a:t>MECHANISTIC RESULT</a:t>
            </a:r>
          </a:p>
        </p:txBody>
      </p:sp>
      <p:sp>
        <p:nvSpPr>
          <p:cNvPr id="2" name="">
            <a:extLst xmlns:a="http://schemas.openxmlformats.org/drawingml/2006/main">
              <a:ext uri="{FF2B5EF4-FFF2-40B4-BE49-F238E27FC236}">
                <a16:creationId xmlns:a16="http://schemas.microsoft.com/office/drawing/2014/main" id="{D44B6587-2473-40F2-BAAB-5CF7AD7DD195}"/>
              </a:ext>
            </a:extLst>
          </p:cNvPr>
          <p:cNvSpPr>
            <a:spLocks xmlns:a="http://schemas.openxmlformats.org/drawingml/2006/main" noGrp="1"/>
          </p:cNvSpPr>
          <p:nvPr/>
        </p:nvSpPr>
        <p:spPr>
          <a:xfrm xmlns:a="http://schemas.openxmlformats.org/drawingml/2006/main">
            <a:off x="685800" y="5905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2850" b="1">
                <a:solidFill>
                  <a:srgbClr val="17223B"/>
                </a:solidFill>
                <a:latin typeface="Arial"/>
                <a:ea typeface="Arial"/>
                <a:cs typeface="Arial"/>
              </a:defRPr>
            </a:pPr>
            <a:r>
              <a:rPr sz="2850" b="1">
                <a:solidFill>
                  <a:srgbClr val="17223B"/>
                </a:solidFill>
                <a:latin typeface="Arial"/>
                <a:ea typeface="Arial"/>
                <a:cs typeface="Arial"/>
              </a:rPr>
              <a:t>The gate learned context without improving recovery</a:t>
            </a:r>
          </a:p>
        </p:txBody>
      </p:sp>
      <p:sp>
        <p:nvSpPr>
          <p:cNvPr id="3" name="">
            <a:extLst xmlns:a="http://schemas.openxmlformats.org/drawingml/2006/main">
              <a:ext uri="{FF2B5EF4-FFF2-40B4-BE49-F238E27FC236}">
                <a16:creationId xmlns:a16="http://schemas.microsoft.com/office/drawing/2014/main" id="{9051B53F-FAB2-4E45-94F5-30BA21B18B8C}"/>
              </a:ext>
            </a:extLst>
          </p:cNvPr>
          <p:cNvSpPr>
            <a:spLocks xmlns:a="http://schemas.openxmlformats.org/drawingml/2006/main" noGrp="1"/>
          </p:cNvSpPr>
          <p:nvPr/>
        </p:nvSpPr>
        <p:spPr>
          <a:xfrm xmlns:a="http://schemas.openxmlformats.org/drawingml/2006/main">
            <a:off x="685800" y="1257300"/>
            <a:ext cx="8382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134DC28-6E3C-4CD8-9721-8DA1DA773A0D}"/>
              </a:ext>
            </a:extLst>
          </p:cNvPr>
          <p:cNvSpPr>
            <a:spLocks xmlns:a="http://schemas.openxmlformats.org/drawingml/2006/main" noGrp="1"/>
          </p:cNvSpPr>
          <p:nvPr/>
        </p:nvSpPr>
        <p:spPr>
          <a:xfrm xmlns:a="http://schemas.openxmlformats.org/drawingml/2006/main">
            <a:off x="11334750" y="333375"/>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2417"/>
          </a:bodyPr>
          <a:lstStyle xmlns:a="http://schemas.openxmlformats.org/drawingml/2006/main"/>
          <a:p xmlns:a="http://schemas.openxmlformats.org/drawingml/2006/main">
            <a:pPr algn="r">
              <a:lnSpc>
                <a:spcPct val="104000"/>
              </a:lnSpc>
              <a:buNone/>
              <a:defRPr sz="1050" b="1">
                <a:solidFill>
                  <a:srgbClr val="687086"/>
                </a:solidFill>
                <a:latin typeface="Arial"/>
                <a:ea typeface="Arial"/>
                <a:cs typeface="Arial"/>
              </a:defRPr>
            </a:pPr>
            <a:r>
              <a:rPr sz="1050" b="1">
                <a:solidFill>
                  <a:srgbClr val="687086"/>
                </a:solidFill>
                <a:latin typeface="Arial"/>
                <a:ea typeface="Arial"/>
                <a:cs typeface="Arial"/>
              </a:rPr>
              <a:t>08</a:t>
            </a:r>
          </a:p>
        </p:txBody>
      </p:sp>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9f2b0c17206b4a53"/>
          <a:stretch xmlns:a="http://schemas.openxmlformats.org/drawingml/2006/main"/>
        </p:blipFill>
        <p:spPr>
          <a:xfrm xmlns:a="http://schemas.openxmlformats.org/drawingml/2006/main">
            <a:off x="438150" y="1945817"/>
            <a:ext cx="8001000" cy="332831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5D30D714-03D8-45A7-81F4-8794506DC6AD}"/>
              </a:ext>
            </a:extLst>
          </p:cNvPr>
          <p:cNvSpPr>
            <a:spLocks xmlns:a="http://schemas.openxmlformats.org/drawingml/2006/main" noGrp="1"/>
          </p:cNvSpPr>
          <p:nvPr/>
        </p:nvSpPr>
        <p:spPr>
          <a:xfrm xmlns:a="http://schemas.openxmlformats.org/drawingml/2006/main">
            <a:off x="8858250" y="179070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2850" b="1">
                <a:solidFill>
                  <a:srgbClr val="0D8A9A"/>
                </a:solidFill>
                <a:latin typeface="Arial"/>
                <a:ea typeface="Arial"/>
                <a:cs typeface="Arial"/>
              </a:defRPr>
            </a:pPr>
            <a:r>
              <a:rPr sz="2850" b="1">
                <a:solidFill>
                  <a:srgbClr val="0D8A9A"/>
                </a:solidFill>
                <a:latin typeface="Arial"/>
                <a:ea typeface="Arial"/>
                <a:cs typeface="Arial"/>
              </a:rPr>
              <a:t>+0.096</a:t>
            </a:r>
          </a:p>
        </p:txBody>
      </p:sp>
      <p:sp>
        <p:nvSpPr>
          <p:cNvPr id="7" name="">
            <a:extLst xmlns:a="http://schemas.openxmlformats.org/drawingml/2006/main">
              <a:ext uri="{FF2B5EF4-FFF2-40B4-BE49-F238E27FC236}">
                <a16:creationId xmlns:a16="http://schemas.microsoft.com/office/drawing/2014/main" id="{011A7053-3853-46E0-9A11-3E56B39AD0B1}"/>
              </a:ext>
            </a:extLst>
          </p:cNvPr>
          <p:cNvSpPr>
            <a:spLocks xmlns:a="http://schemas.openxmlformats.org/drawingml/2006/main" noGrp="1"/>
          </p:cNvSpPr>
          <p:nvPr/>
        </p:nvSpPr>
        <p:spPr>
          <a:xfrm xmlns:a="http://schemas.openxmlformats.org/drawingml/2006/main">
            <a:off x="8858250" y="2381250"/>
            <a:ext cx="219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92381"/>
          </a:bodyPr>
          <a:lstStyle xmlns:a="http://schemas.openxmlformats.org/drawingml/2006/main"/>
          <a:p xmlns:a="http://schemas.openxmlformats.org/drawingml/2006/main">
            <a:pPr algn="ctr">
              <a:lnSpc>
                <a:spcPct val="104000"/>
              </a:lnSpc>
              <a:buNone/>
              <a:defRPr sz="1350" b="1">
                <a:solidFill>
                  <a:srgbClr val="687086"/>
                </a:solidFill>
                <a:latin typeface="Arial"/>
                <a:ea typeface="Arial"/>
                <a:cs typeface="Arial"/>
              </a:defRPr>
            </a:pPr>
            <a:r>
              <a:rPr sz="1350" b="1">
                <a:solidFill>
                  <a:srgbClr val="687086"/>
                </a:solidFill>
                <a:latin typeface="Arial"/>
                <a:ea typeface="Arial"/>
                <a:cs typeface="Arial"/>
              </a:rPr>
              <a:t>protein weight after</a:t>
            </a:r>
          </a:p>
          <a:p xmlns:a="http://schemas.openxmlformats.org/drawingml/2006/main">
            <a:pPr algn="ctr">
              <a:lnSpc>
                <a:spcPct val="104000"/>
              </a:lnSpc>
              <a:buNone/>
              <a:defRPr sz="1350" b="1">
                <a:solidFill>
                  <a:srgbClr val="687086"/>
                </a:solidFill>
                <a:latin typeface="Arial"/>
                <a:ea typeface="Arial"/>
                <a:cs typeface="Arial"/>
              </a:defRPr>
            </a:pPr>
            <a:r>
              <a:rPr sz="1350" b="1">
                <a:solidFill>
                  <a:srgbClr val="687086"/>
                </a:solidFill>
                <a:latin typeface="Arial"/>
                <a:ea typeface="Arial"/>
                <a:cs typeface="Arial"/>
              </a:rPr>
              <a:t>anti-CD3/CD28 vs baseline</a:t>
            </a:r>
          </a:p>
        </p:txBody>
      </p:sp>
      <p:sp>
        <p:nvSpPr>
          <p:cNvPr id="8" name="">
            <a:extLst xmlns:a="http://schemas.openxmlformats.org/drawingml/2006/main">
              <a:ext uri="{FF2B5EF4-FFF2-40B4-BE49-F238E27FC236}">
                <a16:creationId xmlns:a16="http://schemas.microsoft.com/office/drawing/2014/main" id="{88FA573E-E61F-446E-8F0F-A8EC43D68483}"/>
              </a:ext>
            </a:extLst>
          </p:cNvPr>
          <p:cNvSpPr>
            <a:spLocks xmlns:a="http://schemas.openxmlformats.org/drawingml/2006/main" noGrp="1"/>
          </p:cNvSpPr>
          <p:nvPr/>
        </p:nvSpPr>
        <p:spPr>
          <a:xfrm xmlns:a="http://schemas.openxmlformats.org/drawingml/2006/main">
            <a:off x="8858250" y="3524250"/>
            <a:ext cx="2190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2850" b="1">
                <a:solidFill>
                  <a:srgbClr val="F15B64"/>
                </a:solidFill>
                <a:latin typeface="Arial"/>
                <a:ea typeface="Arial"/>
                <a:cs typeface="Arial"/>
              </a:defRPr>
            </a:pPr>
            <a:r>
              <a:rPr sz="2850" b="1">
                <a:solidFill>
                  <a:srgbClr val="F15B64"/>
                </a:solidFill>
                <a:latin typeface="Arial"/>
                <a:ea typeface="Arial"/>
                <a:cs typeface="Arial"/>
              </a:rPr>
              <a:t>+0.090</a:t>
            </a:r>
          </a:p>
        </p:txBody>
      </p:sp>
      <p:sp>
        <p:nvSpPr>
          <p:cNvPr id="9" name="">
            <a:extLst xmlns:a="http://schemas.openxmlformats.org/drawingml/2006/main">
              <a:ext uri="{FF2B5EF4-FFF2-40B4-BE49-F238E27FC236}">
                <a16:creationId xmlns:a16="http://schemas.microsoft.com/office/drawing/2014/main" id="{CDAE40DB-72F3-4D74-8127-624D8DF2A8BF}"/>
              </a:ext>
            </a:extLst>
          </p:cNvPr>
          <p:cNvSpPr>
            <a:spLocks xmlns:a="http://schemas.openxmlformats.org/drawingml/2006/main" noGrp="1"/>
          </p:cNvSpPr>
          <p:nvPr/>
        </p:nvSpPr>
        <p:spPr>
          <a:xfrm xmlns:a="http://schemas.openxmlformats.org/drawingml/2006/main">
            <a:off x="8858250" y="4114800"/>
            <a:ext cx="2190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p xmlns:a="http://schemas.openxmlformats.org/drawingml/2006/main">
            <a:pPr algn="ctr">
              <a:lnSpc>
                <a:spcPct val="104000"/>
              </a:lnSpc>
              <a:buNone/>
              <a:defRPr sz="1350" b="1">
                <a:solidFill>
                  <a:srgbClr val="687086"/>
                </a:solidFill>
                <a:latin typeface="Arial"/>
                <a:ea typeface="Arial"/>
                <a:cs typeface="Arial"/>
              </a:defRPr>
            </a:pPr>
            <a:r>
              <a:rPr sz="1350" b="1">
                <a:solidFill>
                  <a:srgbClr val="687086"/>
                </a:solidFill>
                <a:latin typeface="Arial"/>
                <a:ea typeface="Arial"/>
                <a:cs typeface="Arial"/>
              </a:rPr>
              <a:t>protein weight in</a:t>
            </a:r>
          </a:p>
          <a:p xmlns:a="http://schemas.openxmlformats.org/drawingml/2006/main">
            <a:pPr algn="ctr">
              <a:lnSpc>
                <a:spcPct val="104000"/>
              </a:lnSpc>
              <a:buNone/>
              <a:defRPr sz="1350" b="1">
                <a:solidFill>
                  <a:srgbClr val="687086"/>
                </a:solidFill>
                <a:latin typeface="Arial"/>
                <a:ea typeface="Arial"/>
                <a:cs typeface="Arial"/>
              </a:defRPr>
            </a:pPr>
            <a:r>
              <a:rPr sz="1350" b="1">
                <a:solidFill>
                  <a:srgbClr val="687086"/>
                </a:solidFill>
                <a:latin typeface="Arial"/>
                <a:ea typeface="Arial"/>
                <a:cs typeface="Arial"/>
              </a:rPr>
              <a:t>CD69-discordant cells</a:t>
            </a:r>
          </a:p>
        </p:txBody>
      </p:sp>
      <p:sp>
        <p:nvSpPr>
          <p:cNvPr id="10" name="">
            <a:extLst xmlns:a="http://schemas.openxmlformats.org/drawingml/2006/main">
              <a:ext uri="{FF2B5EF4-FFF2-40B4-BE49-F238E27FC236}">
                <a16:creationId xmlns:a16="http://schemas.microsoft.com/office/drawing/2014/main" id="{28BAEB72-6591-4FC9-928A-8A6B98C99FC8}"/>
              </a:ext>
            </a:extLst>
          </p:cNvPr>
          <p:cNvSpPr>
            <a:spLocks xmlns:a="http://schemas.openxmlformats.org/drawingml/2006/main" noGrp="1"/>
          </p:cNvSpPr>
          <p:nvPr/>
        </p:nvSpPr>
        <p:spPr>
          <a:xfrm xmlns:a="http://schemas.openxmlformats.org/drawingml/2006/main">
            <a:off x="8667750" y="5219700"/>
            <a:ext cx="2667000" cy="914400"/>
          </a:xfrm>
          <a:prstGeom xmlns:a="http://schemas.openxmlformats.org/drawingml/2006/main" prst="roundRect">
            <a:avLst>
              <a:gd name="adj" fmla="val 12500"/>
            </a:avLst>
          </a:prstGeom>
          <a:solidFill xmlns:a="http://schemas.openxmlformats.org/drawingml/2006/main">
            <a:srgbClr val="FFE7E5"/>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00C29E76-4670-472B-ABA6-0EB2FF4E1437}"/>
              </a:ext>
            </a:extLst>
          </p:cNvPr>
          <p:cNvSpPr>
            <a:spLocks xmlns:a="http://schemas.openxmlformats.org/drawingml/2006/main" noGrp="1"/>
          </p:cNvSpPr>
          <p:nvPr/>
        </p:nvSpPr>
        <p:spPr>
          <a:xfrm xmlns:a="http://schemas.openxmlformats.org/drawingml/2006/main">
            <a:off x="8858250" y="5391150"/>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71070"/>
          </a:bodyPr>
          <a:lstStyle xmlns:a="http://schemas.openxmlformats.org/drawingml/2006/main"/>
          <a:p xmlns:a="http://schemas.openxmlformats.org/drawingml/2006/main">
            <a:pPr algn="ctr">
              <a:lnSpc>
                <a:spcPct val="104000"/>
              </a:lnSpc>
              <a:buNone/>
              <a:defRPr sz="1725" b="1">
                <a:solidFill>
                  <a:srgbClr val="F15B64"/>
                </a:solidFill>
                <a:latin typeface="Arial"/>
                <a:ea typeface="Arial"/>
                <a:cs typeface="Arial"/>
              </a:defRPr>
            </a:pPr>
            <a:r>
              <a:rPr sz="1725" b="1">
                <a:solidFill>
                  <a:srgbClr val="F15B64"/>
                </a:solidFill>
                <a:latin typeface="Arial"/>
                <a:ea typeface="Arial"/>
                <a:cs typeface="Arial"/>
              </a:rPr>
              <a:t>Recognition ≠ recovery</a:t>
            </a:r>
          </a:p>
        </p:txBody>
      </p:sp>
      <p:sp>
        <p:nvSpPr>
          <p:cNvPr id="12" name="">
            <a:extLst xmlns:a="http://schemas.openxmlformats.org/drawingml/2006/main">
              <a:ext uri="{FF2B5EF4-FFF2-40B4-BE49-F238E27FC236}">
                <a16:creationId xmlns:a16="http://schemas.microsoft.com/office/drawing/2014/main" id="{057784D2-1F56-4D98-A9D0-8DEBF4D3183F}"/>
              </a:ext>
            </a:extLst>
          </p:cNvPr>
          <p:cNvSpPr>
            <a:spLocks xmlns:a="http://schemas.openxmlformats.org/drawingml/2006/main" noGrp="1"/>
          </p:cNvSpPr>
          <p:nvPr/>
        </p:nvSpPr>
        <p:spPr>
          <a:xfrm xmlns:a="http://schemas.openxmlformats.org/drawingml/2006/main">
            <a:off x="8858250" y="5743575"/>
            <a:ext cx="228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61685"/>
          </a:bodyPr>
          <a:lstStyle xmlns:a="http://schemas.openxmlformats.org/drawingml/2006/main"/>
          <a:p xmlns:a="http://schemas.openxmlformats.org/drawingml/2006/main">
            <a:pPr algn="ctr">
              <a:lnSpc>
                <a:spcPct val="104000"/>
              </a:lnSpc>
              <a:buNone/>
              <a:defRPr sz="1275" b="0">
                <a:solidFill>
                  <a:srgbClr val="17223B"/>
                </a:solidFill>
                <a:latin typeface="Arial"/>
                <a:ea typeface="Arial"/>
                <a:cs typeface="Arial"/>
              </a:defRPr>
            </a:pPr>
            <a:r>
              <a:rPr sz="1275" b="0">
                <a:solidFill>
                  <a:srgbClr val="17223B"/>
                </a:solidFill>
                <a:latin typeface="Arial"/>
                <a:ea typeface="Arial"/>
                <a:cs typeface="Arial"/>
              </a:rPr>
              <a:t>The gate moved, but prediction did not improve.</a:t>
            </a:r>
          </a:p>
        </p:txBody>
      </p:sp>
    </p:spTree>
    <p:extLst>
      <p:ext uri="{BB962C8B-B14F-4D97-AF65-F5344CB8AC3E}">
        <p14:creationId xmlns:p14="http://schemas.microsoft.com/office/powerpoint/2010/main" val="1175886555"/>
      </p:ext>
    </p:extLst>
  </p:cSld>
</p:sld>
</file>

<file path=ppt/slides/slide9.xml><?xml version="1.0" encoding="utf-8"?>
<p:sld xmlns:p="http://schemas.openxmlformats.org/presentationml/2006/main">
  <p:cSld>
    <p:bg>
      <p:bgPr>
        <a:solidFill xmlns:a="http://schemas.openxmlformats.org/drawingml/2006/main">
          <a:srgbClr val="17223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864CD4E-EEED-44F6-BBC4-8AF92587C459}"/>
              </a:ext>
            </a:extLst>
          </p:cNvPr>
          <p:cNvSpPr>
            <a:spLocks xmlns:a="http://schemas.openxmlformats.org/drawingml/2006/main" noGrp="1"/>
          </p:cNvSpPr>
          <p:nvPr/>
        </p:nvSpPr>
        <p:spPr>
          <a:xfrm xmlns:a="http://schemas.openxmlformats.org/drawingml/2006/main">
            <a:off x="685800" y="457200"/>
            <a:ext cx="2476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6923"/>
          </a:bodyPr>
          <a:lstStyle xmlns:a="http://schemas.openxmlformats.org/drawingml/2006/main"/>
          <a:p xmlns:a="http://schemas.openxmlformats.org/drawingml/2006/main">
            <a:pPr algn="l">
              <a:lnSpc>
                <a:spcPct val="104000"/>
              </a:lnSpc>
              <a:buNone/>
              <a:defRPr sz="1125" b="1">
                <a:solidFill>
                  <a:srgbClr val="DDF3F2"/>
                </a:solidFill>
                <a:latin typeface="Arial"/>
                <a:ea typeface="Arial"/>
                <a:cs typeface="Arial"/>
              </a:defRPr>
            </a:pPr>
            <a:r>
              <a:rPr sz="1125" b="1">
                <a:solidFill>
                  <a:srgbClr val="DDF3F2"/>
                </a:solidFill>
                <a:latin typeface="Arial"/>
                <a:ea typeface="Arial"/>
                <a:cs typeface="Arial"/>
              </a:rPr>
              <a:t>CONCLUSION</a:t>
            </a:r>
          </a:p>
        </p:txBody>
      </p:sp>
      <p:sp>
        <p:nvSpPr>
          <p:cNvPr id="2" name="">
            <a:extLst xmlns:a="http://schemas.openxmlformats.org/drawingml/2006/main">
              <a:ext uri="{FF2B5EF4-FFF2-40B4-BE49-F238E27FC236}">
                <a16:creationId xmlns:a16="http://schemas.microsoft.com/office/drawing/2014/main" id="{71ACB29E-9E80-41E6-92F8-EC6916ED5223}"/>
              </a:ext>
            </a:extLst>
          </p:cNvPr>
          <p:cNvSpPr>
            <a:spLocks xmlns:a="http://schemas.openxmlformats.org/drawingml/2006/main" noGrp="1"/>
          </p:cNvSpPr>
          <p:nvPr/>
        </p:nvSpPr>
        <p:spPr>
          <a:xfrm xmlns:a="http://schemas.openxmlformats.org/drawingml/2006/main">
            <a:off x="685800" y="895350"/>
            <a:ext cx="7239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7645"/>
          </a:bodyPr>
          <a:lstStyle xmlns:a="http://schemas.openxmlformats.org/drawingml/2006/main"/>
          <a:p xmlns:a="http://schemas.openxmlformats.org/drawingml/2006/main">
            <a:pPr algn="l">
              <a:lnSpc>
                <a:spcPct val="104000"/>
              </a:lnSpc>
              <a:buNone/>
              <a:defRPr sz="3225" b="1">
                <a:solidFill>
                  <a:srgbClr val="FFFFFF"/>
                </a:solidFill>
                <a:latin typeface="Arial"/>
                <a:ea typeface="Arial"/>
                <a:cs typeface="Arial"/>
              </a:defRPr>
            </a:pPr>
            <a:r>
              <a:rPr sz="3225" b="1">
                <a:solidFill>
                  <a:srgbClr val="FFFFFF"/>
                </a:solidFill>
                <a:latin typeface="Arial"/>
                <a:ea typeface="Arial"/>
                <a:cs typeface="Arial"/>
              </a:rPr>
              <a:t>A useful negative result</a:t>
            </a:r>
          </a:p>
        </p:txBody>
      </p:sp>
      <p:sp>
        <p:nvSpPr>
          <p:cNvPr id="3" name="">
            <a:extLst xmlns:a="http://schemas.openxmlformats.org/drawingml/2006/main">
              <a:ext uri="{FF2B5EF4-FFF2-40B4-BE49-F238E27FC236}">
                <a16:creationId xmlns:a16="http://schemas.microsoft.com/office/drawing/2014/main" id="{ECE0D04E-1AB6-4C77-A139-49A03132F7D6}"/>
              </a:ext>
            </a:extLst>
          </p:cNvPr>
          <p:cNvSpPr>
            <a:spLocks xmlns:a="http://schemas.openxmlformats.org/drawingml/2006/main" noGrp="1"/>
          </p:cNvSpPr>
          <p:nvPr/>
        </p:nvSpPr>
        <p:spPr>
          <a:xfrm xmlns:a="http://schemas.openxmlformats.org/drawingml/2006/main">
            <a:off x="685800" y="1657350"/>
            <a:ext cx="952500" cy="47625"/>
          </a:xfrm>
          <a:prstGeom xmlns:a="http://schemas.openxmlformats.org/drawingml/2006/main" prst="rect">
            <a:avLst/>
          </a:prstGeom>
          <a:solidFill xmlns:a="http://schemas.openxmlformats.org/drawingml/2006/main">
            <a:srgbClr val="F15B64"/>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0F9529-0766-41CE-B4BE-5452CE68C564}"/>
              </a:ext>
            </a:extLst>
          </p:cNvPr>
          <p:cNvSpPr>
            <a:spLocks xmlns:a="http://schemas.openxmlformats.org/drawingml/2006/main" noGrp="1"/>
          </p:cNvSpPr>
          <p:nvPr/>
        </p:nvSpPr>
        <p:spPr>
          <a:xfrm xmlns:a="http://schemas.openxmlformats.org/drawingml/2006/main">
            <a:off x="685800" y="209550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DDF3F2"/>
                </a:solidFill>
                <a:latin typeface="Arial"/>
                <a:ea typeface="Arial"/>
                <a:cs typeface="Arial"/>
              </a:defRPr>
            </a:pPr>
            <a:r>
              <a:rPr sz="1350" b="1">
                <a:solidFill>
                  <a:srgbClr val="DDF3F2"/>
                </a:solidFill>
                <a:latin typeface="Arial"/>
                <a:ea typeface="Arial"/>
                <a:cs typeface="Arial"/>
              </a:rPr>
              <a:t>What worked</a:t>
            </a:r>
          </a:p>
        </p:txBody>
      </p:sp>
      <p:sp>
        <p:nvSpPr>
          <p:cNvPr id="5" name="">
            <a:extLst xmlns:a="http://schemas.openxmlformats.org/drawingml/2006/main">
              <a:ext uri="{FF2B5EF4-FFF2-40B4-BE49-F238E27FC236}">
                <a16:creationId xmlns:a16="http://schemas.microsoft.com/office/drawing/2014/main" id="{DBA79876-09A6-4CD1-A6C7-21A0B5B18EAF}"/>
              </a:ext>
            </a:extLst>
          </p:cNvPr>
          <p:cNvSpPr>
            <a:spLocks xmlns:a="http://schemas.openxmlformats.org/drawingml/2006/main" noGrp="1"/>
          </p:cNvSpPr>
          <p:nvPr/>
        </p:nvSpPr>
        <p:spPr>
          <a:xfrm xmlns:a="http://schemas.openxmlformats.org/drawingml/2006/main">
            <a:off x="685800" y="2476500"/>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546"/>
          </a:bodyPr>
          <a:lstStyle xmlns:a="http://schemas.openxmlformats.org/drawingml/2006/main"/>
          <a:p xmlns:a="http://schemas.openxmlformats.org/drawingml/2006/main">
            <a:pPr algn="l">
              <a:lnSpc>
                <a:spcPct val="104000"/>
              </a:lnSpc>
              <a:buNone/>
              <a:defRPr sz="2025" b="1">
                <a:solidFill>
                  <a:srgbClr val="FFFFFF"/>
                </a:solidFill>
                <a:latin typeface="Arial"/>
                <a:ea typeface="Arial"/>
                <a:cs typeface="Arial"/>
              </a:defRPr>
            </a:pPr>
            <a:r>
              <a:rPr sz="2025" b="1">
                <a:solidFill>
                  <a:srgbClr val="FFFFFF"/>
                </a:solidFill>
                <a:latin typeface="Arial"/>
                <a:ea typeface="Arial"/>
                <a:cs typeface="Arial"/>
              </a:rPr>
              <a:t>FusionVI learned cell-specific, stimulation-sensitive modality weights.</a:t>
            </a:r>
          </a:p>
        </p:txBody>
      </p:sp>
      <p:sp>
        <p:nvSpPr>
          <p:cNvPr id="6" name="">
            <a:extLst xmlns:a="http://schemas.openxmlformats.org/drawingml/2006/main">
              <a:ext uri="{FF2B5EF4-FFF2-40B4-BE49-F238E27FC236}">
                <a16:creationId xmlns:a16="http://schemas.microsoft.com/office/drawing/2014/main" id="{7F90D1BD-45AF-438B-AACE-65618F7AA0DB}"/>
              </a:ext>
            </a:extLst>
          </p:cNvPr>
          <p:cNvSpPr>
            <a:spLocks xmlns:a="http://schemas.openxmlformats.org/drawingml/2006/main" noGrp="1"/>
          </p:cNvSpPr>
          <p:nvPr/>
        </p:nvSpPr>
        <p:spPr>
          <a:xfrm xmlns:a="http://schemas.openxmlformats.org/drawingml/2006/main">
            <a:off x="685800" y="3867150"/>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F15B64"/>
                </a:solidFill>
                <a:latin typeface="Arial"/>
                <a:ea typeface="Arial"/>
                <a:cs typeface="Arial"/>
              </a:defRPr>
            </a:pPr>
            <a:r>
              <a:rPr sz="1350" b="1">
                <a:solidFill>
                  <a:srgbClr val="F15B64"/>
                </a:solidFill>
                <a:latin typeface="Arial"/>
                <a:ea typeface="Arial"/>
                <a:cs typeface="Arial"/>
              </a:rPr>
              <a:t>What did not</a:t>
            </a:r>
          </a:p>
        </p:txBody>
      </p:sp>
      <p:sp>
        <p:nvSpPr>
          <p:cNvPr id="7" name="">
            <a:extLst xmlns:a="http://schemas.openxmlformats.org/drawingml/2006/main">
              <a:ext uri="{FF2B5EF4-FFF2-40B4-BE49-F238E27FC236}">
                <a16:creationId xmlns:a16="http://schemas.microsoft.com/office/drawing/2014/main" id="{40496E44-E6AE-4BA0-9D9D-88557115AD94}"/>
              </a:ext>
            </a:extLst>
          </p:cNvPr>
          <p:cNvSpPr>
            <a:spLocks xmlns:a="http://schemas.openxmlformats.org/drawingml/2006/main" noGrp="1"/>
          </p:cNvSpPr>
          <p:nvPr/>
        </p:nvSpPr>
        <p:spPr>
          <a:xfrm xmlns:a="http://schemas.openxmlformats.org/drawingml/2006/main">
            <a:off x="685800" y="4248150"/>
            <a:ext cx="4095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5470"/>
          </a:bodyPr>
          <a:lstStyle xmlns:a="http://schemas.openxmlformats.org/drawingml/2006/main"/>
          <a:p xmlns:a="http://schemas.openxmlformats.org/drawingml/2006/main">
            <a:pPr algn="l">
              <a:lnSpc>
                <a:spcPct val="104000"/>
              </a:lnSpc>
              <a:buNone/>
              <a:defRPr sz="2025" b="1">
                <a:solidFill>
                  <a:srgbClr val="FFFFFF"/>
                </a:solidFill>
                <a:latin typeface="Arial"/>
                <a:ea typeface="Arial"/>
                <a:cs typeface="Arial"/>
              </a:defRPr>
            </a:pPr>
            <a:r>
              <a:rPr sz="2025" b="1">
                <a:solidFill>
                  <a:srgbClr val="FFFFFF"/>
                </a:solidFill>
                <a:latin typeface="Arial"/>
                <a:ea typeface="Arial"/>
                <a:cs typeface="Arial"/>
              </a:rPr>
              <a:t>Adaptive fusion alone did not improve donor-generalized marker recovery.</a:t>
            </a:r>
          </a:p>
        </p:txBody>
      </p:sp>
      <p:sp>
        <p:nvSpPr>
          <p:cNvPr id="8" name="">
            <a:extLst xmlns:a="http://schemas.openxmlformats.org/drawingml/2006/main">
              <a:ext uri="{FF2B5EF4-FFF2-40B4-BE49-F238E27FC236}">
                <a16:creationId xmlns:a16="http://schemas.microsoft.com/office/drawing/2014/main" id="{5193DCA6-EFE4-49C3-B7F6-1C945285528D}"/>
              </a:ext>
            </a:extLst>
          </p:cNvPr>
          <p:cNvSpPr>
            <a:spLocks xmlns:a="http://schemas.openxmlformats.org/drawingml/2006/main" noGrp="1"/>
          </p:cNvSpPr>
          <p:nvPr/>
        </p:nvSpPr>
        <p:spPr>
          <a:xfrm xmlns:a="http://schemas.openxmlformats.org/drawingml/2006/main">
            <a:off x="6096000" y="20955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81909"/>
          </a:bodyPr>
          <a:lstStyle xmlns:a="http://schemas.openxmlformats.org/drawingml/2006/main"/>
          <a:p xmlns:a="http://schemas.openxmlformats.org/drawingml/2006/main">
            <a:pPr algn="l">
              <a:lnSpc>
                <a:spcPct val="104000"/>
              </a:lnSpc>
              <a:buNone/>
              <a:defRPr sz="1350" b="1">
                <a:solidFill>
                  <a:srgbClr val="DDF3F2"/>
                </a:solidFill>
                <a:latin typeface="Arial"/>
                <a:ea typeface="Arial"/>
                <a:cs typeface="Arial"/>
              </a:defRPr>
            </a:pPr>
            <a:r>
              <a:rPr sz="1350" b="1">
                <a:solidFill>
                  <a:srgbClr val="DDF3F2"/>
                </a:solidFill>
                <a:latin typeface="Arial"/>
                <a:ea typeface="Arial"/>
                <a:cs typeface="Arial"/>
              </a:rPr>
              <a:t>Best next experiment</a:t>
            </a:r>
          </a:p>
        </p:txBody>
      </p:sp>
      <p:sp>
        <p:nvSpPr>
          <p:cNvPr id="9" name="">
            <a:extLst xmlns:a="http://schemas.openxmlformats.org/drawingml/2006/main">
              <a:ext uri="{FF2B5EF4-FFF2-40B4-BE49-F238E27FC236}">
                <a16:creationId xmlns:a16="http://schemas.microsoft.com/office/drawing/2014/main" id="{571A0F70-571B-4B33-BBF8-D2160023BA7D}"/>
              </a:ext>
            </a:extLst>
          </p:cNvPr>
          <p:cNvSpPr>
            <a:spLocks xmlns:a="http://schemas.openxmlformats.org/drawingml/2006/main" noGrp="1"/>
          </p:cNvSpPr>
          <p:nvPr/>
        </p:nvSpPr>
        <p:spPr>
          <a:xfrm xmlns:a="http://schemas.openxmlformats.org/drawingml/2006/main">
            <a:off x="6096000" y="2495550"/>
            <a:ext cx="4762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4509"/>
          </a:bodyPr>
          <a:lstStyle xmlns:a="http://schemas.openxmlformats.org/drawingml/2006/main"/>
          <a:p xmlns:a="http://schemas.openxmlformats.org/drawingml/2006/main">
            <a:pPr algn="l">
              <a:lnSpc>
                <a:spcPct val="104000"/>
              </a:lnSpc>
              <a:buNone/>
              <a:defRPr sz="2175" b="1">
                <a:solidFill>
                  <a:srgbClr val="FFFFFF"/>
                </a:solidFill>
                <a:latin typeface="Arial"/>
                <a:ea typeface="Arial"/>
                <a:cs typeface="Arial"/>
              </a:defRPr>
            </a:pPr>
            <a:r>
              <a:rPr sz="2175" b="1">
                <a:solidFill>
                  <a:srgbClr val="FFFFFF"/>
                </a:solidFill>
                <a:latin typeface="Arial"/>
                <a:ea typeface="Arial"/>
                <a:cs typeface="Arial"/>
              </a:rPr>
              <a:t>Train a constrained or supervised gate on cross-modal prediction, then test a larger perturbation dataset with multiple doses and timepoints.</a:t>
            </a:r>
          </a:p>
        </p:txBody>
      </p:sp>
      <p:sp>
        <p:nvSpPr>
          <p:cNvPr id="10" name="">
            <a:extLst xmlns:a="http://schemas.openxmlformats.org/drawingml/2006/main">
              <a:ext uri="{FF2B5EF4-FFF2-40B4-BE49-F238E27FC236}">
                <a16:creationId xmlns:a16="http://schemas.microsoft.com/office/drawing/2014/main" id="{8BEEB41E-DCD5-425E-801A-434175468608}"/>
              </a:ext>
            </a:extLst>
          </p:cNvPr>
          <p:cNvSpPr>
            <a:spLocks xmlns:a="http://schemas.openxmlformats.org/drawingml/2006/main" noGrp="1"/>
          </p:cNvSpPr>
          <p:nvPr/>
        </p:nvSpPr>
        <p:spPr>
          <a:xfrm xmlns:a="http://schemas.openxmlformats.org/drawingml/2006/main">
            <a:off x="6096000" y="4762500"/>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72115"/>
          </a:bodyPr>
          <a:lstStyle xmlns:a="http://schemas.openxmlformats.org/drawingml/2006/main"/>
          <a:p xmlns:a="http://schemas.openxmlformats.org/drawingml/2006/main">
            <a:pPr algn="l">
              <a:lnSpc>
                <a:spcPct val="104000"/>
              </a:lnSpc>
              <a:buNone/>
              <a:defRPr sz="1200" b="1">
                <a:solidFill>
                  <a:srgbClr val="F15B64"/>
                </a:solidFill>
                <a:latin typeface="Arial"/>
                <a:ea typeface="Arial"/>
                <a:cs typeface="Arial"/>
              </a:defRPr>
            </a:pPr>
            <a:r>
              <a:rPr sz="1200" b="1">
                <a:solidFill>
                  <a:srgbClr val="F15B64"/>
                </a:solidFill>
                <a:latin typeface="Arial"/>
                <a:ea typeface="Arial"/>
                <a:cs typeface="Arial"/>
              </a:rPr>
              <a:t>Controls</a:t>
            </a:r>
          </a:p>
        </p:txBody>
      </p:sp>
      <p:sp>
        <p:nvSpPr>
          <p:cNvPr id="11" name="">
            <a:extLst xmlns:a="http://schemas.openxmlformats.org/drawingml/2006/main">
              <a:ext uri="{FF2B5EF4-FFF2-40B4-BE49-F238E27FC236}">
                <a16:creationId xmlns:a16="http://schemas.microsoft.com/office/drawing/2014/main" id="{9F35B81F-3F4C-453A-B5D8-7E3D08524E40}"/>
              </a:ext>
            </a:extLst>
          </p:cNvPr>
          <p:cNvSpPr>
            <a:spLocks xmlns:a="http://schemas.openxmlformats.org/drawingml/2006/main" noGrp="1"/>
          </p:cNvSpPr>
          <p:nvPr/>
        </p:nvSpPr>
        <p:spPr>
          <a:xfrm xmlns:a="http://schemas.openxmlformats.org/drawingml/2006/main">
            <a:off x="6096000" y="5124450"/>
            <a:ext cx="4953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lgn="l">
              <a:lnSpc>
                <a:spcPct val="104000"/>
              </a:lnSpc>
              <a:buNone/>
              <a:defRPr sz="1500" b="0">
                <a:solidFill>
                  <a:srgbClr val="D7DCEC"/>
                </a:solidFill>
                <a:latin typeface="Arial"/>
                <a:ea typeface="Arial"/>
                <a:cs typeface="Arial"/>
              </a:defRPr>
            </a:pPr>
            <a:r>
              <a:rPr sz="1500" b="0">
                <a:solidFill>
                  <a:srgbClr val="D7DCEC"/>
                </a:solidFill>
                <a:latin typeface="Arial"/>
                <a:ea typeface="Arial"/>
                <a:cs typeface="Arial"/>
              </a:rPr>
              <a:t>capacity-matched encoder  •  multiple seeds  •  external pharmacodynamic readout</a:t>
            </a:r>
          </a:p>
        </p:txBody>
      </p:sp>
      <p:sp>
        <p:nvSpPr>
          <p:cNvPr id="12" name="">
            <a:extLst xmlns:a="http://schemas.openxmlformats.org/drawingml/2006/main">
              <a:ext uri="{FF2B5EF4-FFF2-40B4-BE49-F238E27FC236}">
                <a16:creationId xmlns:a16="http://schemas.microsoft.com/office/drawing/2014/main" id="{7C30B857-8751-4A40-A599-34B643F43567}"/>
              </a:ext>
            </a:extLst>
          </p:cNvPr>
          <p:cNvSpPr>
            <a:spLocks xmlns:a="http://schemas.openxmlformats.org/drawingml/2006/main" noGrp="1"/>
          </p:cNvSpPr>
          <p:nvPr/>
        </p:nvSpPr>
        <p:spPr>
          <a:xfrm xmlns:a="http://schemas.openxmlformats.org/drawingml/2006/main">
            <a:off x="6096000" y="6153150"/>
            <a:ext cx="4953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62099"/>
          </a:bodyPr>
          <a:lstStyle xmlns:a="http://schemas.openxmlformats.org/drawingml/2006/main"/>
          <a:p xmlns:a="http://schemas.openxmlformats.org/drawingml/2006/main">
            <a:pPr algn="l">
              <a:lnSpc>
                <a:spcPct val="104000"/>
              </a:lnSpc>
              <a:buNone/>
              <a:defRPr sz="1200" b="1">
                <a:solidFill>
                  <a:srgbClr val="DDF3F2"/>
                </a:solidFill>
                <a:latin typeface="Arial"/>
                <a:ea typeface="Arial"/>
                <a:cs typeface="Arial"/>
              </a:defRPr>
            </a:pPr>
            <a:r>
              <a:rPr sz="1200" b="1">
                <a:solidFill>
                  <a:srgbClr val="DDF3F2"/>
                </a:solidFill>
                <a:latin typeface="Arial"/>
                <a:ea typeface="Arial"/>
                <a:cs typeface="Arial"/>
              </a:rPr>
              <a:t>Code, folds, metrics and report are reproducible from one pipeline.</a:t>
            </a:r>
          </a:p>
        </p:txBody>
      </p:sp>
    </p:spTree>
    <p:extLst>
      <p:ext uri="{BB962C8B-B14F-4D97-AF65-F5344CB8AC3E}">
        <p14:creationId xmlns:p14="http://schemas.microsoft.com/office/powerpoint/2010/main" val="71767481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2026-10-01T18:08:03.6980000Z</dcterms:created>
  <dcterms:modified xsi:type="dcterms:W3CDTF">2026-10-01T18:08:03.6980000Z</dcterms:modified>
</coreProperties>
</file>