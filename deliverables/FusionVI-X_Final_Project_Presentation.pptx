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2fb870cd1254ca5" /><Relationship Type="http://schemas.openxmlformats.org/officeDocument/2006/relationships/extended-properties" Target="/docProps/app.xml" Id="R9ad2336fcf7f470d" /><Relationship Type="http://schemas.openxmlformats.org/officeDocument/2006/relationships/officeDocument" Target="/ppt/presentation.xml" Id="R5807a1a60f6e40ab" /></Relationships>
</file>

<file path=ppt/presentation.xml><?xml version="1.0" encoding="utf-8"?>
<p:presentation xmlns:p="http://schemas.openxmlformats.org/presentationml/2006/main">
  <p:sldMasterIdLst>
    <p:sldMasterId xmlns:r="http://schemas.openxmlformats.org/officeDocument/2006/relationships" id="2147483648" r:id="R9ee676b4107844fb"/>
  </p:sldMasterIdLst>
  <p:notesMasterIdLst>
    <p:notesMasterId xmlns:r="http://schemas.openxmlformats.org/officeDocument/2006/relationships" r:id="Rd7e944e21a9549a4"/>
  </p:notesMasterIdLst>
  <p:sldIdLst>
    <p:sldId xmlns:r="http://schemas.openxmlformats.org/officeDocument/2006/relationships" id="256" r:id="Rfb2c5a59251f47dc"/>
    <p:sldId xmlns:r="http://schemas.openxmlformats.org/officeDocument/2006/relationships" id="257" r:id="Rade8242d0358446f"/>
    <p:sldId xmlns:r="http://schemas.openxmlformats.org/officeDocument/2006/relationships" id="258" r:id="R115ef70efcfc4e4b"/>
    <p:sldId xmlns:r="http://schemas.openxmlformats.org/officeDocument/2006/relationships" id="259" r:id="R9ed9400c03bd4df4"/>
    <p:sldId xmlns:r="http://schemas.openxmlformats.org/officeDocument/2006/relationships" id="260" r:id="R4aa5b32aea744265"/>
    <p:sldId xmlns:r="http://schemas.openxmlformats.org/officeDocument/2006/relationships" id="261" r:id="R67e6c416ffaa4045"/>
    <p:sldId xmlns:r="http://schemas.openxmlformats.org/officeDocument/2006/relationships" id="262" r:id="Rd6f7d54dbc974750"/>
    <p:sldId xmlns:r="http://schemas.openxmlformats.org/officeDocument/2006/relationships" id="263" r:id="R088a2ea2454f46fe"/>
    <p:sldId xmlns:r="http://schemas.openxmlformats.org/officeDocument/2006/relationships" id="264" r:id="R34585a06c6974d7d"/>
    <p:sldId xmlns:r="http://schemas.openxmlformats.org/officeDocument/2006/relationships" id="265" r:id="R51d6e686791845e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b06a8b13d644895" /><Relationship Type="http://schemas.openxmlformats.org/officeDocument/2006/relationships/slideMaster" Target="/ppt/slideMasters/slideMaster1.xml" Id="R9ee676b4107844fb" /><Relationship Type="http://schemas.openxmlformats.org/officeDocument/2006/relationships/notesMaster" Target="/ppt/notesMasters/notesMaster1.xml" Id="Rd7e944e21a9549a4" /><Relationship Type="http://schemas.openxmlformats.org/officeDocument/2006/relationships/presProps" Target="/ppt/presProps.xml" Id="Rf9769f9eecb648fb" /><Relationship Type="http://schemas.openxmlformats.org/officeDocument/2006/relationships/tableStyles" Target="/ppt/tableStyles.xml" Id="Rc4a283a042204086" /><Relationship Type="http://schemas.openxmlformats.org/officeDocument/2006/relationships/slide" Target="/ppt/slides/slide1.xml" Id="Rfb2c5a59251f47dc" /><Relationship Type="http://schemas.openxmlformats.org/officeDocument/2006/relationships/slide" Target="/ppt/slides/slide2.xml" Id="Rade8242d0358446f" /><Relationship Type="http://schemas.openxmlformats.org/officeDocument/2006/relationships/slide" Target="/ppt/slides/slide3.xml" Id="R115ef70efcfc4e4b" /><Relationship Type="http://schemas.openxmlformats.org/officeDocument/2006/relationships/slide" Target="/ppt/slides/slide4.xml" Id="R9ed9400c03bd4df4" /><Relationship Type="http://schemas.openxmlformats.org/officeDocument/2006/relationships/slide" Target="/ppt/slides/slide5.xml" Id="R4aa5b32aea744265" /><Relationship Type="http://schemas.openxmlformats.org/officeDocument/2006/relationships/slide" Target="/ppt/slides/slide6.xml" Id="R67e6c416ffaa4045" /><Relationship Type="http://schemas.openxmlformats.org/officeDocument/2006/relationships/slide" Target="/ppt/slides/slide7.xml" Id="Rd6f7d54dbc974750" /><Relationship Type="http://schemas.openxmlformats.org/officeDocument/2006/relationships/slide" Target="/ppt/slides/slide8.xml" Id="R088a2ea2454f46fe" /><Relationship Type="http://schemas.openxmlformats.org/officeDocument/2006/relationships/slide" Target="/ppt/slides/slide9.xml" Id="R34585a06c6974d7d" /><Relationship Type="http://schemas.openxmlformats.org/officeDocument/2006/relationships/slide" Target="/ppt/slides/slide10.xml" Id="R51d6e686791845e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1c63f0194804f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199fff7c2f4404" /><Relationship Type="http://schemas.openxmlformats.org/officeDocument/2006/relationships/notesMaster" Target="/ppt/notesMasters/notesMaster1.xml" Id="R3f38a83b104e4b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d2d4d4a8e2d741ae" /><Relationship Type="http://schemas.openxmlformats.org/officeDocument/2006/relationships/notesMaster" Target="/ppt/notesMasters/notesMaster1.xml" Id="R64edd151953d494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42d50ef97c649a5" /><Relationship Type="http://schemas.openxmlformats.org/officeDocument/2006/relationships/notesMaster" Target="/ppt/notesMasters/notesMaster1.xml" Id="Recf20edc298d437a"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07ce874dff4404" /><Relationship Type="http://schemas.openxmlformats.org/officeDocument/2006/relationships/notesMaster" Target="/ppt/notesMasters/notesMaster1.xml" Id="R92751c7e9d4f42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ac73f86470471e" /><Relationship Type="http://schemas.openxmlformats.org/officeDocument/2006/relationships/notesMaster" Target="/ppt/notesMasters/notesMaster1.xml" Id="Rbf4cd57183404f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08e9577a7674286" /><Relationship Type="http://schemas.openxmlformats.org/officeDocument/2006/relationships/notesMaster" Target="/ppt/notesMasters/notesMaster1.xml" Id="R47f0450c32404c10"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9bcc87a9114305" /><Relationship Type="http://schemas.openxmlformats.org/officeDocument/2006/relationships/notesMaster" Target="/ppt/notesMasters/notesMaster1.xml" Id="Rce78f3c90da6428f" /></Relationships>
</file>

<file path=ppt/notesSlides/_rels/notesSlide8.xml.rels>&#65279;<?xml version="1.0" encoding="utf-8"?><Relationships xmlns="http://schemas.openxmlformats.org/package/2006/relationships"><Relationship Type="http://schemas.openxmlformats.org/officeDocument/2006/relationships/slide" Target="/ppt/slides/slide8.xml" Id="R8d6faa352d734797" /><Relationship Type="http://schemas.openxmlformats.org/officeDocument/2006/relationships/notesMaster" Target="/ppt/notesMasters/notesMaster1.xml" Id="R282005e4ece74be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a47ec8ef3c4c35" /><Relationship Type="http://schemas.openxmlformats.org/officeDocument/2006/relationships/notesMaster" Target="/ppt/notesMasters/notesMaster1.xml" Id="R3e6fdb3c3b0d4f2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a36f5a594654638" /><Relationship Type="http://schemas.openxmlformats.org/officeDocument/2006/relationships/notesMaster" Target="/ppt/notesMasters/notesMaster1.xml" Id="R398235f5c0b44e4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question: Can a model recover an activation surface phenotype when marker RNA points in a different direction? FusionVI-X hides the target marker, learns from nine donors and evaluates the untouched tenth donor. Presentation timing: about 35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Lawlor et al. showed that CITE-seq can capture transcript and surface-protein activation responses after LPS or anti-CD3/CD28 stimulation. totalVI assumes a shared latent cell state while retaining modality-specific likelihoods. Sources: https://www.frontiersin.org/journals/immunology/articles/10.3389/fimmu.2021.636720/full ; https://pmc.ncbi.nlm.nih.gov/articles/PMC7954949/ . Timing: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study profiled 10 donors at baseline and after 24 hours of LPS or anti-CD3/CD28. It used 39 antibodies and recovered 16,382 cells after filtering. The project uses a strict leave-one-donor-out design and sequencing lane as the batch covariate. Source: Lawlor et al., Frontiers in Immunology 2021, DOI 10.3389/fimmu.2021.636720. Timing: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totalVI maps joint RNA and protein counts to a latent state and decodes both modalities. FusionVI replaces only the encoder with two branches and a scalar gate. FusionVI-X then adds a target-specific readout using the latent state, the other 36 proteins and a prespecified RNA proxy. The hidden target marker is never an input. Source: Gayoso et al., Nature Methods 2021, DOI 10.1038/s41592-020-01050-x. Timing: 65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evaluation addresses circularity and model-selection leakage. The three activation proteins are hidden from all inputs. The readout family is chosen only among training donors, then evaluated once on the outer held-out donor. The harder subset contains cells where transcript and protein ranks differ by at least 50 percentile points. Timing: 55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 T-cell and monocyte contrasts are perfect for both models. NK and B responses are also close to perfect. Even RNA PCA performs at ceiling. This endpoint confirms that the models learned biology, but it cannot discriminate FusionVI from totalVI. Results generated by this project. Timing: 45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donor-nested cross-modal head improves all three global marker correlations with adjusted q values of 0.0039. The largest gain is HLA-DR. In the prespecified HLA-DR discordance subset, correlation changes from negative 0.175 to positive 0.637, with q equal to 0.0117. Timing: 60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ablation gives the biological explanation. RNA proxy alone becomes anticorrelated with measured surface protein in every discordant subset. Other ADTs restore positive correlations without access to the target marker. Adding the learned latent state gives the best global HLA-DR result. Similar totalVI-X and FusionVI-X results show that targeted supervision is the main improvement. Timing: 55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gate did not collapse. It used more protein under anti-CD3/CD28 and in CD69-discordant cells. But the unsupervised ELBO did not translate that behavior into marker recovery. The positive cross-modal head shows what was missing: direct training pressure on the pharmacodynamic endpoint, selected without looking at the held-out donor. Timing: 45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conclusion is now positive and specific. The scalar gate alone was insufficient, but the donor-nested targeted cross-modal head improved all global markers and strongly rescued discordant HLA-DR. The biological implication is that neighbouring surface proteins preserve activation context when RNA is misleading. Timing: 45 seconds, leaving about three minutes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bfe01ac669548f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55bb7e1c3524ea2" /><Relationship Type="http://schemas.openxmlformats.org/officeDocument/2006/relationships/slideLayout" Target="/ppt/slideLayouts/slideLayout1.xml" Id="Rcd0f1a0533084a8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0f1a0533084a8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96b1d4e27dd4e41" /><Relationship Type="http://schemas.openxmlformats.org/officeDocument/2006/relationships/notesSlide" Target="/ppt/notesSlides/notesSlide1.xml" Id="Rc9348d6f55bb48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e9ee6c1d8644d60" /><Relationship Type="http://schemas.openxmlformats.org/officeDocument/2006/relationships/notesSlide" Target="/ppt/notesSlides/notesSlide2.xml" Id="R42732a944b4849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ffa30e2e809483a" /><Relationship Type="http://schemas.openxmlformats.org/officeDocument/2006/relationships/notesSlide" Target="/ppt/notesSlides/notesSlide3.xml" Id="R98bfcf8593d04c6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86c8844868345c8" /><Relationship Type="http://schemas.openxmlformats.org/officeDocument/2006/relationships/notesSlide" Target="/ppt/notesSlides/notesSlide4.xml" Id="Rf759002fa12446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90afc6416df404f" /><Relationship Type="http://schemas.openxmlformats.org/officeDocument/2006/relationships/notesSlide" Target="/ppt/notesSlides/notesSlide5.xml" Id="R04af9cbd89344f4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fe75f064e514879" /><Relationship Type="http://schemas.openxmlformats.org/officeDocument/2006/relationships/image" Target="/ppt/media/image.png" Id="R51a9a8b523d3456a" /><Relationship Type="http://schemas.openxmlformats.org/officeDocument/2006/relationships/notesSlide" Target="/ppt/notesSlides/notesSlide6.xml" Id="R0eff8ba303f44f9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2d561dcece441fc" /><Relationship Type="http://schemas.openxmlformats.org/officeDocument/2006/relationships/image" Target="/ppt/media/image2.png" Id="R088c4ccd02404c71" /><Relationship Type="http://schemas.openxmlformats.org/officeDocument/2006/relationships/notesSlide" Target="/ppt/notesSlides/notesSlide7.xml" Id="R48b3febae76c420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bc07ed03a97415a" /><Relationship Type="http://schemas.openxmlformats.org/officeDocument/2006/relationships/image" Target="/ppt/media/image3.png" Id="Rf1d24e738a7e4212" /><Relationship Type="http://schemas.openxmlformats.org/officeDocument/2006/relationships/notesSlide" Target="/ppt/notesSlides/notesSlide8.xml" Id="R63912c17af4a4ad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0e2de08a7824741" /><Relationship Type="http://schemas.openxmlformats.org/officeDocument/2006/relationships/image" Target="/ppt/media/image4.png" Id="Rc588e6ac62f24f7d" /><Relationship Type="http://schemas.openxmlformats.org/officeDocument/2006/relationships/notesSlide" Target="/ppt/notesSlides/notesSlide9.xml" Id="R5eb3342467914a3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6e04bb6d13748f9" /><Relationship Type="http://schemas.openxmlformats.org/officeDocument/2006/relationships/notesSlide" Target="/ppt/notesSlides/notesSlide10.xml" Id="Rdb98393e0efd495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C765AAA-A0DB-4FEC-9E62-95528EBAE1D2}"/>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D8A9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B8E58F-FDA2-43B4-BE3E-D78BE9B735A7}"/>
              </a:ext>
            </a:extLst>
          </p:cNvPr>
          <p:cNvSpPr>
            <a:spLocks xmlns:a="http://schemas.openxmlformats.org/drawingml/2006/main" noGrp="1"/>
          </p:cNvSpPr>
          <p:nvPr/>
        </p:nvSpPr>
        <p:spPr>
          <a:xfrm xmlns:a="http://schemas.openxmlformats.org/drawingml/2006/main">
            <a:off x="8858250" y="0"/>
            <a:ext cx="3333750" cy="6858000"/>
          </a:xfrm>
          <a:prstGeom xmlns:a="http://schemas.openxmlformats.org/drawingml/2006/main" prst="rect">
            <a:avLst/>
          </a:prstGeom>
          <a:solidFill xmlns:a="http://schemas.openxmlformats.org/drawingml/2006/main">
            <a:srgbClr val="DDF3F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D6A71BE-AAAF-4B8B-9243-07D18B8A2AF1}"/>
              </a:ext>
            </a:extLst>
          </p:cNvPr>
          <p:cNvSpPr>
            <a:spLocks xmlns:a="http://schemas.openxmlformats.org/drawingml/2006/main" noGrp="1"/>
          </p:cNvSpPr>
          <p:nvPr/>
        </p:nvSpPr>
        <p:spPr>
          <a:xfrm xmlns:a="http://schemas.openxmlformats.org/drawingml/2006/main">
            <a:off x="685800" y="533400"/>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275" b="1">
                <a:solidFill>
                  <a:srgbClr val="0D8A9A"/>
                </a:solidFill>
                <a:latin typeface="Arial"/>
                <a:ea typeface="Arial"/>
                <a:cs typeface="Arial"/>
              </a:defRPr>
            </a:pPr>
            <a:r>
              <a:rPr sz="1275" b="1">
                <a:solidFill>
                  <a:srgbClr val="0D8A9A"/>
                </a:solidFill>
                <a:latin typeface="Arial"/>
                <a:ea typeface="Arial"/>
                <a:cs typeface="Arial"/>
              </a:rPr>
              <a:t>FUSIONVI-X</a:t>
            </a:r>
          </a:p>
        </p:txBody>
      </p:sp>
      <p:sp>
        <p:nvSpPr>
          <p:cNvPr id="4" name="">
            <a:extLst xmlns:a="http://schemas.openxmlformats.org/drawingml/2006/main">
              <a:ext uri="{FF2B5EF4-FFF2-40B4-BE49-F238E27FC236}">
                <a16:creationId xmlns:a16="http://schemas.microsoft.com/office/drawing/2014/main" id="{B4EB0615-DF47-4E92-8841-6DC2AD763488}"/>
              </a:ext>
            </a:extLst>
          </p:cNvPr>
          <p:cNvSpPr>
            <a:spLocks xmlns:a="http://schemas.openxmlformats.org/drawingml/2006/main" noGrp="1"/>
          </p:cNvSpPr>
          <p:nvPr/>
        </p:nvSpPr>
        <p:spPr>
          <a:xfrm xmlns:a="http://schemas.openxmlformats.org/drawingml/2006/main">
            <a:off x="685800" y="1276350"/>
            <a:ext cx="7715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983"/>
          </a:bodyPr>
          <a:lstStyle xmlns:a="http://schemas.openxmlformats.org/drawingml/2006/main"/>
          <a:p xmlns:a="http://schemas.openxmlformats.org/drawingml/2006/main">
            <a:pPr algn="l">
              <a:lnSpc>
                <a:spcPct val="104000"/>
              </a:lnSpc>
              <a:buNone/>
              <a:defRPr sz="4350" b="1">
                <a:solidFill>
                  <a:srgbClr val="17223B"/>
                </a:solidFill>
                <a:latin typeface="Arial"/>
                <a:ea typeface="Arial"/>
                <a:cs typeface="Arial"/>
              </a:defRPr>
            </a:pPr>
            <a:r>
              <a:rPr sz="4350" b="1">
                <a:solidFill>
                  <a:srgbClr val="17223B"/>
                </a:solidFill>
                <a:latin typeface="Arial"/>
                <a:ea typeface="Arial"/>
                <a:cs typeface="Arial"/>
              </a:rPr>
              <a:t>When RNA and protein</a:t>
            </a:r>
          </a:p>
          <a:p xmlns:a="http://schemas.openxmlformats.org/drawingml/2006/main">
            <a:pPr algn="l">
              <a:lnSpc>
                <a:spcPct val="104000"/>
              </a:lnSpc>
              <a:buNone/>
              <a:defRPr sz="4350" b="1">
                <a:solidFill>
                  <a:srgbClr val="17223B"/>
                </a:solidFill>
                <a:latin typeface="Arial"/>
                <a:ea typeface="Arial"/>
                <a:cs typeface="Arial"/>
              </a:defRPr>
            </a:pPr>
            <a:r>
              <a:rPr sz="4350" b="1">
                <a:solidFill>
                  <a:srgbClr val="17223B"/>
                </a:solidFill>
                <a:latin typeface="Arial"/>
                <a:ea typeface="Arial"/>
                <a:cs typeface="Arial"/>
              </a:rPr>
              <a:t>disagree</a:t>
            </a:r>
          </a:p>
        </p:txBody>
      </p:sp>
      <p:sp>
        <p:nvSpPr>
          <p:cNvPr id="5" name="">
            <a:extLst xmlns:a="http://schemas.openxmlformats.org/drawingml/2006/main">
              <a:ext uri="{FF2B5EF4-FFF2-40B4-BE49-F238E27FC236}">
                <a16:creationId xmlns:a16="http://schemas.microsoft.com/office/drawing/2014/main" id="{8978AF13-6765-4BEE-B1F7-ACC0630BED96}"/>
              </a:ext>
            </a:extLst>
          </p:cNvPr>
          <p:cNvSpPr>
            <a:spLocks xmlns:a="http://schemas.openxmlformats.org/drawingml/2006/main" noGrp="1"/>
          </p:cNvSpPr>
          <p:nvPr/>
        </p:nvSpPr>
        <p:spPr>
          <a:xfrm xmlns:a="http://schemas.openxmlformats.org/drawingml/2006/main">
            <a:off x="723900" y="2952750"/>
            <a:ext cx="7239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875" b="0">
                <a:solidFill>
                  <a:srgbClr val="223A69"/>
                </a:solidFill>
                <a:latin typeface="Arial"/>
                <a:ea typeface="Arial"/>
                <a:cs typeface="Arial"/>
              </a:defRPr>
            </a:pPr>
            <a:r>
              <a:rPr sz="1875" b="0">
                <a:solidFill>
                  <a:srgbClr val="223A69"/>
                </a:solidFill>
                <a:latin typeface="Arial"/>
                <a:ea typeface="Arial"/>
                <a:cs typeface="Arial"/>
              </a:rPr>
              <a:t>Targeted cross-modal recovery of pharmacodynamic surface markers in unseen donors</a:t>
            </a:r>
          </a:p>
        </p:txBody>
      </p:sp>
      <p:sp>
        <p:nvSpPr>
          <p:cNvPr id="6" name="">
            <a:extLst xmlns:a="http://schemas.openxmlformats.org/drawingml/2006/main">
              <a:ext uri="{FF2B5EF4-FFF2-40B4-BE49-F238E27FC236}">
                <a16:creationId xmlns:a16="http://schemas.microsoft.com/office/drawing/2014/main" id="{F83B8047-86A1-4682-A16E-47A04FE0C112}"/>
              </a:ext>
            </a:extLst>
          </p:cNvPr>
          <p:cNvSpPr>
            <a:spLocks xmlns:a="http://schemas.openxmlformats.org/drawingml/2006/main" noGrp="1"/>
          </p:cNvSpPr>
          <p:nvPr/>
        </p:nvSpPr>
        <p:spPr>
          <a:xfrm xmlns:a="http://schemas.openxmlformats.org/drawingml/2006/main">
            <a:off x="723900" y="4210050"/>
            <a:ext cx="1390650" cy="361950"/>
          </a:xfrm>
          <a:prstGeom xmlns:a="http://schemas.openxmlformats.org/drawingml/2006/main" prst="roundRect">
            <a:avLst>
              <a:gd name="adj" fmla="val 42105"/>
            </a:avLst>
          </a:prstGeom>
          <a:solidFill xmlns:a="http://schemas.openxmlformats.org/drawingml/2006/main">
            <a:srgbClr val="FFE7E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72148EC-C839-41DE-B0FE-B97A45ACAA9E}"/>
              </a:ext>
            </a:extLst>
          </p:cNvPr>
          <p:cNvSpPr>
            <a:spLocks xmlns:a="http://schemas.openxmlformats.org/drawingml/2006/main" noGrp="1"/>
          </p:cNvSpPr>
          <p:nvPr/>
        </p:nvSpPr>
        <p:spPr>
          <a:xfrm xmlns:a="http://schemas.openxmlformats.org/drawingml/2006/main">
            <a:off x="800100" y="4257675"/>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F15B64"/>
                </a:solidFill>
                <a:latin typeface="Arial"/>
                <a:ea typeface="Arial"/>
                <a:cs typeface="Arial"/>
              </a:defRPr>
            </a:pPr>
            <a:r>
              <a:rPr sz="1200" b="1">
                <a:solidFill>
                  <a:srgbClr val="F15B64"/>
                </a:solidFill>
                <a:latin typeface="Arial"/>
                <a:ea typeface="Arial"/>
                <a:cs typeface="Arial"/>
              </a:rPr>
              <a:t>10 donors</a:t>
            </a:r>
          </a:p>
        </p:txBody>
      </p:sp>
      <p:sp>
        <p:nvSpPr>
          <p:cNvPr id="8" name="">
            <a:extLst xmlns:a="http://schemas.openxmlformats.org/drawingml/2006/main">
              <a:ext uri="{FF2B5EF4-FFF2-40B4-BE49-F238E27FC236}">
                <a16:creationId xmlns:a16="http://schemas.microsoft.com/office/drawing/2014/main" id="{7A5F6301-8554-40BA-96F2-E8A8FDCB2463}"/>
              </a:ext>
            </a:extLst>
          </p:cNvPr>
          <p:cNvSpPr>
            <a:spLocks xmlns:a="http://schemas.openxmlformats.org/drawingml/2006/main" noGrp="1"/>
          </p:cNvSpPr>
          <p:nvPr/>
        </p:nvSpPr>
        <p:spPr>
          <a:xfrm xmlns:a="http://schemas.openxmlformats.org/drawingml/2006/main">
            <a:off x="2247900" y="4210050"/>
            <a:ext cx="1657350" cy="361950"/>
          </a:xfrm>
          <a:prstGeom xmlns:a="http://schemas.openxmlformats.org/drawingml/2006/main" prst="roundRect">
            <a:avLst>
              <a:gd name="adj" fmla="val 42105"/>
            </a:avLst>
          </a:prstGeom>
          <a:solidFill xmlns:a="http://schemas.openxmlformats.org/drawingml/2006/main">
            <a:srgbClr val="DDF3F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3E04A30-CCC7-445D-A732-C46952E4CAE3}"/>
              </a:ext>
            </a:extLst>
          </p:cNvPr>
          <p:cNvSpPr>
            <a:spLocks xmlns:a="http://schemas.openxmlformats.org/drawingml/2006/main" noGrp="1"/>
          </p:cNvSpPr>
          <p:nvPr/>
        </p:nvSpPr>
        <p:spPr>
          <a:xfrm xmlns:a="http://schemas.openxmlformats.org/drawingml/2006/main">
            <a:off x="2324100" y="4257675"/>
            <a:ext cx="1504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0D8A9A"/>
                </a:solidFill>
                <a:latin typeface="Arial"/>
                <a:ea typeface="Arial"/>
                <a:cs typeface="Arial"/>
              </a:defRPr>
            </a:pPr>
            <a:r>
              <a:rPr sz="1200" b="1">
                <a:solidFill>
                  <a:srgbClr val="0D8A9A"/>
                </a:solidFill>
                <a:latin typeface="Arial"/>
                <a:ea typeface="Arial"/>
                <a:cs typeface="Arial"/>
              </a:rPr>
              <a:t>16,382 cells</a:t>
            </a:r>
          </a:p>
        </p:txBody>
      </p:sp>
      <p:sp>
        <p:nvSpPr>
          <p:cNvPr id="10" name="">
            <a:extLst xmlns:a="http://schemas.openxmlformats.org/drawingml/2006/main">
              <a:ext uri="{FF2B5EF4-FFF2-40B4-BE49-F238E27FC236}">
                <a16:creationId xmlns:a16="http://schemas.microsoft.com/office/drawing/2014/main" id="{2D9E68E8-020E-4565-9313-030ECC20F447}"/>
              </a:ext>
            </a:extLst>
          </p:cNvPr>
          <p:cNvSpPr>
            <a:spLocks xmlns:a="http://schemas.openxmlformats.org/drawingml/2006/main" noGrp="1"/>
          </p:cNvSpPr>
          <p:nvPr/>
        </p:nvSpPr>
        <p:spPr>
          <a:xfrm xmlns:a="http://schemas.openxmlformats.org/drawingml/2006/main">
            <a:off x="4038600" y="4210050"/>
            <a:ext cx="2095500" cy="361950"/>
          </a:xfrm>
          <a:prstGeom xmlns:a="http://schemas.openxmlformats.org/drawingml/2006/main" prst="roundRect">
            <a:avLst>
              <a:gd name="adj" fmla="val 42105"/>
            </a:avLst>
          </a:prstGeom>
          <a:solidFill xmlns:a="http://schemas.openxmlformats.org/drawingml/2006/main">
            <a:srgbClr val="EEE7F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7DE0200-F244-44F2-9007-4B45CD2A9EEA}"/>
              </a:ext>
            </a:extLst>
          </p:cNvPr>
          <p:cNvSpPr>
            <a:spLocks xmlns:a="http://schemas.openxmlformats.org/drawingml/2006/main" noGrp="1"/>
          </p:cNvSpPr>
          <p:nvPr/>
        </p:nvSpPr>
        <p:spPr>
          <a:xfrm xmlns:a="http://schemas.openxmlformats.org/drawingml/2006/main">
            <a:off x="4114800" y="4257675"/>
            <a:ext cx="1943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6C3ED9"/>
                </a:solidFill>
                <a:latin typeface="Arial"/>
                <a:ea typeface="Arial"/>
                <a:cs typeface="Arial"/>
              </a:defRPr>
            </a:pPr>
            <a:r>
              <a:rPr sz="1200" b="1">
                <a:solidFill>
                  <a:srgbClr val="6C3ED9"/>
                </a:solidFill>
                <a:latin typeface="Arial"/>
                <a:ea typeface="Arial"/>
                <a:cs typeface="Arial"/>
              </a:rPr>
              <a:t>RNA + 39 proteins</a:t>
            </a:r>
          </a:p>
        </p:txBody>
      </p:sp>
      <p:sp>
        <p:nvSpPr>
          <p:cNvPr id="12" name="">
            <a:extLst xmlns:a="http://schemas.openxmlformats.org/drawingml/2006/main">
              <a:ext uri="{FF2B5EF4-FFF2-40B4-BE49-F238E27FC236}">
                <a16:creationId xmlns:a16="http://schemas.microsoft.com/office/drawing/2014/main" id="{2944CA8C-986D-47A7-9E1A-66F17C1E5A0A}"/>
              </a:ext>
            </a:extLst>
          </p:cNvPr>
          <p:cNvSpPr>
            <a:spLocks xmlns:a="http://schemas.openxmlformats.org/drawingml/2006/main" noGrp="1"/>
          </p:cNvSpPr>
          <p:nvPr/>
        </p:nvSpPr>
        <p:spPr>
          <a:xfrm xmlns:a="http://schemas.openxmlformats.org/drawingml/2006/main">
            <a:off x="723900" y="58864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812"/>
          </a:bodyPr>
          <a:lstStyle xmlns:a="http://schemas.openxmlformats.org/drawingml/2006/main"/>
          <a:p xmlns:a="http://schemas.openxmlformats.org/drawingml/2006/main">
            <a:pPr algn="l">
              <a:lnSpc>
                <a:spcPct val="104000"/>
              </a:lnSpc>
              <a:buNone/>
              <a:defRPr sz="1350" b="1">
                <a:solidFill>
                  <a:srgbClr val="687086"/>
                </a:solidFill>
                <a:latin typeface="Arial"/>
                <a:ea typeface="Arial"/>
                <a:cs typeface="Arial"/>
              </a:defRPr>
            </a:pPr>
            <a:r>
              <a:rPr sz="1350" b="1">
                <a:solidFill>
                  <a:srgbClr val="687086"/>
                </a:solidFill>
                <a:latin typeface="Arial"/>
                <a:ea typeface="Arial"/>
                <a:cs typeface="Arial"/>
              </a:rPr>
              <a:t>Multimodal AI for therapeutic discovery</a:t>
            </a:r>
          </a:p>
        </p:txBody>
      </p:sp>
      <p:sp>
        <p:nvSpPr>
          <p:cNvPr id="13" name="">
            <a:extLst xmlns:a="http://schemas.openxmlformats.org/drawingml/2006/main">
              <a:ext uri="{FF2B5EF4-FFF2-40B4-BE49-F238E27FC236}">
                <a16:creationId xmlns:a16="http://schemas.microsoft.com/office/drawing/2014/main" id="{4FF50E9D-73FC-4D54-8475-42AEC15B37DA}"/>
              </a:ext>
            </a:extLst>
          </p:cNvPr>
          <p:cNvSpPr>
            <a:spLocks xmlns:a="http://schemas.openxmlformats.org/drawingml/2006/main" noGrp="1"/>
          </p:cNvSpPr>
          <p:nvPr/>
        </p:nvSpPr>
        <p:spPr>
          <a:xfrm xmlns:a="http://schemas.openxmlformats.org/drawingml/2006/main">
            <a:off x="9258300" y="556260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021"/>
          </a:bodyPr>
          <a:lstStyle xmlns:a="http://schemas.openxmlformats.org/drawingml/2006/main"/>
          <a:p xmlns:a="http://schemas.openxmlformats.org/drawingml/2006/main">
            <a:pPr algn="ctr">
              <a:lnSpc>
                <a:spcPct val="104000"/>
              </a:lnSpc>
              <a:buNone/>
              <a:defRPr sz="1575" b="1">
                <a:solidFill>
                  <a:srgbClr val="223A69"/>
                </a:solidFill>
                <a:latin typeface="Arial"/>
                <a:ea typeface="Arial"/>
                <a:cs typeface="Arial"/>
              </a:defRPr>
            </a:pPr>
            <a:r>
              <a:rPr sz="1575" b="1">
                <a:solidFill>
                  <a:srgbClr val="223A69"/>
                </a:solidFill>
                <a:latin typeface="Arial"/>
                <a:ea typeface="Arial"/>
                <a:cs typeface="Arial"/>
              </a:rPr>
              <a:t>Nested donor validation</a:t>
            </a:r>
          </a:p>
        </p:txBody>
      </p:sp>
    </p:spTree>
    <p:extLst>
      <p:ext uri="{BB962C8B-B14F-4D97-AF65-F5344CB8AC3E}">
        <p14:creationId xmlns:p14="http://schemas.microsoft.com/office/powerpoint/2010/main" val="138743178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4E60D39-DED0-4AD9-B161-A4B9491A5C99}"/>
              </a:ext>
            </a:extLst>
          </p:cNvPr>
          <p:cNvSpPr>
            <a:spLocks xmlns:a="http://schemas.openxmlformats.org/drawingml/2006/main" noGrp="1"/>
          </p:cNvSpPr>
          <p:nvPr/>
        </p:nvSpPr>
        <p:spPr>
          <a:xfrm xmlns:a="http://schemas.openxmlformats.org/drawingml/2006/main">
            <a:off x="685800" y="3238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D8A9A"/>
                </a:solidFill>
                <a:latin typeface="Arial"/>
                <a:ea typeface="Arial"/>
                <a:cs typeface="Arial"/>
              </a:defRPr>
            </a:pPr>
            <a:r>
              <a:rPr sz="1050" b="1">
                <a:solidFill>
                  <a:srgbClr val="0D8A9A"/>
                </a:solidFill>
                <a:latin typeface="Arial"/>
                <a:ea typeface="Arial"/>
                <a:cs typeface="Arial"/>
              </a:rPr>
              <a:t>THERAPEUTIC DISCOVERY QUESTION</a:t>
            </a:r>
          </a:p>
        </p:txBody>
      </p:sp>
      <p:sp>
        <p:nvSpPr>
          <p:cNvPr id="2" name="">
            <a:extLst xmlns:a="http://schemas.openxmlformats.org/drawingml/2006/main">
              <a:ext uri="{FF2B5EF4-FFF2-40B4-BE49-F238E27FC236}">
                <a16:creationId xmlns:a16="http://schemas.microsoft.com/office/drawing/2014/main" id="{0C121906-4D5A-4A70-8A76-D4E25AE57642}"/>
              </a:ext>
            </a:extLst>
          </p:cNvPr>
          <p:cNvSpPr>
            <a:spLocks xmlns:a="http://schemas.openxmlformats.org/drawingml/2006/main" noGrp="1"/>
          </p:cNvSpPr>
          <p:nvPr/>
        </p:nvSpPr>
        <p:spPr>
          <a:xfrm xmlns:a="http://schemas.openxmlformats.org/drawingml/2006/main">
            <a:off x="685800" y="5905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23B"/>
                </a:solidFill>
                <a:latin typeface="Arial"/>
                <a:ea typeface="Arial"/>
                <a:cs typeface="Arial"/>
              </a:defRPr>
            </a:pPr>
            <a:r>
              <a:rPr sz="2850" b="1">
                <a:solidFill>
                  <a:srgbClr val="17223B"/>
                </a:solidFill>
                <a:latin typeface="Arial"/>
                <a:ea typeface="Arial"/>
                <a:cs typeface="Arial"/>
              </a:rPr>
              <a:t>The biological problem</a:t>
            </a:r>
          </a:p>
        </p:txBody>
      </p:sp>
      <p:sp>
        <p:nvSpPr>
          <p:cNvPr id="3" name="">
            <a:extLst xmlns:a="http://schemas.openxmlformats.org/drawingml/2006/main">
              <a:ext uri="{FF2B5EF4-FFF2-40B4-BE49-F238E27FC236}">
                <a16:creationId xmlns:a16="http://schemas.microsoft.com/office/drawing/2014/main" id="{6B63710B-FBF2-4516-95DC-27658599ACA8}"/>
              </a:ext>
            </a:extLst>
          </p:cNvPr>
          <p:cNvSpPr>
            <a:spLocks xmlns:a="http://schemas.openxmlformats.org/drawingml/2006/main" noGrp="1"/>
          </p:cNvSpPr>
          <p:nvPr/>
        </p:nvSpPr>
        <p:spPr>
          <a:xfrm xmlns:a="http://schemas.openxmlformats.org/drawingml/2006/main">
            <a:off x="685800" y="1257300"/>
            <a:ext cx="838200" cy="47625"/>
          </a:xfrm>
          <a:prstGeom xmlns:a="http://schemas.openxmlformats.org/drawingml/2006/main" prst="rect">
            <a:avLst/>
          </a:prstGeom>
          <a:solidFill xmlns:a="http://schemas.openxmlformats.org/drawingml/2006/main">
            <a:srgbClr val="F15B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ACD4143-D9E3-4223-8ECE-ABB18F760CE5}"/>
              </a:ext>
            </a:extLst>
          </p:cNvPr>
          <p:cNvSpPr>
            <a:spLocks xmlns:a="http://schemas.openxmlformats.org/drawingml/2006/main" noGrp="1"/>
          </p:cNvSpPr>
          <p:nvPr/>
        </p:nvSpPr>
        <p:spPr>
          <a:xfrm xmlns:a="http://schemas.openxmlformats.org/drawingml/2006/main">
            <a:off x="11334750" y="33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87086"/>
                </a:solidFill>
                <a:latin typeface="Arial"/>
                <a:ea typeface="Arial"/>
                <a:cs typeface="Arial"/>
              </a:defRPr>
            </a:pPr>
            <a:r>
              <a:rPr sz="1050" b="1">
                <a:solidFill>
                  <a:srgbClr val="687086"/>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1639AEAC-A3A1-43CD-9928-B39CD12C5058}"/>
              </a:ext>
            </a:extLst>
          </p:cNvPr>
          <p:cNvSpPr>
            <a:spLocks xmlns:a="http://schemas.openxmlformats.org/drawingml/2006/main" noGrp="1"/>
          </p:cNvSpPr>
          <p:nvPr/>
        </p:nvSpPr>
        <p:spPr>
          <a:xfrm xmlns:a="http://schemas.openxmlformats.org/drawingml/2006/main">
            <a:off x="685800" y="152400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863"/>
          </a:bodyPr>
          <a:lstStyle xmlns:a="http://schemas.openxmlformats.org/drawingml/2006/main"/>
          <a:p xmlns:a="http://schemas.openxmlformats.org/drawingml/2006/main">
            <a:pPr algn="l">
              <a:lnSpc>
                <a:spcPct val="104000"/>
              </a:lnSpc>
              <a:buNone/>
              <a:defRPr sz="1950" b="1">
                <a:solidFill>
                  <a:srgbClr val="223A69"/>
                </a:solidFill>
                <a:latin typeface="Arial"/>
                <a:ea typeface="Arial"/>
                <a:cs typeface="Arial"/>
              </a:defRPr>
            </a:pPr>
            <a:r>
              <a:rPr sz="1950" b="1">
                <a:solidFill>
                  <a:srgbClr val="223A69"/>
                </a:solidFill>
                <a:latin typeface="Arial"/>
                <a:ea typeface="Arial"/>
                <a:cs typeface="Arial"/>
              </a:rPr>
              <a:t>A perturbation can move RNA and surface protein on different clocks</a:t>
            </a:r>
          </a:p>
        </p:txBody>
      </p:sp>
      <p:sp>
        <p:nvSpPr>
          <p:cNvPr id="6" name="">
            <a:extLst xmlns:a="http://schemas.openxmlformats.org/drawingml/2006/main">
              <a:ext uri="{FF2B5EF4-FFF2-40B4-BE49-F238E27FC236}">
                <a16:creationId xmlns:a16="http://schemas.microsoft.com/office/drawing/2014/main" id="{3BD160CC-B86D-4223-AE30-6DE655282ED4}"/>
              </a:ext>
            </a:extLst>
          </p:cNvPr>
          <p:cNvSpPr>
            <a:spLocks xmlns:a="http://schemas.openxmlformats.org/drawingml/2006/main" noGrp="1"/>
          </p:cNvSpPr>
          <p:nvPr/>
        </p:nvSpPr>
        <p:spPr>
          <a:xfrm xmlns:a="http://schemas.openxmlformats.org/drawingml/2006/main">
            <a:off x="781050" y="2381250"/>
            <a:ext cx="1809750" cy="1238250"/>
          </a:xfrm>
          <a:prstGeom xmlns:a="http://schemas.openxmlformats.org/drawingml/2006/main" prst="roundRect">
            <a:avLst>
              <a:gd name="adj" fmla="val 12308"/>
            </a:avLst>
          </a:prstGeom>
          <a:solidFill xmlns:a="http://schemas.openxmlformats.org/drawingml/2006/main">
            <a:srgbClr val="DDF3F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B6E7D33-3215-4219-B13C-4335AACE292B}"/>
              </a:ext>
            </a:extLst>
          </p:cNvPr>
          <p:cNvSpPr>
            <a:spLocks xmlns:a="http://schemas.openxmlformats.org/drawingml/2006/main" noGrp="1"/>
          </p:cNvSpPr>
          <p:nvPr/>
        </p:nvSpPr>
        <p:spPr>
          <a:xfrm xmlns:a="http://schemas.openxmlformats.org/drawingml/2006/main">
            <a:off x="971550" y="25717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1644"/>
          </a:bodyPr>
          <a:lstStyle xmlns:a="http://schemas.openxmlformats.org/drawingml/2006/main"/>
          <a:p xmlns:a="http://schemas.openxmlformats.org/drawingml/2006/main">
            <a:pPr algn="ctr">
              <a:lnSpc>
                <a:spcPct val="104000"/>
              </a:lnSpc>
              <a:buNone/>
              <a:defRPr sz="2550" b="1">
                <a:solidFill>
                  <a:srgbClr val="0D8A9A"/>
                </a:solidFill>
                <a:latin typeface="Arial"/>
                <a:ea typeface="Arial"/>
                <a:cs typeface="Arial"/>
              </a:defRPr>
            </a:pPr>
            <a:r>
              <a:rPr sz="2550" b="1">
                <a:solidFill>
                  <a:srgbClr val="0D8A9A"/>
                </a:solidFill>
                <a:latin typeface="Arial"/>
                <a:ea typeface="Arial"/>
                <a:cs typeface="Arial"/>
              </a:rPr>
              <a:t>RNA</a:t>
            </a:r>
          </a:p>
        </p:txBody>
      </p:sp>
      <p:sp>
        <p:nvSpPr>
          <p:cNvPr id="8" name="">
            <a:extLst xmlns:a="http://schemas.openxmlformats.org/drawingml/2006/main">
              <a:ext uri="{FF2B5EF4-FFF2-40B4-BE49-F238E27FC236}">
                <a16:creationId xmlns:a16="http://schemas.microsoft.com/office/drawing/2014/main" id="{43E80FF5-6E99-48D0-B2C5-E4CEED240967}"/>
              </a:ext>
            </a:extLst>
          </p:cNvPr>
          <p:cNvSpPr>
            <a:spLocks xmlns:a="http://schemas.openxmlformats.org/drawingml/2006/main" noGrp="1"/>
          </p:cNvSpPr>
          <p:nvPr/>
        </p:nvSpPr>
        <p:spPr>
          <a:xfrm xmlns:a="http://schemas.openxmlformats.org/drawingml/2006/main">
            <a:off x="971550" y="3028950"/>
            <a:ext cx="142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470"/>
          </a:bodyPr>
          <a:lstStyle xmlns:a="http://schemas.openxmlformats.org/drawingml/2006/main"/>
          <a:p xmlns:a="http://schemas.openxmlformats.org/drawingml/2006/main">
            <a:pPr algn="ctr">
              <a:lnSpc>
                <a:spcPct val="104000"/>
              </a:lnSpc>
              <a:buNone/>
              <a:defRPr sz="1350" b="0">
                <a:solidFill>
                  <a:srgbClr val="17223B"/>
                </a:solidFill>
                <a:latin typeface="Arial"/>
                <a:ea typeface="Arial"/>
                <a:cs typeface="Arial"/>
              </a:defRPr>
            </a:pPr>
            <a:r>
              <a:rPr sz="1350" b="0">
                <a:solidFill>
                  <a:srgbClr val="17223B"/>
                </a:solidFill>
                <a:latin typeface="Arial"/>
                <a:ea typeface="Arial"/>
                <a:cs typeface="Arial"/>
              </a:rPr>
              <a:t>fast transcriptional</a:t>
            </a:r>
          </a:p>
          <a:p xmlns:a="http://schemas.openxmlformats.org/drawingml/2006/main">
            <a:pPr algn="ctr">
              <a:lnSpc>
                <a:spcPct val="104000"/>
              </a:lnSpc>
              <a:buNone/>
              <a:defRPr sz="1350" b="0">
                <a:solidFill>
                  <a:srgbClr val="17223B"/>
                </a:solidFill>
                <a:latin typeface="Arial"/>
                <a:ea typeface="Arial"/>
                <a:cs typeface="Arial"/>
              </a:defRPr>
            </a:pPr>
            <a:r>
              <a:rPr sz="1350" b="0">
                <a:solidFill>
                  <a:srgbClr val="17223B"/>
                </a:solidFill>
                <a:latin typeface="Arial"/>
                <a:ea typeface="Arial"/>
                <a:cs typeface="Arial"/>
              </a:rPr>
              <a:t>response</a:t>
            </a:r>
          </a:p>
        </p:txBody>
      </p:sp>
      <p:sp>
        <p:nvSpPr>
          <p:cNvPr id="9" name="">
            <a:extLst xmlns:a="http://schemas.openxmlformats.org/drawingml/2006/main">
              <a:ext uri="{FF2B5EF4-FFF2-40B4-BE49-F238E27FC236}">
                <a16:creationId xmlns:a16="http://schemas.microsoft.com/office/drawing/2014/main" id="{B6BA660C-796B-494E-BBFD-B0D4F80C5F5F}"/>
              </a:ext>
            </a:extLst>
          </p:cNvPr>
          <p:cNvSpPr>
            <a:spLocks xmlns:a="http://schemas.openxmlformats.org/drawingml/2006/main" noGrp="1"/>
          </p:cNvSpPr>
          <p:nvPr/>
        </p:nvSpPr>
        <p:spPr>
          <a:xfrm xmlns:a="http://schemas.openxmlformats.org/drawingml/2006/main">
            <a:off x="2857500" y="2705100"/>
            <a:ext cx="66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3450" b="1">
                <a:solidFill>
                  <a:srgbClr val="F15B64"/>
                </a:solidFill>
                <a:latin typeface="Arial"/>
                <a:ea typeface="Arial"/>
                <a:cs typeface="Arial"/>
              </a:defRPr>
            </a:pPr>
            <a:r>
              <a:rPr sz="3450" b="1">
                <a:solidFill>
                  <a:srgbClr val="F15B64"/>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185F59BC-6DDD-450B-BF1D-1659C937600C}"/>
              </a:ext>
            </a:extLst>
          </p:cNvPr>
          <p:cNvSpPr>
            <a:spLocks xmlns:a="http://schemas.openxmlformats.org/drawingml/2006/main" noGrp="1"/>
          </p:cNvSpPr>
          <p:nvPr/>
        </p:nvSpPr>
        <p:spPr>
          <a:xfrm xmlns:a="http://schemas.openxmlformats.org/drawingml/2006/main">
            <a:off x="3790950" y="2381250"/>
            <a:ext cx="2095500" cy="1238250"/>
          </a:xfrm>
          <a:prstGeom xmlns:a="http://schemas.openxmlformats.org/drawingml/2006/main" prst="roundRect">
            <a:avLst>
              <a:gd name="adj" fmla="val 12308"/>
            </a:avLst>
          </a:prstGeom>
          <a:solidFill xmlns:a="http://schemas.openxmlformats.org/drawingml/2006/main">
            <a:srgbClr val="EEE7F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1C8D32C-7DA1-43FB-A57E-649821072A00}"/>
              </a:ext>
            </a:extLst>
          </p:cNvPr>
          <p:cNvSpPr>
            <a:spLocks xmlns:a="http://schemas.openxmlformats.org/drawingml/2006/main" noGrp="1"/>
          </p:cNvSpPr>
          <p:nvPr/>
        </p:nvSpPr>
        <p:spPr>
          <a:xfrm xmlns:a="http://schemas.openxmlformats.org/drawingml/2006/main">
            <a:off x="3981450" y="2533650"/>
            <a:ext cx="1714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434"/>
          </a:bodyPr>
          <a:lstStyle xmlns:a="http://schemas.openxmlformats.org/drawingml/2006/main"/>
          <a:p xmlns:a="http://schemas.openxmlformats.org/drawingml/2006/main">
            <a:pPr algn="ctr">
              <a:lnSpc>
                <a:spcPct val="104000"/>
              </a:lnSpc>
              <a:buNone/>
              <a:defRPr sz="2100" b="1">
                <a:solidFill>
                  <a:srgbClr val="6C3ED9"/>
                </a:solidFill>
                <a:latin typeface="Arial"/>
                <a:ea typeface="Arial"/>
                <a:cs typeface="Arial"/>
              </a:defRPr>
            </a:pPr>
            <a:r>
              <a:rPr sz="2100" b="1">
                <a:solidFill>
                  <a:srgbClr val="6C3ED9"/>
                </a:solidFill>
                <a:latin typeface="Arial"/>
                <a:ea typeface="Arial"/>
                <a:cs typeface="Arial"/>
              </a:rPr>
              <a:t>Surface protein</a:t>
            </a:r>
          </a:p>
        </p:txBody>
      </p:sp>
      <p:sp>
        <p:nvSpPr>
          <p:cNvPr id="12" name="">
            <a:extLst xmlns:a="http://schemas.openxmlformats.org/drawingml/2006/main">
              <a:ext uri="{FF2B5EF4-FFF2-40B4-BE49-F238E27FC236}">
                <a16:creationId xmlns:a16="http://schemas.microsoft.com/office/drawing/2014/main" id="{CF6B907F-EAE9-46DD-B03D-81D9538DD60A}"/>
              </a:ext>
            </a:extLst>
          </p:cNvPr>
          <p:cNvSpPr>
            <a:spLocks xmlns:a="http://schemas.openxmlformats.org/drawingml/2006/main" noGrp="1"/>
          </p:cNvSpPr>
          <p:nvPr/>
        </p:nvSpPr>
        <p:spPr>
          <a:xfrm xmlns:a="http://schemas.openxmlformats.org/drawingml/2006/main">
            <a:off x="3981450" y="3028950"/>
            <a:ext cx="1714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470"/>
          </a:bodyPr>
          <a:lstStyle xmlns:a="http://schemas.openxmlformats.org/drawingml/2006/main"/>
          <a:p xmlns:a="http://schemas.openxmlformats.org/drawingml/2006/main">
            <a:pPr algn="ctr">
              <a:lnSpc>
                <a:spcPct val="104000"/>
              </a:lnSpc>
              <a:buNone/>
              <a:defRPr sz="1350" b="0">
                <a:solidFill>
                  <a:srgbClr val="17223B"/>
                </a:solidFill>
                <a:latin typeface="Arial"/>
                <a:ea typeface="Arial"/>
                <a:cs typeface="Arial"/>
              </a:defRPr>
            </a:pPr>
            <a:r>
              <a:rPr sz="1350" b="0">
                <a:solidFill>
                  <a:srgbClr val="17223B"/>
                </a:solidFill>
                <a:latin typeface="Arial"/>
                <a:ea typeface="Arial"/>
                <a:cs typeface="Arial"/>
              </a:rPr>
              <a:t>translation, trafficking,</a:t>
            </a:r>
          </a:p>
          <a:p xmlns:a="http://schemas.openxmlformats.org/drawingml/2006/main">
            <a:pPr algn="ctr">
              <a:lnSpc>
                <a:spcPct val="104000"/>
              </a:lnSpc>
              <a:buNone/>
              <a:defRPr sz="1350" b="0">
                <a:solidFill>
                  <a:srgbClr val="17223B"/>
                </a:solidFill>
                <a:latin typeface="Arial"/>
                <a:ea typeface="Arial"/>
                <a:cs typeface="Arial"/>
              </a:defRPr>
            </a:pPr>
            <a:r>
              <a:rPr sz="1350" b="0">
                <a:solidFill>
                  <a:srgbClr val="17223B"/>
                </a:solidFill>
                <a:latin typeface="Arial"/>
                <a:ea typeface="Arial"/>
                <a:cs typeface="Arial"/>
              </a:rPr>
              <a:t>internalization</a:t>
            </a:r>
          </a:p>
        </p:txBody>
      </p:sp>
      <p:sp>
        <p:nvSpPr>
          <p:cNvPr id="13" name="">
            <a:extLst xmlns:a="http://schemas.openxmlformats.org/drawingml/2006/main">
              <a:ext uri="{FF2B5EF4-FFF2-40B4-BE49-F238E27FC236}">
                <a16:creationId xmlns:a16="http://schemas.microsoft.com/office/drawing/2014/main" id="{671A8502-C0AE-466F-892B-14AE902FBABA}"/>
              </a:ext>
            </a:extLst>
          </p:cNvPr>
          <p:cNvSpPr>
            <a:spLocks xmlns:a="http://schemas.openxmlformats.org/drawingml/2006/main" noGrp="1"/>
          </p:cNvSpPr>
          <p:nvPr/>
        </p:nvSpPr>
        <p:spPr>
          <a:xfrm xmlns:a="http://schemas.openxmlformats.org/drawingml/2006/main">
            <a:off x="2286000" y="4095750"/>
            <a:ext cx="209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756"/>
          </a:bodyPr>
          <a:lstStyle xmlns:a="http://schemas.openxmlformats.org/drawingml/2006/main"/>
          <a:p xmlns:a="http://schemas.openxmlformats.org/drawingml/2006/main">
            <a:pPr algn="ctr">
              <a:lnSpc>
                <a:spcPct val="104000"/>
              </a:lnSpc>
              <a:buNone/>
              <a:defRPr sz="1500" b="1">
                <a:solidFill>
                  <a:srgbClr val="687086"/>
                </a:solidFill>
                <a:latin typeface="Arial"/>
                <a:ea typeface="Arial"/>
                <a:cs typeface="Arial"/>
              </a:defRPr>
            </a:pPr>
            <a:r>
              <a:rPr sz="1500" b="1">
                <a:solidFill>
                  <a:srgbClr val="687086"/>
                </a:solidFill>
                <a:latin typeface="Arial"/>
                <a:ea typeface="Arial"/>
                <a:cs typeface="Arial"/>
              </a:rPr>
              <a:t>24 h perturbation</a:t>
            </a:r>
          </a:p>
        </p:txBody>
      </p:sp>
      <p:sp>
        <p:nvSpPr>
          <p:cNvPr id="14" name="">
            <a:extLst xmlns:a="http://schemas.openxmlformats.org/drawingml/2006/main">
              <a:ext uri="{FF2B5EF4-FFF2-40B4-BE49-F238E27FC236}">
                <a16:creationId xmlns:a16="http://schemas.microsoft.com/office/drawing/2014/main" id="{2BE65749-6243-4719-99E5-FE5B9F0F4150}"/>
              </a:ext>
            </a:extLst>
          </p:cNvPr>
          <p:cNvSpPr>
            <a:spLocks xmlns:a="http://schemas.openxmlformats.org/drawingml/2006/main" noGrp="1"/>
          </p:cNvSpPr>
          <p:nvPr/>
        </p:nvSpPr>
        <p:spPr>
          <a:xfrm xmlns:a="http://schemas.openxmlformats.org/drawingml/2006/main">
            <a:off x="4333875" y="4057650"/>
            <a:ext cx="1809750" cy="361950"/>
          </a:xfrm>
          <a:prstGeom xmlns:a="http://schemas.openxmlformats.org/drawingml/2006/main" prst="rightArrow">
            <a:avLst/>
          </a:prstGeom>
          <a:solidFill xmlns:a="http://schemas.openxmlformats.org/drawingml/2006/main">
            <a:srgbClr val="F15B6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EED4A0F-A2F0-487B-ACB7-1587BD5A6F6F}"/>
              </a:ext>
            </a:extLst>
          </p:cNvPr>
          <p:cNvSpPr>
            <a:spLocks xmlns:a="http://schemas.openxmlformats.org/drawingml/2006/main" noGrp="1"/>
          </p:cNvSpPr>
          <p:nvPr/>
        </p:nvSpPr>
        <p:spPr>
          <a:xfrm xmlns:a="http://schemas.openxmlformats.org/drawingml/2006/main">
            <a:off x="6477000" y="40005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650" b="1">
                <a:solidFill>
                  <a:srgbClr val="17223B"/>
                </a:solidFill>
                <a:latin typeface="Arial"/>
                <a:ea typeface="Arial"/>
                <a:cs typeface="Arial"/>
              </a:defRPr>
            </a:pPr>
            <a:r>
              <a:rPr sz="1650" b="1">
                <a:solidFill>
                  <a:srgbClr val="17223B"/>
                </a:solidFill>
                <a:latin typeface="Arial"/>
                <a:ea typeface="Arial"/>
                <a:cs typeface="Arial"/>
              </a:rPr>
              <a:t>pharmacodynamic phenotype</a:t>
            </a:r>
          </a:p>
        </p:txBody>
      </p:sp>
      <p:sp>
        <p:nvSpPr>
          <p:cNvPr id="16" name="">
            <a:extLst xmlns:a="http://schemas.openxmlformats.org/drawingml/2006/main">
              <a:ext uri="{FF2B5EF4-FFF2-40B4-BE49-F238E27FC236}">
                <a16:creationId xmlns:a16="http://schemas.microsoft.com/office/drawing/2014/main" id="{B7AD6E22-7ECA-4BF3-B7F0-50FB0839378D}"/>
              </a:ext>
            </a:extLst>
          </p:cNvPr>
          <p:cNvSpPr>
            <a:spLocks xmlns:a="http://schemas.openxmlformats.org/drawingml/2006/main" noGrp="1"/>
          </p:cNvSpPr>
          <p:nvPr/>
        </p:nvSpPr>
        <p:spPr>
          <a:xfrm xmlns:a="http://schemas.openxmlformats.org/drawingml/2006/main">
            <a:off x="8115300" y="1619250"/>
            <a:ext cx="152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l">
              <a:lnSpc>
                <a:spcPct val="104000"/>
              </a:lnSpc>
              <a:buNone/>
              <a:defRPr sz="1200" b="1">
                <a:solidFill>
                  <a:srgbClr val="F15B64"/>
                </a:solidFill>
                <a:latin typeface="Arial"/>
                <a:ea typeface="Arial"/>
                <a:cs typeface="Arial"/>
              </a:defRPr>
            </a:pPr>
            <a:r>
              <a:rPr sz="1200" b="1">
                <a:solidFill>
                  <a:srgbClr val="F15B64"/>
                </a:solidFill>
                <a:latin typeface="Arial"/>
                <a:ea typeface="Arial"/>
                <a:cs typeface="Arial"/>
              </a:rPr>
              <a:t>Question</a:t>
            </a:r>
          </a:p>
        </p:txBody>
      </p:sp>
      <p:sp>
        <p:nvSpPr>
          <p:cNvPr id="17" name="">
            <a:extLst xmlns:a="http://schemas.openxmlformats.org/drawingml/2006/main">
              <a:ext uri="{FF2B5EF4-FFF2-40B4-BE49-F238E27FC236}">
                <a16:creationId xmlns:a16="http://schemas.microsoft.com/office/drawing/2014/main" id="{24A27428-97E6-4103-A4B8-A0B80707AA0E}"/>
              </a:ext>
            </a:extLst>
          </p:cNvPr>
          <p:cNvSpPr>
            <a:spLocks xmlns:a="http://schemas.openxmlformats.org/drawingml/2006/main" noGrp="1"/>
          </p:cNvSpPr>
          <p:nvPr/>
        </p:nvSpPr>
        <p:spPr>
          <a:xfrm xmlns:a="http://schemas.openxmlformats.org/drawingml/2006/main">
            <a:off x="8115300" y="1962150"/>
            <a:ext cx="32385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388"/>
          </a:bodyPr>
          <a:lstStyle xmlns:a="http://schemas.openxmlformats.org/drawingml/2006/main"/>
          <a:p xmlns:a="http://schemas.openxmlformats.org/drawingml/2006/main">
            <a:pPr algn="l">
              <a:lnSpc>
                <a:spcPct val="104000"/>
              </a:lnSpc>
              <a:buNone/>
              <a:defRPr sz="2250" b="1">
                <a:solidFill>
                  <a:srgbClr val="17223B"/>
                </a:solidFill>
                <a:latin typeface="Arial"/>
                <a:ea typeface="Arial"/>
                <a:cs typeface="Arial"/>
              </a:defRPr>
            </a:pPr>
            <a:r>
              <a:rPr sz="2250" b="1">
                <a:solidFill>
                  <a:srgbClr val="17223B"/>
                </a:solidFill>
                <a:latin typeface="Arial"/>
                <a:ea typeface="Arial"/>
                <a:cs typeface="Arial"/>
              </a:rPr>
              <a:t>Can multimodal AI preserve this biologically meaningful disagreement and recover activation markers in a new donor?</a:t>
            </a:r>
          </a:p>
        </p:txBody>
      </p:sp>
      <p:sp>
        <p:nvSpPr>
          <p:cNvPr id="18" name="">
            <a:extLst xmlns:a="http://schemas.openxmlformats.org/drawingml/2006/main">
              <a:ext uri="{FF2B5EF4-FFF2-40B4-BE49-F238E27FC236}">
                <a16:creationId xmlns:a16="http://schemas.microsoft.com/office/drawing/2014/main" id="{BED581D3-ABCA-4F83-A039-0F93AF5582EA}"/>
              </a:ext>
            </a:extLst>
          </p:cNvPr>
          <p:cNvSpPr>
            <a:spLocks xmlns:a="http://schemas.openxmlformats.org/drawingml/2006/main" noGrp="1"/>
          </p:cNvSpPr>
          <p:nvPr/>
        </p:nvSpPr>
        <p:spPr>
          <a:xfrm xmlns:a="http://schemas.openxmlformats.org/drawingml/2006/main">
            <a:off x="8115300" y="4343400"/>
            <a:ext cx="152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l">
              <a:lnSpc>
                <a:spcPct val="104000"/>
              </a:lnSpc>
              <a:buNone/>
              <a:defRPr sz="1200" b="1">
                <a:solidFill>
                  <a:srgbClr val="0D8A9A"/>
                </a:solidFill>
                <a:latin typeface="Arial"/>
                <a:ea typeface="Arial"/>
                <a:cs typeface="Arial"/>
              </a:defRPr>
            </a:pPr>
            <a:r>
              <a:rPr sz="1200" b="1">
                <a:solidFill>
                  <a:srgbClr val="0D8A9A"/>
                </a:solidFill>
                <a:latin typeface="Arial"/>
                <a:ea typeface="Arial"/>
                <a:cs typeface="Arial"/>
              </a:rPr>
              <a:t>Why it matters</a:t>
            </a:r>
          </a:p>
        </p:txBody>
      </p:sp>
      <p:sp>
        <p:nvSpPr>
          <p:cNvPr id="19" name="">
            <a:extLst xmlns:a="http://schemas.openxmlformats.org/drawingml/2006/main">
              <a:ext uri="{FF2B5EF4-FFF2-40B4-BE49-F238E27FC236}">
                <a16:creationId xmlns:a16="http://schemas.microsoft.com/office/drawing/2014/main" id="{20FFA817-BCF4-4C8F-9E52-D346CD6A4E85}"/>
              </a:ext>
            </a:extLst>
          </p:cNvPr>
          <p:cNvSpPr>
            <a:spLocks xmlns:a="http://schemas.openxmlformats.org/drawingml/2006/main" noGrp="1"/>
          </p:cNvSpPr>
          <p:nvPr/>
        </p:nvSpPr>
        <p:spPr>
          <a:xfrm xmlns:a="http://schemas.openxmlformats.org/drawingml/2006/main">
            <a:off x="8115300" y="4686300"/>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25"/>
          </a:bodyPr>
          <a:lstStyle xmlns:a="http://schemas.openxmlformats.org/drawingml/2006/main"/>
          <a:p xmlns:a="http://schemas.openxmlformats.org/drawingml/2006/main">
            <a:pPr algn="l">
              <a:lnSpc>
                <a:spcPct val="104000"/>
              </a:lnSpc>
              <a:buNone/>
              <a:defRPr sz="1650" b="0">
                <a:solidFill>
                  <a:srgbClr val="223A69"/>
                </a:solidFill>
                <a:latin typeface="Arial"/>
                <a:ea typeface="Arial"/>
                <a:cs typeface="Arial"/>
              </a:defRPr>
            </a:pPr>
            <a:r>
              <a:rPr sz="1650" b="0">
                <a:solidFill>
                  <a:srgbClr val="223A69"/>
                </a:solidFill>
                <a:latin typeface="Arial"/>
                <a:ea typeface="Arial"/>
                <a:cs typeface="Arial"/>
              </a:rPr>
              <a:t>Biomarker selection fails if the model averages away the modality that carries the response.</a:t>
            </a:r>
          </a:p>
        </p:txBody>
      </p:sp>
    </p:spTree>
    <p:extLst>
      <p:ext uri="{BB962C8B-B14F-4D97-AF65-F5344CB8AC3E}">
        <p14:creationId xmlns:p14="http://schemas.microsoft.com/office/powerpoint/2010/main" val="1133631005"/>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2CC0C81E-DB79-46C5-855B-FFD4A899A85B}"/>
              </a:ext>
            </a:extLst>
          </p:cNvPr>
          <p:cNvSpPr>
            <a:spLocks xmlns:a="http://schemas.openxmlformats.org/drawingml/2006/main" noGrp="1"/>
          </p:cNvSpPr>
          <p:nvPr/>
        </p:nvSpPr>
        <p:spPr>
          <a:xfrm xmlns:a="http://schemas.openxmlformats.org/drawingml/2006/main">
            <a:off x="685800" y="3238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D8A9A"/>
                </a:solidFill>
                <a:latin typeface="Arial"/>
                <a:ea typeface="Arial"/>
                <a:cs typeface="Arial"/>
              </a:defRPr>
            </a:pPr>
            <a:r>
              <a:rPr sz="1050" b="1">
                <a:solidFill>
                  <a:srgbClr val="0D8A9A"/>
                </a:solidFill>
                <a:latin typeface="Arial"/>
                <a:ea typeface="Arial"/>
                <a:cs typeface="Arial"/>
              </a:rPr>
              <a:t>DATASET AND STUDY DESIGN</a:t>
            </a:r>
          </a:p>
        </p:txBody>
      </p:sp>
      <p:sp>
        <p:nvSpPr>
          <p:cNvPr id="2" name="">
            <a:extLst xmlns:a="http://schemas.openxmlformats.org/drawingml/2006/main">
              <a:ext uri="{FF2B5EF4-FFF2-40B4-BE49-F238E27FC236}">
                <a16:creationId xmlns:a16="http://schemas.microsoft.com/office/drawing/2014/main" id="{1C695242-5494-4C78-8AF7-518DA92855E2}"/>
              </a:ext>
            </a:extLst>
          </p:cNvPr>
          <p:cNvSpPr>
            <a:spLocks xmlns:a="http://schemas.openxmlformats.org/drawingml/2006/main" noGrp="1"/>
          </p:cNvSpPr>
          <p:nvPr/>
        </p:nvSpPr>
        <p:spPr>
          <a:xfrm xmlns:a="http://schemas.openxmlformats.org/drawingml/2006/main">
            <a:off x="685800" y="5905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23B"/>
                </a:solidFill>
                <a:latin typeface="Arial"/>
                <a:ea typeface="Arial"/>
                <a:cs typeface="Arial"/>
              </a:defRPr>
            </a:pPr>
            <a:r>
              <a:rPr sz="2850" b="1">
                <a:solidFill>
                  <a:srgbClr val="17223B"/>
                </a:solidFill>
                <a:latin typeface="Arial"/>
                <a:ea typeface="Arial"/>
                <a:cs typeface="Arial"/>
              </a:rPr>
              <a:t>Paired immune perturbation study</a:t>
            </a:r>
          </a:p>
        </p:txBody>
      </p:sp>
      <p:sp>
        <p:nvSpPr>
          <p:cNvPr id="3" name="">
            <a:extLst xmlns:a="http://schemas.openxmlformats.org/drawingml/2006/main">
              <a:ext uri="{FF2B5EF4-FFF2-40B4-BE49-F238E27FC236}">
                <a16:creationId xmlns:a16="http://schemas.microsoft.com/office/drawing/2014/main" id="{C2CE5160-69BB-45CC-9203-2C1644B7EA83}"/>
              </a:ext>
            </a:extLst>
          </p:cNvPr>
          <p:cNvSpPr>
            <a:spLocks xmlns:a="http://schemas.openxmlformats.org/drawingml/2006/main" noGrp="1"/>
          </p:cNvSpPr>
          <p:nvPr/>
        </p:nvSpPr>
        <p:spPr>
          <a:xfrm xmlns:a="http://schemas.openxmlformats.org/drawingml/2006/main">
            <a:off x="685800" y="1257300"/>
            <a:ext cx="838200" cy="47625"/>
          </a:xfrm>
          <a:prstGeom xmlns:a="http://schemas.openxmlformats.org/drawingml/2006/main" prst="rect">
            <a:avLst/>
          </a:prstGeom>
          <a:solidFill xmlns:a="http://schemas.openxmlformats.org/drawingml/2006/main">
            <a:srgbClr val="F15B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48E56DE-E7A1-4485-8250-2039008A3EAF}"/>
              </a:ext>
            </a:extLst>
          </p:cNvPr>
          <p:cNvSpPr>
            <a:spLocks xmlns:a="http://schemas.openxmlformats.org/drawingml/2006/main" noGrp="1"/>
          </p:cNvSpPr>
          <p:nvPr/>
        </p:nvSpPr>
        <p:spPr>
          <a:xfrm xmlns:a="http://schemas.openxmlformats.org/drawingml/2006/main">
            <a:off x="11334750" y="33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87086"/>
                </a:solidFill>
                <a:latin typeface="Arial"/>
                <a:ea typeface="Arial"/>
                <a:cs typeface="Arial"/>
              </a:defRPr>
            </a:pPr>
            <a:r>
              <a:rPr sz="1050" b="1">
                <a:solidFill>
                  <a:srgbClr val="687086"/>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6CC90B0C-097C-4288-8AA2-F3CAF964E9AC}"/>
              </a:ext>
            </a:extLst>
          </p:cNvPr>
          <p:cNvSpPr>
            <a:spLocks xmlns:a="http://schemas.openxmlformats.org/drawingml/2006/main" noGrp="1"/>
          </p:cNvSpPr>
          <p:nvPr/>
        </p:nvSpPr>
        <p:spPr>
          <a:xfrm xmlns:a="http://schemas.openxmlformats.org/drawingml/2006/main">
            <a:off x="685800" y="1676400"/>
            <a:ext cx="209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412"/>
          </a:bodyPr>
          <a:lstStyle xmlns:a="http://schemas.openxmlformats.org/drawingml/2006/main"/>
          <a:p xmlns:a="http://schemas.openxmlformats.org/drawingml/2006/main">
            <a:pPr algn="l">
              <a:lnSpc>
                <a:spcPct val="104000"/>
              </a:lnSpc>
              <a:buNone/>
              <a:defRPr sz="2025" b="1">
                <a:solidFill>
                  <a:srgbClr val="17223B"/>
                </a:solidFill>
                <a:latin typeface="Arial"/>
                <a:ea typeface="Arial"/>
                <a:cs typeface="Arial"/>
              </a:defRPr>
            </a:pPr>
            <a:r>
              <a:rPr sz="2025" b="1">
                <a:solidFill>
                  <a:srgbClr val="17223B"/>
                </a:solidFill>
                <a:latin typeface="Arial"/>
                <a:ea typeface="Arial"/>
                <a:cs typeface="Arial"/>
              </a:rPr>
              <a:t>10 healthy donors</a:t>
            </a:r>
          </a:p>
        </p:txBody>
      </p:sp>
      <p:sp>
        <p:nvSpPr>
          <p:cNvPr id="6" name="">
            <a:extLst xmlns:a="http://schemas.openxmlformats.org/drawingml/2006/main">
              <a:ext uri="{FF2B5EF4-FFF2-40B4-BE49-F238E27FC236}">
                <a16:creationId xmlns:a16="http://schemas.microsoft.com/office/drawing/2014/main" id="{728C9BC9-2A94-4C8F-821D-E94033EB91A6}"/>
              </a:ext>
            </a:extLst>
          </p:cNvPr>
          <p:cNvSpPr>
            <a:spLocks xmlns:a="http://schemas.openxmlformats.org/drawingml/2006/main" noGrp="1"/>
          </p:cNvSpPr>
          <p:nvPr/>
        </p:nvSpPr>
        <p:spPr>
          <a:xfrm xmlns:a="http://schemas.openxmlformats.org/drawingml/2006/main">
            <a:off x="685800" y="2057400"/>
            <a:ext cx="342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812"/>
          </a:bodyPr>
          <a:lstStyle xmlns:a="http://schemas.openxmlformats.org/drawingml/2006/main"/>
          <a:p xmlns:a="http://schemas.openxmlformats.org/drawingml/2006/main">
            <a:pPr algn="l">
              <a:lnSpc>
                <a:spcPct val="104000"/>
              </a:lnSpc>
              <a:buNone/>
              <a:defRPr sz="1350" b="0">
                <a:solidFill>
                  <a:srgbClr val="687086"/>
                </a:solidFill>
                <a:latin typeface="Arial"/>
                <a:ea typeface="Arial"/>
                <a:cs typeface="Arial"/>
              </a:defRPr>
            </a:pPr>
            <a:r>
              <a:rPr sz="1350" b="0">
                <a:solidFill>
                  <a:srgbClr val="687086"/>
                </a:solidFill>
                <a:latin typeface="Arial"/>
                <a:ea typeface="Arial"/>
                <a:cs typeface="Arial"/>
              </a:rPr>
              <a:t>Each donor contributes all three conditions</a:t>
            </a:r>
          </a:p>
        </p:txBody>
      </p:sp>
      <p:sp>
        <p:nvSpPr>
          <p:cNvPr id="7" name="">
            <a:extLst xmlns:a="http://schemas.openxmlformats.org/drawingml/2006/main">
              <a:ext uri="{FF2B5EF4-FFF2-40B4-BE49-F238E27FC236}">
                <a16:creationId xmlns:a16="http://schemas.microsoft.com/office/drawing/2014/main" id="{A599581A-6E22-43C7-AC29-1A7201F39358}"/>
              </a:ext>
            </a:extLst>
          </p:cNvPr>
          <p:cNvSpPr>
            <a:spLocks xmlns:a="http://schemas.openxmlformats.org/drawingml/2006/main" noGrp="1"/>
          </p:cNvSpPr>
          <p:nvPr/>
        </p:nvSpPr>
        <p:spPr>
          <a:xfrm xmlns:a="http://schemas.openxmlformats.org/drawingml/2006/main">
            <a:off x="742950" y="2724150"/>
            <a:ext cx="2190750" cy="1066800"/>
          </a:xfrm>
          <a:prstGeom xmlns:a="http://schemas.openxmlformats.org/drawingml/2006/main" prst="roundRect">
            <a:avLst>
              <a:gd name="adj" fmla="val 14286"/>
            </a:avLst>
          </a:prstGeom>
          <a:solidFill xmlns:a="http://schemas.openxmlformats.org/drawingml/2006/main">
            <a:srgbClr val="E7EAF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52EBB90-397A-476B-9C02-5BB3C253AAEB}"/>
              </a:ext>
            </a:extLst>
          </p:cNvPr>
          <p:cNvSpPr>
            <a:spLocks xmlns:a="http://schemas.openxmlformats.org/drawingml/2006/main" noGrp="1"/>
          </p:cNvSpPr>
          <p:nvPr/>
        </p:nvSpPr>
        <p:spPr>
          <a:xfrm xmlns:a="http://schemas.openxmlformats.org/drawingml/2006/main">
            <a:off x="885825" y="2905125"/>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026"/>
          </a:bodyPr>
          <a:lstStyle xmlns:a="http://schemas.openxmlformats.org/drawingml/2006/main"/>
          <a:p xmlns:a="http://schemas.openxmlformats.org/drawingml/2006/main">
            <a:pPr algn="ctr">
              <a:lnSpc>
                <a:spcPct val="104000"/>
              </a:lnSpc>
              <a:buNone/>
              <a:defRPr sz="1875" b="1">
                <a:solidFill>
                  <a:srgbClr val="17223B"/>
                </a:solidFill>
                <a:latin typeface="Arial"/>
                <a:ea typeface="Arial"/>
                <a:cs typeface="Arial"/>
              </a:defRPr>
            </a:pPr>
            <a:r>
              <a:rPr sz="1875" b="1">
                <a:solidFill>
                  <a:srgbClr val="17223B"/>
                </a:solidFill>
                <a:latin typeface="Arial"/>
                <a:ea typeface="Arial"/>
                <a:cs typeface="Arial"/>
              </a:rPr>
              <a:t>Baseline</a:t>
            </a:r>
          </a:p>
        </p:txBody>
      </p:sp>
      <p:sp>
        <p:nvSpPr>
          <p:cNvPr id="9" name="">
            <a:extLst xmlns:a="http://schemas.openxmlformats.org/drawingml/2006/main">
              <a:ext uri="{FF2B5EF4-FFF2-40B4-BE49-F238E27FC236}">
                <a16:creationId xmlns:a16="http://schemas.microsoft.com/office/drawing/2014/main" id="{3B0F8853-6E1B-4CBC-9512-F994552E9174}"/>
              </a:ext>
            </a:extLst>
          </p:cNvPr>
          <p:cNvSpPr>
            <a:spLocks xmlns:a="http://schemas.openxmlformats.org/drawingml/2006/main" noGrp="1"/>
          </p:cNvSpPr>
          <p:nvPr/>
        </p:nvSpPr>
        <p:spPr>
          <a:xfrm xmlns:a="http://schemas.openxmlformats.org/drawingml/2006/main">
            <a:off x="885825" y="3333750"/>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115"/>
          </a:bodyPr>
          <a:lstStyle xmlns:a="http://schemas.openxmlformats.org/drawingml/2006/main"/>
          <a:p xmlns:a="http://schemas.openxmlformats.org/drawingml/2006/main">
            <a:pPr algn="ctr">
              <a:lnSpc>
                <a:spcPct val="104000"/>
              </a:lnSpc>
              <a:buNone/>
              <a:defRPr sz="1200" b="0">
                <a:solidFill>
                  <a:srgbClr val="687086"/>
                </a:solidFill>
                <a:latin typeface="Arial"/>
                <a:ea typeface="Arial"/>
                <a:cs typeface="Arial"/>
              </a:defRPr>
            </a:pPr>
            <a:r>
              <a:rPr sz="1200" b="0">
                <a:solidFill>
                  <a:srgbClr val="687086"/>
                </a:solidFill>
                <a:latin typeface="Arial"/>
                <a:ea typeface="Arial"/>
                <a:cs typeface="Arial"/>
              </a:rPr>
              <a:t>unstimulated</a:t>
            </a:r>
          </a:p>
        </p:txBody>
      </p:sp>
      <p:sp>
        <p:nvSpPr>
          <p:cNvPr id="10" name="">
            <a:extLst xmlns:a="http://schemas.openxmlformats.org/drawingml/2006/main">
              <a:ext uri="{FF2B5EF4-FFF2-40B4-BE49-F238E27FC236}">
                <a16:creationId xmlns:a16="http://schemas.microsoft.com/office/drawing/2014/main" id="{3130C8A5-A015-4218-96B7-3AEAA823DE1C}"/>
              </a:ext>
            </a:extLst>
          </p:cNvPr>
          <p:cNvSpPr>
            <a:spLocks xmlns:a="http://schemas.openxmlformats.org/drawingml/2006/main" noGrp="1"/>
          </p:cNvSpPr>
          <p:nvPr/>
        </p:nvSpPr>
        <p:spPr>
          <a:xfrm xmlns:a="http://schemas.openxmlformats.org/drawingml/2006/main">
            <a:off x="3352800" y="2724150"/>
            <a:ext cx="2190750" cy="1066800"/>
          </a:xfrm>
          <a:prstGeom xmlns:a="http://schemas.openxmlformats.org/drawingml/2006/main" prst="roundRect">
            <a:avLst>
              <a:gd name="adj" fmla="val 14286"/>
            </a:avLst>
          </a:prstGeom>
          <a:solidFill xmlns:a="http://schemas.openxmlformats.org/drawingml/2006/main">
            <a:srgbClr val="DDF3F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09234F9-2D19-4736-B663-2540C0BC7D18}"/>
              </a:ext>
            </a:extLst>
          </p:cNvPr>
          <p:cNvSpPr>
            <a:spLocks xmlns:a="http://schemas.openxmlformats.org/drawingml/2006/main" noGrp="1"/>
          </p:cNvSpPr>
          <p:nvPr/>
        </p:nvSpPr>
        <p:spPr>
          <a:xfrm xmlns:a="http://schemas.openxmlformats.org/drawingml/2006/main">
            <a:off x="3495675" y="2905125"/>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026"/>
          </a:bodyPr>
          <a:lstStyle xmlns:a="http://schemas.openxmlformats.org/drawingml/2006/main"/>
          <a:p xmlns:a="http://schemas.openxmlformats.org/drawingml/2006/main">
            <a:pPr algn="ctr">
              <a:lnSpc>
                <a:spcPct val="104000"/>
              </a:lnSpc>
              <a:buNone/>
              <a:defRPr sz="1875" b="1">
                <a:solidFill>
                  <a:srgbClr val="17223B"/>
                </a:solidFill>
                <a:latin typeface="Arial"/>
                <a:ea typeface="Arial"/>
                <a:cs typeface="Arial"/>
              </a:defRPr>
            </a:pPr>
            <a:r>
              <a:rPr sz="1875" b="1">
                <a:solidFill>
                  <a:srgbClr val="17223B"/>
                </a:solidFill>
                <a:latin typeface="Arial"/>
                <a:ea typeface="Arial"/>
                <a:cs typeface="Arial"/>
              </a:rPr>
              <a:t>LPS</a:t>
            </a:r>
          </a:p>
        </p:txBody>
      </p:sp>
      <p:sp>
        <p:nvSpPr>
          <p:cNvPr id="12" name="">
            <a:extLst xmlns:a="http://schemas.openxmlformats.org/drawingml/2006/main">
              <a:ext uri="{FF2B5EF4-FFF2-40B4-BE49-F238E27FC236}">
                <a16:creationId xmlns:a16="http://schemas.microsoft.com/office/drawing/2014/main" id="{2312B29F-5895-420C-AF2A-4F847762B622}"/>
              </a:ext>
            </a:extLst>
          </p:cNvPr>
          <p:cNvSpPr>
            <a:spLocks xmlns:a="http://schemas.openxmlformats.org/drawingml/2006/main" noGrp="1"/>
          </p:cNvSpPr>
          <p:nvPr/>
        </p:nvSpPr>
        <p:spPr>
          <a:xfrm xmlns:a="http://schemas.openxmlformats.org/drawingml/2006/main">
            <a:off x="3495675" y="3333750"/>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115"/>
          </a:bodyPr>
          <a:lstStyle xmlns:a="http://schemas.openxmlformats.org/drawingml/2006/main"/>
          <a:p xmlns:a="http://schemas.openxmlformats.org/drawingml/2006/main">
            <a:pPr algn="ctr">
              <a:lnSpc>
                <a:spcPct val="104000"/>
              </a:lnSpc>
              <a:buNone/>
              <a:defRPr sz="1200" b="0">
                <a:solidFill>
                  <a:srgbClr val="687086"/>
                </a:solidFill>
                <a:latin typeface="Arial"/>
                <a:ea typeface="Arial"/>
                <a:cs typeface="Arial"/>
              </a:defRPr>
            </a:pPr>
            <a:r>
              <a:rPr sz="1200" b="0">
                <a:solidFill>
                  <a:srgbClr val="687086"/>
                </a:solidFill>
                <a:latin typeface="Arial"/>
                <a:ea typeface="Arial"/>
                <a:cs typeface="Arial"/>
              </a:rPr>
              <a:t>monocyte response</a:t>
            </a:r>
          </a:p>
        </p:txBody>
      </p:sp>
      <p:sp>
        <p:nvSpPr>
          <p:cNvPr id="13" name="">
            <a:extLst xmlns:a="http://schemas.openxmlformats.org/drawingml/2006/main">
              <a:ext uri="{FF2B5EF4-FFF2-40B4-BE49-F238E27FC236}">
                <a16:creationId xmlns:a16="http://schemas.microsoft.com/office/drawing/2014/main" id="{C0EEE489-B069-43B9-B36E-B89BD98B34F4}"/>
              </a:ext>
            </a:extLst>
          </p:cNvPr>
          <p:cNvSpPr>
            <a:spLocks xmlns:a="http://schemas.openxmlformats.org/drawingml/2006/main" noGrp="1"/>
          </p:cNvSpPr>
          <p:nvPr/>
        </p:nvSpPr>
        <p:spPr>
          <a:xfrm xmlns:a="http://schemas.openxmlformats.org/drawingml/2006/main">
            <a:off x="5962650" y="2724150"/>
            <a:ext cx="2190750" cy="1066800"/>
          </a:xfrm>
          <a:prstGeom xmlns:a="http://schemas.openxmlformats.org/drawingml/2006/main" prst="roundRect">
            <a:avLst>
              <a:gd name="adj" fmla="val 14286"/>
            </a:avLst>
          </a:prstGeom>
          <a:solidFill xmlns:a="http://schemas.openxmlformats.org/drawingml/2006/main">
            <a:srgbClr val="FFE7E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7A2F4CC-A8BC-4B21-AF9F-A28959EB9875}"/>
              </a:ext>
            </a:extLst>
          </p:cNvPr>
          <p:cNvSpPr>
            <a:spLocks xmlns:a="http://schemas.openxmlformats.org/drawingml/2006/main" noGrp="1"/>
          </p:cNvSpPr>
          <p:nvPr/>
        </p:nvSpPr>
        <p:spPr>
          <a:xfrm xmlns:a="http://schemas.openxmlformats.org/drawingml/2006/main">
            <a:off x="6105525" y="2905125"/>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026"/>
          </a:bodyPr>
          <a:lstStyle xmlns:a="http://schemas.openxmlformats.org/drawingml/2006/main"/>
          <a:p xmlns:a="http://schemas.openxmlformats.org/drawingml/2006/main">
            <a:pPr algn="ctr">
              <a:lnSpc>
                <a:spcPct val="104000"/>
              </a:lnSpc>
              <a:buNone/>
              <a:defRPr sz="1875" b="1">
                <a:solidFill>
                  <a:srgbClr val="17223B"/>
                </a:solidFill>
                <a:latin typeface="Arial"/>
                <a:ea typeface="Arial"/>
                <a:cs typeface="Arial"/>
              </a:defRPr>
            </a:pPr>
            <a:r>
              <a:rPr sz="1875" b="1">
                <a:solidFill>
                  <a:srgbClr val="17223B"/>
                </a:solidFill>
                <a:latin typeface="Arial"/>
                <a:ea typeface="Arial"/>
                <a:cs typeface="Arial"/>
              </a:rPr>
              <a:t>anti-CD3/CD28</a:t>
            </a:r>
          </a:p>
        </p:txBody>
      </p:sp>
      <p:sp>
        <p:nvSpPr>
          <p:cNvPr id="15" name="">
            <a:extLst xmlns:a="http://schemas.openxmlformats.org/drawingml/2006/main">
              <a:ext uri="{FF2B5EF4-FFF2-40B4-BE49-F238E27FC236}">
                <a16:creationId xmlns:a16="http://schemas.microsoft.com/office/drawing/2014/main" id="{823ACBA1-D982-4341-B112-D02FD71CC98F}"/>
              </a:ext>
            </a:extLst>
          </p:cNvPr>
          <p:cNvSpPr>
            <a:spLocks xmlns:a="http://schemas.openxmlformats.org/drawingml/2006/main" noGrp="1"/>
          </p:cNvSpPr>
          <p:nvPr/>
        </p:nvSpPr>
        <p:spPr>
          <a:xfrm xmlns:a="http://schemas.openxmlformats.org/drawingml/2006/main">
            <a:off x="6105525" y="3333750"/>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115"/>
          </a:bodyPr>
          <a:lstStyle xmlns:a="http://schemas.openxmlformats.org/drawingml/2006/main"/>
          <a:p xmlns:a="http://schemas.openxmlformats.org/drawingml/2006/main">
            <a:pPr algn="ctr">
              <a:lnSpc>
                <a:spcPct val="104000"/>
              </a:lnSpc>
              <a:buNone/>
              <a:defRPr sz="1200" b="0">
                <a:solidFill>
                  <a:srgbClr val="687086"/>
                </a:solidFill>
                <a:latin typeface="Arial"/>
                <a:ea typeface="Arial"/>
                <a:cs typeface="Arial"/>
              </a:defRPr>
            </a:pPr>
            <a:r>
              <a:rPr sz="1200" b="0">
                <a:solidFill>
                  <a:srgbClr val="687086"/>
                </a:solidFill>
                <a:latin typeface="Arial"/>
                <a:ea typeface="Arial"/>
                <a:cs typeface="Arial"/>
              </a:rPr>
              <a:t>T-cell response</a:t>
            </a:r>
          </a:p>
        </p:txBody>
      </p:sp>
      <p:sp>
        <p:nvSpPr>
          <p:cNvPr id="16" name="">
            <a:extLst xmlns:a="http://schemas.openxmlformats.org/drawingml/2006/main">
              <a:ext uri="{FF2B5EF4-FFF2-40B4-BE49-F238E27FC236}">
                <a16:creationId xmlns:a16="http://schemas.microsoft.com/office/drawing/2014/main" id="{222C1533-CF9B-4C67-B2DF-E947C16A3B9C}"/>
              </a:ext>
            </a:extLst>
          </p:cNvPr>
          <p:cNvSpPr>
            <a:spLocks xmlns:a="http://schemas.openxmlformats.org/drawingml/2006/main" noGrp="1"/>
          </p:cNvSpPr>
          <p:nvPr/>
        </p:nvSpPr>
        <p:spPr>
          <a:xfrm xmlns:a="http://schemas.openxmlformats.org/drawingml/2006/main">
            <a:off x="8334375" y="2952750"/>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29"/>
          </a:bodyPr>
          <a:lstStyle xmlns:a="http://schemas.openxmlformats.org/drawingml/2006/main"/>
          <a:p xmlns:a="http://schemas.openxmlformats.org/drawingml/2006/main">
            <a:pPr algn="ctr">
              <a:lnSpc>
                <a:spcPct val="104000"/>
              </a:lnSpc>
              <a:buNone/>
              <a:defRPr sz="3000" b="1">
                <a:solidFill>
                  <a:srgbClr val="F15B64"/>
                </a:solidFill>
                <a:latin typeface="Arial"/>
                <a:ea typeface="Arial"/>
                <a:cs typeface="Arial"/>
              </a:defRPr>
            </a:pPr>
            <a:r>
              <a:rPr sz="3000" b="1">
                <a:solidFill>
                  <a:srgbClr val="F15B64"/>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2D63AA37-C719-411B-A226-81E330A49D3F}"/>
              </a:ext>
            </a:extLst>
          </p:cNvPr>
          <p:cNvSpPr>
            <a:spLocks xmlns:a="http://schemas.openxmlformats.org/drawingml/2006/main" noGrp="1"/>
          </p:cNvSpPr>
          <p:nvPr/>
        </p:nvSpPr>
        <p:spPr>
          <a:xfrm xmlns:a="http://schemas.openxmlformats.org/drawingml/2006/main">
            <a:off x="9086850" y="2457450"/>
            <a:ext cx="2400300" cy="1619250"/>
          </a:xfrm>
          <a:prstGeom xmlns:a="http://schemas.openxmlformats.org/drawingml/2006/main" prst="roundRect">
            <a:avLst>
              <a:gd name="adj" fmla="val 9412"/>
            </a:avLst>
          </a:prstGeom>
          <a:solidFill xmlns:a="http://schemas.openxmlformats.org/drawingml/2006/main">
            <a:srgbClr val="EEE7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E432E3B-E5BC-4E6B-97EC-A3BB59479E98}"/>
              </a:ext>
            </a:extLst>
          </p:cNvPr>
          <p:cNvSpPr>
            <a:spLocks xmlns:a="http://schemas.openxmlformats.org/drawingml/2006/main" noGrp="1"/>
          </p:cNvSpPr>
          <p:nvPr/>
        </p:nvSpPr>
        <p:spPr>
          <a:xfrm xmlns:a="http://schemas.openxmlformats.org/drawingml/2006/main">
            <a:off x="9277350" y="2647950"/>
            <a:ext cx="201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513"/>
          </a:bodyPr>
          <a:lstStyle xmlns:a="http://schemas.openxmlformats.org/drawingml/2006/main"/>
          <a:p xmlns:a="http://schemas.openxmlformats.org/drawingml/2006/main">
            <a:pPr algn="ctr">
              <a:lnSpc>
                <a:spcPct val="104000"/>
              </a:lnSpc>
              <a:buNone/>
              <a:defRPr sz="2250" b="1">
                <a:solidFill>
                  <a:srgbClr val="6C3ED9"/>
                </a:solidFill>
                <a:latin typeface="Arial"/>
                <a:ea typeface="Arial"/>
                <a:cs typeface="Arial"/>
              </a:defRPr>
            </a:pPr>
            <a:r>
              <a:rPr sz="2250" b="1">
                <a:solidFill>
                  <a:srgbClr val="6C3ED9"/>
                </a:solidFill>
                <a:latin typeface="Arial"/>
                <a:ea typeface="Arial"/>
                <a:cs typeface="Arial"/>
              </a:rPr>
              <a:t>CITE-seq</a:t>
            </a:r>
          </a:p>
        </p:txBody>
      </p:sp>
      <p:sp>
        <p:nvSpPr>
          <p:cNvPr id="19" name="">
            <a:extLst xmlns:a="http://schemas.openxmlformats.org/drawingml/2006/main">
              <a:ext uri="{FF2B5EF4-FFF2-40B4-BE49-F238E27FC236}">
                <a16:creationId xmlns:a16="http://schemas.microsoft.com/office/drawing/2014/main" id="{676F6B17-7CAF-44EB-8992-E166FC7FE5EE}"/>
              </a:ext>
            </a:extLst>
          </p:cNvPr>
          <p:cNvSpPr>
            <a:spLocks xmlns:a="http://schemas.openxmlformats.org/drawingml/2006/main" noGrp="1"/>
          </p:cNvSpPr>
          <p:nvPr/>
        </p:nvSpPr>
        <p:spPr>
          <a:xfrm xmlns:a="http://schemas.openxmlformats.org/drawingml/2006/main">
            <a:off x="9277350" y="3086100"/>
            <a:ext cx="20193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59"/>
          </a:bodyPr>
          <a:lstStyle xmlns:a="http://schemas.openxmlformats.org/drawingml/2006/main"/>
          <a:p xmlns:a="http://schemas.openxmlformats.org/drawingml/2006/main">
            <a:pPr algn="ctr">
              <a:lnSpc>
                <a:spcPct val="104000"/>
              </a:lnSpc>
              <a:buNone/>
              <a:defRPr sz="1500" b="0">
                <a:solidFill>
                  <a:srgbClr val="17223B"/>
                </a:solidFill>
                <a:latin typeface="Arial"/>
                <a:ea typeface="Arial"/>
                <a:cs typeface="Arial"/>
              </a:defRPr>
            </a:pPr>
            <a:r>
              <a:rPr sz="1500" b="0">
                <a:solidFill>
                  <a:srgbClr val="17223B"/>
                </a:solidFill>
                <a:latin typeface="Arial"/>
                <a:ea typeface="Arial"/>
                <a:cs typeface="Arial"/>
              </a:rPr>
              <a:t>4,000 genes</a:t>
            </a:r>
          </a:p>
          <a:p xmlns:a="http://schemas.openxmlformats.org/drawingml/2006/main">
            <a:pPr algn="ctr">
              <a:lnSpc>
                <a:spcPct val="104000"/>
              </a:lnSpc>
              <a:buNone/>
              <a:defRPr sz="1500" b="0">
                <a:solidFill>
                  <a:srgbClr val="17223B"/>
                </a:solidFill>
                <a:latin typeface="Arial"/>
                <a:ea typeface="Arial"/>
                <a:cs typeface="Arial"/>
              </a:defRPr>
            </a:pPr>
            <a:r>
              <a:rPr sz="1500" b="0">
                <a:solidFill>
                  <a:srgbClr val="17223B"/>
                </a:solidFill>
                <a:latin typeface="Arial"/>
                <a:ea typeface="Arial"/>
                <a:cs typeface="Arial"/>
              </a:rPr>
              <a:t>39 surface proteins</a:t>
            </a:r>
          </a:p>
          <a:p xmlns:a="http://schemas.openxmlformats.org/drawingml/2006/main">
            <a:pPr algn="ctr">
              <a:lnSpc>
                <a:spcPct val="104000"/>
              </a:lnSpc>
              <a:buNone/>
              <a:defRPr sz="1500" b="0">
                <a:solidFill>
                  <a:srgbClr val="17223B"/>
                </a:solidFill>
                <a:latin typeface="Arial"/>
                <a:ea typeface="Arial"/>
                <a:cs typeface="Arial"/>
              </a:defRPr>
            </a:pPr>
            <a:r>
              <a:rPr sz="1500" b="0">
                <a:solidFill>
                  <a:srgbClr val="17223B"/>
                </a:solidFill>
                <a:latin typeface="Arial"/>
                <a:ea typeface="Arial"/>
                <a:cs typeface="Arial"/>
              </a:rPr>
              <a:t>16,382 cells</a:t>
            </a:r>
          </a:p>
        </p:txBody>
      </p:sp>
      <p:sp>
        <p:nvSpPr>
          <p:cNvPr id="20" name="">
            <a:extLst xmlns:a="http://schemas.openxmlformats.org/drawingml/2006/main">
              <a:ext uri="{FF2B5EF4-FFF2-40B4-BE49-F238E27FC236}">
                <a16:creationId xmlns:a16="http://schemas.microsoft.com/office/drawing/2014/main" id="{702E9260-EAB4-4C7E-AC98-72318BB537F8}"/>
              </a:ext>
            </a:extLst>
          </p:cNvPr>
          <p:cNvSpPr>
            <a:spLocks xmlns:a="http://schemas.openxmlformats.org/drawingml/2006/main" noGrp="1"/>
          </p:cNvSpPr>
          <p:nvPr/>
        </p:nvSpPr>
        <p:spPr>
          <a:xfrm xmlns:a="http://schemas.openxmlformats.org/drawingml/2006/main">
            <a:off x="685800" y="4572000"/>
            <a:ext cx="10801350" cy="19050"/>
          </a:xfrm>
          <a:prstGeom xmlns:a="http://schemas.openxmlformats.org/drawingml/2006/main" prst="rect">
            <a:avLst/>
          </a:prstGeom>
          <a:solidFill xmlns:a="http://schemas.openxmlformats.org/drawingml/2006/main">
            <a:srgbClr val="E7EAF0"/>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28DFFCF-B281-40AA-A016-F9B7F1316B9F}"/>
              </a:ext>
            </a:extLst>
          </p:cNvPr>
          <p:cNvSpPr>
            <a:spLocks xmlns:a="http://schemas.openxmlformats.org/drawingml/2006/main" noGrp="1"/>
          </p:cNvSpPr>
          <p:nvPr/>
        </p:nvSpPr>
        <p:spPr>
          <a:xfrm xmlns:a="http://schemas.openxmlformats.org/drawingml/2006/main">
            <a:off x="685800" y="485775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l">
              <a:lnSpc>
                <a:spcPct val="104000"/>
              </a:lnSpc>
              <a:buNone/>
              <a:defRPr sz="1275" b="1">
                <a:solidFill>
                  <a:srgbClr val="0D8A9A"/>
                </a:solidFill>
                <a:latin typeface="Arial"/>
                <a:ea typeface="Arial"/>
                <a:cs typeface="Arial"/>
              </a:defRPr>
            </a:pPr>
            <a:r>
              <a:rPr sz="1275" b="1">
                <a:solidFill>
                  <a:srgbClr val="0D8A9A"/>
                </a:solidFill>
                <a:latin typeface="Arial"/>
                <a:ea typeface="Arial"/>
                <a:cs typeface="Arial"/>
              </a:rPr>
              <a:t>Validation</a:t>
            </a:r>
          </a:p>
        </p:txBody>
      </p:sp>
      <p:sp>
        <p:nvSpPr>
          <p:cNvPr id="22" name="">
            <a:extLst xmlns:a="http://schemas.openxmlformats.org/drawingml/2006/main">
              <a:ext uri="{FF2B5EF4-FFF2-40B4-BE49-F238E27FC236}">
                <a16:creationId xmlns:a16="http://schemas.microsoft.com/office/drawing/2014/main" id="{34AF8BA4-E7CC-422C-A7D6-8ADF413AAA2E}"/>
              </a:ext>
            </a:extLst>
          </p:cNvPr>
          <p:cNvSpPr>
            <a:spLocks xmlns:a="http://schemas.openxmlformats.org/drawingml/2006/main" noGrp="1"/>
          </p:cNvSpPr>
          <p:nvPr/>
        </p:nvSpPr>
        <p:spPr>
          <a:xfrm xmlns:a="http://schemas.openxmlformats.org/drawingml/2006/main">
            <a:off x="685800" y="5219700"/>
            <a:ext cx="295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100" b="1">
                <a:solidFill>
                  <a:srgbClr val="17223B"/>
                </a:solidFill>
                <a:latin typeface="Arial"/>
                <a:ea typeface="Arial"/>
                <a:cs typeface="Arial"/>
              </a:defRPr>
            </a:pPr>
            <a:r>
              <a:rPr sz="2100" b="1">
                <a:solidFill>
                  <a:srgbClr val="17223B"/>
                </a:solidFill>
                <a:latin typeface="Arial"/>
                <a:ea typeface="Arial"/>
                <a:cs typeface="Arial"/>
              </a:rPr>
              <a:t>Leave one donor out</a:t>
            </a:r>
          </a:p>
        </p:txBody>
      </p:sp>
      <p:sp>
        <p:nvSpPr>
          <p:cNvPr id="23" name="">
            <a:extLst xmlns:a="http://schemas.openxmlformats.org/drawingml/2006/main">
              <a:ext uri="{FF2B5EF4-FFF2-40B4-BE49-F238E27FC236}">
                <a16:creationId xmlns:a16="http://schemas.microsoft.com/office/drawing/2014/main" id="{5E5670C5-FDF0-463F-89E7-FB7A90B21733}"/>
              </a:ext>
            </a:extLst>
          </p:cNvPr>
          <p:cNvSpPr>
            <a:spLocks xmlns:a="http://schemas.openxmlformats.org/drawingml/2006/main" noGrp="1"/>
          </p:cNvSpPr>
          <p:nvPr/>
        </p:nvSpPr>
        <p:spPr>
          <a:xfrm xmlns:a="http://schemas.openxmlformats.org/drawingml/2006/main">
            <a:off x="4000500" y="5219700"/>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650" b="1">
                <a:solidFill>
                  <a:srgbClr val="223A69"/>
                </a:solidFill>
                <a:latin typeface="Arial"/>
                <a:ea typeface="Arial"/>
                <a:cs typeface="Arial"/>
              </a:defRPr>
            </a:pPr>
            <a:r>
              <a:rPr sz="1650" b="1">
                <a:solidFill>
                  <a:srgbClr val="223A69"/>
                </a:solidFill>
                <a:latin typeface="Arial"/>
                <a:ea typeface="Arial"/>
                <a:cs typeface="Arial"/>
              </a:rPr>
              <a:t>Train on 9 donors</a:t>
            </a:r>
          </a:p>
        </p:txBody>
      </p:sp>
      <p:sp>
        <p:nvSpPr>
          <p:cNvPr id="24" name="">
            <a:extLst xmlns:a="http://schemas.openxmlformats.org/drawingml/2006/main">
              <a:ext uri="{FF2B5EF4-FFF2-40B4-BE49-F238E27FC236}">
                <a16:creationId xmlns:a16="http://schemas.microsoft.com/office/drawing/2014/main" id="{654FA520-2BBF-4628-954E-256D9A680777}"/>
              </a:ext>
            </a:extLst>
          </p:cNvPr>
          <p:cNvSpPr>
            <a:spLocks xmlns:a="http://schemas.openxmlformats.org/drawingml/2006/main" noGrp="1"/>
          </p:cNvSpPr>
          <p:nvPr/>
        </p:nvSpPr>
        <p:spPr>
          <a:xfrm xmlns:a="http://schemas.openxmlformats.org/drawingml/2006/main">
            <a:off x="6419850" y="5143500"/>
            <a:ext cx="666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972"/>
          </a:bodyPr>
          <a:lstStyle xmlns:a="http://schemas.openxmlformats.org/drawingml/2006/main"/>
          <a:p xmlns:a="http://schemas.openxmlformats.org/drawingml/2006/main">
            <a:pPr algn="ctr">
              <a:lnSpc>
                <a:spcPct val="104000"/>
              </a:lnSpc>
              <a:buNone/>
              <a:defRPr sz="2850" b="1">
                <a:solidFill>
                  <a:srgbClr val="F15B64"/>
                </a:solidFill>
                <a:latin typeface="Arial"/>
                <a:ea typeface="Arial"/>
                <a:cs typeface="Arial"/>
              </a:defRPr>
            </a:pPr>
            <a:r>
              <a:rPr sz="2850" b="1">
                <a:solidFill>
                  <a:srgbClr val="F15B64"/>
                </a:solidFill>
                <a:latin typeface="Arial"/>
                <a:ea typeface="Arial"/>
                <a:cs typeface="Arial"/>
              </a:rPr>
              <a:t>→</a:t>
            </a:r>
          </a:p>
        </p:txBody>
      </p:sp>
      <p:sp>
        <p:nvSpPr>
          <p:cNvPr id="25" name="">
            <a:extLst xmlns:a="http://schemas.openxmlformats.org/drawingml/2006/main">
              <a:ext uri="{FF2B5EF4-FFF2-40B4-BE49-F238E27FC236}">
                <a16:creationId xmlns:a16="http://schemas.microsoft.com/office/drawing/2014/main" id="{26FCFCEB-25B1-436F-B98D-01A2C5D46003}"/>
              </a:ext>
            </a:extLst>
          </p:cNvPr>
          <p:cNvSpPr>
            <a:spLocks xmlns:a="http://schemas.openxmlformats.org/drawingml/2006/main" noGrp="1"/>
          </p:cNvSpPr>
          <p:nvPr/>
        </p:nvSpPr>
        <p:spPr>
          <a:xfrm xmlns:a="http://schemas.openxmlformats.org/drawingml/2006/main">
            <a:off x="7239000" y="521970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650" b="1">
                <a:solidFill>
                  <a:srgbClr val="223A69"/>
                </a:solidFill>
                <a:latin typeface="Arial"/>
                <a:ea typeface="Arial"/>
                <a:cs typeface="Arial"/>
              </a:defRPr>
            </a:pPr>
            <a:r>
              <a:rPr sz="1650" b="1">
                <a:solidFill>
                  <a:srgbClr val="223A69"/>
                </a:solidFill>
                <a:latin typeface="Arial"/>
                <a:ea typeface="Arial"/>
                <a:cs typeface="Arial"/>
              </a:rPr>
              <a:t>Test the unseen donor</a:t>
            </a:r>
          </a:p>
        </p:txBody>
      </p:sp>
      <p:sp>
        <p:nvSpPr>
          <p:cNvPr id="26" name="">
            <a:extLst xmlns:a="http://schemas.openxmlformats.org/drawingml/2006/main">
              <a:ext uri="{FF2B5EF4-FFF2-40B4-BE49-F238E27FC236}">
                <a16:creationId xmlns:a16="http://schemas.microsoft.com/office/drawing/2014/main" id="{94AB36B6-439A-4468-8B70-9D340447C882}"/>
              </a:ext>
            </a:extLst>
          </p:cNvPr>
          <p:cNvSpPr>
            <a:spLocks xmlns:a="http://schemas.openxmlformats.org/drawingml/2006/main" noGrp="1"/>
          </p:cNvSpPr>
          <p:nvPr/>
        </p:nvSpPr>
        <p:spPr>
          <a:xfrm xmlns:a="http://schemas.openxmlformats.org/drawingml/2006/main">
            <a:off x="9144000" y="5905500"/>
            <a:ext cx="2286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587"/>
          </a:bodyPr>
          <a:lstStyle xmlns:a="http://schemas.openxmlformats.org/drawingml/2006/main"/>
          <a:p xmlns:a="http://schemas.openxmlformats.org/drawingml/2006/main">
            <a:pPr algn="r">
              <a:lnSpc>
                <a:spcPct val="104000"/>
              </a:lnSpc>
              <a:buNone/>
              <a:defRPr sz="1275" b="1">
                <a:solidFill>
                  <a:srgbClr val="687086"/>
                </a:solidFill>
                <a:latin typeface="Arial"/>
                <a:ea typeface="Arial"/>
                <a:cs typeface="Arial"/>
              </a:defRPr>
            </a:pPr>
            <a:r>
              <a:rPr sz="1275" b="1">
                <a:solidFill>
                  <a:srgbClr val="687086"/>
                </a:solidFill>
                <a:latin typeface="Arial"/>
                <a:ea typeface="Arial"/>
                <a:cs typeface="Arial"/>
              </a:rPr>
              <a:t>× 10 folds per model</a:t>
            </a:r>
          </a:p>
        </p:txBody>
      </p:sp>
    </p:spTree>
    <p:extLst>
      <p:ext uri="{BB962C8B-B14F-4D97-AF65-F5344CB8AC3E}">
        <p14:creationId xmlns:p14="http://schemas.microsoft.com/office/powerpoint/2010/main" val="184157618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48FD35C2-19FE-4F2D-8F77-9BCBB1DBE825}"/>
              </a:ext>
            </a:extLst>
          </p:cNvPr>
          <p:cNvSpPr>
            <a:spLocks xmlns:a="http://schemas.openxmlformats.org/drawingml/2006/main" noGrp="1"/>
          </p:cNvSpPr>
          <p:nvPr/>
        </p:nvSpPr>
        <p:spPr>
          <a:xfrm xmlns:a="http://schemas.openxmlformats.org/drawingml/2006/main">
            <a:off x="685800" y="3238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D8A9A"/>
                </a:solidFill>
                <a:latin typeface="Arial"/>
                <a:ea typeface="Arial"/>
                <a:cs typeface="Arial"/>
              </a:defRPr>
            </a:pPr>
            <a:r>
              <a:rPr sz="1050" b="1">
                <a:solidFill>
                  <a:srgbClr val="0D8A9A"/>
                </a:solidFill>
                <a:latin typeface="Arial"/>
                <a:ea typeface="Arial"/>
                <a:cs typeface="Arial"/>
              </a:rPr>
              <a:t>FUSIONVI-X ARCHITECTURE</a:t>
            </a:r>
          </a:p>
        </p:txBody>
      </p:sp>
      <p:sp>
        <p:nvSpPr>
          <p:cNvPr id="2" name="">
            <a:extLst xmlns:a="http://schemas.openxmlformats.org/drawingml/2006/main">
              <a:ext uri="{FF2B5EF4-FFF2-40B4-BE49-F238E27FC236}">
                <a16:creationId xmlns:a16="http://schemas.microsoft.com/office/drawing/2014/main" id="{5FCF306F-BD14-4782-89C5-9472D9D98896}"/>
              </a:ext>
            </a:extLst>
          </p:cNvPr>
          <p:cNvSpPr>
            <a:spLocks xmlns:a="http://schemas.openxmlformats.org/drawingml/2006/main" noGrp="1"/>
          </p:cNvSpPr>
          <p:nvPr/>
        </p:nvSpPr>
        <p:spPr>
          <a:xfrm xmlns:a="http://schemas.openxmlformats.org/drawingml/2006/main">
            <a:off x="685800" y="5905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23B"/>
                </a:solidFill>
                <a:latin typeface="Arial"/>
                <a:ea typeface="Arial"/>
                <a:cs typeface="Arial"/>
              </a:defRPr>
            </a:pPr>
            <a:r>
              <a:rPr sz="2850" b="1">
                <a:solidFill>
                  <a:srgbClr val="17223B"/>
                </a:solidFill>
                <a:latin typeface="Arial"/>
                <a:ea typeface="Arial"/>
                <a:cs typeface="Arial"/>
              </a:rPr>
              <a:t>From an unsupervised gate to a targeted readout</a:t>
            </a:r>
          </a:p>
        </p:txBody>
      </p:sp>
      <p:sp>
        <p:nvSpPr>
          <p:cNvPr id="3" name="">
            <a:extLst xmlns:a="http://schemas.openxmlformats.org/drawingml/2006/main">
              <a:ext uri="{FF2B5EF4-FFF2-40B4-BE49-F238E27FC236}">
                <a16:creationId xmlns:a16="http://schemas.microsoft.com/office/drawing/2014/main" id="{B0889432-B36E-40E5-AACB-202CBCCB0EB1}"/>
              </a:ext>
            </a:extLst>
          </p:cNvPr>
          <p:cNvSpPr>
            <a:spLocks xmlns:a="http://schemas.openxmlformats.org/drawingml/2006/main" noGrp="1"/>
          </p:cNvSpPr>
          <p:nvPr/>
        </p:nvSpPr>
        <p:spPr>
          <a:xfrm xmlns:a="http://schemas.openxmlformats.org/drawingml/2006/main">
            <a:off x="685800" y="1257300"/>
            <a:ext cx="838200" cy="47625"/>
          </a:xfrm>
          <a:prstGeom xmlns:a="http://schemas.openxmlformats.org/drawingml/2006/main" prst="rect">
            <a:avLst/>
          </a:prstGeom>
          <a:solidFill xmlns:a="http://schemas.openxmlformats.org/drawingml/2006/main">
            <a:srgbClr val="F15B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8C74475-5795-4BAF-BD26-A169D156432F}"/>
              </a:ext>
            </a:extLst>
          </p:cNvPr>
          <p:cNvSpPr>
            <a:spLocks xmlns:a="http://schemas.openxmlformats.org/drawingml/2006/main" noGrp="1"/>
          </p:cNvSpPr>
          <p:nvPr/>
        </p:nvSpPr>
        <p:spPr>
          <a:xfrm xmlns:a="http://schemas.openxmlformats.org/drawingml/2006/main">
            <a:off x="11334750" y="33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87086"/>
                </a:solidFill>
                <a:latin typeface="Arial"/>
                <a:ea typeface="Arial"/>
                <a:cs typeface="Arial"/>
              </a:defRPr>
            </a:pPr>
            <a:r>
              <a:rPr sz="1050" b="1">
                <a:solidFill>
                  <a:srgbClr val="687086"/>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B50AC870-8EE3-402E-9599-705D604B5318}"/>
              </a:ext>
            </a:extLst>
          </p:cNvPr>
          <p:cNvSpPr>
            <a:spLocks xmlns:a="http://schemas.openxmlformats.org/drawingml/2006/main" noGrp="1"/>
          </p:cNvSpPr>
          <p:nvPr/>
        </p:nvSpPr>
        <p:spPr>
          <a:xfrm xmlns:a="http://schemas.openxmlformats.org/drawingml/2006/main">
            <a:off x="762000" y="160020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006"/>
          </a:bodyPr>
          <a:lstStyle xmlns:a="http://schemas.openxmlformats.org/drawingml/2006/main"/>
          <a:p xmlns:a="http://schemas.openxmlformats.org/drawingml/2006/main">
            <a:pPr algn="l">
              <a:lnSpc>
                <a:spcPct val="104000"/>
              </a:lnSpc>
              <a:buNone/>
              <a:defRPr sz="1725" b="1">
                <a:solidFill>
                  <a:srgbClr val="5267D9"/>
                </a:solidFill>
                <a:latin typeface="Arial"/>
                <a:ea typeface="Arial"/>
                <a:cs typeface="Arial"/>
              </a:defRPr>
            </a:pPr>
            <a:r>
              <a:rPr sz="1725" b="1">
                <a:solidFill>
                  <a:srgbClr val="5267D9"/>
                </a:solidFill>
                <a:latin typeface="Arial"/>
                <a:ea typeface="Arial"/>
                <a:cs typeface="Arial"/>
              </a:rPr>
              <a:t>Standard totalVI</a:t>
            </a:r>
          </a:p>
        </p:txBody>
      </p:sp>
      <p:sp>
        <p:nvSpPr>
          <p:cNvPr id="6" name="">
            <a:extLst xmlns:a="http://schemas.openxmlformats.org/drawingml/2006/main">
              <a:ext uri="{FF2B5EF4-FFF2-40B4-BE49-F238E27FC236}">
                <a16:creationId xmlns:a16="http://schemas.microsoft.com/office/drawing/2014/main" id="{8576C63D-F24A-47A1-988D-7720DD12FAB9}"/>
              </a:ext>
            </a:extLst>
          </p:cNvPr>
          <p:cNvSpPr>
            <a:spLocks xmlns:a="http://schemas.openxmlformats.org/drawingml/2006/main" noGrp="1"/>
          </p:cNvSpPr>
          <p:nvPr/>
        </p:nvSpPr>
        <p:spPr>
          <a:xfrm xmlns:a="http://schemas.openxmlformats.org/drawingml/2006/main">
            <a:off x="762000" y="2095500"/>
            <a:ext cx="2571750" cy="723900"/>
          </a:xfrm>
          <a:prstGeom xmlns:a="http://schemas.openxmlformats.org/drawingml/2006/main" prst="roundRect">
            <a:avLst>
              <a:gd name="adj" fmla="val 15789"/>
            </a:avLst>
          </a:prstGeom>
          <a:solidFill xmlns:a="http://schemas.openxmlformats.org/drawingml/2006/main">
            <a:srgbClr val="E7EAF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2764021-B480-4839-BEBE-9CDD1FA736DA}"/>
              </a:ext>
            </a:extLst>
          </p:cNvPr>
          <p:cNvSpPr>
            <a:spLocks xmlns:a="http://schemas.openxmlformats.org/drawingml/2006/main" noGrp="1"/>
          </p:cNvSpPr>
          <p:nvPr/>
        </p:nvSpPr>
        <p:spPr>
          <a:xfrm xmlns:a="http://schemas.openxmlformats.org/drawingml/2006/main">
            <a:off x="933450" y="2266950"/>
            <a:ext cx="2228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141"/>
          </a:bodyPr>
          <a:lstStyle xmlns:a="http://schemas.openxmlformats.org/drawingml/2006/main"/>
          <a:p xmlns:a="http://schemas.openxmlformats.org/drawingml/2006/main">
            <a:pPr algn="ctr">
              <a:lnSpc>
                <a:spcPct val="104000"/>
              </a:lnSpc>
              <a:buNone/>
              <a:defRPr sz="1800" b="1">
                <a:solidFill>
                  <a:srgbClr val="17223B"/>
                </a:solidFill>
                <a:latin typeface="Arial"/>
                <a:ea typeface="Arial"/>
                <a:cs typeface="Arial"/>
              </a:defRPr>
            </a:pPr>
            <a:r>
              <a:rPr sz="1800" b="1">
                <a:solidFill>
                  <a:srgbClr val="17223B"/>
                </a:solidFill>
                <a:latin typeface="Arial"/>
                <a:ea typeface="Arial"/>
                <a:cs typeface="Arial"/>
              </a:rPr>
              <a:t>RNA + protein</a:t>
            </a:r>
          </a:p>
        </p:txBody>
      </p:sp>
      <p:sp>
        <p:nvSpPr>
          <p:cNvPr id="8" name="">
            <a:extLst xmlns:a="http://schemas.openxmlformats.org/drawingml/2006/main">
              <a:ext uri="{FF2B5EF4-FFF2-40B4-BE49-F238E27FC236}">
                <a16:creationId xmlns:a16="http://schemas.microsoft.com/office/drawing/2014/main" id="{738B4951-3E70-451E-99F3-428E086B2075}"/>
              </a:ext>
            </a:extLst>
          </p:cNvPr>
          <p:cNvSpPr>
            <a:spLocks xmlns:a="http://schemas.openxmlformats.org/drawingml/2006/main" noGrp="1"/>
          </p:cNvSpPr>
          <p:nvPr/>
        </p:nvSpPr>
        <p:spPr>
          <a:xfrm xmlns:a="http://schemas.openxmlformats.org/drawingml/2006/main">
            <a:off x="3429000" y="219075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357"/>
          </a:bodyPr>
          <a:lstStyle xmlns:a="http://schemas.openxmlformats.org/drawingml/2006/main"/>
          <a:p xmlns:a="http://schemas.openxmlformats.org/drawingml/2006/main">
            <a:pPr algn="ctr">
              <a:lnSpc>
                <a:spcPct val="104000"/>
              </a:lnSpc>
              <a:buNone/>
              <a:defRPr sz="2550" b="1">
                <a:solidFill>
                  <a:srgbClr val="687086"/>
                </a:solidFill>
                <a:latin typeface="Arial"/>
                <a:ea typeface="Arial"/>
                <a:cs typeface="Arial"/>
              </a:defRPr>
            </a:pPr>
            <a:r>
              <a:rPr sz="2550" b="1">
                <a:solidFill>
                  <a:srgbClr val="687086"/>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F8D614E6-13CF-4D91-8102-1BD44CBACDFB}"/>
              </a:ext>
            </a:extLst>
          </p:cNvPr>
          <p:cNvSpPr>
            <a:spLocks xmlns:a="http://schemas.openxmlformats.org/drawingml/2006/main" noGrp="1"/>
          </p:cNvSpPr>
          <p:nvPr/>
        </p:nvSpPr>
        <p:spPr>
          <a:xfrm xmlns:a="http://schemas.openxmlformats.org/drawingml/2006/main">
            <a:off x="4076700" y="2000250"/>
            <a:ext cx="2238375" cy="914400"/>
          </a:xfrm>
          <a:prstGeom xmlns:a="http://schemas.openxmlformats.org/drawingml/2006/main" prst="roundRect">
            <a:avLst>
              <a:gd name="adj" fmla="val 12500"/>
            </a:avLst>
          </a:prstGeom>
          <a:solidFill xmlns:a="http://schemas.openxmlformats.org/drawingml/2006/main">
            <a:srgbClr val="EEE7F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20CF150-FA5E-4527-A4C5-76861295BC39}"/>
              </a:ext>
            </a:extLst>
          </p:cNvPr>
          <p:cNvSpPr>
            <a:spLocks xmlns:a="http://schemas.openxmlformats.org/drawingml/2006/main" noGrp="1"/>
          </p:cNvSpPr>
          <p:nvPr/>
        </p:nvSpPr>
        <p:spPr>
          <a:xfrm xmlns:a="http://schemas.openxmlformats.org/drawingml/2006/main">
            <a:off x="4248150" y="2247900"/>
            <a:ext cx="190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436"/>
          </a:bodyPr>
          <a:lstStyle xmlns:a="http://schemas.openxmlformats.org/drawingml/2006/main"/>
          <a:p xmlns:a="http://schemas.openxmlformats.org/drawingml/2006/main">
            <a:pPr algn="ctr">
              <a:lnSpc>
                <a:spcPct val="104000"/>
              </a:lnSpc>
              <a:buNone/>
              <a:defRPr sz="1875" b="1">
                <a:solidFill>
                  <a:srgbClr val="6C3ED9"/>
                </a:solidFill>
                <a:latin typeface="Arial"/>
                <a:ea typeface="Arial"/>
                <a:cs typeface="Arial"/>
              </a:defRPr>
            </a:pPr>
            <a:r>
              <a:rPr sz="1875" b="1">
                <a:solidFill>
                  <a:srgbClr val="6C3ED9"/>
                </a:solidFill>
                <a:latin typeface="Arial"/>
                <a:ea typeface="Arial"/>
                <a:cs typeface="Arial"/>
              </a:rPr>
              <a:t>joint encoder</a:t>
            </a:r>
          </a:p>
        </p:txBody>
      </p:sp>
      <p:sp>
        <p:nvSpPr>
          <p:cNvPr id="11" name="">
            <a:extLst xmlns:a="http://schemas.openxmlformats.org/drawingml/2006/main">
              <a:ext uri="{FF2B5EF4-FFF2-40B4-BE49-F238E27FC236}">
                <a16:creationId xmlns:a16="http://schemas.microsoft.com/office/drawing/2014/main" id="{DAA7B077-3F5B-49AD-B3FC-3D90C9066A9E}"/>
              </a:ext>
            </a:extLst>
          </p:cNvPr>
          <p:cNvSpPr>
            <a:spLocks xmlns:a="http://schemas.openxmlformats.org/drawingml/2006/main" noGrp="1"/>
          </p:cNvSpPr>
          <p:nvPr/>
        </p:nvSpPr>
        <p:spPr>
          <a:xfrm xmlns:a="http://schemas.openxmlformats.org/drawingml/2006/main">
            <a:off x="6419850" y="219075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357"/>
          </a:bodyPr>
          <a:lstStyle xmlns:a="http://schemas.openxmlformats.org/drawingml/2006/main"/>
          <a:p xmlns:a="http://schemas.openxmlformats.org/drawingml/2006/main">
            <a:pPr algn="ctr">
              <a:lnSpc>
                <a:spcPct val="104000"/>
              </a:lnSpc>
              <a:buNone/>
              <a:defRPr sz="2550" b="1">
                <a:solidFill>
                  <a:srgbClr val="687086"/>
                </a:solidFill>
                <a:latin typeface="Arial"/>
                <a:ea typeface="Arial"/>
                <a:cs typeface="Arial"/>
              </a:defRPr>
            </a:pPr>
            <a:r>
              <a:rPr sz="2550" b="1">
                <a:solidFill>
                  <a:srgbClr val="687086"/>
                </a:solidFill>
                <a:latin typeface="Arial"/>
                <a:ea typeface="Arial"/>
                <a:cs typeface="Arial"/>
              </a:rPr>
              <a:t>→</a:t>
            </a:r>
          </a:p>
        </p:txBody>
      </p:sp>
      <p:sp>
        <p:nvSpPr>
          <p:cNvPr id="12" name="">
            <a:extLst xmlns:a="http://schemas.openxmlformats.org/drawingml/2006/main">
              <a:ext uri="{FF2B5EF4-FFF2-40B4-BE49-F238E27FC236}">
                <a16:creationId xmlns:a16="http://schemas.microsoft.com/office/drawing/2014/main" id="{BA85AB36-F9FF-46DA-99C8-E1DBB47E41A3}"/>
              </a:ext>
            </a:extLst>
          </p:cNvPr>
          <p:cNvSpPr>
            <a:spLocks xmlns:a="http://schemas.openxmlformats.org/drawingml/2006/main" noGrp="1"/>
          </p:cNvSpPr>
          <p:nvPr/>
        </p:nvSpPr>
        <p:spPr>
          <a:xfrm xmlns:a="http://schemas.openxmlformats.org/drawingml/2006/main">
            <a:off x="7067550" y="2095500"/>
            <a:ext cx="1714500" cy="723900"/>
          </a:xfrm>
          <a:prstGeom xmlns:a="http://schemas.openxmlformats.org/drawingml/2006/main" prst="roundRect">
            <a:avLst>
              <a:gd name="adj" fmla="val 15789"/>
            </a:avLst>
          </a:prstGeom>
          <a:solidFill xmlns:a="http://schemas.openxmlformats.org/drawingml/2006/main">
            <a:srgbClr val="DDF3F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A751A12-41E0-4EA3-A38B-67298BCA7530}"/>
              </a:ext>
            </a:extLst>
          </p:cNvPr>
          <p:cNvSpPr>
            <a:spLocks xmlns:a="http://schemas.openxmlformats.org/drawingml/2006/main" noGrp="1"/>
          </p:cNvSpPr>
          <p:nvPr/>
        </p:nvSpPr>
        <p:spPr>
          <a:xfrm xmlns:a="http://schemas.openxmlformats.org/drawingml/2006/main">
            <a:off x="7239000" y="2266950"/>
            <a:ext cx="1371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141"/>
          </a:bodyPr>
          <a:lstStyle xmlns:a="http://schemas.openxmlformats.org/drawingml/2006/main"/>
          <a:p xmlns:a="http://schemas.openxmlformats.org/drawingml/2006/main">
            <a:pPr algn="ctr">
              <a:lnSpc>
                <a:spcPct val="104000"/>
              </a:lnSpc>
              <a:buNone/>
              <a:defRPr sz="1800" b="1">
                <a:solidFill>
                  <a:srgbClr val="0D8A9A"/>
                </a:solidFill>
                <a:latin typeface="Arial"/>
                <a:ea typeface="Arial"/>
                <a:cs typeface="Arial"/>
              </a:defRPr>
            </a:pPr>
            <a:r>
              <a:rPr sz="1800" b="1">
                <a:solidFill>
                  <a:srgbClr val="0D8A9A"/>
                </a:solidFill>
                <a:latin typeface="Arial"/>
                <a:ea typeface="Arial"/>
                <a:cs typeface="Arial"/>
              </a:rPr>
              <a:t>latent z</a:t>
            </a:r>
          </a:p>
        </p:txBody>
      </p:sp>
      <p:sp>
        <p:nvSpPr>
          <p:cNvPr id="14" name="">
            <a:extLst xmlns:a="http://schemas.openxmlformats.org/drawingml/2006/main">
              <a:ext uri="{FF2B5EF4-FFF2-40B4-BE49-F238E27FC236}">
                <a16:creationId xmlns:a16="http://schemas.microsoft.com/office/drawing/2014/main" id="{5CC8411B-1DA9-4FFD-8DEB-86B240C0B680}"/>
              </a:ext>
            </a:extLst>
          </p:cNvPr>
          <p:cNvSpPr>
            <a:spLocks xmlns:a="http://schemas.openxmlformats.org/drawingml/2006/main" noGrp="1"/>
          </p:cNvSpPr>
          <p:nvPr/>
        </p:nvSpPr>
        <p:spPr>
          <a:xfrm xmlns:a="http://schemas.openxmlformats.org/drawingml/2006/main">
            <a:off x="8877300" y="219075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357"/>
          </a:bodyPr>
          <a:lstStyle xmlns:a="http://schemas.openxmlformats.org/drawingml/2006/main"/>
          <a:p xmlns:a="http://schemas.openxmlformats.org/drawingml/2006/main">
            <a:pPr algn="ctr">
              <a:lnSpc>
                <a:spcPct val="104000"/>
              </a:lnSpc>
              <a:buNone/>
              <a:defRPr sz="2550" b="1">
                <a:solidFill>
                  <a:srgbClr val="687086"/>
                </a:solidFill>
                <a:latin typeface="Arial"/>
                <a:ea typeface="Arial"/>
                <a:cs typeface="Arial"/>
              </a:defRPr>
            </a:pPr>
            <a:r>
              <a:rPr sz="2550" b="1">
                <a:solidFill>
                  <a:srgbClr val="687086"/>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8BBE76AB-B720-48CC-9200-6C93D310B7F6}"/>
              </a:ext>
            </a:extLst>
          </p:cNvPr>
          <p:cNvSpPr>
            <a:spLocks xmlns:a="http://schemas.openxmlformats.org/drawingml/2006/main" noGrp="1"/>
          </p:cNvSpPr>
          <p:nvPr/>
        </p:nvSpPr>
        <p:spPr>
          <a:xfrm xmlns:a="http://schemas.openxmlformats.org/drawingml/2006/main">
            <a:off x="9525000" y="2000250"/>
            <a:ext cx="1905000" cy="914400"/>
          </a:xfrm>
          <a:prstGeom xmlns:a="http://schemas.openxmlformats.org/drawingml/2006/main" prst="roundRect">
            <a:avLst>
              <a:gd name="adj" fmla="val 12500"/>
            </a:avLst>
          </a:prstGeom>
          <a:solidFill xmlns:a="http://schemas.openxmlformats.org/drawingml/2006/main">
            <a:srgbClr val="FFE7E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70F8737-047D-4640-AEAD-9395EA85EA9B}"/>
              </a:ext>
            </a:extLst>
          </p:cNvPr>
          <p:cNvSpPr>
            <a:spLocks xmlns:a="http://schemas.openxmlformats.org/drawingml/2006/main" noGrp="1"/>
          </p:cNvSpPr>
          <p:nvPr/>
        </p:nvSpPr>
        <p:spPr>
          <a:xfrm xmlns:a="http://schemas.openxmlformats.org/drawingml/2006/main">
            <a:off x="9696450" y="2152650"/>
            <a:ext cx="1562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7793"/>
          </a:bodyPr>
          <a:lstStyle xmlns:a="http://schemas.openxmlformats.org/drawingml/2006/main"/>
          <a:p xmlns:a="http://schemas.openxmlformats.org/drawingml/2006/main">
            <a:pPr algn="ctr">
              <a:lnSpc>
                <a:spcPct val="104000"/>
              </a:lnSpc>
              <a:buNone/>
              <a:defRPr sz="1725" b="1">
                <a:solidFill>
                  <a:srgbClr val="F15B64"/>
                </a:solidFill>
                <a:latin typeface="Arial"/>
                <a:ea typeface="Arial"/>
                <a:cs typeface="Arial"/>
              </a:defRPr>
            </a:pPr>
            <a:r>
              <a:rPr sz="1725" b="1">
                <a:solidFill>
                  <a:srgbClr val="F15B64"/>
                </a:solidFill>
                <a:latin typeface="Arial"/>
                <a:ea typeface="Arial"/>
                <a:cs typeface="Arial"/>
              </a:rPr>
              <a:t>totalVI</a:t>
            </a:r>
          </a:p>
          <a:p xmlns:a="http://schemas.openxmlformats.org/drawingml/2006/main">
            <a:pPr algn="ctr">
              <a:lnSpc>
                <a:spcPct val="104000"/>
              </a:lnSpc>
              <a:buNone/>
              <a:defRPr sz="1725" b="1">
                <a:solidFill>
                  <a:srgbClr val="F15B64"/>
                </a:solidFill>
                <a:latin typeface="Arial"/>
                <a:ea typeface="Arial"/>
                <a:cs typeface="Arial"/>
              </a:defRPr>
            </a:pPr>
            <a:r>
              <a:rPr sz="1725" b="1">
                <a:solidFill>
                  <a:srgbClr val="F15B64"/>
                </a:solidFill>
                <a:latin typeface="Arial"/>
                <a:ea typeface="Arial"/>
                <a:cs typeface="Arial"/>
              </a:rPr>
              <a:t>decoders</a:t>
            </a:r>
          </a:p>
        </p:txBody>
      </p:sp>
      <p:sp>
        <p:nvSpPr>
          <p:cNvPr id="17" name="">
            <a:extLst xmlns:a="http://schemas.openxmlformats.org/drawingml/2006/main">
              <a:ext uri="{FF2B5EF4-FFF2-40B4-BE49-F238E27FC236}">
                <a16:creationId xmlns:a16="http://schemas.microsoft.com/office/drawing/2014/main" id="{2CDEE4C3-44A7-4520-AAC3-09890520DFED}"/>
              </a:ext>
            </a:extLst>
          </p:cNvPr>
          <p:cNvSpPr>
            <a:spLocks xmlns:a="http://schemas.openxmlformats.org/drawingml/2006/main" noGrp="1"/>
          </p:cNvSpPr>
          <p:nvPr/>
        </p:nvSpPr>
        <p:spPr>
          <a:xfrm xmlns:a="http://schemas.openxmlformats.org/drawingml/2006/main">
            <a:off x="762000" y="339090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006"/>
          </a:bodyPr>
          <a:lstStyle xmlns:a="http://schemas.openxmlformats.org/drawingml/2006/main"/>
          <a:p xmlns:a="http://schemas.openxmlformats.org/drawingml/2006/main">
            <a:pPr algn="l">
              <a:lnSpc>
                <a:spcPct val="104000"/>
              </a:lnSpc>
              <a:buNone/>
              <a:defRPr sz="1725" b="1">
                <a:solidFill>
                  <a:srgbClr val="F15B64"/>
                </a:solidFill>
                <a:latin typeface="Arial"/>
                <a:ea typeface="Arial"/>
                <a:cs typeface="Arial"/>
              </a:defRPr>
            </a:pPr>
            <a:r>
              <a:rPr sz="1725" b="1">
                <a:solidFill>
                  <a:srgbClr val="F15B64"/>
                </a:solidFill>
                <a:latin typeface="Arial"/>
                <a:ea typeface="Arial"/>
                <a:cs typeface="Arial"/>
              </a:rPr>
              <a:t>FusionVI</a:t>
            </a:r>
          </a:p>
        </p:txBody>
      </p:sp>
      <p:sp>
        <p:nvSpPr>
          <p:cNvPr id="18" name="">
            <a:extLst xmlns:a="http://schemas.openxmlformats.org/drawingml/2006/main">
              <a:ext uri="{FF2B5EF4-FFF2-40B4-BE49-F238E27FC236}">
                <a16:creationId xmlns:a16="http://schemas.microsoft.com/office/drawing/2014/main" id="{EA4479F8-332C-4C47-A735-538523AA6B27}"/>
              </a:ext>
            </a:extLst>
          </p:cNvPr>
          <p:cNvSpPr>
            <a:spLocks xmlns:a="http://schemas.openxmlformats.org/drawingml/2006/main" noGrp="1"/>
          </p:cNvSpPr>
          <p:nvPr/>
        </p:nvSpPr>
        <p:spPr>
          <a:xfrm xmlns:a="http://schemas.openxmlformats.org/drawingml/2006/main">
            <a:off x="762000" y="3924300"/>
            <a:ext cx="1752600" cy="590550"/>
          </a:xfrm>
          <a:prstGeom xmlns:a="http://schemas.openxmlformats.org/drawingml/2006/main" prst="roundRect">
            <a:avLst>
              <a:gd name="adj" fmla="val 19355"/>
            </a:avLst>
          </a:prstGeom>
          <a:solidFill xmlns:a="http://schemas.openxmlformats.org/drawingml/2006/main">
            <a:srgbClr val="DDF3F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419308F-70E1-4D1D-95C4-BAE81E04621E}"/>
              </a:ext>
            </a:extLst>
          </p:cNvPr>
          <p:cNvSpPr>
            <a:spLocks xmlns:a="http://schemas.openxmlformats.org/drawingml/2006/main" noGrp="1"/>
          </p:cNvSpPr>
          <p:nvPr/>
        </p:nvSpPr>
        <p:spPr>
          <a:xfrm xmlns:a="http://schemas.openxmlformats.org/drawingml/2006/main">
            <a:off x="914400" y="4038600"/>
            <a:ext cx="144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006"/>
          </a:bodyPr>
          <a:lstStyle xmlns:a="http://schemas.openxmlformats.org/drawingml/2006/main"/>
          <a:p xmlns:a="http://schemas.openxmlformats.org/drawingml/2006/main">
            <a:pPr algn="ctr">
              <a:lnSpc>
                <a:spcPct val="104000"/>
              </a:lnSpc>
              <a:buNone/>
              <a:defRPr sz="1725" b="1">
                <a:solidFill>
                  <a:srgbClr val="0D8A9A"/>
                </a:solidFill>
                <a:latin typeface="Arial"/>
                <a:ea typeface="Arial"/>
                <a:cs typeface="Arial"/>
              </a:defRPr>
            </a:pPr>
            <a:r>
              <a:rPr sz="1725" b="1">
                <a:solidFill>
                  <a:srgbClr val="0D8A9A"/>
                </a:solidFill>
                <a:latin typeface="Arial"/>
                <a:ea typeface="Arial"/>
                <a:cs typeface="Arial"/>
              </a:rPr>
              <a:t>RNA</a:t>
            </a:r>
          </a:p>
        </p:txBody>
      </p:sp>
      <p:sp>
        <p:nvSpPr>
          <p:cNvPr id="20" name="">
            <a:extLst xmlns:a="http://schemas.openxmlformats.org/drawingml/2006/main">
              <a:ext uri="{FF2B5EF4-FFF2-40B4-BE49-F238E27FC236}">
                <a16:creationId xmlns:a16="http://schemas.microsoft.com/office/drawing/2014/main" id="{45CBD3A4-4099-4B51-A058-5E94510B2175}"/>
              </a:ext>
            </a:extLst>
          </p:cNvPr>
          <p:cNvSpPr>
            <a:spLocks xmlns:a="http://schemas.openxmlformats.org/drawingml/2006/main" noGrp="1"/>
          </p:cNvSpPr>
          <p:nvPr/>
        </p:nvSpPr>
        <p:spPr>
          <a:xfrm xmlns:a="http://schemas.openxmlformats.org/drawingml/2006/main">
            <a:off x="762000" y="4762500"/>
            <a:ext cx="1752600" cy="590550"/>
          </a:xfrm>
          <a:prstGeom xmlns:a="http://schemas.openxmlformats.org/drawingml/2006/main" prst="roundRect">
            <a:avLst>
              <a:gd name="adj" fmla="val 19355"/>
            </a:avLst>
          </a:prstGeom>
          <a:solidFill xmlns:a="http://schemas.openxmlformats.org/drawingml/2006/main">
            <a:srgbClr val="EEE7F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0B9C938-9B7C-425E-A4EB-04505B113645}"/>
              </a:ext>
            </a:extLst>
          </p:cNvPr>
          <p:cNvSpPr>
            <a:spLocks xmlns:a="http://schemas.openxmlformats.org/drawingml/2006/main" noGrp="1"/>
          </p:cNvSpPr>
          <p:nvPr/>
        </p:nvSpPr>
        <p:spPr>
          <a:xfrm xmlns:a="http://schemas.openxmlformats.org/drawingml/2006/main">
            <a:off x="914400" y="4876800"/>
            <a:ext cx="144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006"/>
          </a:bodyPr>
          <a:lstStyle xmlns:a="http://schemas.openxmlformats.org/drawingml/2006/main"/>
          <a:p xmlns:a="http://schemas.openxmlformats.org/drawingml/2006/main">
            <a:pPr algn="ctr">
              <a:lnSpc>
                <a:spcPct val="104000"/>
              </a:lnSpc>
              <a:buNone/>
              <a:defRPr sz="1725" b="1">
                <a:solidFill>
                  <a:srgbClr val="6C3ED9"/>
                </a:solidFill>
                <a:latin typeface="Arial"/>
                <a:ea typeface="Arial"/>
                <a:cs typeface="Arial"/>
              </a:defRPr>
            </a:pPr>
            <a:r>
              <a:rPr sz="1725" b="1">
                <a:solidFill>
                  <a:srgbClr val="6C3ED9"/>
                </a:solidFill>
                <a:latin typeface="Arial"/>
                <a:ea typeface="Arial"/>
                <a:cs typeface="Arial"/>
              </a:rPr>
              <a:t>protein</a:t>
            </a:r>
          </a:p>
        </p:txBody>
      </p:sp>
      <p:sp>
        <p:nvSpPr>
          <p:cNvPr id="22" name="">
            <a:extLst xmlns:a="http://schemas.openxmlformats.org/drawingml/2006/main">
              <a:ext uri="{FF2B5EF4-FFF2-40B4-BE49-F238E27FC236}">
                <a16:creationId xmlns:a16="http://schemas.microsoft.com/office/drawing/2014/main" id="{9D38E2EE-6BDF-4C6B-8A4D-27F4B8778C29}"/>
              </a:ext>
            </a:extLst>
          </p:cNvPr>
          <p:cNvSpPr>
            <a:spLocks xmlns:a="http://schemas.openxmlformats.org/drawingml/2006/main" noGrp="1"/>
          </p:cNvSpPr>
          <p:nvPr/>
        </p:nvSpPr>
        <p:spPr>
          <a:xfrm xmlns:a="http://schemas.openxmlformats.org/drawingml/2006/main">
            <a:off x="2628900" y="4095750"/>
            <a:ext cx="533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1114"/>
          </a:bodyPr>
          <a:lstStyle xmlns:a="http://schemas.openxmlformats.org/drawingml/2006/main"/>
          <a:p xmlns:a="http://schemas.openxmlformats.org/drawingml/2006/main">
            <a:pPr algn="ctr">
              <a:lnSpc>
                <a:spcPct val="104000"/>
              </a:lnSpc>
              <a:buNone/>
              <a:defRPr sz="2400" b="1">
                <a:solidFill>
                  <a:srgbClr val="687086"/>
                </a:solidFill>
                <a:latin typeface="Arial"/>
                <a:ea typeface="Arial"/>
                <a:cs typeface="Arial"/>
              </a:defRPr>
            </a:pPr>
            <a:r>
              <a:rPr sz="2400" b="1">
                <a:solidFill>
                  <a:srgbClr val="687086"/>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52225722-0FD2-4430-BC55-715CFFBCA5A4}"/>
              </a:ext>
            </a:extLst>
          </p:cNvPr>
          <p:cNvSpPr>
            <a:spLocks xmlns:a="http://schemas.openxmlformats.org/drawingml/2006/main" noGrp="1"/>
          </p:cNvSpPr>
          <p:nvPr/>
        </p:nvSpPr>
        <p:spPr>
          <a:xfrm xmlns:a="http://schemas.openxmlformats.org/drawingml/2006/main">
            <a:off x="2628900" y="4933950"/>
            <a:ext cx="533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1114"/>
          </a:bodyPr>
          <a:lstStyle xmlns:a="http://schemas.openxmlformats.org/drawingml/2006/main"/>
          <a:p xmlns:a="http://schemas.openxmlformats.org/drawingml/2006/main">
            <a:pPr algn="ctr">
              <a:lnSpc>
                <a:spcPct val="104000"/>
              </a:lnSpc>
              <a:buNone/>
              <a:defRPr sz="2400" b="1">
                <a:solidFill>
                  <a:srgbClr val="687086"/>
                </a:solidFill>
                <a:latin typeface="Arial"/>
                <a:ea typeface="Arial"/>
                <a:cs typeface="Arial"/>
              </a:defRPr>
            </a:pPr>
            <a:r>
              <a:rPr sz="2400" b="1">
                <a:solidFill>
                  <a:srgbClr val="687086"/>
                </a:solidFill>
                <a:latin typeface="Arial"/>
                <a:ea typeface="Arial"/>
                <a:cs typeface="Arial"/>
              </a:rPr>
              <a:t>→</a:t>
            </a:r>
          </a:p>
        </p:txBody>
      </p:sp>
      <p:sp>
        <p:nvSpPr>
          <p:cNvPr id="24" name="">
            <a:extLst xmlns:a="http://schemas.openxmlformats.org/drawingml/2006/main">
              <a:ext uri="{FF2B5EF4-FFF2-40B4-BE49-F238E27FC236}">
                <a16:creationId xmlns:a16="http://schemas.microsoft.com/office/drawing/2014/main" id="{70D7CD5F-20F3-42AA-A868-236EBF1F73F4}"/>
              </a:ext>
            </a:extLst>
          </p:cNvPr>
          <p:cNvSpPr>
            <a:spLocks xmlns:a="http://schemas.openxmlformats.org/drawingml/2006/main" noGrp="1"/>
          </p:cNvSpPr>
          <p:nvPr/>
        </p:nvSpPr>
        <p:spPr>
          <a:xfrm xmlns:a="http://schemas.openxmlformats.org/drawingml/2006/main">
            <a:off x="3238500" y="3790950"/>
            <a:ext cx="2019300" cy="742950"/>
          </a:xfrm>
          <a:prstGeom xmlns:a="http://schemas.openxmlformats.org/drawingml/2006/main" prst="roundRect">
            <a:avLst>
              <a:gd name="adj" fmla="val 15385"/>
            </a:avLst>
          </a:prstGeom>
          <a:solidFill xmlns:a="http://schemas.openxmlformats.org/drawingml/2006/main">
            <a:srgbClr val="DDF3F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858FA0CE-1B44-478E-87A8-5755B50321A7}"/>
              </a:ext>
            </a:extLst>
          </p:cNvPr>
          <p:cNvSpPr>
            <a:spLocks xmlns:a="http://schemas.openxmlformats.org/drawingml/2006/main" noGrp="1"/>
          </p:cNvSpPr>
          <p:nvPr/>
        </p:nvSpPr>
        <p:spPr>
          <a:xfrm xmlns:a="http://schemas.openxmlformats.org/drawingml/2006/main">
            <a:off x="3390900" y="3981450"/>
            <a:ext cx="1714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154"/>
          </a:bodyPr>
          <a:lstStyle xmlns:a="http://schemas.openxmlformats.org/drawingml/2006/main"/>
          <a:p xmlns:a="http://schemas.openxmlformats.org/drawingml/2006/main">
            <a:pPr algn="ctr">
              <a:lnSpc>
                <a:spcPct val="104000"/>
              </a:lnSpc>
              <a:buNone/>
              <a:defRPr sz="1650" b="1">
                <a:solidFill>
                  <a:srgbClr val="0D8A9A"/>
                </a:solidFill>
                <a:latin typeface="Arial"/>
                <a:ea typeface="Arial"/>
                <a:cs typeface="Arial"/>
              </a:defRPr>
            </a:pPr>
            <a:r>
              <a:rPr sz="1650" b="1">
                <a:solidFill>
                  <a:srgbClr val="0D8A9A"/>
                </a:solidFill>
                <a:latin typeface="Arial"/>
                <a:ea typeface="Arial"/>
                <a:cs typeface="Arial"/>
              </a:rPr>
              <a:t>RNA encoder</a:t>
            </a:r>
          </a:p>
        </p:txBody>
      </p:sp>
      <p:sp>
        <p:nvSpPr>
          <p:cNvPr id="26" name="">
            <a:extLst xmlns:a="http://schemas.openxmlformats.org/drawingml/2006/main">
              <a:ext uri="{FF2B5EF4-FFF2-40B4-BE49-F238E27FC236}">
                <a16:creationId xmlns:a16="http://schemas.microsoft.com/office/drawing/2014/main" id="{868AF502-8F97-42CF-9461-F8B36602768B}"/>
              </a:ext>
            </a:extLst>
          </p:cNvPr>
          <p:cNvSpPr>
            <a:spLocks xmlns:a="http://schemas.openxmlformats.org/drawingml/2006/main" noGrp="1"/>
          </p:cNvSpPr>
          <p:nvPr/>
        </p:nvSpPr>
        <p:spPr>
          <a:xfrm xmlns:a="http://schemas.openxmlformats.org/drawingml/2006/main">
            <a:off x="3238500" y="4629150"/>
            <a:ext cx="2019300" cy="742950"/>
          </a:xfrm>
          <a:prstGeom xmlns:a="http://schemas.openxmlformats.org/drawingml/2006/main" prst="roundRect">
            <a:avLst>
              <a:gd name="adj" fmla="val 15385"/>
            </a:avLst>
          </a:prstGeom>
          <a:solidFill xmlns:a="http://schemas.openxmlformats.org/drawingml/2006/main">
            <a:srgbClr val="EEE7F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FC06F6F3-E875-4E86-9CAE-C2454EBFFCF2}"/>
              </a:ext>
            </a:extLst>
          </p:cNvPr>
          <p:cNvSpPr>
            <a:spLocks xmlns:a="http://schemas.openxmlformats.org/drawingml/2006/main" noGrp="1"/>
          </p:cNvSpPr>
          <p:nvPr/>
        </p:nvSpPr>
        <p:spPr>
          <a:xfrm xmlns:a="http://schemas.openxmlformats.org/drawingml/2006/main">
            <a:off x="3390900" y="4819650"/>
            <a:ext cx="1714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154"/>
          </a:bodyPr>
          <a:lstStyle xmlns:a="http://schemas.openxmlformats.org/drawingml/2006/main"/>
          <a:p xmlns:a="http://schemas.openxmlformats.org/drawingml/2006/main">
            <a:pPr algn="ctr">
              <a:lnSpc>
                <a:spcPct val="104000"/>
              </a:lnSpc>
              <a:buNone/>
              <a:defRPr sz="1650" b="1">
                <a:solidFill>
                  <a:srgbClr val="6C3ED9"/>
                </a:solidFill>
                <a:latin typeface="Arial"/>
                <a:ea typeface="Arial"/>
                <a:cs typeface="Arial"/>
              </a:defRPr>
            </a:pPr>
            <a:r>
              <a:rPr sz="1650" b="1">
                <a:solidFill>
                  <a:srgbClr val="6C3ED9"/>
                </a:solidFill>
                <a:latin typeface="Arial"/>
                <a:ea typeface="Arial"/>
                <a:cs typeface="Arial"/>
              </a:rPr>
              <a:t>protein encoder</a:t>
            </a:r>
          </a:p>
        </p:txBody>
      </p:sp>
      <p:sp>
        <p:nvSpPr>
          <p:cNvPr id="28" name="">
            <a:extLst xmlns:a="http://schemas.openxmlformats.org/drawingml/2006/main">
              <a:ext uri="{FF2B5EF4-FFF2-40B4-BE49-F238E27FC236}">
                <a16:creationId xmlns:a16="http://schemas.microsoft.com/office/drawing/2014/main" id="{5F3459C9-C864-45A6-A9ED-F88C453F5DE3}"/>
              </a:ext>
            </a:extLst>
          </p:cNvPr>
          <p:cNvSpPr>
            <a:spLocks xmlns:a="http://schemas.openxmlformats.org/drawingml/2006/main" noGrp="1"/>
          </p:cNvSpPr>
          <p:nvPr/>
        </p:nvSpPr>
        <p:spPr>
          <a:xfrm xmlns:a="http://schemas.openxmlformats.org/drawingml/2006/main">
            <a:off x="5391150" y="4114800"/>
            <a:ext cx="552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357"/>
          </a:bodyPr>
          <a:lstStyle xmlns:a="http://schemas.openxmlformats.org/drawingml/2006/main"/>
          <a:p xmlns:a="http://schemas.openxmlformats.org/drawingml/2006/main">
            <a:pPr algn="ctr">
              <a:lnSpc>
                <a:spcPct val="104000"/>
              </a:lnSpc>
              <a:buNone/>
              <a:defRPr sz="2550" b="1">
                <a:solidFill>
                  <a:srgbClr val="687086"/>
                </a:solidFill>
                <a:latin typeface="Arial"/>
                <a:ea typeface="Arial"/>
                <a:cs typeface="Arial"/>
              </a:defRPr>
            </a:pPr>
            <a:r>
              <a:rPr sz="2550" b="1">
                <a:solidFill>
                  <a:srgbClr val="687086"/>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1C487A14-0ADE-437D-922C-FD69F790DF71}"/>
              </a:ext>
            </a:extLst>
          </p:cNvPr>
          <p:cNvSpPr>
            <a:spLocks xmlns:a="http://schemas.openxmlformats.org/drawingml/2006/main" noGrp="1"/>
          </p:cNvSpPr>
          <p:nvPr/>
        </p:nvSpPr>
        <p:spPr>
          <a:xfrm xmlns:a="http://schemas.openxmlformats.org/drawingml/2006/main">
            <a:off x="5391150" y="4781550"/>
            <a:ext cx="552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357"/>
          </a:bodyPr>
          <a:lstStyle xmlns:a="http://schemas.openxmlformats.org/drawingml/2006/main"/>
          <a:p xmlns:a="http://schemas.openxmlformats.org/drawingml/2006/main">
            <a:pPr algn="ctr">
              <a:lnSpc>
                <a:spcPct val="104000"/>
              </a:lnSpc>
              <a:buNone/>
              <a:defRPr sz="2550" b="1">
                <a:solidFill>
                  <a:srgbClr val="687086"/>
                </a:solidFill>
                <a:latin typeface="Arial"/>
                <a:ea typeface="Arial"/>
                <a:cs typeface="Arial"/>
              </a:defRPr>
            </a:pPr>
            <a:r>
              <a:rPr sz="2550" b="1">
                <a:solidFill>
                  <a:srgbClr val="687086"/>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E10D1214-D001-448E-A6D7-9E06174EB4D8}"/>
              </a:ext>
            </a:extLst>
          </p:cNvPr>
          <p:cNvSpPr>
            <a:spLocks xmlns:a="http://schemas.openxmlformats.org/drawingml/2006/main" noGrp="1"/>
          </p:cNvSpPr>
          <p:nvPr/>
        </p:nvSpPr>
        <p:spPr>
          <a:xfrm xmlns:a="http://schemas.openxmlformats.org/drawingml/2006/main">
            <a:off x="5962650" y="4095750"/>
            <a:ext cx="1809750" cy="971550"/>
          </a:xfrm>
          <a:prstGeom xmlns:a="http://schemas.openxmlformats.org/drawingml/2006/main" prst="roundRect">
            <a:avLst>
              <a:gd name="adj" fmla="val 15686"/>
            </a:avLst>
          </a:prstGeom>
          <a:solidFill xmlns:a="http://schemas.openxmlformats.org/drawingml/2006/main">
            <a:srgbClr val="FFE7E5"/>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A107D2EE-6E42-4C99-B549-3C614986BAD5}"/>
              </a:ext>
            </a:extLst>
          </p:cNvPr>
          <p:cNvSpPr>
            <a:spLocks xmlns:a="http://schemas.openxmlformats.org/drawingml/2006/main" noGrp="1"/>
          </p:cNvSpPr>
          <p:nvPr/>
        </p:nvSpPr>
        <p:spPr>
          <a:xfrm xmlns:a="http://schemas.openxmlformats.org/drawingml/2006/main">
            <a:off x="6153150" y="4267200"/>
            <a:ext cx="142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812"/>
          </a:bodyPr>
          <a:lstStyle xmlns:a="http://schemas.openxmlformats.org/drawingml/2006/main"/>
          <a:p xmlns:a="http://schemas.openxmlformats.org/drawingml/2006/main">
            <a:pPr algn="ctr">
              <a:lnSpc>
                <a:spcPct val="104000"/>
              </a:lnSpc>
              <a:buNone/>
              <a:defRPr sz="1800" b="1">
                <a:solidFill>
                  <a:srgbClr val="F15B64"/>
                </a:solidFill>
                <a:latin typeface="Arial"/>
                <a:ea typeface="Arial"/>
                <a:cs typeface="Arial"/>
              </a:defRPr>
            </a:pPr>
            <a:r>
              <a:rPr sz="1800" b="1">
                <a:solidFill>
                  <a:srgbClr val="F15B64"/>
                </a:solidFill>
                <a:latin typeface="Arial"/>
                <a:ea typeface="Arial"/>
                <a:cs typeface="Arial"/>
              </a:rPr>
              <a:t>per-cell</a:t>
            </a:r>
          </a:p>
          <a:p xmlns:a="http://schemas.openxmlformats.org/drawingml/2006/main">
            <a:pPr algn="ctr">
              <a:lnSpc>
                <a:spcPct val="104000"/>
              </a:lnSpc>
              <a:buNone/>
              <a:defRPr sz="1800" b="1">
                <a:solidFill>
                  <a:srgbClr val="F15B64"/>
                </a:solidFill>
                <a:latin typeface="Arial"/>
                <a:ea typeface="Arial"/>
                <a:cs typeface="Arial"/>
              </a:defRPr>
            </a:pPr>
            <a:r>
              <a:rPr sz="1800" b="1">
                <a:solidFill>
                  <a:srgbClr val="F15B64"/>
                </a:solidFill>
                <a:latin typeface="Arial"/>
                <a:ea typeface="Arial"/>
                <a:cs typeface="Arial"/>
              </a:rPr>
              <a:t>scalar gate</a:t>
            </a:r>
          </a:p>
        </p:txBody>
      </p:sp>
      <p:sp>
        <p:nvSpPr>
          <p:cNvPr id="32" name="">
            <a:extLst xmlns:a="http://schemas.openxmlformats.org/drawingml/2006/main">
              <a:ext uri="{FF2B5EF4-FFF2-40B4-BE49-F238E27FC236}">
                <a16:creationId xmlns:a16="http://schemas.microsoft.com/office/drawing/2014/main" id="{CCB073BD-8E7E-43EC-B3E0-9F650B9F9667}"/>
              </a:ext>
            </a:extLst>
          </p:cNvPr>
          <p:cNvSpPr>
            <a:spLocks xmlns:a="http://schemas.openxmlformats.org/drawingml/2006/main" noGrp="1"/>
          </p:cNvSpPr>
          <p:nvPr/>
        </p:nvSpPr>
        <p:spPr>
          <a:xfrm xmlns:a="http://schemas.openxmlformats.org/drawingml/2006/main">
            <a:off x="7867650" y="43815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357"/>
          </a:bodyPr>
          <a:lstStyle xmlns:a="http://schemas.openxmlformats.org/drawingml/2006/main"/>
          <a:p xmlns:a="http://schemas.openxmlformats.org/drawingml/2006/main">
            <a:pPr algn="ctr">
              <a:lnSpc>
                <a:spcPct val="104000"/>
              </a:lnSpc>
              <a:buNone/>
              <a:defRPr sz="2550" b="1">
                <a:solidFill>
                  <a:srgbClr val="687086"/>
                </a:solidFill>
                <a:latin typeface="Arial"/>
                <a:ea typeface="Arial"/>
                <a:cs typeface="Arial"/>
              </a:defRPr>
            </a:pPr>
            <a:r>
              <a:rPr sz="2550" b="1">
                <a:solidFill>
                  <a:srgbClr val="687086"/>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A18B648B-2661-4605-9154-3EF23A2FC753}"/>
              </a:ext>
            </a:extLst>
          </p:cNvPr>
          <p:cNvSpPr>
            <a:spLocks xmlns:a="http://schemas.openxmlformats.org/drawingml/2006/main" noGrp="1"/>
          </p:cNvSpPr>
          <p:nvPr/>
        </p:nvSpPr>
        <p:spPr>
          <a:xfrm xmlns:a="http://schemas.openxmlformats.org/drawingml/2006/main">
            <a:off x="8515350" y="4210050"/>
            <a:ext cx="1238250" cy="723900"/>
          </a:xfrm>
          <a:prstGeom xmlns:a="http://schemas.openxmlformats.org/drawingml/2006/main" prst="roundRect">
            <a:avLst>
              <a:gd name="adj" fmla="val 15789"/>
            </a:avLst>
          </a:prstGeom>
          <a:solidFill xmlns:a="http://schemas.openxmlformats.org/drawingml/2006/main">
            <a:srgbClr val="DDF3F2"/>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30317F52-631F-4809-883B-90DE97027F70}"/>
              </a:ext>
            </a:extLst>
          </p:cNvPr>
          <p:cNvSpPr>
            <a:spLocks xmlns:a="http://schemas.openxmlformats.org/drawingml/2006/main" noGrp="1"/>
          </p:cNvSpPr>
          <p:nvPr/>
        </p:nvSpPr>
        <p:spPr>
          <a:xfrm xmlns:a="http://schemas.openxmlformats.org/drawingml/2006/main">
            <a:off x="8667750" y="4381500"/>
            <a:ext cx="933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154"/>
          </a:bodyPr>
          <a:lstStyle xmlns:a="http://schemas.openxmlformats.org/drawingml/2006/main"/>
          <a:p xmlns:a="http://schemas.openxmlformats.org/drawingml/2006/main">
            <a:pPr algn="ctr">
              <a:lnSpc>
                <a:spcPct val="104000"/>
              </a:lnSpc>
              <a:buNone/>
              <a:defRPr sz="1650" b="1">
                <a:solidFill>
                  <a:srgbClr val="0D8A9A"/>
                </a:solidFill>
                <a:latin typeface="Arial"/>
                <a:ea typeface="Arial"/>
                <a:cs typeface="Arial"/>
              </a:defRPr>
            </a:pPr>
            <a:r>
              <a:rPr sz="1650" b="1">
                <a:solidFill>
                  <a:srgbClr val="0D8A9A"/>
                </a:solidFill>
                <a:latin typeface="Arial"/>
                <a:ea typeface="Arial"/>
                <a:cs typeface="Arial"/>
              </a:rPr>
              <a:t>latent z</a:t>
            </a:r>
          </a:p>
        </p:txBody>
      </p:sp>
      <p:sp>
        <p:nvSpPr>
          <p:cNvPr id="35" name="">
            <a:extLst xmlns:a="http://schemas.openxmlformats.org/drawingml/2006/main">
              <a:ext uri="{FF2B5EF4-FFF2-40B4-BE49-F238E27FC236}">
                <a16:creationId xmlns:a16="http://schemas.microsoft.com/office/drawing/2014/main" id="{BB5FF63E-E4C3-4586-8C6C-90987A9278A5}"/>
              </a:ext>
            </a:extLst>
          </p:cNvPr>
          <p:cNvSpPr>
            <a:spLocks xmlns:a="http://schemas.openxmlformats.org/drawingml/2006/main" noGrp="1"/>
          </p:cNvSpPr>
          <p:nvPr/>
        </p:nvSpPr>
        <p:spPr>
          <a:xfrm xmlns:a="http://schemas.openxmlformats.org/drawingml/2006/main">
            <a:off x="9829800" y="4381500"/>
            <a:ext cx="495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130"/>
          </a:bodyPr>
          <a:lstStyle xmlns:a="http://schemas.openxmlformats.org/drawingml/2006/main"/>
          <a:p xmlns:a="http://schemas.openxmlformats.org/drawingml/2006/main">
            <a:pPr algn="ctr">
              <a:lnSpc>
                <a:spcPct val="104000"/>
              </a:lnSpc>
              <a:buNone/>
              <a:defRPr sz="2400" b="1">
                <a:solidFill>
                  <a:srgbClr val="687086"/>
                </a:solidFill>
                <a:latin typeface="Arial"/>
                <a:ea typeface="Arial"/>
                <a:cs typeface="Arial"/>
              </a:defRPr>
            </a:pPr>
            <a:r>
              <a:rPr sz="2400" b="1">
                <a:solidFill>
                  <a:srgbClr val="687086"/>
                </a:solidFill>
                <a:latin typeface="Arial"/>
                <a:ea typeface="Arial"/>
                <a:cs typeface="Arial"/>
              </a:rPr>
              <a:t>→</a:t>
            </a:r>
          </a:p>
        </p:txBody>
      </p:sp>
      <p:sp>
        <p:nvSpPr>
          <p:cNvPr id="36" name="">
            <a:extLst xmlns:a="http://schemas.openxmlformats.org/drawingml/2006/main">
              <a:ext uri="{FF2B5EF4-FFF2-40B4-BE49-F238E27FC236}">
                <a16:creationId xmlns:a16="http://schemas.microsoft.com/office/drawing/2014/main" id="{C450F3B0-945E-4361-8094-235F28B8ED6E}"/>
              </a:ext>
            </a:extLst>
          </p:cNvPr>
          <p:cNvSpPr>
            <a:spLocks xmlns:a="http://schemas.openxmlformats.org/drawingml/2006/main" noGrp="1"/>
          </p:cNvSpPr>
          <p:nvPr/>
        </p:nvSpPr>
        <p:spPr>
          <a:xfrm xmlns:a="http://schemas.openxmlformats.org/drawingml/2006/main">
            <a:off x="10382250" y="4095750"/>
            <a:ext cx="1123950" cy="971550"/>
          </a:xfrm>
          <a:prstGeom xmlns:a="http://schemas.openxmlformats.org/drawingml/2006/main" prst="roundRect">
            <a:avLst>
              <a:gd name="adj" fmla="val 11765"/>
            </a:avLst>
          </a:prstGeom>
          <a:solidFill xmlns:a="http://schemas.openxmlformats.org/drawingml/2006/main">
            <a:srgbClr val="FFE7E5"/>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68F7B7EF-95B8-4A81-AFB9-F1FE3712DB6F}"/>
              </a:ext>
            </a:extLst>
          </p:cNvPr>
          <p:cNvSpPr>
            <a:spLocks xmlns:a="http://schemas.openxmlformats.org/drawingml/2006/main" noGrp="1"/>
          </p:cNvSpPr>
          <p:nvPr/>
        </p:nvSpPr>
        <p:spPr>
          <a:xfrm xmlns:a="http://schemas.openxmlformats.org/drawingml/2006/main">
            <a:off x="10477500" y="4267200"/>
            <a:ext cx="9334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82"/>
          </a:bodyPr>
          <a:lstStyle xmlns:a="http://schemas.openxmlformats.org/drawingml/2006/main"/>
          <a:p xmlns:a="http://schemas.openxmlformats.org/drawingml/2006/main">
            <a:pPr algn="ctr">
              <a:lnSpc>
                <a:spcPct val="104000"/>
              </a:lnSpc>
              <a:buNone/>
              <a:defRPr sz="1500" b="1">
                <a:solidFill>
                  <a:srgbClr val="F15B64"/>
                </a:solidFill>
                <a:latin typeface="Arial"/>
                <a:ea typeface="Arial"/>
                <a:cs typeface="Arial"/>
              </a:defRPr>
            </a:pPr>
            <a:r>
              <a:rPr sz="1500" b="1">
                <a:solidFill>
                  <a:srgbClr val="F15B64"/>
                </a:solidFill>
                <a:latin typeface="Arial"/>
                <a:ea typeface="Arial"/>
                <a:cs typeface="Arial"/>
              </a:rPr>
              <a:t>same</a:t>
            </a:r>
          </a:p>
          <a:p xmlns:a="http://schemas.openxmlformats.org/drawingml/2006/main">
            <a:pPr algn="ctr">
              <a:lnSpc>
                <a:spcPct val="104000"/>
              </a:lnSpc>
              <a:buNone/>
              <a:defRPr sz="1500" b="1">
                <a:solidFill>
                  <a:srgbClr val="F15B64"/>
                </a:solidFill>
                <a:latin typeface="Arial"/>
                <a:ea typeface="Arial"/>
                <a:cs typeface="Arial"/>
              </a:defRPr>
            </a:pPr>
            <a:r>
              <a:rPr sz="1500" b="1">
                <a:solidFill>
                  <a:srgbClr val="F15B64"/>
                </a:solidFill>
                <a:latin typeface="Arial"/>
                <a:ea typeface="Arial"/>
                <a:cs typeface="Arial"/>
              </a:rPr>
              <a:t>decoders</a:t>
            </a:r>
          </a:p>
        </p:txBody>
      </p:sp>
      <p:sp>
        <p:nvSpPr>
          <p:cNvPr id="38" name="">
            <a:extLst xmlns:a="http://schemas.openxmlformats.org/drawingml/2006/main">
              <a:ext uri="{FF2B5EF4-FFF2-40B4-BE49-F238E27FC236}">
                <a16:creationId xmlns:a16="http://schemas.microsoft.com/office/drawing/2014/main" id="{8FD8583D-657F-45A8-91B4-50B93EEB57D4}"/>
              </a:ext>
            </a:extLst>
          </p:cNvPr>
          <p:cNvSpPr>
            <a:spLocks xmlns:a="http://schemas.openxmlformats.org/drawingml/2006/main" noGrp="1"/>
          </p:cNvSpPr>
          <p:nvPr/>
        </p:nvSpPr>
        <p:spPr>
          <a:xfrm xmlns:a="http://schemas.openxmlformats.org/drawingml/2006/main">
            <a:off x="762000" y="5810250"/>
            <a:ext cx="10668000" cy="552450"/>
          </a:xfrm>
          <a:prstGeom xmlns:a="http://schemas.openxmlformats.org/drawingml/2006/main" prst="roundRect">
            <a:avLst>
              <a:gd name="adj" fmla="val 20690"/>
            </a:avLst>
          </a:prstGeom>
          <a:solidFill xmlns:a="http://schemas.openxmlformats.org/drawingml/2006/main">
            <a:srgbClr val="F7F9FC"/>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AACC2F2E-F0BE-43B7-B536-E008BDF47FC2}"/>
              </a:ext>
            </a:extLst>
          </p:cNvPr>
          <p:cNvSpPr>
            <a:spLocks xmlns:a="http://schemas.openxmlformats.org/drawingml/2006/main" noGrp="1"/>
          </p:cNvSpPr>
          <p:nvPr/>
        </p:nvSpPr>
        <p:spPr>
          <a:xfrm xmlns:a="http://schemas.openxmlformats.org/drawingml/2006/main">
            <a:off x="952500" y="59436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1731"/>
          </a:bodyPr>
          <a:lstStyle xmlns:a="http://schemas.openxmlformats.org/drawingml/2006/main"/>
          <a:p xmlns:a="http://schemas.openxmlformats.org/drawingml/2006/main">
            <a:pPr algn="ctr">
              <a:lnSpc>
                <a:spcPct val="104000"/>
              </a:lnSpc>
              <a:buNone/>
              <a:defRPr sz="1500" b="1">
                <a:solidFill>
                  <a:srgbClr val="223A69"/>
                </a:solidFill>
                <a:latin typeface="Arial"/>
                <a:ea typeface="Arial"/>
                <a:cs typeface="Arial"/>
              </a:defRPr>
            </a:pPr>
            <a:r>
              <a:rPr sz="1500" b="1">
                <a:solidFill>
                  <a:srgbClr val="223A69"/>
                </a:solidFill>
                <a:latin typeface="Arial"/>
                <a:ea typeface="Arial"/>
                <a:cs typeface="Arial"/>
              </a:rPr>
              <a:t>FusionVI-X readout: latent z  +  remaining 36 ADTs  +  marker RNA proxy  →  hidden surface marker</a:t>
            </a:r>
          </a:p>
        </p:txBody>
      </p:sp>
    </p:spTree>
    <p:extLst>
      <p:ext uri="{BB962C8B-B14F-4D97-AF65-F5344CB8AC3E}">
        <p14:creationId xmlns:p14="http://schemas.microsoft.com/office/powerpoint/2010/main" val="1322528192"/>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1461D347-FDC3-44BA-A547-A4C9FD7510FD}"/>
              </a:ext>
            </a:extLst>
          </p:cNvPr>
          <p:cNvSpPr>
            <a:spLocks xmlns:a="http://schemas.openxmlformats.org/drawingml/2006/main" noGrp="1"/>
          </p:cNvSpPr>
          <p:nvPr/>
        </p:nvSpPr>
        <p:spPr>
          <a:xfrm xmlns:a="http://schemas.openxmlformats.org/drawingml/2006/main">
            <a:off x="685800" y="3238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D8A9A"/>
                </a:solidFill>
                <a:latin typeface="Arial"/>
                <a:ea typeface="Arial"/>
                <a:cs typeface="Arial"/>
              </a:defRPr>
            </a:pPr>
            <a:r>
              <a:rPr sz="1050" b="1">
                <a:solidFill>
                  <a:srgbClr val="0D8A9A"/>
                </a:solidFill>
                <a:latin typeface="Arial"/>
                <a:ea typeface="Arial"/>
                <a:cs typeface="Arial"/>
              </a:rPr>
              <a:t>EVALUATION PLAN</a:t>
            </a:r>
          </a:p>
        </p:txBody>
      </p:sp>
      <p:sp>
        <p:nvSpPr>
          <p:cNvPr id="2" name="">
            <a:extLst xmlns:a="http://schemas.openxmlformats.org/drawingml/2006/main">
              <a:ext uri="{FF2B5EF4-FFF2-40B4-BE49-F238E27FC236}">
                <a16:creationId xmlns:a16="http://schemas.microsoft.com/office/drawing/2014/main" id="{A3B545DE-9DEE-4B31-8906-C63E73083194}"/>
              </a:ext>
            </a:extLst>
          </p:cNvPr>
          <p:cNvSpPr>
            <a:spLocks xmlns:a="http://schemas.openxmlformats.org/drawingml/2006/main" noGrp="1"/>
          </p:cNvSpPr>
          <p:nvPr/>
        </p:nvSpPr>
        <p:spPr>
          <a:xfrm xmlns:a="http://schemas.openxmlformats.org/drawingml/2006/main">
            <a:off x="685800" y="5905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23B"/>
                </a:solidFill>
                <a:latin typeface="Arial"/>
                <a:ea typeface="Arial"/>
                <a:cs typeface="Arial"/>
              </a:defRPr>
            </a:pPr>
            <a:r>
              <a:rPr sz="2850" b="1">
                <a:solidFill>
                  <a:srgbClr val="17223B"/>
                </a:solidFill>
                <a:latin typeface="Arial"/>
                <a:ea typeface="Arial"/>
                <a:cs typeface="Arial"/>
              </a:rPr>
              <a:t>The test targets biology that the encoder cannot copy</a:t>
            </a:r>
          </a:p>
        </p:txBody>
      </p:sp>
      <p:sp>
        <p:nvSpPr>
          <p:cNvPr id="3" name="">
            <a:extLst xmlns:a="http://schemas.openxmlformats.org/drawingml/2006/main">
              <a:ext uri="{FF2B5EF4-FFF2-40B4-BE49-F238E27FC236}">
                <a16:creationId xmlns:a16="http://schemas.microsoft.com/office/drawing/2014/main" id="{AA17AC17-CFEF-4256-B715-A1400095E862}"/>
              </a:ext>
            </a:extLst>
          </p:cNvPr>
          <p:cNvSpPr>
            <a:spLocks xmlns:a="http://schemas.openxmlformats.org/drawingml/2006/main" noGrp="1"/>
          </p:cNvSpPr>
          <p:nvPr/>
        </p:nvSpPr>
        <p:spPr>
          <a:xfrm xmlns:a="http://schemas.openxmlformats.org/drawingml/2006/main">
            <a:off x="685800" y="1257300"/>
            <a:ext cx="838200" cy="47625"/>
          </a:xfrm>
          <a:prstGeom xmlns:a="http://schemas.openxmlformats.org/drawingml/2006/main" prst="rect">
            <a:avLst/>
          </a:prstGeom>
          <a:solidFill xmlns:a="http://schemas.openxmlformats.org/drawingml/2006/main">
            <a:srgbClr val="F15B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EE0D635-3837-4617-B052-B86126B0EF5C}"/>
              </a:ext>
            </a:extLst>
          </p:cNvPr>
          <p:cNvSpPr>
            <a:spLocks xmlns:a="http://schemas.openxmlformats.org/drawingml/2006/main" noGrp="1"/>
          </p:cNvSpPr>
          <p:nvPr/>
        </p:nvSpPr>
        <p:spPr>
          <a:xfrm xmlns:a="http://schemas.openxmlformats.org/drawingml/2006/main">
            <a:off x="11334750" y="33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87086"/>
                </a:solidFill>
                <a:latin typeface="Arial"/>
                <a:ea typeface="Arial"/>
                <a:cs typeface="Arial"/>
              </a:defRPr>
            </a:pPr>
            <a:r>
              <a:rPr sz="1050" b="1">
                <a:solidFill>
                  <a:srgbClr val="687086"/>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22C4A8A8-F040-4630-AAE5-C019A740AA7B}"/>
              </a:ext>
            </a:extLst>
          </p:cNvPr>
          <p:cNvSpPr>
            <a:spLocks xmlns:a="http://schemas.openxmlformats.org/drawingml/2006/main" noGrp="1"/>
          </p:cNvSpPr>
          <p:nvPr/>
        </p:nvSpPr>
        <p:spPr>
          <a:xfrm xmlns:a="http://schemas.openxmlformats.org/drawingml/2006/main">
            <a:off x="762000" y="16573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154"/>
          </a:bodyPr>
          <a:lstStyle xmlns:a="http://schemas.openxmlformats.org/drawingml/2006/main"/>
          <a:p xmlns:a="http://schemas.openxmlformats.org/drawingml/2006/main">
            <a:pPr algn="ctr">
              <a:lnSpc>
                <a:spcPct val="104000"/>
              </a:lnSpc>
              <a:buNone/>
              <a:defRPr sz="3150" b="1">
                <a:solidFill>
                  <a:srgbClr val="F15B64"/>
                </a:solidFill>
                <a:latin typeface="Arial"/>
                <a:ea typeface="Arial"/>
                <a:cs typeface="Arial"/>
              </a:defRPr>
            </a:pPr>
            <a:r>
              <a:rPr sz="3150" b="1">
                <a:solidFill>
                  <a:srgbClr val="F15B64"/>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3628AF3A-FF1D-4D8A-9AAF-0CE4797F3AD6}"/>
              </a:ext>
            </a:extLst>
          </p:cNvPr>
          <p:cNvSpPr>
            <a:spLocks xmlns:a="http://schemas.openxmlformats.org/drawingml/2006/main" noGrp="1"/>
          </p:cNvSpPr>
          <p:nvPr/>
        </p:nvSpPr>
        <p:spPr>
          <a:xfrm xmlns:a="http://schemas.openxmlformats.org/drawingml/2006/main">
            <a:off x="1428750" y="1676400"/>
            <a:ext cx="400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348"/>
          </a:bodyPr>
          <a:lstStyle xmlns:a="http://schemas.openxmlformats.org/drawingml/2006/main"/>
          <a:p xmlns:a="http://schemas.openxmlformats.org/drawingml/2006/main">
            <a:pPr algn="l">
              <a:lnSpc>
                <a:spcPct val="104000"/>
              </a:lnSpc>
              <a:buNone/>
              <a:defRPr sz="2025" b="1">
                <a:solidFill>
                  <a:srgbClr val="17223B"/>
                </a:solidFill>
                <a:latin typeface="Arial"/>
                <a:ea typeface="Arial"/>
                <a:cs typeface="Arial"/>
              </a:defRPr>
            </a:pPr>
            <a:r>
              <a:rPr sz="2025" b="1">
                <a:solidFill>
                  <a:srgbClr val="17223B"/>
                </a:solidFill>
                <a:latin typeface="Arial"/>
                <a:ea typeface="Arial"/>
                <a:cs typeface="Arial"/>
              </a:rPr>
              <a:t>Hide activation proteins</a:t>
            </a:r>
          </a:p>
        </p:txBody>
      </p:sp>
      <p:sp>
        <p:nvSpPr>
          <p:cNvPr id="7" name="">
            <a:extLst xmlns:a="http://schemas.openxmlformats.org/drawingml/2006/main">
              <a:ext uri="{FF2B5EF4-FFF2-40B4-BE49-F238E27FC236}">
                <a16:creationId xmlns:a16="http://schemas.microsoft.com/office/drawing/2014/main" id="{D7ECBA81-ED39-4C65-8DB2-A80DF602FDE9}"/>
              </a:ext>
            </a:extLst>
          </p:cNvPr>
          <p:cNvSpPr>
            <a:spLocks xmlns:a="http://schemas.openxmlformats.org/drawingml/2006/main" noGrp="1"/>
          </p:cNvSpPr>
          <p:nvPr/>
        </p:nvSpPr>
        <p:spPr>
          <a:xfrm xmlns:a="http://schemas.openxmlformats.org/drawingml/2006/main">
            <a:off x="1428750" y="2076450"/>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425" b="0">
                <a:solidFill>
                  <a:srgbClr val="687086"/>
                </a:solidFill>
                <a:latin typeface="Arial"/>
                <a:ea typeface="Arial"/>
                <a:cs typeface="Arial"/>
              </a:defRPr>
            </a:pPr>
            <a:r>
              <a:rPr sz="1425" b="0">
                <a:solidFill>
                  <a:srgbClr val="687086"/>
                </a:solidFill>
                <a:latin typeface="Arial"/>
                <a:ea typeface="Arial"/>
                <a:cs typeface="Arial"/>
              </a:rPr>
              <a:t>CD25, CD69 and HLA-DR are zeroed at encoder input, then reconstructed by the decoder.</a:t>
            </a:r>
          </a:p>
        </p:txBody>
      </p:sp>
      <p:sp>
        <p:nvSpPr>
          <p:cNvPr id="8" name="">
            <a:extLst xmlns:a="http://schemas.openxmlformats.org/drawingml/2006/main">
              <a:ext uri="{FF2B5EF4-FFF2-40B4-BE49-F238E27FC236}">
                <a16:creationId xmlns:a16="http://schemas.microsoft.com/office/drawing/2014/main" id="{6011E3E2-E633-41CC-8D7B-DDEFC22E2BB3}"/>
              </a:ext>
            </a:extLst>
          </p:cNvPr>
          <p:cNvSpPr>
            <a:spLocks xmlns:a="http://schemas.openxmlformats.org/drawingml/2006/main" noGrp="1"/>
          </p:cNvSpPr>
          <p:nvPr/>
        </p:nvSpPr>
        <p:spPr>
          <a:xfrm xmlns:a="http://schemas.openxmlformats.org/drawingml/2006/main">
            <a:off x="6381750" y="16573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154"/>
          </a:bodyPr>
          <a:lstStyle xmlns:a="http://schemas.openxmlformats.org/drawingml/2006/main"/>
          <a:p xmlns:a="http://schemas.openxmlformats.org/drawingml/2006/main">
            <a:pPr algn="ctr">
              <a:lnSpc>
                <a:spcPct val="104000"/>
              </a:lnSpc>
              <a:buNone/>
              <a:defRPr sz="3150" b="1">
                <a:solidFill>
                  <a:srgbClr val="F15B64"/>
                </a:solidFill>
                <a:latin typeface="Arial"/>
                <a:ea typeface="Arial"/>
                <a:cs typeface="Arial"/>
              </a:defRPr>
            </a:pPr>
            <a:r>
              <a:rPr sz="3150" b="1">
                <a:solidFill>
                  <a:srgbClr val="F15B64"/>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5844FCFC-2CDE-44CE-8219-C9CA7FAA7B3B}"/>
              </a:ext>
            </a:extLst>
          </p:cNvPr>
          <p:cNvSpPr>
            <a:spLocks xmlns:a="http://schemas.openxmlformats.org/drawingml/2006/main" noGrp="1"/>
          </p:cNvSpPr>
          <p:nvPr/>
        </p:nvSpPr>
        <p:spPr>
          <a:xfrm xmlns:a="http://schemas.openxmlformats.org/drawingml/2006/main">
            <a:off x="7048500" y="16764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61"/>
          </a:bodyPr>
          <a:lstStyle xmlns:a="http://schemas.openxmlformats.org/drawingml/2006/main"/>
          <a:p xmlns:a="http://schemas.openxmlformats.org/drawingml/2006/main">
            <a:pPr algn="l">
              <a:lnSpc>
                <a:spcPct val="104000"/>
              </a:lnSpc>
              <a:buNone/>
              <a:defRPr sz="1950" b="1">
                <a:solidFill>
                  <a:srgbClr val="17223B"/>
                </a:solidFill>
                <a:latin typeface="Arial"/>
                <a:ea typeface="Arial"/>
                <a:cs typeface="Arial"/>
              </a:defRPr>
            </a:pPr>
            <a:r>
              <a:rPr sz="1950" b="1">
                <a:solidFill>
                  <a:srgbClr val="17223B"/>
                </a:solidFill>
                <a:latin typeface="Arial"/>
                <a:ea typeface="Arial"/>
                <a:cs typeface="Arial"/>
              </a:rPr>
              <a:t>Select the readout inside training donors</a:t>
            </a:r>
          </a:p>
        </p:txBody>
      </p:sp>
      <p:sp>
        <p:nvSpPr>
          <p:cNvPr id="10" name="">
            <a:extLst xmlns:a="http://schemas.openxmlformats.org/drawingml/2006/main">
              <a:ext uri="{FF2B5EF4-FFF2-40B4-BE49-F238E27FC236}">
                <a16:creationId xmlns:a16="http://schemas.microsoft.com/office/drawing/2014/main" id="{5CA14B9A-9C89-4143-8BCC-6829743E461C}"/>
              </a:ext>
            </a:extLst>
          </p:cNvPr>
          <p:cNvSpPr>
            <a:spLocks xmlns:a="http://schemas.openxmlformats.org/drawingml/2006/main" noGrp="1"/>
          </p:cNvSpPr>
          <p:nvPr/>
        </p:nvSpPr>
        <p:spPr>
          <a:xfrm xmlns:a="http://schemas.openxmlformats.org/drawingml/2006/main">
            <a:off x="7048500" y="2076450"/>
            <a:ext cx="4381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5"/>
          </a:bodyPr>
          <a:lstStyle xmlns:a="http://schemas.openxmlformats.org/drawingml/2006/main"/>
          <a:p xmlns:a="http://schemas.openxmlformats.org/drawingml/2006/main">
            <a:pPr algn="l">
              <a:lnSpc>
                <a:spcPct val="104000"/>
              </a:lnSpc>
              <a:buNone/>
              <a:defRPr sz="1425" b="0">
                <a:solidFill>
                  <a:srgbClr val="687086"/>
                </a:solidFill>
                <a:latin typeface="Arial"/>
                <a:ea typeface="Arial"/>
                <a:cs typeface="Arial"/>
              </a:defRPr>
            </a:pPr>
            <a:r>
              <a:rPr sz="1425" b="0">
                <a:solidFill>
                  <a:srgbClr val="687086"/>
                </a:solidFill>
                <a:latin typeface="Arial"/>
                <a:ea typeface="Arial"/>
                <a:cs typeface="Arial"/>
              </a:rPr>
              <a:t>Three grouped inner folds choose Ridge, gradient boosting or Extra Trees; the outer donor is never used.</a:t>
            </a:r>
          </a:p>
        </p:txBody>
      </p:sp>
      <p:sp>
        <p:nvSpPr>
          <p:cNvPr id="11" name="">
            <a:extLst xmlns:a="http://schemas.openxmlformats.org/drawingml/2006/main">
              <a:ext uri="{FF2B5EF4-FFF2-40B4-BE49-F238E27FC236}">
                <a16:creationId xmlns:a16="http://schemas.microsoft.com/office/drawing/2014/main" id="{EFB234E7-CF17-44D5-9193-5D37417D466E}"/>
              </a:ext>
            </a:extLst>
          </p:cNvPr>
          <p:cNvSpPr>
            <a:spLocks xmlns:a="http://schemas.openxmlformats.org/drawingml/2006/main" noGrp="1"/>
          </p:cNvSpPr>
          <p:nvPr/>
        </p:nvSpPr>
        <p:spPr>
          <a:xfrm xmlns:a="http://schemas.openxmlformats.org/drawingml/2006/main">
            <a:off x="762000" y="3028950"/>
            <a:ext cx="10668000" cy="19050"/>
          </a:xfrm>
          <a:prstGeom xmlns:a="http://schemas.openxmlformats.org/drawingml/2006/main" prst="rect">
            <a:avLst/>
          </a:prstGeom>
          <a:solidFill xmlns:a="http://schemas.openxmlformats.org/drawingml/2006/main">
            <a:srgbClr val="E7EAF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A836D6D-2353-482C-9ECE-774F05195077}"/>
              </a:ext>
            </a:extLst>
          </p:cNvPr>
          <p:cNvSpPr>
            <a:spLocks xmlns:a="http://schemas.openxmlformats.org/drawingml/2006/main" noGrp="1"/>
          </p:cNvSpPr>
          <p:nvPr/>
        </p:nvSpPr>
        <p:spPr>
          <a:xfrm xmlns:a="http://schemas.openxmlformats.org/drawingml/2006/main">
            <a:off x="762000" y="333375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812"/>
          </a:bodyPr>
          <a:lstStyle xmlns:a="http://schemas.openxmlformats.org/drawingml/2006/main"/>
          <a:p xmlns:a="http://schemas.openxmlformats.org/drawingml/2006/main">
            <a:pPr algn="l">
              <a:lnSpc>
                <a:spcPct val="104000"/>
              </a:lnSpc>
              <a:buNone/>
              <a:defRPr sz="1350" b="1">
                <a:solidFill>
                  <a:srgbClr val="0D8A9A"/>
                </a:solidFill>
                <a:latin typeface="Arial"/>
                <a:ea typeface="Arial"/>
                <a:cs typeface="Arial"/>
              </a:defRPr>
            </a:pPr>
            <a:r>
              <a:rPr sz="1350" b="1">
                <a:solidFill>
                  <a:srgbClr val="0D8A9A"/>
                </a:solidFill>
                <a:latin typeface="Arial"/>
                <a:ea typeface="Arial"/>
                <a:cs typeface="Arial"/>
              </a:rPr>
              <a:t>Biological readouts</a:t>
            </a:r>
          </a:p>
        </p:txBody>
      </p:sp>
      <p:sp>
        <p:nvSpPr>
          <p:cNvPr id="13" name="">
            <a:extLst xmlns:a="http://schemas.openxmlformats.org/drawingml/2006/main">
              <a:ext uri="{FF2B5EF4-FFF2-40B4-BE49-F238E27FC236}">
                <a16:creationId xmlns:a16="http://schemas.microsoft.com/office/drawing/2014/main" id="{C2035A10-D688-4CD2-B8AC-22E6108FF756}"/>
              </a:ext>
            </a:extLst>
          </p:cNvPr>
          <p:cNvSpPr>
            <a:spLocks xmlns:a="http://schemas.openxmlformats.org/drawingml/2006/main" noGrp="1"/>
          </p:cNvSpPr>
          <p:nvPr/>
        </p:nvSpPr>
        <p:spPr>
          <a:xfrm xmlns:a="http://schemas.openxmlformats.org/drawingml/2006/main">
            <a:off x="762000" y="3771900"/>
            <a:ext cx="2571750" cy="361950"/>
          </a:xfrm>
          <a:prstGeom xmlns:a="http://schemas.openxmlformats.org/drawingml/2006/main" prst="roundRect">
            <a:avLst>
              <a:gd name="adj" fmla="val 42105"/>
            </a:avLst>
          </a:prstGeom>
          <a:solidFill xmlns:a="http://schemas.openxmlformats.org/drawingml/2006/main">
            <a:srgbClr val="DDF3F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B11C-6449-452F-8CE4-2548030936B8}"/>
              </a:ext>
            </a:extLst>
          </p:cNvPr>
          <p:cNvSpPr>
            <a:spLocks xmlns:a="http://schemas.openxmlformats.org/drawingml/2006/main" noGrp="1"/>
          </p:cNvSpPr>
          <p:nvPr/>
        </p:nvSpPr>
        <p:spPr>
          <a:xfrm xmlns:a="http://schemas.openxmlformats.org/drawingml/2006/main">
            <a:off x="838200" y="3819525"/>
            <a:ext cx="2419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0D8A9A"/>
                </a:solidFill>
                <a:latin typeface="Arial"/>
                <a:ea typeface="Arial"/>
                <a:cs typeface="Arial"/>
              </a:defRPr>
            </a:pPr>
            <a:r>
              <a:rPr sz="1200" b="1">
                <a:solidFill>
                  <a:srgbClr val="0D8A9A"/>
                </a:solidFill>
                <a:latin typeface="Arial"/>
                <a:ea typeface="Arial"/>
                <a:cs typeface="Arial"/>
              </a:rPr>
              <a:t>T cells: anti-CD3/CD28</a:t>
            </a:r>
          </a:p>
        </p:txBody>
      </p:sp>
      <p:sp>
        <p:nvSpPr>
          <p:cNvPr id="15" name="">
            <a:extLst xmlns:a="http://schemas.openxmlformats.org/drawingml/2006/main">
              <a:ext uri="{FF2B5EF4-FFF2-40B4-BE49-F238E27FC236}">
                <a16:creationId xmlns:a16="http://schemas.microsoft.com/office/drawing/2014/main" id="{E8FD9975-11E8-4C7D-9B17-45015DD35173}"/>
              </a:ext>
            </a:extLst>
          </p:cNvPr>
          <p:cNvSpPr>
            <a:spLocks xmlns:a="http://schemas.openxmlformats.org/drawingml/2006/main" noGrp="1"/>
          </p:cNvSpPr>
          <p:nvPr/>
        </p:nvSpPr>
        <p:spPr>
          <a:xfrm xmlns:a="http://schemas.openxmlformats.org/drawingml/2006/main">
            <a:off x="3524250" y="3771900"/>
            <a:ext cx="2000250" cy="361950"/>
          </a:xfrm>
          <a:prstGeom xmlns:a="http://schemas.openxmlformats.org/drawingml/2006/main" prst="roundRect">
            <a:avLst>
              <a:gd name="adj" fmla="val 42105"/>
            </a:avLst>
          </a:prstGeom>
          <a:solidFill xmlns:a="http://schemas.openxmlformats.org/drawingml/2006/main">
            <a:srgbClr val="DDF3F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F6B0A6B-BA3A-45ED-9C3E-514EDBED0BB6}"/>
              </a:ext>
            </a:extLst>
          </p:cNvPr>
          <p:cNvSpPr>
            <a:spLocks xmlns:a="http://schemas.openxmlformats.org/drawingml/2006/main" noGrp="1"/>
          </p:cNvSpPr>
          <p:nvPr/>
        </p:nvSpPr>
        <p:spPr>
          <a:xfrm xmlns:a="http://schemas.openxmlformats.org/drawingml/2006/main">
            <a:off x="3600450" y="3819525"/>
            <a:ext cx="1847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0D8A9A"/>
                </a:solidFill>
                <a:latin typeface="Arial"/>
                <a:ea typeface="Arial"/>
                <a:cs typeface="Arial"/>
              </a:defRPr>
            </a:pPr>
            <a:r>
              <a:rPr sz="1200" b="1">
                <a:solidFill>
                  <a:srgbClr val="0D8A9A"/>
                </a:solidFill>
                <a:latin typeface="Arial"/>
                <a:ea typeface="Arial"/>
                <a:cs typeface="Arial"/>
              </a:rPr>
              <a:t>Monocytes: LPS</a:t>
            </a:r>
          </a:p>
        </p:txBody>
      </p:sp>
      <p:sp>
        <p:nvSpPr>
          <p:cNvPr id="17" name="">
            <a:extLst xmlns:a="http://schemas.openxmlformats.org/drawingml/2006/main">
              <a:ext uri="{FF2B5EF4-FFF2-40B4-BE49-F238E27FC236}">
                <a16:creationId xmlns:a16="http://schemas.microsoft.com/office/drawing/2014/main" id="{E558E129-AF87-48EB-A9F4-EC9931BEC9A5}"/>
              </a:ext>
            </a:extLst>
          </p:cNvPr>
          <p:cNvSpPr>
            <a:spLocks xmlns:a="http://schemas.openxmlformats.org/drawingml/2006/main" noGrp="1"/>
          </p:cNvSpPr>
          <p:nvPr/>
        </p:nvSpPr>
        <p:spPr>
          <a:xfrm xmlns:a="http://schemas.openxmlformats.org/drawingml/2006/main">
            <a:off x="5715000" y="3771900"/>
            <a:ext cx="2628900" cy="361950"/>
          </a:xfrm>
          <a:prstGeom xmlns:a="http://schemas.openxmlformats.org/drawingml/2006/main" prst="roundRect">
            <a:avLst>
              <a:gd name="adj" fmla="val 42105"/>
            </a:avLst>
          </a:prstGeom>
          <a:solidFill xmlns:a="http://schemas.openxmlformats.org/drawingml/2006/main">
            <a:srgbClr val="DDF3F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B0A608B-BC4C-44BC-9D40-BA06C6608E62}"/>
              </a:ext>
            </a:extLst>
          </p:cNvPr>
          <p:cNvSpPr>
            <a:spLocks xmlns:a="http://schemas.openxmlformats.org/drawingml/2006/main" noGrp="1"/>
          </p:cNvSpPr>
          <p:nvPr/>
        </p:nvSpPr>
        <p:spPr>
          <a:xfrm xmlns:a="http://schemas.openxmlformats.org/drawingml/2006/main">
            <a:off x="5791200" y="3819525"/>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0D8A9A"/>
                </a:solidFill>
                <a:latin typeface="Arial"/>
                <a:ea typeface="Arial"/>
                <a:cs typeface="Arial"/>
              </a:defRPr>
            </a:pPr>
            <a:r>
              <a:rPr sz="1200" b="1">
                <a:solidFill>
                  <a:srgbClr val="0D8A9A"/>
                </a:solidFill>
                <a:latin typeface="Arial"/>
                <a:ea typeface="Arial"/>
                <a:cs typeface="Arial"/>
              </a:rPr>
              <a:t>NK + B indirect response</a:t>
            </a:r>
          </a:p>
        </p:txBody>
      </p:sp>
      <p:sp>
        <p:nvSpPr>
          <p:cNvPr id="19" name="">
            <a:extLst xmlns:a="http://schemas.openxmlformats.org/drawingml/2006/main">
              <a:ext uri="{FF2B5EF4-FFF2-40B4-BE49-F238E27FC236}">
                <a16:creationId xmlns:a16="http://schemas.microsoft.com/office/drawing/2014/main" id="{D24512E6-8561-436B-91DF-E4F632D36673}"/>
              </a:ext>
            </a:extLst>
          </p:cNvPr>
          <p:cNvSpPr>
            <a:spLocks xmlns:a="http://schemas.openxmlformats.org/drawingml/2006/main" noGrp="1"/>
          </p:cNvSpPr>
          <p:nvPr/>
        </p:nvSpPr>
        <p:spPr>
          <a:xfrm xmlns:a="http://schemas.openxmlformats.org/drawingml/2006/main">
            <a:off x="8534400" y="3771900"/>
            <a:ext cx="2095500" cy="361950"/>
          </a:xfrm>
          <a:prstGeom xmlns:a="http://schemas.openxmlformats.org/drawingml/2006/main" prst="roundRect">
            <a:avLst>
              <a:gd name="adj" fmla="val 42105"/>
            </a:avLst>
          </a:prstGeom>
          <a:solidFill xmlns:a="http://schemas.openxmlformats.org/drawingml/2006/main">
            <a:srgbClr val="FFE7E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6D321C5-A56D-45FA-9B85-572093F62012}"/>
              </a:ext>
            </a:extLst>
          </p:cNvPr>
          <p:cNvSpPr>
            <a:spLocks xmlns:a="http://schemas.openxmlformats.org/drawingml/2006/main" noGrp="1"/>
          </p:cNvSpPr>
          <p:nvPr/>
        </p:nvSpPr>
        <p:spPr>
          <a:xfrm xmlns:a="http://schemas.openxmlformats.org/drawingml/2006/main">
            <a:off x="8610600" y="3819525"/>
            <a:ext cx="1943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F15B64"/>
                </a:solidFill>
                <a:latin typeface="Arial"/>
                <a:ea typeface="Arial"/>
                <a:cs typeface="Arial"/>
              </a:defRPr>
            </a:pPr>
            <a:r>
              <a:rPr sz="1200" b="1">
                <a:solidFill>
                  <a:srgbClr val="F15B64"/>
                </a:solidFill>
                <a:latin typeface="Arial"/>
                <a:ea typeface="Arial"/>
                <a:cs typeface="Arial"/>
              </a:rPr>
              <a:t>Discordant cells</a:t>
            </a:r>
          </a:p>
        </p:txBody>
      </p:sp>
      <p:sp>
        <p:nvSpPr>
          <p:cNvPr id="21" name="">
            <a:extLst xmlns:a="http://schemas.openxmlformats.org/drawingml/2006/main">
              <a:ext uri="{FF2B5EF4-FFF2-40B4-BE49-F238E27FC236}">
                <a16:creationId xmlns:a16="http://schemas.microsoft.com/office/drawing/2014/main" id="{12DC62A4-846E-4DAB-8D81-B101618A9A33}"/>
              </a:ext>
            </a:extLst>
          </p:cNvPr>
          <p:cNvSpPr>
            <a:spLocks xmlns:a="http://schemas.openxmlformats.org/drawingml/2006/main" noGrp="1"/>
          </p:cNvSpPr>
          <p:nvPr/>
        </p:nvSpPr>
        <p:spPr>
          <a:xfrm xmlns:a="http://schemas.openxmlformats.org/drawingml/2006/main">
            <a:off x="762000" y="46291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6C3ED9"/>
                </a:solidFill>
                <a:latin typeface="Arial"/>
                <a:ea typeface="Arial"/>
                <a:cs typeface="Arial"/>
              </a:defRPr>
            </a:pPr>
            <a:r>
              <a:rPr sz="1350" b="1">
                <a:solidFill>
                  <a:srgbClr val="6C3ED9"/>
                </a:solidFill>
                <a:latin typeface="Arial"/>
                <a:ea typeface="Arial"/>
                <a:cs typeface="Arial"/>
              </a:rPr>
              <a:t>Baselines</a:t>
            </a:r>
          </a:p>
        </p:txBody>
      </p:sp>
      <p:sp>
        <p:nvSpPr>
          <p:cNvPr id="22" name="">
            <a:extLst xmlns:a="http://schemas.openxmlformats.org/drawingml/2006/main">
              <a:ext uri="{FF2B5EF4-FFF2-40B4-BE49-F238E27FC236}">
                <a16:creationId xmlns:a16="http://schemas.microsoft.com/office/drawing/2014/main" id="{477D6466-80AB-4FDA-A585-A348900C0491}"/>
              </a:ext>
            </a:extLst>
          </p:cNvPr>
          <p:cNvSpPr>
            <a:spLocks xmlns:a="http://schemas.openxmlformats.org/drawingml/2006/main" noGrp="1"/>
          </p:cNvSpPr>
          <p:nvPr/>
        </p:nvSpPr>
        <p:spPr>
          <a:xfrm xmlns:a="http://schemas.openxmlformats.org/drawingml/2006/main">
            <a:off x="762000" y="50101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69"/>
          </a:bodyPr>
          <a:lstStyle xmlns:a="http://schemas.openxmlformats.org/drawingml/2006/main"/>
          <a:p xmlns:a="http://schemas.openxmlformats.org/drawingml/2006/main">
            <a:pPr algn="l">
              <a:lnSpc>
                <a:spcPct val="104000"/>
              </a:lnSpc>
              <a:buNone/>
              <a:defRPr sz="1650" b="1">
                <a:solidFill>
                  <a:srgbClr val="17223B"/>
                </a:solidFill>
                <a:latin typeface="Arial"/>
                <a:ea typeface="Arial"/>
                <a:cs typeface="Arial"/>
              </a:defRPr>
            </a:pPr>
            <a:r>
              <a:rPr sz="1650" b="1">
                <a:solidFill>
                  <a:srgbClr val="17223B"/>
                </a:solidFill>
                <a:latin typeface="Arial"/>
                <a:ea typeface="Arial"/>
                <a:cs typeface="Arial"/>
              </a:rPr>
              <a:t>RNA proxy   •   other ADTs   •   RNA + ADTs   •   totalVI-X   •   FusionVI-X</a:t>
            </a:r>
          </a:p>
        </p:txBody>
      </p:sp>
      <p:sp>
        <p:nvSpPr>
          <p:cNvPr id="23" name="">
            <a:extLst xmlns:a="http://schemas.openxmlformats.org/drawingml/2006/main">
              <a:ext uri="{FF2B5EF4-FFF2-40B4-BE49-F238E27FC236}">
                <a16:creationId xmlns:a16="http://schemas.microsoft.com/office/drawing/2014/main" id="{6CFDE4D5-A417-4B9E-919D-7F2FBF1DCF6F}"/>
              </a:ext>
            </a:extLst>
          </p:cNvPr>
          <p:cNvSpPr>
            <a:spLocks xmlns:a="http://schemas.openxmlformats.org/drawingml/2006/main" noGrp="1"/>
          </p:cNvSpPr>
          <p:nvPr/>
        </p:nvSpPr>
        <p:spPr>
          <a:xfrm xmlns:a="http://schemas.openxmlformats.org/drawingml/2006/main">
            <a:off x="762000" y="571500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0D8A9A"/>
                </a:solidFill>
                <a:latin typeface="Arial"/>
                <a:ea typeface="Arial"/>
                <a:cs typeface="Arial"/>
              </a:defRPr>
            </a:pPr>
            <a:r>
              <a:rPr sz="1350" b="1">
                <a:solidFill>
                  <a:srgbClr val="0D8A9A"/>
                </a:solidFill>
                <a:latin typeface="Arial"/>
                <a:ea typeface="Arial"/>
                <a:cs typeface="Arial"/>
              </a:rPr>
              <a:t>Statistics</a:t>
            </a:r>
          </a:p>
        </p:txBody>
      </p:sp>
      <p:sp>
        <p:nvSpPr>
          <p:cNvPr id="24" name="">
            <a:extLst xmlns:a="http://schemas.openxmlformats.org/drawingml/2006/main">
              <a:ext uri="{FF2B5EF4-FFF2-40B4-BE49-F238E27FC236}">
                <a16:creationId xmlns:a16="http://schemas.microsoft.com/office/drawing/2014/main" id="{B22781A6-4D77-4FD1-9D37-D6C24D87AE18}"/>
              </a:ext>
            </a:extLst>
          </p:cNvPr>
          <p:cNvSpPr>
            <a:spLocks xmlns:a="http://schemas.openxmlformats.org/drawingml/2006/main" noGrp="1"/>
          </p:cNvSpPr>
          <p:nvPr/>
        </p:nvSpPr>
        <p:spPr>
          <a:xfrm xmlns:a="http://schemas.openxmlformats.org/drawingml/2006/main">
            <a:off x="762000" y="605790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731"/>
          </a:bodyPr>
          <a:lstStyle xmlns:a="http://schemas.openxmlformats.org/drawingml/2006/main"/>
          <a:p xmlns:a="http://schemas.openxmlformats.org/drawingml/2006/main">
            <a:pPr algn="l">
              <a:lnSpc>
                <a:spcPct val="104000"/>
              </a:lnSpc>
              <a:buNone/>
              <a:defRPr sz="1500" b="0">
                <a:solidFill>
                  <a:srgbClr val="17223B"/>
                </a:solidFill>
                <a:latin typeface="Arial"/>
                <a:ea typeface="Arial"/>
                <a:cs typeface="Arial"/>
              </a:defRPr>
            </a:pPr>
            <a:r>
              <a:rPr sz="1500" b="0">
                <a:solidFill>
                  <a:srgbClr val="17223B"/>
                </a:solidFill>
                <a:latin typeface="Arial"/>
                <a:ea typeface="Arial"/>
                <a:cs typeface="Arial"/>
              </a:rPr>
              <a:t>one value per donor  |  paired Wilcoxon  |  bootstrap CI  |  BH correction</a:t>
            </a:r>
          </a:p>
        </p:txBody>
      </p:sp>
    </p:spTree>
    <p:extLst>
      <p:ext uri="{BB962C8B-B14F-4D97-AF65-F5344CB8AC3E}">
        <p14:creationId xmlns:p14="http://schemas.microsoft.com/office/powerpoint/2010/main" val="127593596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8E66FF5-C44D-4025-93B0-E455AE689085}"/>
              </a:ext>
            </a:extLst>
          </p:cNvPr>
          <p:cNvSpPr>
            <a:spLocks xmlns:a="http://schemas.openxmlformats.org/drawingml/2006/main" noGrp="1"/>
          </p:cNvSpPr>
          <p:nvPr/>
        </p:nvSpPr>
        <p:spPr>
          <a:xfrm xmlns:a="http://schemas.openxmlformats.org/drawingml/2006/main">
            <a:off x="685800" y="3238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D8A9A"/>
                </a:solidFill>
                <a:latin typeface="Arial"/>
                <a:ea typeface="Arial"/>
                <a:cs typeface="Arial"/>
              </a:defRPr>
            </a:pPr>
            <a:r>
              <a:rPr sz="1050" b="1">
                <a:solidFill>
                  <a:srgbClr val="0D8A9A"/>
                </a:solidFill>
                <a:latin typeface="Arial"/>
                <a:ea typeface="Arial"/>
                <a:cs typeface="Arial"/>
              </a:rPr>
              <a:t>RESULT 1</a:t>
            </a:r>
          </a:p>
        </p:txBody>
      </p:sp>
      <p:sp>
        <p:nvSpPr>
          <p:cNvPr id="2" name="">
            <a:extLst xmlns:a="http://schemas.openxmlformats.org/drawingml/2006/main">
              <a:ext uri="{FF2B5EF4-FFF2-40B4-BE49-F238E27FC236}">
                <a16:creationId xmlns:a16="http://schemas.microsoft.com/office/drawing/2014/main" id="{8E78BBA3-A7AB-4750-836C-4B072BD39D9B}"/>
              </a:ext>
            </a:extLst>
          </p:cNvPr>
          <p:cNvSpPr>
            <a:spLocks xmlns:a="http://schemas.openxmlformats.org/drawingml/2006/main" noGrp="1"/>
          </p:cNvSpPr>
          <p:nvPr/>
        </p:nvSpPr>
        <p:spPr>
          <a:xfrm xmlns:a="http://schemas.openxmlformats.org/drawingml/2006/main">
            <a:off x="685800" y="5905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23B"/>
                </a:solidFill>
                <a:latin typeface="Arial"/>
                <a:ea typeface="Arial"/>
                <a:cs typeface="Arial"/>
              </a:defRPr>
            </a:pPr>
            <a:r>
              <a:rPr sz="2850" b="1">
                <a:solidFill>
                  <a:srgbClr val="17223B"/>
                </a:solidFill>
                <a:latin typeface="Arial"/>
                <a:ea typeface="Arial"/>
                <a:cs typeface="Arial"/>
              </a:rPr>
              <a:t>Broad stimulation labels were already solved</a:t>
            </a:r>
          </a:p>
        </p:txBody>
      </p:sp>
      <p:sp>
        <p:nvSpPr>
          <p:cNvPr id="3" name="">
            <a:extLst xmlns:a="http://schemas.openxmlformats.org/drawingml/2006/main">
              <a:ext uri="{FF2B5EF4-FFF2-40B4-BE49-F238E27FC236}">
                <a16:creationId xmlns:a16="http://schemas.microsoft.com/office/drawing/2014/main" id="{4850B354-6FAF-4F29-AAD2-FA2D21E53EFF}"/>
              </a:ext>
            </a:extLst>
          </p:cNvPr>
          <p:cNvSpPr>
            <a:spLocks xmlns:a="http://schemas.openxmlformats.org/drawingml/2006/main" noGrp="1"/>
          </p:cNvSpPr>
          <p:nvPr/>
        </p:nvSpPr>
        <p:spPr>
          <a:xfrm xmlns:a="http://schemas.openxmlformats.org/drawingml/2006/main">
            <a:off x="685800" y="1257300"/>
            <a:ext cx="838200" cy="47625"/>
          </a:xfrm>
          <a:prstGeom xmlns:a="http://schemas.openxmlformats.org/drawingml/2006/main" prst="rect">
            <a:avLst/>
          </a:prstGeom>
          <a:solidFill xmlns:a="http://schemas.openxmlformats.org/drawingml/2006/main">
            <a:srgbClr val="F15B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CBEB533-6F2C-43A6-B1E0-423BDEBAF102}"/>
              </a:ext>
            </a:extLst>
          </p:cNvPr>
          <p:cNvSpPr>
            <a:spLocks xmlns:a="http://schemas.openxmlformats.org/drawingml/2006/main" noGrp="1"/>
          </p:cNvSpPr>
          <p:nvPr/>
        </p:nvSpPr>
        <p:spPr>
          <a:xfrm xmlns:a="http://schemas.openxmlformats.org/drawingml/2006/main">
            <a:off x="11334750" y="33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87086"/>
                </a:solidFill>
                <a:latin typeface="Arial"/>
                <a:ea typeface="Arial"/>
                <a:cs typeface="Arial"/>
              </a:defRPr>
            </a:pPr>
            <a:r>
              <a:rPr sz="1050" b="1">
                <a:solidFill>
                  <a:srgbClr val="687086"/>
                </a:solidFill>
                <a:latin typeface="Arial"/>
                <a:ea typeface="Arial"/>
                <a:cs typeface="Arial"/>
              </a:rPr>
              <a:t>06</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51a9a8b523d3456a"/>
          <a:stretch xmlns:a="http://schemas.openxmlformats.org/drawingml/2006/main"/>
        </p:blipFill>
        <p:spPr>
          <a:xfrm xmlns:a="http://schemas.openxmlformats.org/drawingml/2006/main">
            <a:off x="533400" y="2328730"/>
            <a:ext cx="8763000" cy="282919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D211007-37CD-41C2-9B34-4DB67BCD4151}"/>
              </a:ext>
            </a:extLst>
          </p:cNvPr>
          <p:cNvSpPr>
            <a:spLocks xmlns:a="http://schemas.openxmlformats.org/drawingml/2006/main" noGrp="1"/>
          </p:cNvSpPr>
          <p:nvPr/>
        </p:nvSpPr>
        <p:spPr>
          <a:xfrm xmlns:a="http://schemas.openxmlformats.org/drawingml/2006/main">
            <a:off x="9239250" y="1790700"/>
            <a:ext cx="266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2550" b="1">
                <a:solidFill>
                  <a:srgbClr val="F15B64"/>
                </a:solidFill>
                <a:latin typeface="Arial"/>
                <a:ea typeface="Arial"/>
                <a:cs typeface="Arial"/>
              </a:defRPr>
            </a:pPr>
            <a:r>
              <a:rPr sz="2550" b="1">
                <a:solidFill>
                  <a:srgbClr val="F15B64"/>
                </a:solidFill>
                <a:latin typeface="Arial"/>
                <a:ea typeface="Arial"/>
                <a:cs typeface="Arial"/>
              </a:rPr>
              <a:t>0.995–1.000</a:t>
            </a:r>
          </a:p>
        </p:txBody>
      </p:sp>
      <p:sp>
        <p:nvSpPr>
          <p:cNvPr id="7" name="">
            <a:extLst xmlns:a="http://schemas.openxmlformats.org/drawingml/2006/main">
              <a:ext uri="{FF2B5EF4-FFF2-40B4-BE49-F238E27FC236}">
                <a16:creationId xmlns:a16="http://schemas.microsoft.com/office/drawing/2014/main" id="{4DF604A8-622F-42B8-A4CF-20FE92A15701}"/>
              </a:ext>
            </a:extLst>
          </p:cNvPr>
          <p:cNvSpPr>
            <a:spLocks xmlns:a="http://schemas.openxmlformats.org/drawingml/2006/main" noGrp="1"/>
          </p:cNvSpPr>
          <p:nvPr/>
        </p:nvSpPr>
        <p:spPr>
          <a:xfrm xmlns:a="http://schemas.openxmlformats.org/drawingml/2006/main">
            <a:off x="9525000" y="24574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ctr">
              <a:lnSpc>
                <a:spcPct val="104000"/>
              </a:lnSpc>
              <a:buNone/>
              <a:defRPr sz="1350" b="1">
                <a:solidFill>
                  <a:srgbClr val="687086"/>
                </a:solidFill>
                <a:latin typeface="Arial"/>
                <a:ea typeface="Arial"/>
                <a:cs typeface="Arial"/>
              </a:defRPr>
            </a:pPr>
            <a:r>
              <a:rPr sz="1350" b="1">
                <a:solidFill>
                  <a:srgbClr val="687086"/>
                </a:solidFill>
                <a:latin typeface="Arial"/>
                <a:ea typeface="Arial"/>
                <a:cs typeface="Arial"/>
              </a:rPr>
              <a:t>mean totalVI AUC</a:t>
            </a:r>
          </a:p>
        </p:txBody>
      </p:sp>
      <p:sp>
        <p:nvSpPr>
          <p:cNvPr id="8" name="">
            <a:extLst xmlns:a="http://schemas.openxmlformats.org/drawingml/2006/main">
              <a:ext uri="{FF2B5EF4-FFF2-40B4-BE49-F238E27FC236}">
                <a16:creationId xmlns:a16="http://schemas.microsoft.com/office/drawing/2014/main" id="{481F74E5-EE1F-4F30-875B-0DB163B9F1A1}"/>
              </a:ext>
            </a:extLst>
          </p:cNvPr>
          <p:cNvSpPr>
            <a:spLocks xmlns:a="http://schemas.openxmlformats.org/drawingml/2006/main" noGrp="1"/>
          </p:cNvSpPr>
          <p:nvPr/>
        </p:nvSpPr>
        <p:spPr>
          <a:xfrm xmlns:a="http://schemas.openxmlformats.org/drawingml/2006/main">
            <a:off x="9696450" y="3067050"/>
            <a:ext cx="1714500" cy="28575"/>
          </a:xfrm>
          <a:prstGeom xmlns:a="http://schemas.openxmlformats.org/drawingml/2006/main" prst="rect">
            <a:avLst/>
          </a:prstGeom>
          <a:solidFill xmlns:a="http://schemas.openxmlformats.org/drawingml/2006/main">
            <a:srgbClr val="F15B6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4B78626-8586-4A16-A234-A621BECE53B9}"/>
              </a:ext>
            </a:extLst>
          </p:cNvPr>
          <p:cNvSpPr>
            <a:spLocks xmlns:a="http://schemas.openxmlformats.org/drawingml/2006/main" noGrp="1"/>
          </p:cNvSpPr>
          <p:nvPr/>
        </p:nvSpPr>
        <p:spPr>
          <a:xfrm xmlns:a="http://schemas.openxmlformats.org/drawingml/2006/main">
            <a:off x="9525000" y="3390900"/>
            <a:ext cx="2095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2799"/>
          </a:bodyPr>
          <a:lstStyle xmlns:a="http://schemas.openxmlformats.org/drawingml/2006/main"/>
          <a:p xmlns:a="http://schemas.openxmlformats.org/drawingml/2006/main">
            <a:pPr algn="ctr">
              <a:lnSpc>
                <a:spcPct val="104000"/>
              </a:lnSpc>
              <a:buNone/>
              <a:defRPr sz="1800" b="1">
                <a:solidFill>
                  <a:srgbClr val="223A69"/>
                </a:solidFill>
                <a:latin typeface="Arial"/>
                <a:ea typeface="Arial"/>
                <a:cs typeface="Arial"/>
              </a:defRPr>
            </a:pPr>
            <a:r>
              <a:rPr sz="1800" b="1">
                <a:solidFill>
                  <a:srgbClr val="223A69"/>
                </a:solidFill>
                <a:latin typeface="Arial"/>
                <a:ea typeface="Arial"/>
                <a:cs typeface="Arial"/>
              </a:rPr>
              <a:t>RNA PCA also reached</a:t>
            </a:r>
          </a:p>
          <a:p xmlns:a="http://schemas.openxmlformats.org/drawingml/2006/main">
            <a:pPr algn="ctr">
              <a:lnSpc>
                <a:spcPct val="104000"/>
              </a:lnSpc>
              <a:buNone/>
              <a:defRPr sz="1800" b="1">
                <a:solidFill>
                  <a:srgbClr val="223A69"/>
                </a:solidFill>
                <a:latin typeface="Arial"/>
                <a:ea typeface="Arial"/>
                <a:cs typeface="Arial"/>
              </a:defRPr>
            </a:pPr>
            <a:r>
              <a:rPr sz="1800" b="1">
                <a:solidFill>
                  <a:srgbClr val="223A69"/>
                </a:solidFill>
                <a:latin typeface="Arial"/>
                <a:ea typeface="Arial"/>
                <a:cs typeface="Arial"/>
              </a:rPr>
              <a:t>0.989–1.000</a:t>
            </a:r>
          </a:p>
        </p:txBody>
      </p:sp>
      <p:sp>
        <p:nvSpPr>
          <p:cNvPr id="10" name="">
            <a:extLst xmlns:a="http://schemas.openxmlformats.org/drawingml/2006/main">
              <a:ext uri="{FF2B5EF4-FFF2-40B4-BE49-F238E27FC236}">
                <a16:creationId xmlns:a16="http://schemas.microsoft.com/office/drawing/2014/main" id="{D17EFBDF-4972-4502-ADA4-ED8CC2BD3B10}"/>
              </a:ext>
            </a:extLst>
          </p:cNvPr>
          <p:cNvSpPr>
            <a:spLocks xmlns:a="http://schemas.openxmlformats.org/drawingml/2006/main" noGrp="1"/>
          </p:cNvSpPr>
          <p:nvPr/>
        </p:nvSpPr>
        <p:spPr>
          <a:xfrm xmlns:a="http://schemas.openxmlformats.org/drawingml/2006/main">
            <a:off x="9525000" y="46863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ctr">
              <a:lnSpc>
                <a:spcPct val="104000"/>
              </a:lnSpc>
              <a:buNone/>
              <a:defRPr sz="1200" b="1">
                <a:solidFill>
                  <a:srgbClr val="0D8A9A"/>
                </a:solidFill>
                <a:latin typeface="Arial"/>
                <a:ea typeface="Arial"/>
                <a:cs typeface="Arial"/>
              </a:defRPr>
            </a:pPr>
            <a:r>
              <a:rPr sz="1200" b="1">
                <a:solidFill>
                  <a:srgbClr val="0D8A9A"/>
                </a:solidFill>
                <a:latin typeface="Arial"/>
                <a:ea typeface="Arial"/>
                <a:cs typeface="Arial"/>
              </a:rPr>
              <a:t>Interpretation</a:t>
            </a:r>
          </a:p>
        </p:txBody>
      </p:sp>
      <p:sp>
        <p:nvSpPr>
          <p:cNvPr id="11" name="">
            <a:extLst xmlns:a="http://schemas.openxmlformats.org/drawingml/2006/main">
              <a:ext uri="{FF2B5EF4-FFF2-40B4-BE49-F238E27FC236}">
                <a16:creationId xmlns:a16="http://schemas.microsoft.com/office/drawing/2014/main" id="{C95BCEEB-35AF-4595-A4B4-097AA8FE7870}"/>
              </a:ext>
            </a:extLst>
          </p:cNvPr>
          <p:cNvSpPr>
            <a:spLocks xmlns:a="http://schemas.openxmlformats.org/drawingml/2006/main" noGrp="1"/>
          </p:cNvSpPr>
          <p:nvPr/>
        </p:nvSpPr>
        <p:spPr>
          <a:xfrm xmlns:a="http://schemas.openxmlformats.org/drawingml/2006/main">
            <a:off x="9429750" y="5010150"/>
            <a:ext cx="2286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00" b="0">
                <a:solidFill>
                  <a:srgbClr val="17223B"/>
                </a:solidFill>
                <a:latin typeface="Arial"/>
                <a:ea typeface="Arial"/>
                <a:cs typeface="Arial"/>
              </a:defRPr>
            </a:pPr>
            <a:r>
              <a:rPr sz="1500" b="0">
                <a:solidFill>
                  <a:srgbClr val="17223B"/>
                </a:solidFill>
                <a:latin typeface="Arial"/>
                <a:ea typeface="Arial"/>
                <a:cs typeface="Arial"/>
              </a:rPr>
              <a:t>Condition classification cannot reveal a better fusion strategy here.</a:t>
            </a:r>
          </a:p>
        </p:txBody>
      </p:sp>
    </p:spTree>
    <p:extLst>
      <p:ext uri="{BB962C8B-B14F-4D97-AF65-F5344CB8AC3E}">
        <p14:creationId xmlns:p14="http://schemas.microsoft.com/office/powerpoint/2010/main" val="1543635900"/>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1709296-E4DD-4F0F-B970-4DF7122107F7}"/>
              </a:ext>
            </a:extLst>
          </p:cNvPr>
          <p:cNvSpPr>
            <a:spLocks xmlns:a="http://schemas.openxmlformats.org/drawingml/2006/main" noGrp="1"/>
          </p:cNvSpPr>
          <p:nvPr/>
        </p:nvSpPr>
        <p:spPr>
          <a:xfrm xmlns:a="http://schemas.openxmlformats.org/drawingml/2006/main">
            <a:off x="685800" y="3238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D8A9A"/>
                </a:solidFill>
                <a:latin typeface="Arial"/>
                <a:ea typeface="Arial"/>
                <a:cs typeface="Arial"/>
              </a:defRPr>
            </a:pPr>
            <a:r>
              <a:rPr sz="1050" b="1">
                <a:solidFill>
                  <a:srgbClr val="0D8A9A"/>
                </a:solidFill>
                <a:latin typeface="Arial"/>
                <a:ea typeface="Arial"/>
                <a:cs typeface="Arial"/>
              </a:rPr>
              <a:t>RESULT 2</a:t>
            </a:r>
          </a:p>
        </p:txBody>
      </p:sp>
      <p:sp>
        <p:nvSpPr>
          <p:cNvPr id="2" name="">
            <a:extLst xmlns:a="http://schemas.openxmlformats.org/drawingml/2006/main">
              <a:ext uri="{FF2B5EF4-FFF2-40B4-BE49-F238E27FC236}">
                <a16:creationId xmlns:a16="http://schemas.microsoft.com/office/drawing/2014/main" id="{0BDCE190-6BE5-4BE1-A232-7FB02A6F1C4F}"/>
              </a:ext>
            </a:extLst>
          </p:cNvPr>
          <p:cNvSpPr>
            <a:spLocks xmlns:a="http://schemas.openxmlformats.org/drawingml/2006/main" noGrp="1"/>
          </p:cNvSpPr>
          <p:nvPr/>
        </p:nvSpPr>
        <p:spPr>
          <a:xfrm xmlns:a="http://schemas.openxmlformats.org/drawingml/2006/main">
            <a:off x="685800" y="5905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23B"/>
                </a:solidFill>
                <a:latin typeface="Arial"/>
                <a:ea typeface="Arial"/>
                <a:cs typeface="Arial"/>
              </a:defRPr>
            </a:pPr>
            <a:r>
              <a:rPr sz="2850" b="1">
                <a:solidFill>
                  <a:srgbClr val="17223B"/>
                </a:solidFill>
                <a:latin typeface="Arial"/>
                <a:ea typeface="Arial"/>
                <a:cs typeface="Arial"/>
              </a:rPr>
              <a:t>Targeted cross-modal readout improves every global marker</a:t>
            </a:r>
          </a:p>
        </p:txBody>
      </p:sp>
      <p:sp>
        <p:nvSpPr>
          <p:cNvPr id="3" name="">
            <a:extLst xmlns:a="http://schemas.openxmlformats.org/drawingml/2006/main">
              <a:ext uri="{FF2B5EF4-FFF2-40B4-BE49-F238E27FC236}">
                <a16:creationId xmlns:a16="http://schemas.microsoft.com/office/drawing/2014/main" id="{0192E3AF-8448-4214-B473-E6B544BDE2F3}"/>
              </a:ext>
            </a:extLst>
          </p:cNvPr>
          <p:cNvSpPr>
            <a:spLocks xmlns:a="http://schemas.openxmlformats.org/drawingml/2006/main" noGrp="1"/>
          </p:cNvSpPr>
          <p:nvPr/>
        </p:nvSpPr>
        <p:spPr>
          <a:xfrm xmlns:a="http://schemas.openxmlformats.org/drawingml/2006/main">
            <a:off x="685800" y="1257300"/>
            <a:ext cx="838200" cy="47625"/>
          </a:xfrm>
          <a:prstGeom xmlns:a="http://schemas.openxmlformats.org/drawingml/2006/main" prst="rect">
            <a:avLst/>
          </a:prstGeom>
          <a:solidFill xmlns:a="http://schemas.openxmlformats.org/drawingml/2006/main">
            <a:srgbClr val="F15B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01BD070-DA46-46DF-BDC8-74EC70F8DA30}"/>
              </a:ext>
            </a:extLst>
          </p:cNvPr>
          <p:cNvSpPr>
            <a:spLocks xmlns:a="http://schemas.openxmlformats.org/drawingml/2006/main" noGrp="1"/>
          </p:cNvSpPr>
          <p:nvPr/>
        </p:nvSpPr>
        <p:spPr>
          <a:xfrm xmlns:a="http://schemas.openxmlformats.org/drawingml/2006/main">
            <a:off x="11334750" y="33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87086"/>
                </a:solidFill>
                <a:latin typeface="Arial"/>
                <a:ea typeface="Arial"/>
                <a:cs typeface="Arial"/>
              </a:defRPr>
            </a:pPr>
            <a:r>
              <a:rPr sz="1050" b="1">
                <a:solidFill>
                  <a:srgbClr val="687086"/>
                </a:solidFill>
                <a:latin typeface="Arial"/>
                <a:ea typeface="Arial"/>
                <a:cs typeface="Arial"/>
              </a:rPr>
              <a:t>07</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88c4ccd02404c71"/>
          <a:stretch xmlns:a="http://schemas.openxmlformats.org/drawingml/2006/main"/>
        </p:blipFill>
        <p:spPr>
          <a:xfrm xmlns:a="http://schemas.openxmlformats.org/drawingml/2006/main">
            <a:off x="400050" y="1626590"/>
            <a:ext cx="8096250" cy="4481121"/>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E7B9674-D070-46AC-80E6-EE28CEA0D5F0}"/>
              </a:ext>
            </a:extLst>
          </p:cNvPr>
          <p:cNvSpPr>
            <a:spLocks xmlns:a="http://schemas.openxmlformats.org/drawingml/2006/main" noGrp="1"/>
          </p:cNvSpPr>
          <p:nvPr/>
        </p:nvSpPr>
        <p:spPr>
          <a:xfrm xmlns:a="http://schemas.openxmlformats.org/drawingml/2006/main">
            <a:off x="8763000" y="1562100"/>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0D8A9A"/>
                </a:solidFill>
                <a:latin typeface="Arial"/>
                <a:ea typeface="Arial"/>
                <a:cs typeface="Arial"/>
              </a:defRPr>
            </a:pPr>
            <a:r>
              <a:rPr sz="1350" b="1">
                <a:solidFill>
                  <a:srgbClr val="0D8A9A"/>
                </a:solidFill>
                <a:latin typeface="Arial"/>
                <a:ea typeface="Arial"/>
                <a:cs typeface="Arial"/>
              </a:rPr>
              <a:t>Global Spearman ρ</a:t>
            </a:r>
          </a:p>
        </p:txBody>
      </p:sp>
      <p:sp>
        <p:nvSpPr>
          <p:cNvPr id="7" name="">
            <a:extLst xmlns:a="http://schemas.openxmlformats.org/drawingml/2006/main">
              <a:ext uri="{FF2B5EF4-FFF2-40B4-BE49-F238E27FC236}">
                <a16:creationId xmlns:a16="http://schemas.microsoft.com/office/drawing/2014/main" id="{390F44EF-F69E-4E4B-87E2-689B88845A5C}"/>
              </a:ext>
            </a:extLst>
          </p:cNvPr>
          <p:cNvSpPr>
            <a:spLocks xmlns:a="http://schemas.openxmlformats.org/drawingml/2006/main" noGrp="1"/>
          </p:cNvSpPr>
          <p:nvPr/>
        </p:nvSpPr>
        <p:spPr>
          <a:xfrm xmlns:a="http://schemas.openxmlformats.org/drawingml/2006/main">
            <a:off x="8763000" y="20193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718"/>
          </a:bodyPr>
          <a:lstStyle xmlns:a="http://schemas.openxmlformats.org/drawingml/2006/main"/>
          <a:p xmlns:a="http://schemas.openxmlformats.org/drawingml/2006/main">
            <a:pPr algn="l">
              <a:lnSpc>
                <a:spcPct val="104000"/>
              </a:lnSpc>
              <a:buNone/>
              <a:defRPr sz="1500" b="1">
                <a:solidFill>
                  <a:srgbClr val="17223B"/>
                </a:solidFill>
                <a:latin typeface="Arial"/>
                <a:ea typeface="Arial"/>
                <a:cs typeface="Arial"/>
              </a:defRPr>
            </a:pPr>
            <a:r>
              <a:rPr sz="1500" b="1">
                <a:solidFill>
                  <a:srgbClr val="17223B"/>
                </a:solidFill>
                <a:latin typeface="Arial"/>
                <a:ea typeface="Arial"/>
                <a:cs typeface="Arial"/>
              </a:rPr>
              <a:t>CD25</a:t>
            </a:r>
          </a:p>
        </p:txBody>
      </p:sp>
      <p:sp>
        <p:nvSpPr>
          <p:cNvPr id="8" name="">
            <a:extLst xmlns:a="http://schemas.openxmlformats.org/drawingml/2006/main">
              <a:ext uri="{FF2B5EF4-FFF2-40B4-BE49-F238E27FC236}">
                <a16:creationId xmlns:a16="http://schemas.microsoft.com/office/drawing/2014/main" id="{3FA5147B-F615-4A24-80F5-9D991B5167AE}"/>
              </a:ext>
            </a:extLst>
          </p:cNvPr>
          <p:cNvSpPr>
            <a:spLocks xmlns:a="http://schemas.openxmlformats.org/drawingml/2006/main" noGrp="1"/>
          </p:cNvSpPr>
          <p:nvPr/>
        </p:nvSpPr>
        <p:spPr>
          <a:xfrm xmlns:a="http://schemas.openxmlformats.org/drawingml/2006/main">
            <a:off x="9620250" y="20193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718"/>
          </a:bodyPr>
          <a:lstStyle xmlns:a="http://schemas.openxmlformats.org/drawingml/2006/main"/>
          <a:p xmlns:a="http://schemas.openxmlformats.org/drawingml/2006/main">
            <a:pPr algn="r">
              <a:lnSpc>
                <a:spcPct val="104000"/>
              </a:lnSpc>
              <a:buNone/>
              <a:defRPr sz="1500" b="1">
                <a:solidFill>
                  <a:srgbClr val="F15B64"/>
                </a:solidFill>
                <a:latin typeface="Arial"/>
                <a:ea typeface="Arial"/>
                <a:cs typeface="Arial"/>
              </a:defRPr>
            </a:pPr>
            <a:r>
              <a:rPr sz="1500" b="1">
                <a:solidFill>
                  <a:srgbClr val="F15B64"/>
                </a:solidFill>
                <a:latin typeface="Arial"/>
                <a:ea typeface="Arial"/>
                <a:cs typeface="Arial"/>
              </a:rPr>
              <a:t>0.779 → 0.825</a:t>
            </a:r>
          </a:p>
        </p:txBody>
      </p:sp>
      <p:sp>
        <p:nvSpPr>
          <p:cNvPr id="9" name="">
            <a:extLst xmlns:a="http://schemas.openxmlformats.org/drawingml/2006/main">
              <a:ext uri="{FF2B5EF4-FFF2-40B4-BE49-F238E27FC236}">
                <a16:creationId xmlns:a16="http://schemas.microsoft.com/office/drawing/2014/main" id="{85BECEDE-FB2E-4A0E-AFC9-8F1F34D51AD1}"/>
              </a:ext>
            </a:extLst>
          </p:cNvPr>
          <p:cNvSpPr>
            <a:spLocks xmlns:a="http://schemas.openxmlformats.org/drawingml/2006/main" noGrp="1"/>
          </p:cNvSpPr>
          <p:nvPr/>
        </p:nvSpPr>
        <p:spPr>
          <a:xfrm xmlns:a="http://schemas.openxmlformats.org/drawingml/2006/main">
            <a:off x="9620250" y="23050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239"/>
          </a:bodyPr>
          <a:lstStyle xmlns:a="http://schemas.openxmlformats.org/drawingml/2006/main"/>
          <a:p xmlns:a="http://schemas.openxmlformats.org/drawingml/2006/main">
            <a:pPr algn="r">
              <a:lnSpc>
                <a:spcPct val="104000"/>
              </a:lnSpc>
              <a:buNone/>
              <a:defRPr sz="1125" b="0">
                <a:solidFill>
                  <a:srgbClr val="687086"/>
                </a:solidFill>
                <a:latin typeface="Arial"/>
                <a:ea typeface="Arial"/>
                <a:cs typeface="Arial"/>
              </a:defRPr>
            </a:pPr>
            <a:r>
              <a:rPr sz="1125" b="0">
                <a:solidFill>
                  <a:srgbClr val="687086"/>
                </a:solidFill>
                <a:latin typeface="Arial"/>
                <a:ea typeface="Arial"/>
                <a:cs typeface="Arial"/>
              </a:rPr>
              <a:t>q = 0.0039</a:t>
            </a:r>
          </a:p>
        </p:txBody>
      </p:sp>
      <p:sp>
        <p:nvSpPr>
          <p:cNvPr id="10" name="">
            <a:extLst xmlns:a="http://schemas.openxmlformats.org/drawingml/2006/main">
              <a:ext uri="{FF2B5EF4-FFF2-40B4-BE49-F238E27FC236}">
                <a16:creationId xmlns:a16="http://schemas.microsoft.com/office/drawing/2014/main" id="{06308672-3F86-40D9-8CB8-B6025A64C15D}"/>
              </a:ext>
            </a:extLst>
          </p:cNvPr>
          <p:cNvSpPr>
            <a:spLocks xmlns:a="http://schemas.openxmlformats.org/drawingml/2006/main" noGrp="1"/>
          </p:cNvSpPr>
          <p:nvPr/>
        </p:nvSpPr>
        <p:spPr>
          <a:xfrm xmlns:a="http://schemas.openxmlformats.org/drawingml/2006/main">
            <a:off x="8763000" y="28956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718"/>
          </a:bodyPr>
          <a:lstStyle xmlns:a="http://schemas.openxmlformats.org/drawingml/2006/main"/>
          <a:p xmlns:a="http://schemas.openxmlformats.org/drawingml/2006/main">
            <a:pPr algn="l">
              <a:lnSpc>
                <a:spcPct val="104000"/>
              </a:lnSpc>
              <a:buNone/>
              <a:defRPr sz="1500" b="1">
                <a:solidFill>
                  <a:srgbClr val="17223B"/>
                </a:solidFill>
                <a:latin typeface="Arial"/>
                <a:ea typeface="Arial"/>
                <a:cs typeface="Arial"/>
              </a:defRPr>
            </a:pPr>
            <a:r>
              <a:rPr sz="1500" b="1">
                <a:solidFill>
                  <a:srgbClr val="17223B"/>
                </a:solidFill>
                <a:latin typeface="Arial"/>
                <a:ea typeface="Arial"/>
                <a:cs typeface="Arial"/>
              </a:rPr>
              <a:t>CD69</a:t>
            </a:r>
          </a:p>
        </p:txBody>
      </p:sp>
      <p:sp>
        <p:nvSpPr>
          <p:cNvPr id="11" name="">
            <a:extLst xmlns:a="http://schemas.openxmlformats.org/drawingml/2006/main">
              <a:ext uri="{FF2B5EF4-FFF2-40B4-BE49-F238E27FC236}">
                <a16:creationId xmlns:a16="http://schemas.microsoft.com/office/drawing/2014/main" id="{E12A9413-2E74-4D45-818C-DE8A325BC708}"/>
              </a:ext>
            </a:extLst>
          </p:cNvPr>
          <p:cNvSpPr>
            <a:spLocks xmlns:a="http://schemas.openxmlformats.org/drawingml/2006/main" noGrp="1"/>
          </p:cNvSpPr>
          <p:nvPr/>
        </p:nvSpPr>
        <p:spPr>
          <a:xfrm xmlns:a="http://schemas.openxmlformats.org/drawingml/2006/main">
            <a:off x="9620250" y="28956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718"/>
          </a:bodyPr>
          <a:lstStyle xmlns:a="http://schemas.openxmlformats.org/drawingml/2006/main"/>
          <a:p xmlns:a="http://schemas.openxmlformats.org/drawingml/2006/main">
            <a:pPr algn="r">
              <a:lnSpc>
                <a:spcPct val="104000"/>
              </a:lnSpc>
              <a:buNone/>
              <a:defRPr sz="1500" b="1">
                <a:solidFill>
                  <a:srgbClr val="F15B64"/>
                </a:solidFill>
                <a:latin typeface="Arial"/>
                <a:ea typeface="Arial"/>
                <a:cs typeface="Arial"/>
              </a:defRPr>
            </a:pPr>
            <a:r>
              <a:rPr sz="1500" b="1">
                <a:solidFill>
                  <a:srgbClr val="F15B64"/>
                </a:solidFill>
                <a:latin typeface="Arial"/>
                <a:ea typeface="Arial"/>
                <a:cs typeface="Arial"/>
              </a:rPr>
              <a:t>0.822 → 0.873</a:t>
            </a:r>
          </a:p>
        </p:txBody>
      </p:sp>
      <p:sp>
        <p:nvSpPr>
          <p:cNvPr id="12" name="">
            <a:extLst xmlns:a="http://schemas.openxmlformats.org/drawingml/2006/main">
              <a:ext uri="{FF2B5EF4-FFF2-40B4-BE49-F238E27FC236}">
                <a16:creationId xmlns:a16="http://schemas.microsoft.com/office/drawing/2014/main" id="{F6653246-E945-42C6-BD10-BB41ACB68613}"/>
              </a:ext>
            </a:extLst>
          </p:cNvPr>
          <p:cNvSpPr>
            <a:spLocks xmlns:a="http://schemas.openxmlformats.org/drawingml/2006/main" noGrp="1"/>
          </p:cNvSpPr>
          <p:nvPr/>
        </p:nvSpPr>
        <p:spPr>
          <a:xfrm xmlns:a="http://schemas.openxmlformats.org/drawingml/2006/main">
            <a:off x="9620250" y="31813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239"/>
          </a:bodyPr>
          <a:lstStyle xmlns:a="http://schemas.openxmlformats.org/drawingml/2006/main"/>
          <a:p xmlns:a="http://schemas.openxmlformats.org/drawingml/2006/main">
            <a:pPr algn="r">
              <a:lnSpc>
                <a:spcPct val="104000"/>
              </a:lnSpc>
              <a:buNone/>
              <a:defRPr sz="1125" b="0">
                <a:solidFill>
                  <a:srgbClr val="687086"/>
                </a:solidFill>
                <a:latin typeface="Arial"/>
                <a:ea typeface="Arial"/>
                <a:cs typeface="Arial"/>
              </a:defRPr>
            </a:pPr>
            <a:r>
              <a:rPr sz="1125" b="0">
                <a:solidFill>
                  <a:srgbClr val="687086"/>
                </a:solidFill>
                <a:latin typeface="Arial"/>
                <a:ea typeface="Arial"/>
                <a:cs typeface="Arial"/>
              </a:rPr>
              <a:t>q = 0.0039</a:t>
            </a:r>
          </a:p>
        </p:txBody>
      </p:sp>
      <p:sp>
        <p:nvSpPr>
          <p:cNvPr id="13" name="">
            <a:extLst xmlns:a="http://schemas.openxmlformats.org/drawingml/2006/main">
              <a:ext uri="{FF2B5EF4-FFF2-40B4-BE49-F238E27FC236}">
                <a16:creationId xmlns:a16="http://schemas.microsoft.com/office/drawing/2014/main" id="{0D75D9AE-6E7A-4254-A39B-377EA7CE5E43}"/>
              </a:ext>
            </a:extLst>
          </p:cNvPr>
          <p:cNvSpPr>
            <a:spLocks xmlns:a="http://schemas.openxmlformats.org/drawingml/2006/main" noGrp="1"/>
          </p:cNvSpPr>
          <p:nvPr/>
        </p:nvSpPr>
        <p:spPr>
          <a:xfrm xmlns:a="http://schemas.openxmlformats.org/drawingml/2006/main">
            <a:off x="8763000" y="377190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718"/>
          </a:bodyPr>
          <a:lstStyle xmlns:a="http://schemas.openxmlformats.org/drawingml/2006/main"/>
          <a:p xmlns:a="http://schemas.openxmlformats.org/drawingml/2006/main">
            <a:pPr algn="l">
              <a:lnSpc>
                <a:spcPct val="104000"/>
              </a:lnSpc>
              <a:buNone/>
              <a:defRPr sz="1500" b="1">
                <a:solidFill>
                  <a:srgbClr val="17223B"/>
                </a:solidFill>
                <a:latin typeface="Arial"/>
                <a:ea typeface="Arial"/>
                <a:cs typeface="Arial"/>
              </a:defRPr>
            </a:pPr>
            <a:r>
              <a:rPr sz="1500" b="1">
                <a:solidFill>
                  <a:srgbClr val="17223B"/>
                </a:solidFill>
                <a:latin typeface="Arial"/>
                <a:ea typeface="Arial"/>
                <a:cs typeface="Arial"/>
              </a:rPr>
              <a:t>HLA-DR</a:t>
            </a:r>
          </a:p>
        </p:txBody>
      </p:sp>
      <p:sp>
        <p:nvSpPr>
          <p:cNvPr id="14" name="">
            <a:extLst xmlns:a="http://schemas.openxmlformats.org/drawingml/2006/main">
              <a:ext uri="{FF2B5EF4-FFF2-40B4-BE49-F238E27FC236}">
                <a16:creationId xmlns:a16="http://schemas.microsoft.com/office/drawing/2014/main" id="{F437B5CC-3E14-485A-ACED-0DC2335AD389}"/>
              </a:ext>
            </a:extLst>
          </p:cNvPr>
          <p:cNvSpPr>
            <a:spLocks xmlns:a="http://schemas.openxmlformats.org/drawingml/2006/main" noGrp="1"/>
          </p:cNvSpPr>
          <p:nvPr/>
        </p:nvSpPr>
        <p:spPr>
          <a:xfrm xmlns:a="http://schemas.openxmlformats.org/drawingml/2006/main">
            <a:off x="9620250" y="37719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718"/>
          </a:bodyPr>
          <a:lstStyle xmlns:a="http://schemas.openxmlformats.org/drawingml/2006/main"/>
          <a:p xmlns:a="http://schemas.openxmlformats.org/drawingml/2006/main">
            <a:pPr algn="r">
              <a:lnSpc>
                <a:spcPct val="104000"/>
              </a:lnSpc>
              <a:buNone/>
              <a:defRPr sz="1500" b="1">
                <a:solidFill>
                  <a:srgbClr val="F15B64"/>
                </a:solidFill>
                <a:latin typeface="Arial"/>
                <a:ea typeface="Arial"/>
                <a:cs typeface="Arial"/>
              </a:defRPr>
            </a:pPr>
            <a:r>
              <a:rPr sz="1500" b="1">
                <a:solidFill>
                  <a:srgbClr val="F15B64"/>
                </a:solidFill>
                <a:latin typeface="Arial"/>
                <a:ea typeface="Arial"/>
                <a:cs typeface="Arial"/>
              </a:rPr>
              <a:t>0.404 → 0.756</a:t>
            </a:r>
          </a:p>
        </p:txBody>
      </p:sp>
      <p:sp>
        <p:nvSpPr>
          <p:cNvPr id="15" name="">
            <a:extLst xmlns:a="http://schemas.openxmlformats.org/drawingml/2006/main">
              <a:ext uri="{FF2B5EF4-FFF2-40B4-BE49-F238E27FC236}">
                <a16:creationId xmlns:a16="http://schemas.microsoft.com/office/drawing/2014/main" id="{84A83D45-9C9B-49F4-ACC9-0BC989481B20}"/>
              </a:ext>
            </a:extLst>
          </p:cNvPr>
          <p:cNvSpPr>
            <a:spLocks xmlns:a="http://schemas.openxmlformats.org/drawingml/2006/main" noGrp="1"/>
          </p:cNvSpPr>
          <p:nvPr/>
        </p:nvSpPr>
        <p:spPr>
          <a:xfrm xmlns:a="http://schemas.openxmlformats.org/drawingml/2006/main">
            <a:off x="9620250" y="40576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239"/>
          </a:bodyPr>
          <a:lstStyle xmlns:a="http://schemas.openxmlformats.org/drawingml/2006/main"/>
          <a:p xmlns:a="http://schemas.openxmlformats.org/drawingml/2006/main">
            <a:pPr algn="r">
              <a:lnSpc>
                <a:spcPct val="104000"/>
              </a:lnSpc>
              <a:buNone/>
              <a:defRPr sz="1125" b="0">
                <a:solidFill>
                  <a:srgbClr val="687086"/>
                </a:solidFill>
                <a:latin typeface="Arial"/>
                <a:ea typeface="Arial"/>
                <a:cs typeface="Arial"/>
              </a:defRPr>
            </a:pPr>
            <a:r>
              <a:rPr sz="1125" b="0">
                <a:solidFill>
                  <a:srgbClr val="687086"/>
                </a:solidFill>
                <a:latin typeface="Arial"/>
                <a:ea typeface="Arial"/>
                <a:cs typeface="Arial"/>
              </a:rPr>
              <a:t>q = 0.0039</a:t>
            </a:r>
          </a:p>
        </p:txBody>
      </p:sp>
      <p:sp>
        <p:nvSpPr>
          <p:cNvPr id="16" name="">
            <a:extLst xmlns:a="http://schemas.openxmlformats.org/drawingml/2006/main">
              <a:ext uri="{FF2B5EF4-FFF2-40B4-BE49-F238E27FC236}">
                <a16:creationId xmlns:a16="http://schemas.microsoft.com/office/drawing/2014/main" id="{105132D4-B479-4E45-BE62-174F19782874}"/>
              </a:ext>
            </a:extLst>
          </p:cNvPr>
          <p:cNvSpPr>
            <a:spLocks xmlns:a="http://schemas.openxmlformats.org/drawingml/2006/main" noGrp="1"/>
          </p:cNvSpPr>
          <p:nvPr/>
        </p:nvSpPr>
        <p:spPr>
          <a:xfrm xmlns:a="http://schemas.openxmlformats.org/drawingml/2006/main">
            <a:off x="8763000" y="4762500"/>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6C3ED9"/>
                </a:solidFill>
                <a:latin typeface="Arial"/>
                <a:ea typeface="Arial"/>
                <a:cs typeface="Arial"/>
              </a:defRPr>
            </a:pPr>
            <a:r>
              <a:rPr sz="1350" b="1">
                <a:solidFill>
                  <a:srgbClr val="6C3ED9"/>
                </a:solidFill>
                <a:latin typeface="Arial"/>
                <a:ea typeface="Arial"/>
                <a:cs typeface="Arial"/>
              </a:rPr>
              <a:t>Hardest subset</a:t>
            </a:r>
          </a:p>
        </p:txBody>
      </p:sp>
      <p:sp>
        <p:nvSpPr>
          <p:cNvPr id="17" name="">
            <a:extLst xmlns:a="http://schemas.openxmlformats.org/drawingml/2006/main">
              <a:ext uri="{FF2B5EF4-FFF2-40B4-BE49-F238E27FC236}">
                <a16:creationId xmlns:a16="http://schemas.microsoft.com/office/drawing/2014/main" id="{33A1A422-1CB5-449F-B2BA-20D96B2B91C8}"/>
              </a:ext>
            </a:extLst>
          </p:cNvPr>
          <p:cNvSpPr>
            <a:spLocks xmlns:a="http://schemas.openxmlformats.org/drawingml/2006/main" noGrp="1"/>
          </p:cNvSpPr>
          <p:nvPr/>
        </p:nvSpPr>
        <p:spPr>
          <a:xfrm xmlns:a="http://schemas.openxmlformats.org/drawingml/2006/main">
            <a:off x="8763000" y="5105400"/>
            <a:ext cx="257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52"/>
          </a:bodyPr>
          <a:lstStyle xmlns:a="http://schemas.openxmlformats.org/drawingml/2006/main"/>
          <a:p xmlns:a="http://schemas.openxmlformats.org/drawingml/2006/main">
            <a:pPr algn="l">
              <a:lnSpc>
                <a:spcPct val="104000"/>
              </a:lnSpc>
              <a:buNone/>
              <a:defRPr sz="1650" b="1">
                <a:solidFill>
                  <a:srgbClr val="17223B"/>
                </a:solidFill>
                <a:latin typeface="Arial"/>
                <a:ea typeface="Arial"/>
                <a:cs typeface="Arial"/>
              </a:defRPr>
            </a:pPr>
            <a:r>
              <a:rPr sz="1650" b="1">
                <a:solidFill>
                  <a:srgbClr val="17223B"/>
                </a:solidFill>
                <a:latin typeface="Arial"/>
                <a:ea typeface="Arial"/>
                <a:cs typeface="Arial"/>
              </a:rPr>
              <a:t>HLA-DR discordant cells:</a:t>
            </a:r>
          </a:p>
          <a:p xmlns:a="http://schemas.openxmlformats.org/drawingml/2006/main">
            <a:pPr algn="l">
              <a:lnSpc>
                <a:spcPct val="104000"/>
              </a:lnSpc>
              <a:buNone/>
              <a:defRPr sz="1650" b="1">
                <a:solidFill>
                  <a:srgbClr val="17223B"/>
                </a:solidFill>
                <a:latin typeface="Arial"/>
                <a:ea typeface="Arial"/>
                <a:cs typeface="Arial"/>
              </a:defRPr>
            </a:pPr>
            <a:r>
              <a:rPr sz="1650" b="1">
                <a:solidFill>
                  <a:srgbClr val="17223B"/>
                </a:solidFill>
                <a:latin typeface="Arial"/>
                <a:ea typeface="Arial"/>
                <a:cs typeface="Arial"/>
              </a:rPr>
              <a:t>−0.175 → 0.637</a:t>
            </a:r>
          </a:p>
          <a:p xmlns:a="http://schemas.openxmlformats.org/drawingml/2006/main">
            <a:pPr algn="l">
              <a:lnSpc>
                <a:spcPct val="104000"/>
              </a:lnSpc>
              <a:buNone/>
              <a:defRPr sz="1650" b="1">
                <a:solidFill>
                  <a:srgbClr val="17223B"/>
                </a:solidFill>
                <a:latin typeface="Arial"/>
                <a:ea typeface="Arial"/>
                <a:cs typeface="Arial"/>
              </a:defRPr>
            </a:pPr>
            <a:r>
              <a:rPr sz="1650" b="1">
                <a:solidFill>
                  <a:srgbClr val="17223B"/>
                </a:solidFill>
                <a:latin typeface="Arial"/>
                <a:ea typeface="Arial"/>
                <a:cs typeface="Arial"/>
              </a:rPr>
              <a:t>q = 0.0117</a:t>
            </a:r>
          </a:p>
        </p:txBody>
      </p:sp>
    </p:spTree>
    <p:extLst>
      <p:ext uri="{BB962C8B-B14F-4D97-AF65-F5344CB8AC3E}">
        <p14:creationId xmlns:p14="http://schemas.microsoft.com/office/powerpoint/2010/main" val="54632457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3E33F43-3FEF-4AED-A52E-B42E73722DD6}"/>
              </a:ext>
            </a:extLst>
          </p:cNvPr>
          <p:cNvSpPr>
            <a:spLocks xmlns:a="http://schemas.openxmlformats.org/drawingml/2006/main" noGrp="1"/>
          </p:cNvSpPr>
          <p:nvPr/>
        </p:nvSpPr>
        <p:spPr>
          <a:xfrm xmlns:a="http://schemas.openxmlformats.org/drawingml/2006/main">
            <a:off x="685800" y="3238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D8A9A"/>
                </a:solidFill>
                <a:latin typeface="Arial"/>
                <a:ea typeface="Arial"/>
                <a:cs typeface="Arial"/>
              </a:defRPr>
            </a:pPr>
            <a:r>
              <a:rPr sz="1050" b="1">
                <a:solidFill>
                  <a:srgbClr val="0D8A9A"/>
                </a:solidFill>
                <a:latin typeface="Arial"/>
                <a:ea typeface="Arial"/>
                <a:cs typeface="Arial"/>
              </a:rPr>
              <a:t>WHY IT WORKS</a:t>
            </a:r>
          </a:p>
        </p:txBody>
      </p:sp>
      <p:sp>
        <p:nvSpPr>
          <p:cNvPr id="2" name="">
            <a:extLst xmlns:a="http://schemas.openxmlformats.org/drawingml/2006/main">
              <a:ext uri="{FF2B5EF4-FFF2-40B4-BE49-F238E27FC236}">
                <a16:creationId xmlns:a16="http://schemas.microsoft.com/office/drawing/2014/main" id="{5945B7DE-10A9-40BD-AF69-0FE9D1DEA8F9}"/>
              </a:ext>
            </a:extLst>
          </p:cNvPr>
          <p:cNvSpPr>
            <a:spLocks xmlns:a="http://schemas.openxmlformats.org/drawingml/2006/main" noGrp="1"/>
          </p:cNvSpPr>
          <p:nvPr/>
        </p:nvSpPr>
        <p:spPr>
          <a:xfrm xmlns:a="http://schemas.openxmlformats.org/drawingml/2006/main">
            <a:off x="685800" y="5905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23B"/>
                </a:solidFill>
                <a:latin typeface="Arial"/>
                <a:ea typeface="Arial"/>
                <a:cs typeface="Arial"/>
              </a:defRPr>
            </a:pPr>
            <a:r>
              <a:rPr sz="2850" b="1">
                <a:solidFill>
                  <a:srgbClr val="17223B"/>
                </a:solidFill>
                <a:latin typeface="Arial"/>
                <a:ea typeface="Arial"/>
                <a:cs typeface="Arial"/>
              </a:rPr>
              <a:t>Protein context rescues markers when RNA is misleading</a:t>
            </a:r>
          </a:p>
        </p:txBody>
      </p:sp>
      <p:sp>
        <p:nvSpPr>
          <p:cNvPr id="3" name="">
            <a:extLst xmlns:a="http://schemas.openxmlformats.org/drawingml/2006/main">
              <a:ext uri="{FF2B5EF4-FFF2-40B4-BE49-F238E27FC236}">
                <a16:creationId xmlns:a16="http://schemas.microsoft.com/office/drawing/2014/main" id="{19C0DDBB-4370-46CE-B81D-00D103F48FA7}"/>
              </a:ext>
            </a:extLst>
          </p:cNvPr>
          <p:cNvSpPr>
            <a:spLocks xmlns:a="http://schemas.openxmlformats.org/drawingml/2006/main" noGrp="1"/>
          </p:cNvSpPr>
          <p:nvPr/>
        </p:nvSpPr>
        <p:spPr>
          <a:xfrm xmlns:a="http://schemas.openxmlformats.org/drawingml/2006/main">
            <a:off x="685800" y="1257300"/>
            <a:ext cx="838200" cy="47625"/>
          </a:xfrm>
          <a:prstGeom xmlns:a="http://schemas.openxmlformats.org/drawingml/2006/main" prst="rect">
            <a:avLst/>
          </a:prstGeom>
          <a:solidFill xmlns:a="http://schemas.openxmlformats.org/drawingml/2006/main">
            <a:srgbClr val="F15B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6782E9-90D2-452C-B46C-9D052A674145}"/>
              </a:ext>
            </a:extLst>
          </p:cNvPr>
          <p:cNvSpPr>
            <a:spLocks xmlns:a="http://schemas.openxmlformats.org/drawingml/2006/main" noGrp="1"/>
          </p:cNvSpPr>
          <p:nvPr/>
        </p:nvSpPr>
        <p:spPr>
          <a:xfrm xmlns:a="http://schemas.openxmlformats.org/drawingml/2006/main">
            <a:off x="11334750" y="33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87086"/>
                </a:solidFill>
                <a:latin typeface="Arial"/>
                <a:ea typeface="Arial"/>
                <a:cs typeface="Arial"/>
              </a:defRPr>
            </a:pPr>
            <a:r>
              <a:rPr sz="1050" b="1">
                <a:solidFill>
                  <a:srgbClr val="687086"/>
                </a:solidFill>
                <a:latin typeface="Arial"/>
                <a:ea typeface="Arial"/>
                <a:cs typeface="Arial"/>
              </a:rPr>
              <a:t>08</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f1d24e738a7e4212"/>
          <a:stretch xmlns:a="http://schemas.openxmlformats.org/drawingml/2006/main"/>
        </p:blipFill>
        <p:spPr>
          <a:xfrm xmlns:a="http://schemas.openxmlformats.org/drawingml/2006/main">
            <a:off x="789200" y="1428750"/>
            <a:ext cx="10461201" cy="4000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F0BA982-3E6D-4F07-8F6B-DAC46D66EE51}"/>
              </a:ext>
            </a:extLst>
          </p:cNvPr>
          <p:cNvSpPr>
            <a:spLocks xmlns:a="http://schemas.openxmlformats.org/drawingml/2006/main" noGrp="1"/>
          </p:cNvSpPr>
          <p:nvPr/>
        </p:nvSpPr>
        <p:spPr>
          <a:xfrm xmlns:a="http://schemas.openxmlformats.org/drawingml/2006/main">
            <a:off x="876300" y="5600700"/>
            <a:ext cx="10439400" cy="723900"/>
          </a:xfrm>
          <a:prstGeom xmlns:a="http://schemas.openxmlformats.org/drawingml/2006/main" prst="roundRect">
            <a:avLst>
              <a:gd name="adj" fmla="val 15789"/>
            </a:avLst>
          </a:prstGeom>
          <a:solidFill xmlns:a="http://schemas.openxmlformats.org/drawingml/2006/main">
            <a:srgbClr val="DDF3F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2AAB01-92FC-4898-B14C-80D0CA8C35CE}"/>
              </a:ext>
            </a:extLst>
          </p:cNvPr>
          <p:cNvSpPr>
            <a:spLocks xmlns:a="http://schemas.openxmlformats.org/drawingml/2006/main" noGrp="1"/>
          </p:cNvSpPr>
          <p:nvPr/>
        </p:nvSpPr>
        <p:spPr>
          <a:xfrm xmlns:a="http://schemas.openxmlformats.org/drawingml/2006/main">
            <a:off x="1143000" y="5772150"/>
            <a:ext cx="990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898"/>
          </a:bodyPr>
          <a:lstStyle xmlns:a="http://schemas.openxmlformats.org/drawingml/2006/main"/>
          <a:p xmlns:a="http://schemas.openxmlformats.org/drawingml/2006/main">
            <a:pPr algn="ctr">
              <a:lnSpc>
                <a:spcPct val="104000"/>
              </a:lnSpc>
              <a:buNone/>
              <a:defRPr sz="1650" b="1">
                <a:solidFill>
                  <a:srgbClr val="223A69"/>
                </a:solidFill>
                <a:latin typeface="Arial"/>
                <a:ea typeface="Arial"/>
                <a:cs typeface="Arial"/>
              </a:defRPr>
            </a:pPr>
            <a:r>
              <a:rPr sz="1650" b="1">
                <a:solidFill>
                  <a:srgbClr val="223A69"/>
                </a:solidFill>
                <a:latin typeface="Arial"/>
                <a:ea typeface="Arial"/>
                <a:cs typeface="Arial"/>
              </a:rPr>
              <a:t>RNA proxy alone fails in discordant cells  →  the other surface proteins preserve activation-state information</a:t>
            </a:r>
          </a:p>
        </p:txBody>
      </p:sp>
    </p:spTree>
    <p:extLst>
      <p:ext uri="{BB962C8B-B14F-4D97-AF65-F5344CB8AC3E}">
        <p14:creationId xmlns:p14="http://schemas.microsoft.com/office/powerpoint/2010/main" val="16376766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A1844CA-0C88-462D-B117-297ED91D82F7}"/>
              </a:ext>
            </a:extLst>
          </p:cNvPr>
          <p:cNvSpPr>
            <a:spLocks xmlns:a="http://schemas.openxmlformats.org/drawingml/2006/main" noGrp="1"/>
          </p:cNvSpPr>
          <p:nvPr/>
        </p:nvSpPr>
        <p:spPr>
          <a:xfrm xmlns:a="http://schemas.openxmlformats.org/drawingml/2006/main">
            <a:off x="685800" y="3238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D8A9A"/>
                </a:solidFill>
                <a:latin typeface="Arial"/>
                <a:ea typeface="Arial"/>
                <a:cs typeface="Arial"/>
              </a:defRPr>
            </a:pPr>
            <a:r>
              <a:rPr sz="1050" b="1">
                <a:solidFill>
                  <a:srgbClr val="0D8A9A"/>
                </a:solidFill>
                <a:latin typeface="Arial"/>
                <a:ea typeface="Arial"/>
                <a:cs typeface="Arial"/>
              </a:rPr>
              <a:t>MECHANISTIC RESULT</a:t>
            </a:r>
          </a:p>
        </p:txBody>
      </p:sp>
      <p:sp>
        <p:nvSpPr>
          <p:cNvPr id="2" name="">
            <a:extLst xmlns:a="http://schemas.openxmlformats.org/drawingml/2006/main">
              <a:ext uri="{FF2B5EF4-FFF2-40B4-BE49-F238E27FC236}">
                <a16:creationId xmlns:a16="http://schemas.microsoft.com/office/drawing/2014/main" id="{88786B1F-9795-4EE9-8812-534AD4738661}"/>
              </a:ext>
            </a:extLst>
          </p:cNvPr>
          <p:cNvSpPr>
            <a:spLocks xmlns:a="http://schemas.openxmlformats.org/drawingml/2006/main" noGrp="1"/>
          </p:cNvSpPr>
          <p:nvPr/>
        </p:nvSpPr>
        <p:spPr>
          <a:xfrm xmlns:a="http://schemas.openxmlformats.org/drawingml/2006/main">
            <a:off x="685800" y="5905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23B"/>
                </a:solidFill>
                <a:latin typeface="Arial"/>
                <a:ea typeface="Arial"/>
                <a:cs typeface="Arial"/>
              </a:defRPr>
            </a:pPr>
            <a:r>
              <a:rPr sz="2850" b="1">
                <a:solidFill>
                  <a:srgbClr val="17223B"/>
                </a:solidFill>
                <a:latin typeface="Arial"/>
                <a:ea typeface="Arial"/>
                <a:cs typeface="Arial"/>
              </a:rPr>
              <a:t>The unsupervised gate still teaches us something</a:t>
            </a:r>
          </a:p>
        </p:txBody>
      </p:sp>
      <p:sp>
        <p:nvSpPr>
          <p:cNvPr id="3" name="">
            <a:extLst xmlns:a="http://schemas.openxmlformats.org/drawingml/2006/main">
              <a:ext uri="{FF2B5EF4-FFF2-40B4-BE49-F238E27FC236}">
                <a16:creationId xmlns:a16="http://schemas.microsoft.com/office/drawing/2014/main" id="{BA961D09-E434-47AE-82B5-C7971F67B595}"/>
              </a:ext>
            </a:extLst>
          </p:cNvPr>
          <p:cNvSpPr>
            <a:spLocks xmlns:a="http://schemas.openxmlformats.org/drawingml/2006/main" noGrp="1"/>
          </p:cNvSpPr>
          <p:nvPr/>
        </p:nvSpPr>
        <p:spPr>
          <a:xfrm xmlns:a="http://schemas.openxmlformats.org/drawingml/2006/main">
            <a:off x="685800" y="1257300"/>
            <a:ext cx="838200" cy="47625"/>
          </a:xfrm>
          <a:prstGeom xmlns:a="http://schemas.openxmlformats.org/drawingml/2006/main" prst="rect">
            <a:avLst/>
          </a:prstGeom>
          <a:solidFill xmlns:a="http://schemas.openxmlformats.org/drawingml/2006/main">
            <a:srgbClr val="F15B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7D978F2-D677-4E6A-BCF5-798071540933}"/>
              </a:ext>
            </a:extLst>
          </p:cNvPr>
          <p:cNvSpPr>
            <a:spLocks xmlns:a="http://schemas.openxmlformats.org/drawingml/2006/main" noGrp="1"/>
          </p:cNvSpPr>
          <p:nvPr/>
        </p:nvSpPr>
        <p:spPr>
          <a:xfrm xmlns:a="http://schemas.openxmlformats.org/drawingml/2006/main">
            <a:off x="11334750" y="33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87086"/>
                </a:solidFill>
                <a:latin typeface="Arial"/>
                <a:ea typeface="Arial"/>
                <a:cs typeface="Arial"/>
              </a:defRPr>
            </a:pPr>
            <a:r>
              <a:rPr sz="1050" b="1">
                <a:solidFill>
                  <a:srgbClr val="687086"/>
                </a:solidFill>
                <a:latin typeface="Arial"/>
                <a:ea typeface="Arial"/>
                <a:cs typeface="Arial"/>
              </a:rPr>
              <a:t>09</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588e6ac62f24f7d"/>
          <a:stretch xmlns:a="http://schemas.openxmlformats.org/drawingml/2006/main"/>
        </p:blipFill>
        <p:spPr>
          <a:xfrm xmlns:a="http://schemas.openxmlformats.org/drawingml/2006/main">
            <a:off x="438150" y="1945817"/>
            <a:ext cx="8001000" cy="3328317"/>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ACB4EF8-2710-441F-A8F1-A393499415F1}"/>
              </a:ext>
            </a:extLst>
          </p:cNvPr>
          <p:cNvSpPr>
            <a:spLocks xmlns:a="http://schemas.openxmlformats.org/drawingml/2006/main" noGrp="1"/>
          </p:cNvSpPr>
          <p:nvPr/>
        </p:nvSpPr>
        <p:spPr>
          <a:xfrm xmlns:a="http://schemas.openxmlformats.org/drawingml/2006/main">
            <a:off x="8858250" y="1790700"/>
            <a:ext cx="2190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2850" b="1">
                <a:solidFill>
                  <a:srgbClr val="0D8A9A"/>
                </a:solidFill>
                <a:latin typeface="Arial"/>
                <a:ea typeface="Arial"/>
                <a:cs typeface="Arial"/>
              </a:defRPr>
            </a:pPr>
            <a:r>
              <a:rPr sz="2850" b="1">
                <a:solidFill>
                  <a:srgbClr val="0D8A9A"/>
                </a:solidFill>
                <a:latin typeface="Arial"/>
                <a:ea typeface="Arial"/>
                <a:cs typeface="Arial"/>
              </a:rPr>
              <a:t>+0.096</a:t>
            </a:r>
          </a:p>
        </p:txBody>
      </p:sp>
      <p:sp>
        <p:nvSpPr>
          <p:cNvPr id="7" name="">
            <a:extLst xmlns:a="http://schemas.openxmlformats.org/drawingml/2006/main">
              <a:ext uri="{FF2B5EF4-FFF2-40B4-BE49-F238E27FC236}">
                <a16:creationId xmlns:a16="http://schemas.microsoft.com/office/drawing/2014/main" id="{1622FED7-BEAA-49C2-A41D-55C94C2C1AC3}"/>
              </a:ext>
            </a:extLst>
          </p:cNvPr>
          <p:cNvSpPr>
            <a:spLocks xmlns:a="http://schemas.openxmlformats.org/drawingml/2006/main" noGrp="1"/>
          </p:cNvSpPr>
          <p:nvPr/>
        </p:nvSpPr>
        <p:spPr>
          <a:xfrm xmlns:a="http://schemas.openxmlformats.org/drawingml/2006/main">
            <a:off x="8858250" y="2381250"/>
            <a:ext cx="2190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81"/>
          </a:bodyPr>
          <a:lstStyle xmlns:a="http://schemas.openxmlformats.org/drawingml/2006/main"/>
          <a:p xmlns:a="http://schemas.openxmlformats.org/drawingml/2006/main">
            <a:pPr algn="ctr">
              <a:lnSpc>
                <a:spcPct val="104000"/>
              </a:lnSpc>
              <a:buNone/>
              <a:defRPr sz="1350" b="1">
                <a:solidFill>
                  <a:srgbClr val="687086"/>
                </a:solidFill>
                <a:latin typeface="Arial"/>
                <a:ea typeface="Arial"/>
                <a:cs typeface="Arial"/>
              </a:defRPr>
            </a:pPr>
            <a:r>
              <a:rPr sz="1350" b="1">
                <a:solidFill>
                  <a:srgbClr val="687086"/>
                </a:solidFill>
                <a:latin typeface="Arial"/>
                <a:ea typeface="Arial"/>
                <a:cs typeface="Arial"/>
              </a:rPr>
              <a:t>protein weight after</a:t>
            </a:r>
          </a:p>
          <a:p xmlns:a="http://schemas.openxmlformats.org/drawingml/2006/main">
            <a:pPr algn="ctr">
              <a:lnSpc>
                <a:spcPct val="104000"/>
              </a:lnSpc>
              <a:buNone/>
              <a:defRPr sz="1350" b="1">
                <a:solidFill>
                  <a:srgbClr val="687086"/>
                </a:solidFill>
                <a:latin typeface="Arial"/>
                <a:ea typeface="Arial"/>
                <a:cs typeface="Arial"/>
              </a:defRPr>
            </a:pPr>
            <a:r>
              <a:rPr sz="1350" b="1">
                <a:solidFill>
                  <a:srgbClr val="687086"/>
                </a:solidFill>
                <a:latin typeface="Arial"/>
                <a:ea typeface="Arial"/>
                <a:cs typeface="Arial"/>
              </a:rPr>
              <a:t>anti-CD3/CD28 vs baseline</a:t>
            </a:r>
          </a:p>
        </p:txBody>
      </p:sp>
      <p:sp>
        <p:nvSpPr>
          <p:cNvPr id="8" name="">
            <a:extLst xmlns:a="http://schemas.openxmlformats.org/drawingml/2006/main">
              <a:ext uri="{FF2B5EF4-FFF2-40B4-BE49-F238E27FC236}">
                <a16:creationId xmlns:a16="http://schemas.microsoft.com/office/drawing/2014/main" id="{24A4D675-88E7-42F4-B764-118C9E93A926}"/>
              </a:ext>
            </a:extLst>
          </p:cNvPr>
          <p:cNvSpPr>
            <a:spLocks xmlns:a="http://schemas.openxmlformats.org/drawingml/2006/main" noGrp="1"/>
          </p:cNvSpPr>
          <p:nvPr/>
        </p:nvSpPr>
        <p:spPr>
          <a:xfrm xmlns:a="http://schemas.openxmlformats.org/drawingml/2006/main">
            <a:off x="8858250" y="3524250"/>
            <a:ext cx="2190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2850" b="1">
                <a:solidFill>
                  <a:srgbClr val="F15B64"/>
                </a:solidFill>
                <a:latin typeface="Arial"/>
                <a:ea typeface="Arial"/>
                <a:cs typeface="Arial"/>
              </a:defRPr>
            </a:pPr>
            <a:r>
              <a:rPr sz="2850" b="1">
                <a:solidFill>
                  <a:srgbClr val="F15B64"/>
                </a:solidFill>
                <a:latin typeface="Arial"/>
                <a:ea typeface="Arial"/>
                <a:cs typeface="Arial"/>
              </a:rPr>
              <a:t>+0.090</a:t>
            </a:r>
          </a:p>
        </p:txBody>
      </p:sp>
      <p:sp>
        <p:nvSpPr>
          <p:cNvPr id="9" name="">
            <a:extLst xmlns:a="http://schemas.openxmlformats.org/drawingml/2006/main">
              <a:ext uri="{FF2B5EF4-FFF2-40B4-BE49-F238E27FC236}">
                <a16:creationId xmlns:a16="http://schemas.microsoft.com/office/drawing/2014/main" id="{887148A5-6CB9-4E48-98BC-39EF1E341E0A}"/>
              </a:ext>
            </a:extLst>
          </p:cNvPr>
          <p:cNvSpPr>
            <a:spLocks xmlns:a="http://schemas.openxmlformats.org/drawingml/2006/main" noGrp="1"/>
          </p:cNvSpPr>
          <p:nvPr/>
        </p:nvSpPr>
        <p:spPr>
          <a:xfrm xmlns:a="http://schemas.openxmlformats.org/drawingml/2006/main">
            <a:off x="8858250" y="4114800"/>
            <a:ext cx="2190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350" b="1">
                <a:solidFill>
                  <a:srgbClr val="687086"/>
                </a:solidFill>
                <a:latin typeface="Arial"/>
                <a:ea typeface="Arial"/>
                <a:cs typeface="Arial"/>
              </a:defRPr>
            </a:pPr>
            <a:r>
              <a:rPr sz="1350" b="1">
                <a:solidFill>
                  <a:srgbClr val="687086"/>
                </a:solidFill>
                <a:latin typeface="Arial"/>
                <a:ea typeface="Arial"/>
                <a:cs typeface="Arial"/>
              </a:rPr>
              <a:t>protein weight in</a:t>
            </a:r>
          </a:p>
          <a:p xmlns:a="http://schemas.openxmlformats.org/drawingml/2006/main">
            <a:pPr algn="ctr">
              <a:lnSpc>
                <a:spcPct val="104000"/>
              </a:lnSpc>
              <a:buNone/>
              <a:defRPr sz="1350" b="1">
                <a:solidFill>
                  <a:srgbClr val="687086"/>
                </a:solidFill>
                <a:latin typeface="Arial"/>
                <a:ea typeface="Arial"/>
                <a:cs typeface="Arial"/>
              </a:defRPr>
            </a:pPr>
            <a:r>
              <a:rPr sz="1350" b="1">
                <a:solidFill>
                  <a:srgbClr val="687086"/>
                </a:solidFill>
                <a:latin typeface="Arial"/>
                <a:ea typeface="Arial"/>
                <a:cs typeface="Arial"/>
              </a:rPr>
              <a:t>CD69-discordant cells</a:t>
            </a:r>
          </a:p>
        </p:txBody>
      </p:sp>
      <p:sp>
        <p:nvSpPr>
          <p:cNvPr id="10" name="">
            <a:extLst xmlns:a="http://schemas.openxmlformats.org/drawingml/2006/main">
              <a:ext uri="{FF2B5EF4-FFF2-40B4-BE49-F238E27FC236}">
                <a16:creationId xmlns:a16="http://schemas.microsoft.com/office/drawing/2014/main" id="{D7D16146-3A1E-4F20-B6B9-EFE14CB9B599}"/>
              </a:ext>
            </a:extLst>
          </p:cNvPr>
          <p:cNvSpPr>
            <a:spLocks xmlns:a="http://schemas.openxmlformats.org/drawingml/2006/main" noGrp="1"/>
          </p:cNvSpPr>
          <p:nvPr/>
        </p:nvSpPr>
        <p:spPr>
          <a:xfrm xmlns:a="http://schemas.openxmlformats.org/drawingml/2006/main">
            <a:off x="8667750" y="5219700"/>
            <a:ext cx="2667000" cy="914400"/>
          </a:xfrm>
          <a:prstGeom xmlns:a="http://schemas.openxmlformats.org/drawingml/2006/main" prst="roundRect">
            <a:avLst>
              <a:gd name="adj" fmla="val 12500"/>
            </a:avLst>
          </a:prstGeom>
          <a:solidFill xmlns:a="http://schemas.openxmlformats.org/drawingml/2006/main">
            <a:srgbClr val="FFE7E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A9A165B-9565-49E4-8738-770F5A6DB69D}"/>
              </a:ext>
            </a:extLst>
          </p:cNvPr>
          <p:cNvSpPr>
            <a:spLocks xmlns:a="http://schemas.openxmlformats.org/drawingml/2006/main" noGrp="1"/>
          </p:cNvSpPr>
          <p:nvPr/>
        </p:nvSpPr>
        <p:spPr>
          <a:xfrm xmlns:a="http://schemas.openxmlformats.org/drawingml/2006/main">
            <a:off x="8858250" y="539115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301"/>
          </a:bodyPr>
          <a:lstStyle xmlns:a="http://schemas.openxmlformats.org/drawingml/2006/main"/>
          <a:p xmlns:a="http://schemas.openxmlformats.org/drawingml/2006/main">
            <a:pPr algn="ctr">
              <a:lnSpc>
                <a:spcPct val="104000"/>
              </a:lnSpc>
              <a:buNone/>
              <a:defRPr sz="1650" b="1">
                <a:solidFill>
                  <a:srgbClr val="F15B64"/>
                </a:solidFill>
                <a:latin typeface="Arial"/>
                <a:ea typeface="Arial"/>
                <a:cs typeface="Arial"/>
              </a:defRPr>
            </a:pPr>
            <a:r>
              <a:rPr sz="1650" b="1">
                <a:solidFill>
                  <a:srgbClr val="F15B64"/>
                </a:solidFill>
                <a:latin typeface="Arial"/>
                <a:ea typeface="Arial"/>
                <a:cs typeface="Arial"/>
              </a:rPr>
              <a:t>Gate ≠ targeted readout</a:t>
            </a:r>
          </a:p>
        </p:txBody>
      </p:sp>
      <p:sp>
        <p:nvSpPr>
          <p:cNvPr id="12" name="">
            <a:extLst xmlns:a="http://schemas.openxmlformats.org/drawingml/2006/main">
              <a:ext uri="{FF2B5EF4-FFF2-40B4-BE49-F238E27FC236}">
                <a16:creationId xmlns:a16="http://schemas.microsoft.com/office/drawing/2014/main" id="{32919308-EB66-4D82-9A43-B40654C24360}"/>
              </a:ext>
            </a:extLst>
          </p:cNvPr>
          <p:cNvSpPr>
            <a:spLocks xmlns:a="http://schemas.openxmlformats.org/drawingml/2006/main" noGrp="1"/>
          </p:cNvSpPr>
          <p:nvPr/>
        </p:nvSpPr>
        <p:spPr>
          <a:xfrm xmlns:a="http://schemas.openxmlformats.org/drawingml/2006/main">
            <a:off x="8858250" y="5743575"/>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3703"/>
          </a:bodyPr>
          <a:lstStyle xmlns:a="http://schemas.openxmlformats.org/drawingml/2006/main"/>
          <a:p xmlns:a="http://schemas.openxmlformats.org/drawingml/2006/main">
            <a:pPr algn="ctr">
              <a:lnSpc>
                <a:spcPct val="104000"/>
              </a:lnSpc>
              <a:buNone/>
              <a:defRPr sz="1275" b="0">
                <a:solidFill>
                  <a:srgbClr val="17223B"/>
                </a:solidFill>
                <a:latin typeface="Arial"/>
                <a:ea typeface="Arial"/>
                <a:cs typeface="Arial"/>
              </a:defRPr>
            </a:pPr>
            <a:r>
              <a:rPr sz="1275" b="0">
                <a:solidFill>
                  <a:srgbClr val="17223B"/>
                </a:solidFill>
                <a:latin typeface="Arial"/>
                <a:ea typeface="Arial"/>
                <a:cs typeface="Arial"/>
              </a:rPr>
              <a:t>Biological context needs endpoint supervision.</a:t>
            </a:r>
          </a:p>
        </p:txBody>
      </p:sp>
    </p:spTree>
    <p:extLst>
      <p:ext uri="{BB962C8B-B14F-4D97-AF65-F5344CB8AC3E}">
        <p14:creationId xmlns:p14="http://schemas.microsoft.com/office/powerpoint/2010/main" val="990709235"/>
      </p:ext>
    </p:extLst>
  </p:cSld>
</p:sld>
</file>

<file path=ppt/slides/slide10.xml><?xml version="1.0" encoding="utf-8"?>
<p:sld xmlns:p="http://schemas.openxmlformats.org/presentationml/2006/main">
  <p:cSld>
    <p:bg>
      <p:bgPr>
        <a:solidFill xmlns:a="http://schemas.openxmlformats.org/drawingml/2006/main">
          <a:srgbClr val="17223B"/>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FF1587-1943-41A1-84D5-1A7F4752D792}"/>
              </a:ext>
            </a:extLst>
          </p:cNvPr>
          <p:cNvSpPr>
            <a:spLocks xmlns:a="http://schemas.openxmlformats.org/drawingml/2006/main" noGrp="1"/>
          </p:cNvSpPr>
          <p:nvPr/>
        </p:nvSpPr>
        <p:spPr>
          <a:xfrm xmlns:a="http://schemas.openxmlformats.org/drawingml/2006/main">
            <a:off x="685800" y="45720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923"/>
          </a:bodyPr>
          <a:lstStyle xmlns:a="http://schemas.openxmlformats.org/drawingml/2006/main"/>
          <a:p xmlns:a="http://schemas.openxmlformats.org/drawingml/2006/main">
            <a:pPr algn="l">
              <a:lnSpc>
                <a:spcPct val="104000"/>
              </a:lnSpc>
              <a:buNone/>
              <a:defRPr sz="1125" b="1">
                <a:solidFill>
                  <a:srgbClr val="DDF3F2"/>
                </a:solidFill>
                <a:latin typeface="Arial"/>
                <a:ea typeface="Arial"/>
                <a:cs typeface="Arial"/>
              </a:defRPr>
            </a:pPr>
            <a:r>
              <a:rPr sz="1125" b="1">
                <a:solidFill>
                  <a:srgbClr val="DDF3F2"/>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B52A03F3-CC7C-4E89-99DB-396D63D55D1F}"/>
              </a:ext>
            </a:extLst>
          </p:cNvPr>
          <p:cNvSpPr>
            <a:spLocks xmlns:a="http://schemas.openxmlformats.org/drawingml/2006/main" noGrp="1"/>
          </p:cNvSpPr>
          <p:nvPr/>
        </p:nvSpPr>
        <p:spPr>
          <a:xfrm xmlns:a="http://schemas.openxmlformats.org/drawingml/2006/main">
            <a:off x="685800" y="895350"/>
            <a:ext cx="933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3000" b="1">
                <a:solidFill>
                  <a:srgbClr val="FFFFFF"/>
                </a:solidFill>
                <a:latin typeface="Arial"/>
                <a:ea typeface="Arial"/>
                <a:cs typeface="Arial"/>
              </a:defRPr>
            </a:pPr>
            <a:r>
              <a:rPr sz="3000" b="1">
                <a:solidFill>
                  <a:srgbClr val="FFFFFF"/>
                </a:solidFill>
                <a:latin typeface="Arial"/>
                <a:ea typeface="Arial"/>
                <a:cs typeface="Arial"/>
              </a:rPr>
              <a:t>Cross-modal context rescues surface biomarkers</a:t>
            </a:r>
          </a:p>
        </p:txBody>
      </p:sp>
      <p:sp>
        <p:nvSpPr>
          <p:cNvPr id="3" name="">
            <a:extLst xmlns:a="http://schemas.openxmlformats.org/drawingml/2006/main">
              <a:ext uri="{FF2B5EF4-FFF2-40B4-BE49-F238E27FC236}">
                <a16:creationId xmlns:a16="http://schemas.microsoft.com/office/drawing/2014/main" id="{619F9E41-8B37-4DA9-9830-24C001341A62}"/>
              </a:ext>
            </a:extLst>
          </p:cNvPr>
          <p:cNvSpPr>
            <a:spLocks xmlns:a="http://schemas.openxmlformats.org/drawingml/2006/main" noGrp="1"/>
          </p:cNvSpPr>
          <p:nvPr/>
        </p:nvSpPr>
        <p:spPr>
          <a:xfrm xmlns:a="http://schemas.openxmlformats.org/drawingml/2006/main">
            <a:off x="685800" y="1657350"/>
            <a:ext cx="952500" cy="47625"/>
          </a:xfrm>
          <a:prstGeom xmlns:a="http://schemas.openxmlformats.org/drawingml/2006/main" prst="rect">
            <a:avLst/>
          </a:prstGeom>
          <a:solidFill xmlns:a="http://schemas.openxmlformats.org/drawingml/2006/main">
            <a:srgbClr val="F15B6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FC099E7-5743-4C12-AFBA-FE91C5840526}"/>
              </a:ext>
            </a:extLst>
          </p:cNvPr>
          <p:cNvSpPr>
            <a:spLocks xmlns:a="http://schemas.openxmlformats.org/drawingml/2006/main" noGrp="1"/>
          </p:cNvSpPr>
          <p:nvPr/>
        </p:nvSpPr>
        <p:spPr>
          <a:xfrm xmlns:a="http://schemas.openxmlformats.org/drawingml/2006/main">
            <a:off x="685800" y="209550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DDF3F2"/>
                </a:solidFill>
                <a:latin typeface="Arial"/>
                <a:ea typeface="Arial"/>
                <a:cs typeface="Arial"/>
              </a:defRPr>
            </a:pPr>
            <a:r>
              <a:rPr sz="1350" b="1">
                <a:solidFill>
                  <a:srgbClr val="DDF3F2"/>
                </a:solidFill>
                <a:latin typeface="Arial"/>
                <a:ea typeface="Arial"/>
                <a:cs typeface="Arial"/>
              </a:rPr>
              <a:t>What worked</a:t>
            </a:r>
          </a:p>
        </p:txBody>
      </p:sp>
      <p:sp>
        <p:nvSpPr>
          <p:cNvPr id="5" name="">
            <a:extLst xmlns:a="http://schemas.openxmlformats.org/drawingml/2006/main">
              <a:ext uri="{FF2B5EF4-FFF2-40B4-BE49-F238E27FC236}">
                <a16:creationId xmlns:a16="http://schemas.microsoft.com/office/drawing/2014/main" id="{D55295EE-D248-4CEA-8750-6AC2CA4A3EAD}"/>
              </a:ext>
            </a:extLst>
          </p:cNvPr>
          <p:cNvSpPr>
            <a:spLocks xmlns:a="http://schemas.openxmlformats.org/drawingml/2006/main" noGrp="1"/>
          </p:cNvSpPr>
          <p:nvPr/>
        </p:nvSpPr>
        <p:spPr>
          <a:xfrm xmlns:a="http://schemas.openxmlformats.org/drawingml/2006/main">
            <a:off x="685800" y="2476500"/>
            <a:ext cx="4476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844"/>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FusionVI-X improved CD25, CD69 and HLA-DR in unseen donors; the strongest rescue occurred when HLA-DR RNA and protein disagreed.</a:t>
            </a:r>
          </a:p>
        </p:txBody>
      </p:sp>
      <p:sp>
        <p:nvSpPr>
          <p:cNvPr id="6" name="">
            <a:extLst xmlns:a="http://schemas.openxmlformats.org/drawingml/2006/main">
              <a:ext uri="{FF2B5EF4-FFF2-40B4-BE49-F238E27FC236}">
                <a16:creationId xmlns:a16="http://schemas.microsoft.com/office/drawing/2014/main" id="{9489954A-0427-4E8E-906C-024697A63528}"/>
              </a:ext>
            </a:extLst>
          </p:cNvPr>
          <p:cNvSpPr>
            <a:spLocks xmlns:a="http://schemas.openxmlformats.org/drawingml/2006/main" noGrp="1"/>
          </p:cNvSpPr>
          <p:nvPr/>
        </p:nvSpPr>
        <p:spPr>
          <a:xfrm xmlns:a="http://schemas.openxmlformats.org/drawingml/2006/main">
            <a:off x="685800" y="403860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F15B64"/>
                </a:solidFill>
                <a:latin typeface="Arial"/>
                <a:ea typeface="Arial"/>
                <a:cs typeface="Arial"/>
              </a:defRPr>
            </a:pPr>
            <a:r>
              <a:rPr sz="1350" b="1">
                <a:solidFill>
                  <a:srgbClr val="F15B64"/>
                </a:solidFill>
                <a:latin typeface="Arial"/>
                <a:ea typeface="Arial"/>
                <a:cs typeface="Arial"/>
              </a:rPr>
              <a:t>What the ablation says</a:t>
            </a:r>
          </a:p>
        </p:txBody>
      </p:sp>
      <p:sp>
        <p:nvSpPr>
          <p:cNvPr id="7" name="">
            <a:extLst xmlns:a="http://schemas.openxmlformats.org/drawingml/2006/main">
              <a:ext uri="{FF2B5EF4-FFF2-40B4-BE49-F238E27FC236}">
                <a16:creationId xmlns:a16="http://schemas.microsoft.com/office/drawing/2014/main" id="{9422C9E4-4ED2-47F9-8B86-34C1C1EB3BB7}"/>
              </a:ext>
            </a:extLst>
          </p:cNvPr>
          <p:cNvSpPr>
            <a:spLocks xmlns:a="http://schemas.openxmlformats.org/drawingml/2006/main" noGrp="1"/>
          </p:cNvSpPr>
          <p:nvPr/>
        </p:nvSpPr>
        <p:spPr>
          <a:xfrm xmlns:a="http://schemas.openxmlformats.org/drawingml/2006/main">
            <a:off x="685800" y="4419600"/>
            <a:ext cx="4476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449"/>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Neighbouring surface proteins retain activation-state information that marker RNA can miss.</a:t>
            </a:r>
          </a:p>
        </p:txBody>
      </p:sp>
      <p:sp>
        <p:nvSpPr>
          <p:cNvPr id="8" name="">
            <a:extLst xmlns:a="http://schemas.openxmlformats.org/drawingml/2006/main">
              <a:ext uri="{FF2B5EF4-FFF2-40B4-BE49-F238E27FC236}">
                <a16:creationId xmlns:a16="http://schemas.microsoft.com/office/drawing/2014/main" id="{A39A8CA5-6C51-45FB-9FFA-2319CB6F7113}"/>
              </a:ext>
            </a:extLst>
          </p:cNvPr>
          <p:cNvSpPr>
            <a:spLocks xmlns:a="http://schemas.openxmlformats.org/drawingml/2006/main" noGrp="1"/>
          </p:cNvSpPr>
          <p:nvPr/>
        </p:nvSpPr>
        <p:spPr>
          <a:xfrm xmlns:a="http://schemas.openxmlformats.org/drawingml/2006/main">
            <a:off x="6191250" y="209550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DDF3F2"/>
                </a:solidFill>
                <a:latin typeface="Arial"/>
                <a:ea typeface="Arial"/>
                <a:cs typeface="Arial"/>
              </a:defRPr>
            </a:pPr>
            <a:r>
              <a:rPr sz="1350" b="1">
                <a:solidFill>
                  <a:srgbClr val="DDF3F2"/>
                </a:solidFill>
                <a:latin typeface="Arial"/>
                <a:ea typeface="Arial"/>
                <a:cs typeface="Arial"/>
              </a:rPr>
              <a:t>Methodological lesson</a:t>
            </a:r>
          </a:p>
        </p:txBody>
      </p:sp>
      <p:sp>
        <p:nvSpPr>
          <p:cNvPr id="9" name="">
            <a:extLst xmlns:a="http://schemas.openxmlformats.org/drawingml/2006/main">
              <a:ext uri="{FF2B5EF4-FFF2-40B4-BE49-F238E27FC236}">
                <a16:creationId xmlns:a16="http://schemas.microsoft.com/office/drawing/2014/main" id="{6F70822E-F521-4AB8-9573-77F98ADDB637}"/>
              </a:ext>
            </a:extLst>
          </p:cNvPr>
          <p:cNvSpPr>
            <a:spLocks xmlns:a="http://schemas.openxmlformats.org/drawingml/2006/main" noGrp="1"/>
          </p:cNvSpPr>
          <p:nvPr/>
        </p:nvSpPr>
        <p:spPr>
          <a:xfrm xmlns:a="http://schemas.openxmlformats.org/drawingml/2006/main">
            <a:off x="6191250" y="2495550"/>
            <a:ext cx="4762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626"/>
          </a:bodyPr>
          <a:lstStyle xmlns:a="http://schemas.openxmlformats.org/drawingml/2006/main"/>
          <a:p xmlns:a="http://schemas.openxmlformats.org/drawingml/2006/main">
            <a:pPr algn="l">
              <a:lnSpc>
                <a:spcPct val="104000"/>
              </a:lnSpc>
              <a:buNone/>
              <a:defRPr sz="2175" b="1">
                <a:solidFill>
                  <a:srgbClr val="FFFFFF"/>
                </a:solidFill>
                <a:latin typeface="Arial"/>
                <a:ea typeface="Arial"/>
                <a:cs typeface="Arial"/>
              </a:defRPr>
            </a:pPr>
            <a:r>
              <a:rPr sz="2175" b="1">
                <a:solidFill>
                  <a:srgbClr val="FFFFFF"/>
                </a:solidFill>
                <a:latin typeface="Arial"/>
                <a:ea typeface="Arial"/>
                <a:cs typeface="Arial"/>
              </a:rPr>
              <a:t>An unsupervised gate can recognize context. A donor-nested targeted readout is what converts that context into better biomarker recovery.</a:t>
            </a:r>
          </a:p>
        </p:txBody>
      </p:sp>
      <p:sp>
        <p:nvSpPr>
          <p:cNvPr id="10" name="">
            <a:extLst xmlns:a="http://schemas.openxmlformats.org/drawingml/2006/main">
              <a:ext uri="{FF2B5EF4-FFF2-40B4-BE49-F238E27FC236}">
                <a16:creationId xmlns:a16="http://schemas.microsoft.com/office/drawing/2014/main" id="{9B207C53-0C21-4AC1-B152-B097C8DEC355}"/>
              </a:ext>
            </a:extLst>
          </p:cNvPr>
          <p:cNvSpPr>
            <a:spLocks xmlns:a="http://schemas.openxmlformats.org/drawingml/2006/main" noGrp="1"/>
          </p:cNvSpPr>
          <p:nvPr/>
        </p:nvSpPr>
        <p:spPr>
          <a:xfrm xmlns:a="http://schemas.openxmlformats.org/drawingml/2006/main">
            <a:off x="6191250" y="4762500"/>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115"/>
          </a:bodyPr>
          <a:lstStyle xmlns:a="http://schemas.openxmlformats.org/drawingml/2006/main"/>
          <a:p xmlns:a="http://schemas.openxmlformats.org/drawingml/2006/main">
            <a:pPr algn="l">
              <a:lnSpc>
                <a:spcPct val="104000"/>
              </a:lnSpc>
              <a:buNone/>
              <a:defRPr sz="1200" b="1">
                <a:solidFill>
                  <a:srgbClr val="F15B64"/>
                </a:solidFill>
                <a:latin typeface="Arial"/>
                <a:ea typeface="Arial"/>
                <a:cs typeface="Arial"/>
              </a:defRPr>
            </a:pPr>
            <a:r>
              <a:rPr sz="1200" b="1">
                <a:solidFill>
                  <a:srgbClr val="F15B64"/>
                </a:solidFill>
                <a:latin typeface="Arial"/>
                <a:ea typeface="Arial"/>
                <a:cs typeface="Arial"/>
              </a:rPr>
              <a:t>Next experiment</a:t>
            </a:r>
          </a:p>
        </p:txBody>
      </p:sp>
      <p:sp>
        <p:nvSpPr>
          <p:cNvPr id="11" name="">
            <a:extLst xmlns:a="http://schemas.openxmlformats.org/drawingml/2006/main">
              <a:ext uri="{FF2B5EF4-FFF2-40B4-BE49-F238E27FC236}">
                <a16:creationId xmlns:a16="http://schemas.microsoft.com/office/drawing/2014/main" id="{3C7CC063-2606-4A42-895F-2B6E1CFA3356}"/>
              </a:ext>
            </a:extLst>
          </p:cNvPr>
          <p:cNvSpPr>
            <a:spLocks xmlns:a="http://schemas.openxmlformats.org/drawingml/2006/main" noGrp="1"/>
          </p:cNvSpPr>
          <p:nvPr/>
        </p:nvSpPr>
        <p:spPr>
          <a:xfrm xmlns:a="http://schemas.openxmlformats.org/drawingml/2006/main">
            <a:off x="6191250" y="5124450"/>
            <a:ext cx="476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500" b="0">
                <a:solidFill>
                  <a:srgbClr val="D7DCEC"/>
                </a:solidFill>
                <a:latin typeface="Arial"/>
                <a:ea typeface="Arial"/>
                <a:cs typeface="Arial"/>
              </a:defRPr>
            </a:pPr>
            <a:r>
              <a:rPr sz="1500" b="0">
                <a:solidFill>
                  <a:srgbClr val="D7DCEC"/>
                </a:solidFill>
                <a:latin typeface="Arial"/>
                <a:ea typeface="Arial"/>
                <a:cs typeface="Arial"/>
              </a:rPr>
              <a:t>Test unseen perturbations, doses and timepoints with an external pharmacodynamic endpoint.</a:t>
            </a:r>
          </a:p>
        </p:txBody>
      </p:sp>
      <p:sp>
        <p:nvSpPr>
          <p:cNvPr id="12" name="">
            <a:extLst xmlns:a="http://schemas.openxmlformats.org/drawingml/2006/main">
              <a:ext uri="{FF2B5EF4-FFF2-40B4-BE49-F238E27FC236}">
                <a16:creationId xmlns:a16="http://schemas.microsoft.com/office/drawing/2014/main" id="{95806874-FD8D-4689-9C5F-926399253DEE}"/>
              </a:ext>
            </a:extLst>
          </p:cNvPr>
          <p:cNvSpPr>
            <a:spLocks xmlns:a="http://schemas.openxmlformats.org/drawingml/2006/main" noGrp="1"/>
          </p:cNvSpPr>
          <p:nvPr/>
        </p:nvSpPr>
        <p:spPr>
          <a:xfrm xmlns:a="http://schemas.openxmlformats.org/drawingml/2006/main">
            <a:off x="6191250" y="61531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2099"/>
          </a:bodyPr>
          <a:lstStyle xmlns:a="http://schemas.openxmlformats.org/drawingml/2006/main"/>
          <a:p xmlns:a="http://schemas.openxmlformats.org/drawingml/2006/main">
            <a:pPr algn="l">
              <a:lnSpc>
                <a:spcPct val="104000"/>
              </a:lnSpc>
              <a:buNone/>
              <a:defRPr sz="1200" b="1">
                <a:solidFill>
                  <a:srgbClr val="DDF3F2"/>
                </a:solidFill>
                <a:latin typeface="Arial"/>
                <a:ea typeface="Arial"/>
                <a:cs typeface="Arial"/>
              </a:defRPr>
            </a:pPr>
            <a:r>
              <a:rPr sz="1200" b="1">
                <a:solidFill>
                  <a:srgbClr val="DDF3F2"/>
                </a:solidFill>
                <a:latin typeface="Arial"/>
                <a:ea typeface="Arial"/>
                <a:cs typeface="Arial"/>
              </a:rPr>
              <a:t>All outer folds, inner selections, ablations and statistics are reproducible.</a:t>
            </a:r>
          </a:p>
        </p:txBody>
      </p:sp>
    </p:spTree>
    <p:extLst>
      <p:ext uri="{BB962C8B-B14F-4D97-AF65-F5344CB8AC3E}">
        <p14:creationId xmlns:p14="http://schemas.microsoft.com/office/powerpoint/2010/main" val="2149347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2026-10-01T18:39:38.4370000Z</dcterms:created>
  <dcterms:modified xsi:type="dcterms:W3CDTF">2026-10-01T18:39:38.4370000Z</dcterms:modified>
</coreProperties>
</file>