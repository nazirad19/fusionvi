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a20c87230248dd" /><Relationship Type="http://schemas.openxmlformats.org/officeDocument/2006/relationships/extended-properties" Target="/docProps/app.xml" Id="R4679d2338c4c4474" /><Relationship Type="http://schemas.openxmlformats.org/officeDocument/2006/relationships/officeDocument" Target="/ppt/presentation.xml" Id="Rd45604fed5ac4e4d" /></Relationships>
</file>

<file path=ppt/presentation.xml><?xml version="1.0" encoding="utf-8"?>
<p:presentation xmlns:p="http://schemas.openxmlformats.org/presentationml/2006/main">
  <p:sldMasterIdLst>
    <p:sldMasterId xmlns:r="http://schemas.openxmlformats.org/officeDocument/2006/relationships" id="2147483648" r:id="R01cc322bb1b04516"/>
  </p:sldMasterIdLst>
  <p:notesMasterIdLst>
    <p:notesMasterId xmlns:r="http://schemas.openxmlformats.org/officeDocument/2006/relationships" r:id="R446a9f3e89eb4ee6"/>
  </p:notesMasterIdLst>
  <p:sldIdLst>
    <p:sldId xmlns:r="http://schemas.openxmlformats.org/officeDocument/2006/relationships" id="256" r:id="Rba36275a665346ee"/>
    <p:sldId xmlns:r="http://schemas.openxmlformats.org/officeDocument/2006/relationships" id="257" r:id="Ra12f90cf82af4f97"/>
    <p:sldId xmlns:r="http://schemas.openxmlformats.org/officeDocument/2006/relationships" id="258" r:id="Rf02f80df7a2e46d8"/>
    <p:sldId xmlns:r="http://schemas.openxmlformats.org/officeDocument/2006/relationships" id="259" r:id="R5262931b3eff4526"/>
    <p:sldId xmlns:r="http://schemas.openxmlformats.org/officeDocument/2006/relationships" id="260" r:id="Rc35715fa022b47a8"/>
    <p:sldId xmlns:r="http://schemas.openxmlformats.org/officeDocument/2006/relationships" id="261" r:id="Rf230001ba6b640a6"/>
    <p:sldId xmlns:r="http://schemas.openxmlformats.org/officeDocument/2006/relationships" id="262" r:id="R411373851eac45d7"/>
    <p:sldId xmlns:r="http://schemas.openxmlformats.org/officeDocument/2006/relationships" id="263" r:id="R88685954afca4a54"/>
    <p:sldId xmlns:r="http://schemas.openxmlformats.org/officeDocument/2006/relationships" id="264" r:id="Rc47c74b147f646c7"/>
    <p:sldId xmlns:r="http://schemas.openxmlformats.org/officeDocument/2006/relationships" id="265" r:id="Rcf684dfd27dd4d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dc4f1f587c41ba" /><Relationship Type="http://schemas.openxmlformats.org/officeDocument/2006/relationships/slideMaster" Target="/ppt/slideMasters/slideMaster1.xml" Id="R01cc322bb1b04516" /><Relationship Type="http://schemas.openxmlformats.org/officeDocument/2006/relationships/notesMaster" Target="/ppt/notesMasters/notesMaster1.xml" Id="R446a9f3e89eb4ee6" /><Relationship Type="http://schemas.openxmlformats.org/officeDocument/2006/relationships/presProps" Target="/ppt/presProps.xml" Id="Rcd325b2744c640e4" /><Relationship Type="http://schemas.openxmlformats.org/officeDocument/2006/relationships/tableStyles" Target="/ppt/tableStyles.xml" Id="R6fbf694e27484814" /><Relationship Type="http://schemas.openxmlformats.org/officeDocument/2006/relationships/slide" Target="/ppt/slides/slide1.xml" Id="Rba36275a665346ee" /><Relationship Type="http://schemas.openxmlformats.org/officeDocument/2006/relationships/slide" Target="/ppt/slides/slide2.xml" Id="Ra12f90cf82af4f97" /><Relationship Type="http://schemas.openxmlformats.org/officeDocument/2006/relationships/slide" Target="/ppt/slides/slide3.xml" Id="Rf02f80df7a2e46d8" /><Relationship Type="http://schemas.openxmlformats.org/officeDocument/2006/relationships/slide" Target="/ppt/slides/slide4.xml" Id="R5262931b3eff4526" /><Relationship Type="http://schemas.openxmlformats.org/officeDocument/2006/relationships/slide" Target="/ppt/slides/slide5.xml" Id="Rc35715fa022b47a8" /><Relationship Type="http://schemas.openxmlformats.org/officeDocument/2006/relationships/slide" Target="/ppt/slides/slide6.xml" Id="Rf230001ba6b640a6" /><Relationship Type="http://schemas.openxmlformats.org/officeDocument/2006/relationships/slide" Target="/ppt/slides/slide7.xml" Id="R411373851eac45d7" /><Relationship Type="http://schemas.openxmlformats.org/officeDocument/2006/relationships/slide" Target="/ppt/slides/slide8.xml" Id="R88685954afca4a54" /><Relationship Type="http://schemas.openxmlformats.org/officeDocument/2006/relationships/slide" Target="/ppt/slides/slide9.xml" Id="Rc47c74b147f646c7" /><Relationship Type="http://schemas.openxmlformats.org/officeDocument/2006/relationships/slide" Target="/ppt/slides/slide10.xml" Id="Rcf684dfd27dd4d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5fcc3839914f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a4daedf0304328" /><Relationship Type="http://schemas.openxmlformats.org/officeDocument/2006/relationships/notesMaster" Target="/ppt/notesMasters/notesMaster1.xml" Id="Rd95f338da01542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6d3f71daee4bb4" /><Relationship Type="http://schemas.openxmlformats.org/officeDocument/2006/relationships/notesMaster" Target="/ppt/notesMasters/notesMaster1.xml" Id="R660960cc239740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c7e8805a9a4533" /><Relationship Type="http://schemas.openxmlformats.org/officeDocument/2006/relationships/notesMaster" Target="/ppt/notesMasters/notesMaster1.xml" Id="Rf20aa6ec2e414c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b3c8c472e846d0" /><Relationship Type="http://schemas.openxmlformats.org/officeDocument/2006/relationships/notesMaster" Target="/ppt/notesMasters/notesMaster1.xml" Id="R3aec9a67f6354d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43a39c2fba4174" /><Relationship Type="http://schemas.openxmlformats.org/officeDocument/2006/relationships/notesMaster" Target="/ppt/notesMasters/notesMaster1.xml" Id="R6277326797484f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9766f3d0ef411c" /><Relationship Type="http://schemas.openxmlformats.org/officeDocument/2006/relationships/notesMaster" Target="/ppt/notesMasters/notesMaster1.xml" Id="Raed4fa497fee4a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a9a231b917400e" /><Relationship Type="http://schemas.openxmlformats.org/officeDocument/2006/relationships/notesMaster" Target="/ppt/notesMasters/notesMaster1.xml" Id="R7346c16be2ba47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052f9752f84587" /><Relationship Type="http://schemas.openxmlformats.org/officeDocument/2006/relationships/notesMaster" Target="/ppt/notesMasters/notesMaster1.xml" Id="Ra88619d1d3b245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38b2463c8d4a61" /><Relationship Type="http://schemas.openxmlformats.org/officeDocument/2006/relationships/notesMaster" Target="/ppt/notesMasters/notesMaster1.xml" Id="Rbb1aa4c0f0dc47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0cae7b2a8a4846" /><Relationship Type="http://schemas.openxmlformats.org/officeDocument/2006/relationships/notesMaster" Target="/ppt/notesMasters/notesMaster1.xml" Id="Raa15450dbfaa48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question: Can a model recover a surface biomarker when marker RNA points in a different direction? We test unseen donors in primary PBMCs and unseen CRISPR targets in a separate PD-L1 screen. Timing: 30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Lawlor et al. showed that CITE-seq can capture transcript and surface-protein activation responses after LPS or anti-CD3/CD28 stimulation. totalVI assumes a shared latent cell state while retaining modality-specific likelihoods. Sources: https://www.frontiersin.org/journals/immunology/articles/10.3389/fimmu.2021.636720/full ; https://pmc.ncbi.nlm.nih.gov/articles/PMC7954949/ . Timing: 50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study profiled 10 donors at baseline and after 24 hours of LPS or anti-CD3/CD28. It used 39 antibodies and recovered 16,382 cells after filtering. The project uses a strict leave-one-donor-out design and sequencing lane as the batch covariate. Source: Lawlor et al., Frontiers in Immunology 2021, DOI 10.3389/fimmu.2021.636720. Timing: 50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totalVI maps joint RNA and protein counts to a latent state and decodes both modalities. FusionVI replaces only the encoder with two branches and a scalar gate. FusionVI-X then adds a target-specific readout using the latent state, the other 36 proteins and a prespecified RNA proxy. The hidden target marker is never an input. Source: Gayoso et al., Nature Methods 2021, DOI 10.1038/s41592-020-01050-x. Timing: 65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evaluation prevents target leakage. The surface marker is hidden from all inputs. Readout selection happens only within training donors or training CRISPR targets. Experiment 1 reports one value per donor. Experiment 2 reports perturbation effects relative to held-out non-targeting cells in each replicate. Timing: 45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2 uses the Papalexi ECCITE-seq screen. PD-L1 is hidden from model input. Five folds each hold out all cells from five CRISPR targets, while non-targeting controls are partitioned within replicate. This tests mechanism-level transfer in an immune-checkpoint setting. Timing: 45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donor-nested cross-modal head improves all three global marker correlations with adjusted q values of 0.0039. The largest gain is HLA-DR. In the prespecified HLA-DR discordance subset, correlation changes from negative 0.175 to positive 0.637, with q equal to 0.0117. Timing: 60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ablation gives the biological explanation. RNA proxy alone becomes anticorrelated with measured surface protein in every discordant subset. Other ADTs restore positive correlations without access to the target marker. Adding the learned latent state gives the best global HLA-DR result. Similar totalVI-X and FusionVI-X results show that targeted supervision is the main improvement. Timing: 55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External validation is positive. FusionVI-X ranks 75 unseen target-by-replicate PD-L1 effects with Spearman 0.879 and gets 84 percent of directions correct. CD274 RNA alone reaches 0.587 and 64 percent. The model recovers JAK-STAT and CUL3-BRD4 biology but fails on CMTM6, a known post-transcriptional stabilizer. Timing: 55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principle now holds in two datasets: unseen donors and unseen perturbations. Targeted cross-modal context improves surface biomarker recovery, while CMTM6 defines a biologically important failure. This is the conclusion. Timing: 40 seconds, leaving about three minutes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160b0f89cf40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03a7d23a26462e" /><Relationship Type="http://schemas.openxmlformats.org/officeDocument/2006/relationships/slideLayout" Target="/ppt/slideLayouts/slideLayout1.xml" Id="Rb64d322ce5f04a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4d322ce5f04a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828c46fcf8b479f" /><Relationship Type="http://schemas.openxmlformats.org/officeDocument/2006/relationships/notesSlide" Target="/ppt/notesSlides/notesSlide1.xml" Id="R327dcb6a42a340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f5d58a878944f9" /><Relationship Type="http://schemas.openxmlformats.org/officeDocument/2006/relationships/notesSlide" Target="/ppt/notesSlides/notesSlide2.xml" Id="Re8836ec7b07a42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c81096f3764dd2" /><Relationship Type="http://schemas.openxmlformats.org/officeDocument/2006/relationships/notesSlide" Target="/ppt/notesSlides/notesSlide3.xml" Id="R27de3e7edd6b45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ced5d4256e456b" /><Relationship Type="http://schemas.openxmlformats.org/officeDocument/2006/relationships/notesSlide" Target="/ppt/notesSlides/notesSlide4.xml" Id="R908e9763e3f042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a9a66fdc704023" /><Relationship Type="http://schemas.openxmlformats.org/officeDocument/2006/relationships/notesSlide" Target="/ppt/notesSlides/notesSlide5.xml" Id="Rf0a75f15d4dc4b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b0084eea8642c7" /><Relationship Type="http://schemas.openxmlformats.org/officeDocument/2006/relationships/image" Target="/ppt/media/image.png" Id="Rf369efa529db4f8c" /><Relationship Type="http://schemas.openxmlformats.org/officeDocument/2006/relationships/notesSlide" Target="/ppt/notesSlides/notesSlide6.xml" Id="R3ffd53af96894c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ab44c7a5104cd9" /><Relationship Type="http://schemas.openxmlformats.org/officeDocument/2006/relationships/image" Target="/ppt/media/image2.png" Id="R37a9fed2bbbc485f" /><Relationship Type="http://schemas.openxmlformats.org/officeDocument/2006/relationships/notesSlide" Target="/ppt/notesSlides/notesSlide7.xml" Id="Rb9f75db41d0d45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de746b78e1e435b" /><Relationship Type="http://schemas.openxmlformats.org/officeDocument/2006/relationships/image" Target="/ppt/media/image3.png" Id="Raf12d967216740a0" /><Relationship Type="http://schemas.openxmlformats.org/officeDocument/2006/relationships/notesSlide" Target="/ppt/notesSlides/notesSlide8.xml" Id="R820c333add3d4a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88526b0c7bf4a58" /><Relationship Type="http://schemas.openxmlformats.org/officeDocument/2006/relationships/image" Target="/ppt/media/image4.png" Id="R8b1be33f37e243bd" /><Relationship Type="http://schemas.openxmlformats.org/officeDocument/2006/relationships/notesSlide" Target="/ppt/notesSlides/notesSlide9.xml" Id="R38c4f38d0fda43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26253c46ce849f3" /><Relationship Type="http://schemas.openxmlformats.org/officeDocument/2006/relationships/notesSlide" Target="/ppt/notesSlides/notesSlide10.xml" Id="Rc0ab514393fe482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5C77C96-68BE-4059-9EEF-41DC8C3F14B3}"/>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D8A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67BC02-7F00-4F87-893D-13149D300F5E}"/>
              </a:ext>
            </a:extLst>
          </p:cNvPr>
          <p:cNvSpPr>
            <a:spLocks xmlns:a="http://schemas.openxmlformats.org/drawingml/2006/main" noGrp="1"/>
          </p:cNvSpPr>
          <p:nvPr/>
        </p:nvSpPr>
        <p:spPr>
          <a:xfrm xmlns:a="http://schemas.openxmlformats.org/drawingml/2006/main">
            <a:off x="8858250" y="0"/>
            <a:ext cx="3333750" cy="6858000"/>
          </a:xfrm>
          <a:prstGeom xmlns:a="http://schemas.openxmlformats.org/drawingml/2006/main" prst="rect">
            <a:avLst/>
          </a:prstGeom>
          <a:solidFill xmlns:a="http://schemas.openxmlformats.org/drawingml/2006/main">
            <a:srgbClr val="DDF3F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B7D7A46-2168-42AB-B7DE-A3AAB69F26C7}"/>
              </a:ext>
            </a:extLst>
          </p:cNvPr>
          <p:cNvSpPr>
            <a:spLocks xmlns:a="http://schemas.openxmlformats.org/drawingml/2006/main" noGrp="1"/>
          </p:cNvSpPr>
          <p:nvPr/>
        </p:nvSpPr>
        <p:spPr>
          <a:xfrm xmlns:a="http://schemas.openxmlformats.org/drawingml/2006/main">
            <a:off x="685800" y="5334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275" b="1">
                <a:solidFill>
                  <a:srgbClr val="0D8A9A"/>
                </a:solidFill>
                <a:latin typeface="Arial"/>
                <a:ea typeface="Arial"/>
                <a:cs typeface="Arial"/>
              </a:defRPr>
            </a:pPr>
            <a:r>
              <a:rPr sz="1275" b="1">
                <a:solidFill>
                  <a:srgbClr val="0D8A9A"/>
                </a:solidFill>
                <a:latin typeface="Arial"/>
                <a:ea typeface="Arial"/>
                <a:cs typeface="Arial"/>
              </a:rPr>
              <a:t>FUSIONVI-X</a:t>
            </a:r>
          </a:p>
        </p:txBody>
      </p:sp>
      <p:sp>
        <p:nvSpPr>
          <p:cNvPr id="4" name="">
            <a:extLst xmlns:a="http://schemas.openxmlformats.org/drawingml/2006/main">
              <a:ext uri="{FF2B5EF4-FFF2-40B4-BE49-F238E27FC236}">
                <a16:creationId xmlns:a16="http://schemas.microsoft.com/office/drawing/2014/main" id="{73CBC493-11FE-4D04-9286-392D950C711A}"/>
              </a:ext>
            </a:extLst>
          </p:cNvPr>
          <p:cNvSpPr>
            <a:spLocks xmlns:a="http://schemas.openxmlformats.org/drawingml/2006/main" noGrp="1"/>
          </p:cNvSpPr>
          <p:nvPr/>
        </p:nvSpPr>
        <p:spPr>
          <a:xfrm xmlns:a="http://schemas.openxmlformats.org/drawingml/2006/main">
            <a:off x="685800" y="1276350"/>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983"/>
          </a:bodyPr>
          <a:lstStyle xmlns:a="http://schemas.openxmlformats.org/drawingml/2006/main"/>
          <a:p xmlns:a="http://schemas.openxmlformats.org/drawingml/2006/main">
            <a:pPr algn="l">
              <a:lnSpc>
                <a:spcPct val="104000"/>
              </a:lnSpc>
              <a:buNone/>
              <a:defRPr sz="4350" b="1">
                <a:solidFill>
                  <a:srgbClr val="17223B"/>
                </a:solidFill>
                <a:latin typeface="Arial"/>
                <a:ea typeface="Arial"/>
                <a:cs typeface="Arial"/>
              </a:defRPr>
            </a:pPr>
            <a:r>
              <a:rPr sz="4350" b="1">
                <a:solidFill>
                  <a:srgbClr val="17223B"/>
                </a:solidFill>
                <a:latin typeface="Arial"/>
                <a:ea typeface="Arial"/>
                <a:cs typeface="Arial"/>
              </a:rPr>
              <a:t>When RNA and protein</a:t>
            </a:r>
          </a:p>
          <a:p xmlns:a="http://schemas.openxmlformats.org/drawingml/2006/main">
            <a:pPr algn="l">
              <a:lnSpc>
                <a:spcPct val="104000"/>
              </a:lnSpc>
              <a:buNone/>
              <a:defRPr sz="4350" b="1">
                <a:solidFill>
                  <a:srgbClr val="17223B"/>
                </a:solidFill>
                <a:latin typeface="Arial"/>
                <a:ea typeface="Arial"/>
                <a:cs typeface="Arial"/>
              </a:defRPr>
            </a:pPr>
            <a:r>
              <a:rPr sz="4350" b="1">
                <a:solidFill>
                  <a:srgbClr val="17223B"/>
                </a:solidFill>
                <a:latin typeface="Arial"/>
                <a:ea typeface="Arial"/>
                <a:cs typeface="Arial"/>
              </a:rPr>
              <a:t>disagree</a:t>
            </a:r>
          </a:p>
        </p:txBody>
      </p:sp>
      <p:sp>
        <p:nvSpPr>
          <p:cNvPr id="5" name="">
            <a:extLst xmlns:a="http://schemas.openxmlformats.org/drawingml/2006/main">
              <a:ext uri="{FF2B5EF4-FFF2-40B4-BE49-F238E27FC236}">
                <a16:creationId xmlns:a16="http://schemas.microsoft.com/office/drawing/2014/main" id="{41A48231-6812-4AB5-9C7C-A4B081094742}"/>
              </a:ext>
            </a:extLst>
          </p:cNvPr>
          <p:cNvSpPr>
            <a:spLocks xmlns:a="http://schemas.openxmlformats.org/drawingml/2006/main" noGrp="1"/>
          </p:cNvSpPr>
          <p:nvPr/>
        </p:nvSpPr>
        <p:spPr>
          <a:xfrm xmlns:a="http://schemas.openxmlformats.org/drawingml/2006/main">
            <a:off x="723900" y="2952750"/>
            <a:ext cx="723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875" b="0">
                <a:solidFill>
                  <a:srgbClr val="223A69"/>
                </a:solidFill>
                <a:latin typeface="Arial"/>
                <a:ea typeface="Arial"/>
                <a:cs typeface="Arial"/>
              </a:defRPr>
            </a:pPr>
            <a:r>
              <a:rPr sz="1875" b="0">
                <a:solidFill>
                  <a:srgbClr val="223A69"/>
                </a:solidFill>
                <a:latin typeface="Arial"/>
                <a:ea typeface="Arial"/>
                <a:cs typeface="Arial"/>
              </a:rPr>
              <a:t>Cross-modal recovery of surface biomarkers in unseen donors and unseen perturbations</a:t>
            </a:r>
          </a:p>
        </p:txBody>
      </p:sp>
      <p:sp>
        <p:nvSpPr>
          <p:cNvPr id="6" name="">
            <a:extLst xmlns:a="http://schemas.openxmlformats.org/drawingml/2006/main">
              <a:ext uri="{FF2B5EF4-FFF2-40B4-BE49-F238E27FC236}">
                <a16:creationId xmlns:a16="http://schemas.microsoft.com/office/drawing/2014/main" id="{72774835-8876-41F1-8F3A-FBEC0303D032}"/>
              </a:ext>
            </a:extLst>
          </p:cNvPr>
          <p:cNvSpPr>
            <a:spLocks xmlns:a="http://schemas.openxmlformats.org/drawingml/2006/main" noGrp="1"/>
          </p:cNvSpPr>
          <p:nvPr/>
        </p:nvSpPr>
        <p:spPr>
          <a:xfrm xmlns:a="http://schemas.openxmlformats.org/drawingml/2006/main">
            <a:off x="723900" y="4210050"/>
            <a:ext cx="1390650" cy="361950"/>
          </a:xfrm>
          <a:prstGeom xmlns:a="http://schemas.openxmlformats.org/drawingml/2006/main" prst="roundRect">
            <a:avLst>
              <a:gd name="adj" fmla="val 42105"/>
            </a:avLst>
          </a:prstGeom>
          <a:solidFill xmlns:a="http://schemas.openxmlformats.org/drawingml/2006/main">
            <a:srgbClr val="FFE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A6AC957-B97F-4999-B64E-3971AD9353EC}"/>
              </a:ext>
            </a:extLst>
          </p:cNvPr>
          <p:cNvSpPr>
            <a:spLocks xmlns:a="http://schemas.openxmlformats.org/drawingml/2006/main" noGrp="1"/>
          </p:cNvSpPr>
          <p:nvPr/>
        </p:nvSpPr>
        <p:spPr>
          <a:xfrm xmlns:a="http://schemas.openxmlformats.org/drawingml/2006/main">
            <a:off x="800100" y="42576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F15B64"/>
                </a:solidFill>
                <a:latin typeface="Arial"/>
                <a:ea typeface="Arial"/>
                <a:cs typeface="Arial"/>
              </a:defRPr>
            </a:pPr>
            <a:r>
              <a:rPr sz="1200" b="1">
                <a:solidFill>
                  <a:srgbClr val="F15B64"/>
                </a:solidFill>
                <a:latin typeface="Arial"/>
                <a:ea typeface="Arial"/>
                <a:cs typeface="Arial"/>
              </a:rPr>
              <a:t>2 datasets</a:t>
            </a:r>
          </a:p>
        </p:txBody>
      </p:sp>
      <p:sp>
        <p:nvSpPr>
          <p:cNvPr id="8" name="">
            <a:extLst xmlns:a="http://schemas.openxmlformats.org/drawingml/2006/main">
              <a:ext uri="{FF2B5EF4-FFF2-40B4-BE49-F238E27FC236}">
                <a16:creationId xmlns:a16="http://schemas.microsoft.com/office/drawing/2014/main" id="{90610D21-9297-4B5F-9E4A-3C3D09F0B907}"/>
              </a:ext>
            </a:extLst>
          </p:cNvPr>
          <p:cNvSpPr>
            <a:spLocks xmlns:a="http://schemas.openxmlformats.org/drawingml/2006/main" noGrp="1"/>
          </p:cNvSpPr>
          <p:nvPr/>
        </p:nvSpPr>
        <p:spPr>
          <a:xfrm xmlns:a="http://schemas.openxmlformats.org/drawingml/2006/main">
            <a:off x="2247900" y="4210050"/>
            <a:ext cx="1657350" cy="361950"/>
          </a:xfrm>
          <a:prstGeom xmlns:a="http://schemas.openxmlformats.org/drawingml/2006/main" prst="roundRect">
            <a:avLst>
              <a:gd name="adj" fmla="val 42105"/>
            </a:avLst>
          </a:prstGeom>
          <a:solidFill xmlns:a="http://schemas.openxmlformats.org/drawingml/2006/main">
            <a:srgbClr val="DDF3F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D14BFC8-D3CB-4DFC-98D3-642D8938E3E4}"/>
              </a:ext>
            </a:extLst>
          </p:cNvPr>
          <p:cNvSpPr>
            <a:spLocks xmlns:a="http://schemas.openxmlformats.org/drawingml/2006/main" noGrp="1"/>
          </p:cNvSpPr>
          <p:nvPr/>
        </p:nvSpPr>
        <p:spPr>
          <a:xfrm xmlns:a="http://schemas.openxmlformats.org/drawingml/2006/main">
            <a:off x="2324100" y="42576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0D8A9A"/>
                </a:solidFill>
                <a:latin typeface="Arial"/>
                <a:ea typeface="Arial"/>
                <a:cs typeface="Arial"/>
              </a:defRPr>
            </a:pPr>
            <a:r>
              <a:rPr sz="1200" b="1">
                <a:solidFill>
                  <a:srgbClr val="0D8A9A"/>
                </a:solidFill>
                <a:latin typeface="Arial"/>
                <a:ea typeface="Arial"/>
                <a:cs typeface="Arial"/>
              </a:rPr>
              <a:t>37,111 cells</a:t>
            </a:r>
          </a:p>
        </p:txBody>
      </p:sp>
      <p:sp>
        <p:nvSpPr>
          <p:cNvPr id="10" name="">
            <a:extLst xmlns:a="http://schemas.openxmlformats.org/drawingml/2006/main">
              <a:ext uri="{FF2B5EF4-FFF2-40B4-BE49-F238E27FC236}">
                <a16:creationId xmlns:a16="http://schemas.microsoft.com/office/drawing/2014/main" id="{43F9A551-5375-4C13-B911-3D9A2219D710}"/>
              </a:ext>
            </a:extLst>
          </p:cNvPr>
          <p:cNvSpPr>
            <a:spLocks xmlns:a="http://schemas.openxmlformats.org/drawingml/2006/main" noGrp="1"/>
          </p:cNvSpPr>
          <p:nvPr/>
        </p:nvSpPr>
        <p:spPr>
          <a:xfrm xmlns:a="http://schemas.openxmlformats.org/drawingml/2006/main">
            <a:off x="4038600" y="4210050"/>
            <a:ext cx="2381250" cy="361950"/>
          </a:xfrm>
          <a:prstGeom xmlns:a="http://schemas.openxmlformats.org/drawingml/2006/main" prst="roundRect">
            <a:avLst>
              <a:gd name="adj" fmla="val 42105"/>
            </a:avLst>
          </a:prstGeom>
          <a:solidFill xmlns:a="http://schemas.openxmlformats.org/drawingml/2006/main">
            <a:srgbClr val="EEE7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24569D6-9B05-4099-85EF-F2D0035BF031}"/>
              </a:ext>
            </a:extLst>
          </p:cNvPr>
          <p:cNvSpPr>
            <a:spLocks xmlns:a="http://schemas.openxmlformats.org/drawingml/2006/main" noGrp="1"/>
          </p:cNvSpPr>
          <p:nvPr/>
        </p:nvSpPr>
        <p:spPr>
          <a:xfrm xmlns:a="http://schemas.openxmlformats.org/drawingml/2006/main">
            <a:off x="4114800" y="4257675"/>
            <a:ext cx="2228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6C3ED9"/>
                </a:solidFill>
                <a:latin typeface="Arial"/>
                <a:ea typeface="Arial"/>
                <a:cs typeface="Arial"/>
              </a:defRPr>
            </a:pPr>
            <a:r>
              <a:rPr sz="1200" b="1">
                <a:solidFill>
                  <a:srgbClr val="6C3ED9"/>
                </a:solidFill>
                <a:latin typeface="Arial"/>
                <a:ea typeface="Arial"/>
                <a:cs typeface="Arial"/>
              </a:rPr>
              <a:t>10 donors + 25 targets</a:t>
            </a:r>
          </a:p>
        </p:txBody>
      </p:sp>
      <p:sp>
        <p:nvSpPr>
          <p:cNvPr id="12" name="">
            <a:extLst xmlns:a="http://schemas.openxmlformats.org/drawingml/2006/main">
              <a:ext uri="{FF2B5EF4-FFF2-40B4-BE49-F238E27FC236}">
                <a16:creationId xmlns:a16="http://schemas.microsoft.com/office/drawing/2014/main" id="{5ECC86DD-17C7-45F1-A055-31FEF64B1222}"/>
              </a:ext>
            </a:extLst>
          </p:cNvPr>
          <p:cNvSpPr>
            <a:spLocks xmlns:a="http://schemas.openxmlformats.org/drawingml/2006/main" noGrp="1"/>
          </p:cNvSpPr>
          <p:nvPr/>
        </p:nvSpPr>
        <p:spPr>
          <a:xfrm xmlns:a="http://schemas.openxmlformats.org/drawingml/2006/main">
            <a:off x="723900" y="58864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812"/>
          </a:bodyPr>
          <a:lstStyle xmlns:a="http://schemas.openxmlformats.org/drawingml/2006/main"/>
          <a:p xmlns:a="http://schemas.openxmlformats.org/drawingml/2006/main">
            <a:pPr algn="l">
              <a:lnSpc>
                <a:spcPct val="104000"/>
              </a:lnSpc>
              <a:buNone/>
              <a:defRPr sz="1350" b="1">
                <a:solidFill>
                  <a:srgbClr val="687086"/>
                </a:solidFill>
                <a:latin typeface="Arial"/>
                <a:ea typeface="Arial"/>
                <a:cs typeface="Arial"/>
              </a:defRPr>
            </a:pPr>
            <a:r>
              <a:rPr sz="1350" b="1">
                <a:solidFill>
                  <a:srgbClr val="687086"/>
                </a:solidFill>
                <a:latin typeface="Arial"/>
                <a:ea typeface="Arial"/>
                <a:cs typeface="Arial"/>
              </a:rPr>
              <a:t>Multimodal AI for therapeutic discovery</a:t>
            </a:r>
          </a:p>
        </p:txBody>
      </p:sp>
      <p:sp>
        <p:nvSpPr>
          <p:cNvPr id="13" name="">
            <a:extLst xmlns:a="http://schemas.openxmlformats.org/drawingml/2006/main">
              <a:ext uri="{FF2B5EF4-FFF2-40B4-BE49-F238E27FC236}">
                <a16:creationId xmlns:a16="http://schemas.microsoft.com/office/drawing/2014/main" id="{B7AAC521-5DF3-4734-BC87-D1BF56818AE4}"/>
              </a:ext>
            </a:extLst>
          </p:cNvPr>
          <p:cNvSpPr>
            <a:spLocks xmlns:a="http://schemas.openxmlformats.org/drawingml/2006/main" noGrp="1"/>
          </p:cNvSpPr>
          <p:nvPr/>
        </p:nvSpPr>
        <p:spPr>
          <a:xfrm xmlns:a="http://schemas.openxmlformats.org/drawingml/2006/main">
            <a:off x="9258300" y="556260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575" b="1">
                <a:solidFill>
                  <a:srgbClr val="223A69"/>
                </a:solidFill>
                <a:latin typeface="Arial"/>
                <a:ea typeface="Arial"/>
                <a:cs typeface="Arial"/>
              </a:defRPr>
            </a:pPr>
            <a:r>
              <a:rPr sz="1575" b="1">
                <a:solidFill>
                  <a:srgbClr val="223A69"/>
                </a:solidFill>
                <a:latin typeface="Arial"/>
                <a:ea typeface="Arial"/>
                <a:cs typeface="Arial"/>
              </a:rPr>
              <a:t>Two external tests</a:t>
            </a:r>
          </a:p>
        </p:txBody>
      </p:sp>
    </p:spTree>
    <p:extLst>
      <p:ext uri="{BB962C8B-B14F-4D97-AF65-F5344CB8AC3E}">
        <p14:creationId xmlns:p14="http://schemas.microsoft.com/office/powerpoint/2010/main" val="4494735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4AD7EB4-3026-46E3-A2E8-9920F3E209E8}"/>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THERAPEUTIC DISCOVERY QUESTION</a:t>
            </a:r>
          </a:p>
        </p:txBody>
      </p:sp>
      <p:sp>
        <p:nvSpPr>
          <p:cNvPr id="2" name="">
            <a:extLst xmlns:a="http://schemas.openxmlformats.org/drawingml/2006/main">
              <a:ext uri="{FF2B5EF4-FFF2-40B4-BE49-F238E27FC236}">
                <a16:creationId xmlns:a16="http://schemas.microsoft.com/office/drawing/2014/main" id="{D705FBF8-D102-4561-86B1-FE98BFC793A2}"/>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The biological problem</a:t>
            </a:r>
          </a:p>
        </p:txBody>
      </p:sp>
      <p:sp>
        <p:nvSpPr>
          <p:cNvPr id="3" name="">
            <a:extLst xmlns:a="http://schemas.openxmlformats.org/drawingml/2006/main">
              <a:ext uri="{FF2B5EF4-FFF2-40B4-BE49-F238E27FC236}">
                <a16:creationId xmlns:a16="http://schemas.microsoft.com/office/drawing/2014/main" id="{C1A28F89-968F-4746-9E89-F74C7D416D92}"/>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384100-4405-4BFA-A5F1-8A2C740A0E33}"/>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8286049-651E-4476-AE88-BE1F0D7D31DA}"/>
              </a:ext>
            </a:extLst>
          </p:cNvPr>
          <p:cNvSpPr>
            <a:spLocks xmlns:a="http://schemas.openxmlformats.org/drawingml/2006/main" noGrp="1"/>
          </p:cNvSpPr>
          <p:nvPr/>
        </p:nvSpPr>
        <p:spPr>
          <a:xfrm xmlns:a="http://schemas.openxmlformats.org/drawingml/2006/main">
            <a:off x="685800" y="152400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863"/>
          </a:bodyPr>
          <a:lstStyle xmlns:a="http://schemas.openxmlformats.org/drawingml/2006/main"/>
          <a:p xmlns:a="http://schemas.openxmlformats.org/drawingml/2006/main">
            <a:pPr algn="l">
              <a:lnSpc>
                <a:spcPct val="104000"/>
              </a:lnSpc>
              <a:buNone/>
              <a:defRPr sz="1950" b="1">
                <a:solidFill>
                  <a:srgbClr val="223A69"/>
                </a:solidFill>
                <a:latin typeface="Arial"/>
                <a:ea typeface="Arial"/>
                <a:cs typeface="Arial"/>
              </a:defRPr>
            </a:pPr>
            <a:r>
              <a:rPr sz="1950" b="1">
                <a:solidFill>
                  <a:srgbClr val="223A69"/>
                </a:solidFill>
                <a:latin typeface="Arial"/>
                <a:ea typeface="Arial"/>
                <a:cs typeface="Arial"/>
              </a:rPr>
              <a:t>A perturbation can move RNA and surface protein on different clocks</a:t>
            </a:r>
          </a:p>
        </p:txBody>
      </p:sp>
      <p:sp>
        <p:nvSpPr>
          <p:cNvPr id="6" name="">
            <a:extLst xmlns:a="http://schemas.openxmlformats.org/drawingml/2006/main">
              <a:ext uri="{FF2B5EF4-FFF2-40B4-BE49-F238E27FC236}">
                <a16:creationId xmlns:a16="http://schemas.microsoft.com/office/drawing/2014/main" id="{D30EAA7E-074E-409E-AA0B-4C873051B63F}"/>
              </a:ext>
            </a:extLst>
          </p:cNvPr>
          <p:cNvSpPr>
            <a:spLocks xmlns:a="http://schemas.openxmlformats.org/drawingml/2006/main" noGrp="1"/>
          </p:cNvSpPr>
          <p:nvPr/>
        </p:nvSpPr>
        <p:spPr>
          <a:xfrm xmlns:a="http://schemas.openxmlformats.org/drawingml/2006/main">
            <a:off x="781050" y="2381250"/>
            <a:ext cx="1809750" cy="1238250"/>
          </a:xfrm>
          <a:prstGeom xmlns:a="http://schemas.openxmlformats.org/drawingml/2006/main" prst="roundRect">
            <a:avLst>
              <a:gd name="adj" fmla="val 12308"/>
            </a:avLst>
          </a:prstGeom>
          <a:solidFill xmlns:a="http://schemas.openxmlformats.org/drawingml/2006/main">
            <a:srgbClr val="DDF3F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E8D02E0-8A28-47BF-9F27-5D995CEBF81F}"/>
              </a:ext>
            </a:extLst>
          </p:cNvPr>
          <p:cNvSpPr>
            <a:spLocks xmlns:a="http://schemas.openxmlformats.org/drawingml/2006/main" noGrp="1"/>
          </p:cNvSpPr>
          <p:nvPr/>
        </p:nvSpPr>
        <p:spPr>
          <a:xfrm xmlns:a="http://schemas.openxmlformats.org/drawingml/2006/main">
            <a:off x="971550" y="257175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644"/>
          </a:bodyPr>
          <a:lstStyle xmlns:a="http://schemas.openxmlformats.org/drawingml/2006/main"/>
          <a:p xmlns:a="http://schemas.openxmlformats.org/drawingml/2006/main">
            <a:pPr algn="ctr">
              <a:lnSpc>
                <a:spcPct val="104000"/>
              </a:lnSpc>
              <a:buNone/>
              <a:defRPr sz="2550" b="1">
                <a:solidFill>
                  <a:srgbClr val="0D8A9A"/>
                </a:solidFill>
                <a:latin typeface="Arial"/>
                <a:ea typeface="Arial"/>
                <a:cs typeface="Arial"/>
              </a:defRPr>
            </a:pPr>
            <a:r>
              <a:rPr sz="2550" b="1">
                <a:solidFill>
                  <a:srgbClr val="0D8A9A"/>
                </a:solidFill>
                <a:latin typeface="Arial"/>
                <a:ea typeface="Arial"/>
                <a:cs typeface="Arial"/>
              </a:rPr>
              <a:t>RNA</a:t>
            </a:r>
          </a:p>
        </p:txBody>
      </p:sp>
      <p:sp>
        <p:nvSpPr>
          <p:cNvPr id="8" name="">
            <a:extLst xmlns:a="http://schemas.openxmlformats.org/drawingml/2006/main">
              <a:ext uri="{FF2B5EF4-FFF2-40B4-BE49-F238E27FC236}">
                <a16:creationId xmlns:a16="http://schemas.microsoft.com/office/drawing/2014/main" id="{D14460D5-3479-4B7B-ACDF-42A585884803}"/>
              </a:ext>
            </a:extLst>
          </p:cNvPr>
          <p:cNvSpPr>
            <a:spLocks xmlns:a="http://schemas.openxmlformats.org/drawingml/2006/main" noGrp="1"/>
          </p:cNvSpPr>
          <p:nvPr/>
        </p:nvSpPr>
        <p:spPr>
          <a:xfrm xmlns:a="http://schemas.openxmlformats.org/drawingml/2006/main">
            <a:off x="971550" y="3028950"/>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70"/>
          </a:bodyPr>
          <a:lstStyle xmlns:a="http://schemas.openxmlformats.org/drawingml/2006/main"/>
          <a:p xmlns:a="http://schemas.openxmlformats.org/drawingml/2006/main">
            <a:pPr algn="ctr">
              <a:lnSpc>
                <a:spcPct val="104000"/>
              </a:lnSpc>
              <a:buNone/>
              <a:defRPr sz="1350" b="0">
                <a:solidFill>
                  <a:srgbClr val="17223B"/>
                </a:solidFill>
                <a:latin typeface="Arial"/>
                <a:ea typeface="Arial"/>
                <a:cs typeface="Arial"/>
              </a:defRPr>
            </a:pPr>
            <a:r>
              <a:rPr sz="1350" b="0">
                <a:solidFill>
                  <a:srgbClr val="17223B"/>
                </a:solidFill>
                <a:latin typeface="Arial"/>
                <a:ea typeface="Arial"/>
                <a:cs typeface="Arial"/>
              </a:rPr>
              <a:t>fast transcriptional</a:t>
            </a:r>
          </a:p>
          <a:p xmlns:a="http://schemas.openxmlformats.org/drawingml/2006/main">
            <a:pPr algn="ctr">
              <a:lnSpc>
                <a:spcPct val="104000"/>
              </a:lnSpc>
              <a:buNone/>
              <a:defRPr sz="1350" b="0">
                <a:solidFill>
                  <a:srgbClr val="17223B"/>
                </a:solidFill>
                <a:latin typeface="Arial"/>
                <a:ea typeface="Arial"/>
                <a:cs typeface="Arial"/>
              </a:defRPr>
            </a:pPr>
            <a:r>
              <a:rPr sz="1350" b="0">
                <a:solidFill>
                  <a:srgbClr val="17223B"/>
                </a:solidFill>
                <a:latin typeface="Arial"/>
                <a:ea typeface="Arial"/>
                <a:cs typeface="Arial"/>
              </a:rPr>
              <a:t>response</a:t>
            </a:r>
          </a:p>
        </p:txBody>
      </p:sp>
      <p:sp>
        <p:nvSpPr>
          <p:cNvPr id="9" name="">
            <a:extLst xmlns:a="http://schemas.openxmlformats.org/drawingml/2006/main">
              <a:ext uri="{FF2B5EF4-FFF2-40B4-BE49-F238E27FC236}">
                <a16:creationId xmlns:a16="http://schemas.microsoft.com/office/drawing/2014/main" id="{8A955046-5384-472D-A0F2-14D342B26734}"/>
              </a:ext>
            </a:extLst>
          </p:cNvPr>
          <p:cNvSpPr>
            <a:spLocks xmlns:a="http://schemas.openxmlformats.org/drawingml/2006/main" noGrp="1"/>
          </p:cNvSpPr>
          <p:nvPr/>
        </p:nvSpPr>
        <p:spPr>
          <a:xfrm xmlns:a="http://schemas.openxmlformats.org/drawingml/2006/main">
            <a:off x="2857500" y="27051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3450" b="1">
                <a:solidFill>
                  <a:srgbClr val="F15B64"/>
                </a:solidFill>
                <a:latin typeface="Arial"/>
                <a:ea typeface="Arial"/>
                <a:cs typeface="Arial"/>
              </a:defRPr>
            </a:pPr>
            <a:r>
              <a:rPr sz="3450" b="1">
                <a:solidFill>
                  <a:srgbClr val="F15B64"/>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A8BEF589-CF98-4F19-AE99-176C4FC951E8}"/>
              </a:ext>
            </a:extLst>
          </p:cNvPr>
          <p:cNvSpPr>
            <a:spLocks xmlns:a="http://schemas.openxmlformats.org/drawingml/2006/main" noGrp="1"/>
          </p:cNvSpPr>
          <p:nvPr/>
        </p:nvSpPr>
        <p:spPr>
          <a:xfrm xmlns:a="http://schemas.openxmlformats.org/drawingml/2006/main">
            <a:off x="3790950" y="2381250"/>
            <a:ext cx="2095500" cy="1238250"/>
          </a:xfrm>
          <a:prstGeom xmlns:a="http://schemas.openxmlformats.org/drawingml/2006/main" prst="roundRect">
            <a:avLst>
              <a:gd name="adj" fmla="val 12308"/>
            </a:avLst>
          </a:prstGeom>
          <a:solidFill xmlns:a="http://schemas.openxmlformats.org/drawingml/2006/main">
            <a:srgbClr val="EEE7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E46DA32-7CF3-4F68-A496-EA9572E254BB}"/>
              </a:ext>
            </a:extLst>
          </p:cNvPr>
          <p:cNvSpPr>
            <a:spLocks xmlns:a="http://schemas.openxmlformats.org/drawingml/2006/main" noGrp="1"/>
          </p:cNvSpPr>
          <p:nvPr/>
        </p:nvSpPr>
        <p:spPr>
          <a:xfrm xmlns:a="http://schemas.openxmlformats.org/drawingml/2006/main">
            <a:off x="3981450" y="253365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434"/>
          </a:bodyPr>
          <a:lstStyle xmlns:a="http://schemas.openxmlformats.org/drawingml/2006/main"/>
          <a:p xmlns:a="http://schemas.openxmlformats.org/drawingml/2006/main">
            <a:pPr algn="ctr">
              <a:lnSpc>
                <a:spcPct val="104000"/>
              </a:lnSpc>
              <a:buNone/>
              <a:defRPr sz="2100" b="1">
                <a:solidFill>
                  <a:srgbClr val="6C3ED9"/>
                </a:solidFill>
                <a:latin typeface="Arial"/>
                <a:ea typeface="Arial"/>
                <a:cs typeface="Arial"/>
              </a:defRPr>
            </a:pPr>
            <a:r>
              <a:rPr sz="2100" b="1">
                <a:solidFill>
                  <a:srgbClr val="6C3ED9"/>
                </a:solidFill>
                <a:latin typeface="Arial"/>
                <a:ea typeface="Arial"/>
                <a:cs typeface="Arial"/>
              </a:rPr>
              <a:t>Surface protein</a:t>
            </a:r>
          </a:p>
        </p:txBody>
      </p:sp>
      <p:sp>
        <p:nvSpPr>
          <p:cNvPr id="12" name="">
            <a:extLst xmlns:a="http://schemas.openxmlformats.org/drawingml/2006/main">
              <a:ext uri="{FF2B5EF4-FFF2-40B4-BE49-F238E27FC236}">
                <a16:creationId xmlns:a16="http://schemas.microsoft.com/office/drawing/2014/main" id="{83ED8903-DAC6-450A-B467-E4EF0E723528}"/>
              </a:ext>
            </a:extLst>
          </p:cNvPr>
          <p:cNvSpPr>
            <a:spLocks xmlns:a="http://schemas.openxmlformats.org/drawingml/2006/main" noGrp="1"/>
          </p:cNvSpPr>
          <p:nvPr/>
        </p:nvSpPr>
        <p:spPr>
          <a:xfrm xmlns:a="http://schemas.openxmlformats.org/drawingml/2006/main">
            <a:off x="3981450" y="302895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70"/>
          </a:bodyPr>
          <a:lstStyle xmlns:a="http://schemas.openxmlformats.org/drawingml/2006/main"/>
          <a:p xmlns:a="http://schemas.openxmlformats.org/drawingml/2006/main">
            <a:pPr algn="ctr">
              <a:lnSpc>
                <a:spcPct val="104000"/>
              </a:lnSpc>
              <a:buNone/>
              <a:defRPr sz="1350" b="0">
                <a:solidFill>
                  <a:srgbClr val="17223B"/>
                </a:solidFill>
                <a:latin typeface="Arial"/>
                <a:ea typeface="Arial"/>
                <a:cs typeface="Arial"/>
              </a:defRPr>
            </a:pPr>
            <a:r>
              <a:rPr sz="1350" b="0">
                <a:solidFill>
                  <a:srgbClr val="17223B"/>
                </a:solidFill>
                <a:latin typeface="Arial"/>
                <a:ea typeface="Arial"/>
                <a:cs typeface="Arial"/>
              </a:rPr>
              <a:t>translation, trafficking,</a:t>
            </a:r>
          </a:p>
          <a:p xmlns:a="http://schemas.openxmlformats.org/drawingml/2006/main">
            <a:pPr algn="ctr">
              <a:lnSpc>
                <a:spcPct val="104000"/>
              </a:lnSpc>
              <a:buNone/>
              <a:defRPr sz="1350" b="0">
                <a:solidFill>
                  <a:srgbClr val="17223B"/>
                </a:solidFill>
                <a:latin typeface="Arial"/>
                <a:ea typeface="Arial"/>
                <a:cs typeface="Arial"/>
              </a:defRPr>
            </a:pPr>
            <a:r>
              <a:rPr sz="1350" b="0">
                <a:solidFill>
                  <a:srgbClr val="17223B"/>
                </a:solidFill>
                <a:latin typeface="Arial"/>
                <a:ea typeface="Arial"/>
                <a:cs typeface="Arial"/>
              </a:rPr>
              <a:t>internalization</a:t>
            </a:r>
          </a:p>
        </p:txBody>
      </p:sp>
      <p:sp>
        <p:nvSpPr>
          <p:cNvPr id="13" name="">
            <a:extLst xmlns:a="http://schemas.openxmlformats.org/drawingml/2006/main">
              <a:ext uri="{FF2B5EF4-FFF2-40B4-BE49-F238E27FC236}">
                <a16:creationId xmlns:a16="http://schemas.microsoft.com/office/drawing/2014/main" id="{DBB1958B-B6BD-4F1E-9DB8-36D18CA5B720}"/>
              </a:ext>
            </a:extLst>
          </p:cNvPr>
          <p:cNvSpPr>
            <a:spLocks xmlns:a="http://schemas.openxmlformats.org/drawingml/2006/main" noGrp="1"/>
          </p:cNvSpPr>
          <p:nvPr/>
        </p:nvSpPr>
        <p:spPr>
          <a:xfrm xmlns:a="http://schemas.openxmlformats.org/drawingml/2006/main">
            <a:off x="2286000" y="40957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756"/>
          </a:bodyPr>
          <a:lstStyle xmlns:a="http://schemas.openxmlformats.org/drawingml/2006/main"/>
          <a:p xmlns:a="http://schemas.openxmlformats.org/drawingml/2006/main">
            <a:pPr algn="ctr">
              <a:lnSpc>
                <a:spcPct val="104000"/>
              </a:lnSpc>
              <a:buNone/>
              <a:defRPr sz="1500" b="1">
                <a:solidFill>
                  <a:srgbClr val="687086"/>
                </a:solidFill>
                <a:latin typeface="Arial"/>
                <a:ea typeface="Arial"/>
                <a:cs typeface="Arial"/>
              </a:defRPr>
            </a:pPr>
            <a:r>
              <a:rPr sz="1500" b="1">
                <a:solidFill>
                  <a:srgbClr val="687086"/>
                </a:solidFill>
                <a:latin typeface="Arial"/>
                <a:ea typeface="Arial"/>
                <a:cs typeface="Arial"/>
              </a:rPr>
              <a:t>24 h perturbation</a:t>
            </a:r>
          </a:p>
        </p:txBody>
      </p:sp>
      <p:sp>
        <p:nvSpPr>
          <p:cNvPr id="14" name="">
            <a:extLst xmlns:a="http://schemas.openxmlformats.org/drawingml/2006/main">
              <a:ext uri="{FF2B5EF4-FFF2-40B4-BE49-F238E27FC236}">
                <a16:creationId xmlns:a16="http://schemas.microsoft.com/office/drawing/2014/main" id="{CBFDFB87-2FC4-4B65-ABAA-CC765F4BF9FE}"/>
              </a:ext>
            </a:extLst>
          </p:cNvPr>
          <p:cNvSpPr>
            <a:spLocks xmlns:a="http://schemas.openxmlformats.org/drawingml/2006/main" noGrp="1"/>
          </p:cNvSpPr>
          <p:nvPr/>
        </p:nvSpPr>
        <p:spPr>
          <a:xfrm xmlns:a="http://schemas.openxmlformats.org/drawingml/2006/main">
            <a:off x="4333875" y="4057650"/>
            <a:ext cx="1809750" cy="361950"/>
          </a:xfrm>
          <a:prstGeom xmlns:a="http://schemas.openxmlformats.org/drawingml/2006/main" prst="rightArrow">
            <a:avLst/>
          </a:prstGeom>
          <a:solidFill xmlns:a="http://schemas.openxmlformats.org/drawingml/2006/main">
            <a:srgbClr val="F15B6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B75F44B-2395-4CEF-8AB1-5AF46B312B43}"/>
              </a:ext>
            </a:extLst>
          </p:cNvPr>
          <p:cNvSpPr>
            <a:spLocks xmlns:a="http://schemas.openxmlformats.org/drawingml/2006/main" noGrp="1"/>
          </p:cNvSpPr>
          <p:nvPr/>
        </p:nvSpPr>
        <p:spPr>
          <a:xfrm xmlns:a="http://schemas.openxmlformats.org/drawingml/2006/main">
            <a:off x="6477000" y="40005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650" b="1">
                <a:solidFill>
                  <a:srgbClr val="17223B"/>
                </a:solidFill>
                <a:latin typeface="Arial"/>
                <a:ea typeface="Arial"/>
                <a:cs typeface="Arial"/>
              </a:defRPr>
            </a:pPr>
            <a:r>
              <a:rPr sz="1650" b="1">
                <a:solidFill>
                  <a:srgbClr val="17223B"/>
                </a:solidFill>
                <a:latin typeface="Arial"/>
                <a:ea typeface="Arial"/>
                <a:cs typeface="Arial"/>
              </a:rPr>
              <a:t>pharmacodynamic phenotype</a:t>
            </a:r>
          </a:p>
        </p:txBody>
      </p:sp>
      <p:sp>
        <p:nvSpPr>
          <p:cNvPr id="16" name="">
            <a:extLst xmlns:a="http://schemas.openxmlformats.org/drawingml/2006/main">
              <a:ext uri="{FF2B5EF4-FFF2-40B4-BE49-F238E27FC236}">
                <a16:creationId xmlns:a16="http://schemas.microsoft.com/office/drawing/2014/main" id="{719954CB-54E2-4045-906C-F683F0620A86}"/>
              </a:ext>
            </a:extLst>
          </p:cNvPr>
          <p:cNvSpPr>
            <a:spLocks xmlns:a="http://schemas.openxmlformats.org/drawingml/2006/main" noGrp="1"/>
          </p:cNvSpPr>
          <p:nvPr/>
        </p:nvSpPr>
        <p:spPr>
          <a:xfrm xmlns:a="http://schemas.openxmlformats.org/drawingml/2006/main">
            <a:off x="8115300" y="16192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131"/>
          </a:bodyPr>
          <a:lstStyle xmlns:a="http://schemas.openxmlformats.org/drawingml/2006/main"/>
          <a:p xmlns:a="http://schemas.openxmlformats.org/drawingml/2006/main">
            <a:pPr algn="l">
              <a:lnSpc>
                <a:spcPct val="104000"/>
              </a:lnSpc>
              <a:buNone/>
              <a:defRPr sz="1200" b="1">
                <a:solidFill>
                  <a:srgbClr val="F15B64"/>
                </a:solidFill>
                <a:latin typeface="Arial"/>
                <a:ea typeface="Arial"/>
                <a:cs typeface="Arial"/>
              </a:defRPr>
            </a:pPr>
            <a:r>
              <a:rPr sz="1200" b="1">
                <a:solidFill>
                  <a:srgbClr val="F15B64"/>
                </a:solidFill>
                <a:latin typeface="Arial"/>
                <a:ea typeface="Arial"/>
                <a:cs typeface="Arial"/>
              </a:rPr>
              <a:t>Question</a:t>
            </a:r>
          </a:p>
        </p:txBody>
      </p:sp>
      <p:sp>
        <p:nvSpPr>
          <p:cNvPr id="17" name="">
            <a:extLst xmlns:a="http://schemas.openxmlformats.org/drawingml/2006/main">
              <a:ext uri="{FF2B5EF4-FFF2-40B4-BE49-F238E27FC236}">
                <a16:creationId xmlns:a16="http://schemas.microsoft.com/office/drawing/2014/main" id="{C636423B-5DBE-4D1B-B453-76985E6D37B6}"/>
              </a:ext>
            </a:extLst>
          </p:cNvPr>
          <p:cNvSpPr>
            <a:spLocks xmlns:a="http://schemas.openxmlformats.org/drawingml/2006/main" noGrp="1"/>
          </p:cNvSpPr>
          <p:nvPr/>
        </p:nvSpPr>
        <p:spPr>
          <a:xfrm xmlns:a="http://schemas.openxmlformats.org/drawingml/2006/main">
            <a:off x="8115300" y="1962150"/>
            <a:ext cx="32385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687"/>
          </a:bodyPr>
          <a:lstStyle xmlns:a="http://schemas.openxmlformats.org/drawingml/2006/main"/>
          <a:p xmlns:a="http://schemas.openxmlformats.org/drawingml/2006/main">
            <a:pPr algn="l">
              <a:lnSpc>
                <a:spcPct val="104000"/>
              </a:lnSpc>
              <a:buNone/>
              <a:defRPr sz="2100" b="1">
                <a:solidFill>
                  <a:srgbClr val="17223B"/>
                </a:solidFill>
                <a:latin typeface="Arial"/>
                <a:ea typeface="Arial"/>
                <a:cs typeface="Arial"/>
              </a:defRPr>
            </a:pPr>
            <a:r>
              <a:rPr sz="2100" b="1">
                <a:solidFill>
                  <a:srgbClr val="17223B"/>
                </a:solidFill>
                <a:latin typeface="Arial"/>
                <a:ea typeface="Arial"/>
                <a:cs typeface="Arial"/>
              </a:rPr>
              <a:t>Can multimodal AI preserve this biologically meaningful disagreement and recover surface biomarkers in a new donor or after a new perturbation?</a:t>
            </a:r>
          </a:p>
        </p:txBody>
      </p:sp>
      <p:sp>
        <p:nvSpPr>
          <p:cNvPr id="18" name="">
            <a:extLst xmlns:a="http://schemas.openxmlformats.org/drawingml/2006/main">
              <a:ext uri="{FF2B5EF4-FFF2-40B4-BE49-F238E27FC236}">
                <a16:creationId xmlns:a16="http://schemas.microsoft.com/office/drawing/2014/main" id="{1F31B6B7-465E-4E4A-8FF4-77216CB46545}"/>
              </a:ext>
            </a:extLst>
          </p:cNvPr>
          <p:cNvSpPr>
            <a:spLocks xmlns:a="http://schemas.openxmlformats.org/drawingml/2006/main" noGrp="1"/>
          </p:cNvSpPr>
          <p:nvPr/>
        </p:nvSpPr>
        <p:spPr>
          <a:xfrm xmlns:a="http://schemas.openxmlformats.org/drawingml/2006/main">
            <a:off x="8115300" y="43434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131"/>
          </a:bodyPr>
          <a:lstStyle xmlns:a="http://schemas.openxmlformats.org/drawingml/2006/main"/>
          <a:p xmlns:a="http://schemas.openxmlformats.org/drawingml/2006/main">
            <a:pPr algn="l">
              <a:lnSpc>
                <a:spcPct val="104000"/>
              </a:lnSpc>
              <a:buNone/>
              <a:defRPr sz="1200" b="1">
                <a:solidFill>
                  <a:srgbClr val="0D8A9A"/>
                </a:solidFill>
                <a:latin typeface="Arial"/>
                <a:ea typeface="Arial"/>
                <a:cs typeface="Arial"/>
              </a:defRPr>
            </a:pPr>
            <a:r>
              <a:rPr sz="1200" b="1">
                <a:solidFill>
                  <a:srgbClr val="0D8A9A"/>
                </a:solidFill>
                <a:latin typeface="Arial"/>
                <a:ea typeface="Arial"/>
                <a:cs typeface="Arial"/>
              </a:rPr>
              <a:t>Why it matters</a:t>
            </a:r>
          </a:p>
        </p:txBody>
      </p:sp>
      <p:sp>
        <p:nvSpPr>
          <p:cNvPr id="19" name="">
            <a:extLst xmlns:a="http://schemas.openxmlformats.org/drawingml/2006/main">
              <a:ext uri="{FF2B5EF4-FFF2-40B4-BE49-F238E27FC236}">
                <a16:creationId xmlns:a16="http://schemas.microsoft.com/office/drawing/2014/main" id="{A038DB0E-8F2E-4F3A-B612-4A5A68D83032}"/>
              </a:ext>
            </a:extLst>
          </p:cNvPr>
          <p:cNvSpPr>
            <a:spLocks xmlns:a="http://schemas.openxmlformats.org/drawingml/2006/main" noGrp="1"/>
          </p:cNvSpPr>
          <p:nvPr/>
        </p:nvSpPr>
        <p:spPr>
          <a:xfrm xmlns:a="http://schemas.openxmlformats.org/drawingml/2006/main">
            <a:off x="8115300" y="468630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25"/>
          </a:bodyPr>
          <a:lstStyle xmlns:a="http://schemas.openxmlformats.org/drawingml/2006/main"/>
          <a:p xmlns:a="http://schemas.openxmlformats.org/drawingml/2006/main">
            <a:pPr algn="l">
              <a:lnSpc>
                <a:spcPct val="104000"/>
              </a:lnSpc>
              <a:buNone/>
              <a:defRPr sz="1650" b="0">
                <a:solidFill>
                  <a:srgbClr val="223A69"/>
                </a:solidFill>
                <a:latin typeface="Arial"/>
                <a:ea typeface="Arial"/>
                <a:cs typeface="Arial"/>
              </a:defRPr>
            </a:pPr>
            <a:r>
              <a:rPr sz="1650" b="0">
                <a:solidFill>
                  <a:srgbClr val="223A69"/>
                </a:solidFill>
                <a:latin typeface="Arial"/>
                <a:ea typeface="Arial"/>
                <a:cs typeface="Arial"/>
              </a:rPr>
              <a:t>Biomarker selection fails if the model averages away the modality that carries the response.</a:t>
            </a:r>
          </a:p>
        </p:txBody>
      </p:sp>
    </p:spTree>
    <p:extLst>
      <p:ext uri="{BB962C8B-B14F-4D97-AF65-F5344CB8AC3E}">
        <p14:creationId xmlns:p14="http://schemas.microsoft.com/office/powerpoint/2010/main" val="289164590"/>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BB9BF50-FEE3-4973-8264-72C1ED468909}"/>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DATASET AND STUDY DESIGN</a:t>
            </a:r>
          </a:p>
        </p:txBody>
      </p:sp>
      <p:sp>
        <p:nvSpPr>
          <p:cNvPr id="2" name="">
            <a:extLst xmlns:a="http://schemas.openxmlformats.org/drawingml/2006/main">
              <a:ext uri="{FF2B5EF4-FFF2-40B4-BE49-F238E27FC236}">
                <a16:creationId xmlns:a16="http://schemas.microsoft.com/office/drawing/2014/main" id="{1B2793EE-BC80-4799-A434-B0A22B972601}"/>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Paired immune perturbation study</a:t>
            </a:r>
          </a:p>
        </p:txBody>
      </p:sp>
      <p:sp>
        <p:nvSpPr>
          <p:cNvPr id="3" name="">
            <a:extLst xmlns:a="http://schemas.openxmlformats.org/drawingml/2006/main">
              <a:ext uri="{FF2B5EF4-FFF2-40B4-BE49-F238E27FC236}">
                <a16:creationId xmlns:a16="http://schemas.microsoft.com/office/drawing/2014/main" id="{F87BA071-6702-4EB9-BF9F-54D3CA3EDCF1}"/>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67D4AA1-6F0C-45BE-86CD-3EFCB7BF0F38}"/>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C8BDCF62-013E-495A-B3A5-9D539DE4F57C}"/>
              </a:ext>
            </a:extLst>
          </p:cNvPr>
          <p:cNvSpPr>
            <a:spLocks xmlns:a="http://schemas.openxmlformats.org/drawingml/2006/main" noGrp="1"/>
          </p:cNvSpPr>
          <p:nvPr/>
        </p:nvSpPr>
        <p:spPr>
          <a:xfrm xmlns:a="http://schemas.openxmlformats.org/drawingml/2006/main">
            <a:off x="685800" y="167640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412"/>
          </a:bodyPr>
          <a:lstStyle xmlns:a="http://schemas.openxmlformats.org/drawingml/2006/main"/>
          <a:p xmlns:a="http://schemas.openxmlformats.org/drawingml/2006/main">
            <a:pPr algn="l">
              <a:lnSpc>
                <a:spcPct val="104000"/>
              </a:lnSpc>
              <a:buNone/>
              <a:defRPr sz="2025" b="1">
                <a:solidFill>
                  <a:srgbClr val="17223B"/>
                </a:solidFill>
                <a:latin typeface="Arial"/>
                <a:ea typeface="Arial"/>
                <a:cs typeface="Arial"/>
              </a:defRPr>
            </a:pPr>
            <a:r>
              <a:rPr sz="2025" b="1">
                <a:solidFill>
                  <a:srgbClr val="17223B"/>
                </a:solidFill>
                <a:latin typeface="Arial"/>
                <a:ea typeface="Arial"/>
                <a:cs typeface="Arial"/>
              </a:rPr>
              <a:t>10 healthy donors</a:t>
            </a:r>
          </a:p>
        </p:txBody>
      </p:sp>
      <p:sp>
        <p:nvSpPr>
          <p:cNvPr id="6" name="">
            <a:extLst xmlns:a="http://schemas.openxmlformats.org/drawingml/2006/main">
              <a:ext uri="{FF2B5EF4-FFF2-40B4-BE49-F238E27FC236}">
                <a16:creationId xmlns:a16="http://schemas.microsoft.com/office/drawing/2014/main" id="{EB711C8B-AD81-4CF2-8C17-48C89E5DF087}"/>
              </a:ext>
            </a:extLst>
          </p:cNvPr>
          <p:cNvSpPr>
            <a:spLocks xmlns:a="http://schemas.openxmlformats.org/drawingml/2006/main" noGrp="1"/>
          </p:cNvSpPr>
          <p:nvPr/>
        </p:nvSpPr>
        <p:spPr>
          <a:xfrm xmlns:a="http://schemas.openxmlformats.org/drawingml/2006/main">
            <a:off x="685800" y="20574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812"/>
          </a:bodyPr>
          <a:lstStyle xmlns:a="http://schemas.openxmlformats.org/drawingml/2006/main"/>
          <a:p xmlns:a="http://schemas.openxmlformats.org/drawingml/2006/main">
            <a:pPr algn="l">
              <a:lnSpc>
                <a:spcPct val="104000"/>
              </a:lnSpc>
              <a:buNone/>
              <a:defRPr sz="1350" b="0">
                <a:solidFill>
                  <a:srgbClr val="687086"/>
                </a:solidFill>
                <a:latin typeface="Arial"/>
                <a:ea typeface="Arial"/>
                <a:cs typeface="Arial"/>
              </a:defRPr>
            </a:pPr>
            <a:r>
              <a:rPr sz="1350" b="0">
                <a:solidFill>
                  <a:srgbClr val="687086"/>
                </a:solidFill>
                <a:latin typeface="Arial"/>
                <a:ea typeface="Arial"/>
                <a:cs typeface="Arial"/>
              </a:rPr>
              <a:t>Each donor contributes all three conditions</a:t>
            </a:r>
          </a:p>
        </p:txBody>
      </p:sp>
      <p:sp>
        <p:nvSpPr>
          <p:cNvPr id="7" name="">
            <a:extLst xmlns:a="http://schemas.openxmlformats.org/drawingml/2006/main">
              <a:ext uri="{FF2B5EF4-FFF2-40B4-BE49-F238E27FC236}">
                <a16:creationId xmlns:a16="http://schemas.microsoft.com/office/drawing/2014/main" id="{97B28F40-2010-472C-B2F7-A8309C41739F}"/>
              </a:ext>
            </a:extLst>
          </p:cNvPr>
          <p:cNvSpPr>
            <a:spLocks xmlns:a="http://schemas.openxmlformats.org/drawingml/2006/main" noGrp="1"/>
          </p:cNvSpPr>
          <p:nvPr/>
        </p:nvSpPr>
        <p:spPr>
          <a:xfrm xmlns:a="http://schemas.openxmlformats.org/drawingml/2006/main">
            <a:off x="742950" y="2724150"/>
            <a:ext cx="2190750" cy="1066800"/>
          </a:xfrm>
          <a:prstGeom xmlns:a="http://schemas.openxmlformats.org/drawingml/2006/main" prst="roundRect">
            <a:avLst>
              <a:gd name="adj" fmla="val 14286"/>
            </a:avLst>
          </a:prstGeom>
          <a:solidFill xmlns:a="http://schemas.openxmlformats.org/drawingml/2006/main">
            <a:srgbClr val="E7EAF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47A32A3-AF99-498C-A9BA-648FA725A67C}"/>
              </a:ext>
            </a:extLst>
          </p:cNvPr>
          <p:cNvSpPr>
            <a:spLocks xmlns:a="http://schemas.openxmlformats.org/drawingml/2006/main" noGrp="1"/>
          </p:cNvSpPr>
          <p:nvPr/>
        </p:nvSpPr>
        <p:spPr>
          <a:xfrm xmlns:a="http://schemas.openxmlformats.org/drawingml/2006/main">
            <a:off x="885825" y="290512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lnSpc>
                <a:spcPct val="104000"/>
              </a:lnSpc>
              <a:buNone/>
              <a:defRPr sz="1875" b="1">
                <a:solidFill>
                  <a:srgbClr val="17223B"/>
                </a:solidFill>
                <a:latin typeface="Arial"/>
                <a:ea typeface="Arial"/>
                <a:cs typeface="Arial"/>
              </a:defRPr>
            </a:pPr>
            <a:r>
              <a:rPr sz="1875" b="1">
                <a:solidFill>
                  <a:srgbClr val="17223B"/>
                </a:solidFill>
                <a:latin typeface="Arial"/>
                <a:ea typeface="Arial"/>
                <a:cs typeface="Arial"/>
              </a:rPr>
              <a:t>Baseline</a:t>
            </a:r>
          </a:p>
        </p:txBody>
      </p:sp>
      <p:sp>
        <p:nvSpPr>
          <p:cNvPr id="9" name="">
            <a:extLst xmlns:a="http://schemas.openxmlformats.org/drawingml/2006/main">
              <a:ext uri="{FF2B5EF4-FFF2-40B4-BE49-F238E27FC236}">
                <a16:creationId xmlns:a16="http://schemas.microsoft.com/office/drawing/2014/main" id="{FBAD9B9F-4B20-402B-A591-05E9A7E665BE}"/>
              </a:ext>
            </a:extLst>
          </p:cNvPr>
          <p:cNvSpPr>
            <a:spLocks xmlns:a="http://schemas.openxmlformats.org/drawingml/2006/main" noGrp="1"/>
          </p:cNvSpPr>
          <p:nvPr/>
        </p:nvSpPr>
        <p:spPr>
          <a:xfrm xmlns:a="http://schemas.openxmlformats.org/drawingml/2006/main">
            <a:off x="885825" y="33337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115"/>
          </a:bodyPr>
          <a:lstStyle xmlns:a="http://schemas.openxmlformats.org/drawingml/2006/main"/>
          <a:p xmlns:a="http://schemas.openxmlformats.org/drawingml/2006/main">
            <a:pPr algn="ctr">
              <a:lnSpc>
                <a:spcPct val="104000"/>
              </a:lnSpc>
              <a:buNone/>
              <a:defRPr sz="1200" b="0">
                <a:solidFill>
                  <a:srgbClr val="687086"/>
                </a:solidFill>
                <a:latin typeface="Arial"/>
                <a:ea typeface="Arial"/>
                <a:cs typeface="Arial"/>
              </a:defRPr>
            </a:pPr>
            <a:r>
              <a:rPr sz="1200" b="0">
                <a:solidFill>
                  <a:srgbClr val="687086"/>
                </a:solidFill>
                <a:latin typeface="Arial"/>
                <a:ea typeface="Arial"/>
                <a:cs typeface="Arial"/>
              </a:rPr>
              <a:t>unstimulated</a:t>
            </a:r>
          </a:p>
        </p:txBody>
      </p:sp>
      <p:sp>
        <p:nvSpPr>
          <p:cNvPr id="10" name="">
            <a:extLst xmlns:a="http://schemas.openxmlformats.org/drawingml/2006/main">
              <a:ext uri="{FF2B5EF4-FFF2-40B4-BE49-F238E27FC236}">
                <a16:creationId xmlns:a16="http://schemas.microsoft.com/office/drawing/2014/main" id="{6450FC28-7D5D-4636-9DD2-CEDEA61DCD4C}"/>
              </a:ext>
            </a:extLst>
          </p:cNvPr>
          <p:cNvSpPr>
            <a:spLocks xmlns:a="http://schemas.openxmlformats.org/drawingml/2006/main" noGrp="1"/>
          </p:cNvSpPr>
          <p:nvPr/>
        </p:nvSpPr>
        <p:spPr>
          <a:xfrm xmlns:a="http://schemas.openxmlformats.org/drawingml/2006/main">
            <a:off x="3352800" y="2724150"/>
            <a:ext cx="2190750" cy="1066800"/>
          </a:xfrm>
          <a:prstGeom xmlns:a="http://schemas.openxmlformats.org/drawingml/2006/main" prst="roundRect">
            <a:avLst>
              <a:gd name="adj" fmla="val 14286"/>
            </a:avLst>
          </a:prstGeom>
          <a:solidFill xmlns:a="http://schemas.openxmlformats.org/drawingml/2006/main">
            <a:srgbClr val="DDF3F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0373589-4F48-48E8-A628-F8BF24216828}"/>
              </a:ext>
            </a:extLst>
          </p:cNvPr>
          <p:cNvSpPr>
            <a:spLocks xmlns:a="http://schemas.openxmlformats.org/drawingml/2006/main" noGrp="1"/>
          </p:cNvSpPr>
          <p:nvPr/>
        </p:nvSpPr>
        <p:spPr>
          <a:xfrm xmlns:a="http://schemas.openxmlformats.org/drawingml/2006/main">
            <a:off x="3495675" y="290512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lnSpc>
                <a:spcPct val="104000"/>
              </a:lnSpc>
              <a:buNone/>
              <a:defRPr sz="1875" b="1">
                <a:solidFill>
                  <a:srgbClr val="17223B"/>
                </a:solidFill>
                <a:latin typeface="Arial"/>
                <a:ea typeface="Arial"/>
                <a:cs typeface="Arial"/>
              </a:defRPr>
            </a:pPr>
            <a:r>
              <a:rPr sz="1875" b="1">
                <a:solidFill>
                  <a:srgbClr val="17223B"/>
                </a:solidFill>
                <a:latin typeface="Arial"/>
                <a:ea typeface="Arial"/>
                <a:cs typeface="Arial"/>
              </a:rPr>
              <a:t>LPS</a:t>
            </a:r>
          </a:p>
        </p:txBody>
      </p:sp>
      <p:sp>
        <p:nvSpPr>
          <p:cNvPr id="12" name="">
            <a:extLst xmlns:a="http://schemas.openxmlformats.org/drawingml/2006/main">
              <a:ext uri="{FF2B5EF4-FFF2-40B4-BE49-F238E27FC236}">
                <a16:creationId xmlns:a16="http://schemas.microsoft.com/office/drawing/2014/main" id="{0F47B8C3-6041-4D67-8617-3A6643F00C74}"/>
              </a:ext>
            </a:extLst>
          </p:cNvPr>
          <p:cNvSpPr>
            <a:spLocks xmlns:a="http://schemas.openxmlformats.org/drawingml/2006/main" noGrp="1"/>
          </p:cNvSpPr>
          <p:nvPr/>
        </p:nvSpPr>
        <p:spPr>
          <a:xfrm xmlns:a="http://schemas.openxmlformats.org/drawingml/2006/main">
            <a:off x="3495675" y="33337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115"/>
          </a:bodyPr>
          <a:lstStyle xmlns:a="http://schemas.openxmlformats.org/drawingml/2006/main"/>
          <a:p xmlns:a="http://schemas.openxmlformats.org/drawingml/2006/main">
            <a:pPr algn="ctr">
              <a:lnSpc>
                <a:spcPct val="104000"/>
              </a:lnSpc>
              <a:buNone/>
              <a:defRPr sz="1200" b="0">
                <a:solidFill>
                  <a:srgbClr val="687086"/>
                </a:solidFill>
                <a:latin typeface="Arial"/>
                <a:ea typeface="Arial"/>
                <a:cs typeface="Arial"/>
              </a:defRPr>
            </a:pPr>
            <a:r>
              <a:rPr sz="1200" b="0">
                <a:solidFill>
                  <a:srgbClr val="687086"/>
                </a:solidFill>
                <a:latin typeface="Arial"/>
                <a:ea typeface="Arial"/>
                <a:cs typeface="Arial"/>
              </a:rPr>
              <a:t>monocyte response</a:t>
            </a:r>
          </a:p>
        </p:txBody>
      </p:sp>
      <p:sp>
        <p:nvSpPr>
          <p:cNvPr id="13" name="">
            <a:extLst xmlns:a="http://schemas.openxmlformats.org/drawingml/2006/main">
              <a:ext uri="{FF2B5EF4-FFF2-40B4-BE49-F238E27FC236}">
                <a16:creationId xmlns:a16="http://schemas.microsoft.com/office/drawing/2014/main" id="{0229719E-1253-4D9A-A378-95D19A4765DF}"/>
              </a:ext>
            </a:extLst>
          </p:cNvPr>
          <p:cNvSpPr>
            <a:spLocks xmlns:a="http://schemas.openxmlformats.org/drawingml/2006/main" noGrp="1"/>
          </p:cNvSpPr>
          <p:nvPr/>
        </p:nvSpPr>
        <p:spPr>
          <a:xfrm xmlns:a="http://schemas.openxmlformats.org/drawingml/2006/main">
            <a:off x="5962650" y="2724150"/>
            <a:ext cx="2190750" cy="1066800"/>
          </a:xfrm>
          <a:prstGeom xmlns:a="http://schemas.openxmlformats.org/drawingml/2006/main" prst="roundRect">
            <a:avLst>
              <a:gd name="adj" fmla="val 14286"/>
            </a:avLst>
          </a:prstGeom>
          <a:solidFill xmlns:a="http://schemas.openxmlformats.org/drawingml/2006/main">
            <a:srgbClr val="FFE7E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A1AD407-7513-40F1-8019-ADEA7363BB8B}"/>
              </a:ext>
            </a:extLst>
          </p:cNvPr>
          <p:cNvSpPr>
            <a:spLocks xmlns:a="http://schemas.openxmlformats.org/drawingml/2006/main" noGrp="1"/>
          </p:cNvSpPr>
          <p:nvPr/>
        </p:nvSpPr>
        <p:spPr>
          <a:xfrm xmlns:a="http://schemas.openxmlformats.org/drawingml/2006/main">
            <a:off x="6105525" y="290512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lnSpc>
                <a:spcPct val="104000"/>
              </a:lnSpc>
              <a:buNone/>
              <a:defRPr sz="1875" b="1">
                <a:solidFill>
                  <a:srgbClr val="17223B"/>
                </a:solidFill>
                <a:latin typeface="Arial"/>
                <a:ea typeface="Arial"/>
                <a:cs typeface="Arial"/>
              </a:defRPr>
            </a:pPr>
            <a:r>
              <a:rPr sz="1875" b="1">
                <a:solidFill>
                  <a:srgbClr val="17223B"/>
                </a:solidFill>
                <a:latin typeface="Arial"/>
                <a:ea typeface="Arial"/>
                <a:cs typeface="Arial"/>
              </a:rPr>
              <a:t>anti-CD3/CD28</a:t>
            </a:r>
          </a:p>
        </p:txBody>
      </p:sp>
      <p:sp>
        <p:nvSpPr>
          <p:cNvPr id="15" name="">
            <a:extLst xmlns:a="http://schemas.openxmlformats.org/drawingml/2006/main">
              <a:ext uri="{FF2B5EF4-FFF2-40B4-BE49-F238E27FC236}">
                <a16:creationId xmlns:a16="http://schemas.microsoft.com/office/drawing/2014/main" id="{C072B7B9-7D37-4CC6-9695-82BBD41E99DA}"/>
              </a:ext>
            </a:extLst>
          </p:cNvPr>
          <p:cNvSpPr>
            <a:spLocks xmlns:a="http://schemas.openxmlformats.org/drawingml/2006/main" noGrp="1"/>
          </p:cNvSpPr>
          <p:nvPr/>
        </p:nvSpPr>
        <p:spPr>
          <a:xfrm xmlns:a="http://schemas.openxmlformats.org/drawingml/2006/main">
            <a:off x="6105525" y="33337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115"/>
          </a:bodyPr>
          <a:lstStyle xmlns:a="http://schemas.openxmlformats.org/drawingml/2006/main"/>
          <a:p xmlns:a="http://schemas.openxmlformats.org/drawingml/2006/main">
            <a:pPr algn="ctr">
              <a:lnSpc>
                <a:spcPct val="104000"/>
              </a:lnSpc>
              <a:buNone/>
              <a:defRPr sz="1200" b="0">
                <a:solidFill>
                  <a:srgbClr val="687086"/>
                </a:solidFill>
                <a:latin typeface="Arial"/>
                <a:ea typeface="Arial"/>
                <a:cs typeface="Arial"/>
              </a:defRPr>
            </a:pPr>
            <a:r>
              <a:rPr sz="1200" b="0">
                <a:solidFill>
                  <a:srgbClr val="687086"/>
                </a:solidFill>
                <a:latin typeface="Arial"/>
                <a:ea typeface="Arial"/>
                <a:cs typeface="Arial"/>
              </a:rPr>
              <a:t>T-cell response</a:t>
            </a:r>
          </a:p>
        </p:txBody>
      </p:sp>
      <p:sp>
        <p:nvSpPr>
          <p:cNvPr id="16" name="">
            <a:extLst xmlns:a="http://schemas.openxmlformats.org/drawingml/2006/main">
              <a:ext uri="{FF2B5EF4-FFF2-40B4-BE49-F238E27FC236}">
                <a16:creationId xmlns:a16="http://schemas.microsoft.com/office/drawing/2014/main" id="{E4988F7C-D947-48F9-923B-BD72A27E7ABE}"/>
              </a:ext>
            </a:extLst>
          </p:cNvPr>
          <p:cNvSpPr>
            <a:spLocks xmlns:a="http://schemas.openxmlformats.org/drawingml/2006/main" noGrp="1"/>
          </p:cNvSpPr>
          <p:nvPr/>
        </p:nvSpPr>
        <p:spPr>
          <a:xfrm xmlns:a="http://schemas.openxmlformats.org/drawingml/2006/main">
            <a:off x="8334375" y="29527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29"/>
          </a:bodyPr>
          <a:lstStyle xmlns:a="http://schemas.openxmlformats.org/drawingml/2006/main"/>
          <a:p xmlns:a="http://schemas.openxmlformats.org/drawingml/2006/main">
            <a:pPr algn="ctr">
              <a:lnSpc>
                <a:spcPct val="104000"/>
              </a:lnSpc>
              <a:buNone/>
              <a:defRPr sz="3000" b="1">
                <a:solidFill>
                  <a:srgbClr val="F15B64"/>
                </a:solidFill>
                <a:latin typeface="Arial"/>
                <a:ea typeface="Arial"/>
                <a:cs typeface="Arial"/>
              </a:defRPr>
            </a:pPr>
            <a:r>
              <a:rPr sz="3000" b="1">
                <a:solidFill>
                  <a:srgbClr val="F15B64"/>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FFAACC36-3EE2-431C-AD4C-47903BDB29B2}"/>
              </a:ext>
            </a:extLst>
          </p:cNvPr>
          <p:cNvSpPr>
            <a:spLocks xmlns:a="http://schemas.openxmlformats.org/drawingml/2006/main" noGrp="1"/>
          </p:cNvSpPr>
          <p:nvPr/>
        </p:nvSpPr>
        <p:spPr>
          <a:xfrm xmlns:a="http://schemas.openxmlformats.org/drawingml/2006/main">
            <a:off x="9086850" y="2457450"/>
            <a:ext cx="2400300" cy="1619250"/>
          </a:xfrm>
          <a:prstGeom xmlns:a="http://schemas.openxmlformats.org/drawingml/2006/main" prst="roundRect">
            <a:avLst>
              <a:gd name="adj" fmla="val 9412"/>
            </a:avLst>
          </a:prstGeom>
          <a:solidFill xmlns:a="http://schemas.openxmlformats.org/drawingml/2006/main">
            <a:srgbClr val="EEE7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3686119-981E-4B99-A9F9-332580633A2F}"/>
              </a:ext>
            </a:extLst>
          </p:cNvPr>
          <p:cNvSpPr>
            <a:spLocks xmlns:a="http://schemas.openxmlformats.org/drawingml/2006/main" noGrp="1"/>
          </p:cNvSpPr>
          <p:nvPr/>
        </p:nvSpPr>
        <p:spPr>
          <a:xfrm xmlns:a="http://schemas.openxmlformats.org/drawingml/2006/main">
            <a:off x="9277350" y="264795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513"/>
          </a:bodyPr>
          <a:lstStyle xmlns:a="http://schemas.openxmlformats.org/drawingml/2006/main"/>
          <a:p xmlns:a="http://schemas.openxmlformats.org/drawingml/2006/main">
            <a:pPr algn="ctr">
              <a:lnSpc>
                <a:spcPct val="104000"/>
              </a:lnSpc>
              <a:buNone/>
              <a:defRPr sz="2250" b="1">
                <a:solidFill>
                  <a:srgbClr val="6C3ED9"/>
                </a:solidFill>
                <a:latin typeface="Arial"/>
                <a:ea typeface="Arial"/>
                <a:cs typeface="Arial"/>
              </a:defRPr>
            </a:pPr>
            <a:r>
              <a:rPr sz="2250" b="1">
                <a:solidFill>
                  <a:srgbClr val="6C3ED9"/>
                </a:solidFill>
                <a:latin typeface="Arial"/>
                <a:ea typeface="Arial"/>
                <a:cs typeface="Arial"/>
              </a:rPr>
              <a:t>CITE-seq</a:t>
            </a:r>
          </a:p>
        </p:txBody>
      </p:sp>
      <p:sp>
        <p:nvSpPr>
          <p:cNvPr id="19" name="">
            <a:extLst xmlns:a="http://schemas.openxmlformats.org/drawingml/2006/main">
              <a:ext uri="{FF2B5EF4-FFF2-40B4-BE49-F238E27FC236}">
                <a16:creationId xmlns:a16="http://schemas.microsoft.com/office/drawing/2014/main" id="{36A4C05B-286A-4806-9BF8-A432AAF98C8E}"/>
              </a:ext>
            </a:extLst>
          </p:cNvPr>
          <p:cNvSpPr>
            <a:spLocks xmlns:a="http://schemas.openxmlformats.org/drawingml/2006/main" noGrp="1"/>
          </p:cNvSpPr>
          <p:nvPr/>
        </p:nvSpPr>
        <p:spPr>
          <a:xfrm xmlns:a="http://schemas.openxmlformats.org/drawingml/2006/main">
            <a:off x="9277350" y="3086100"/>
            <a:ext cx="2019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59"/>
          </a:bodyPr>
          <a:lstStyle xmlns:a="http://schemas.openxmlformats.org/drawingml/2006/main"/>
          <a:p xmlns:a="http://schemas.openxmlformats.org/drawingml/2006/main">
            <a:pPr algn="ctr">
              <a:lnSpc>
                <a:spcPct val="104000"/>
              </a:lnSpc>
              <a:buNone/>
              <a:defRPr sz="1500" b="0">
                <a:solidFill>
                  <a:srgbClr val="17223B"/>
                </a:solidFill>
                <a:latin typeface="Arial"/>
                <a:ea typeface="Arial"/>
                <a:cs typeface="Arial"/>
              </a:defRPr>
            </a:pPr>
            <a:r>
              <a:rPr sz="1500" b="0">
                <a:solidFill>
                  <a:srgbClr val="17223B"/>
                </a:solidFill>
                <a:latin typeface="Arial"/>
                <a:ea typeface="Arial"/>
                <a:cs typeface="Arial"/>
              </a:rPr>
              <a:t>4,000 genes</a:t>
            </a:r>
          </a:p>
          <a:p xmlns:a="http://schemas.openxmlformats.org/drawingml/2006/main">
            <a:pPr algn="ctr">
              <a:lnSpc>
                <a:spcPct val="104000"/>
              </a:lnSpc>
              <a:buNone/>
              <a:defRPr sz="1500" b="0">
                <a:solidFill>
                  <a:srgbClr val="17223B"/>
                </a:solidFill>
                <a:latin typeface="Arial"/>
                <a:ea typeface="Arial"/>
                <a:cs typeface="Arial"/>
              </a:defRPr>
            </a:pPr>
            <a:r>
              <a:rPr sz="1500" b="0">
                <a:solidFill>
                  <a:srgbClr val="17223B"/>
                </a:solidFill>
                <a:latin typeface="Arial"/>
                <a:ea typeface="Arial"/>
                <a:cs typeface="Arial"/>
              </a:rPr>
              <a:t>39 surface proteins</a:t>
            </a:r>
          </a:p>
          <a:p xmlns:a="http://schemas.openxmlformats.org/drawingml/2006/main">
            <a:pPr algn="ctr">
              <a:lnSpc>
                <a:spcPct val="104000"/>
              </a:lnSpc>
              <a:buNone/>
              <a:defRPr sz="1500" b="0">
                <a:solidFill>
                  <a:srgbClr val="17223B"/>
                </a:solidFill>
                <a:latin typeface="Arial"/>
                <a:ea typeface="Arial"/>
                <a:cs typeface="Arial"/>
              </a:defRPr>
            </a:pPr>
            <a:r>
              <a:rPr sz="1500" b="0">
                <a:solidFill>
                  <a:srgbClr val="17223B"/>
                </a:solidFill>
                <a:latin typeface="Arial"/>
                <a:ea typeface="Arial"/>
                <a:cs typeface="Arial"/>
              </a:rPr>
              <a:t>16,382 cells</a:t>
            </a:r>
          </a:p>
        </p:txBody>
      </p:sp>
      <p:sp>
        <p:nvSpPr>
          <p:cNvPr id="20" name="">
            <a:extLst xmlns:a="http://schemas.openxmlformats.org/drawingml/2006/main">
              <a:ext uri="{FF2B5EF4-FFF2-40B4-BE49-F238E27FC236}">
                <a16:creationId xmlns:a16="http://schemas.microsoft.com/office/drawing/2014/main" id="{090620CD-8508-486E-A680-27EDB1671AB9}"/>
              </a:ext>
            </a:extLst>
          </p:cNvPr>
          <p:cNvSpPr>
            <a:spLocks xmlns:a="http://schemas.openxmlformats.org/drawingml/2006/main" noGrp="1"/>
          </p:cNvSpPr>
          <p:nvPr/>
        </p:nvSpPr>
        <p:spPr>
          <a:xfrm xmlns:a="http://schemas.openxmlformats.org/drawingml/2006/main">
            <a:off x="685800" y="4572000"/>
            <a:ext cx="10801350" cy="19050"/>
          </a:xfrm>
          <a:prstGeom xmlns:a="http://schemas.openxmlformats.org/drawingml/2006/main" prst="rect">
            <a:avLst/>
          </a:prstGeom>
          <a:solidFill xmlns:a="http://schemas.openxmlformats.org/drawingml/2006/main">
            <a:srgbClr val="E7EAF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2ABE288-D082-49FF-B8A5-DA50052F4E8E}"/>
              </a:ext>
            </a:extLst>
          </p:cNvPr>
          <p:cNvSpPr>
            <a:spLocks xmlns:a="http://schemas.openxmlformats.org/drawingml/2006/main" noGrp="1"/>
          </p:cNvSpPr>
          <p:nvPr/>
        </p:nvSpPr>
        <p:spPr>
          <a:xfrm xmlns:a="http://schemas.openxmlformats.org/drawingml/2006/main">
            <a:off x="685800" y="48577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54"/>
          </a:bodyPr>
          <a:lstStyle xmlns:a="http://schemas.openxmlformats.org/drawingml/2006/main"/>
          <a:p xmlns:a="http://schemas.openxmlformats.org/drawingml/2006/main">
            <a:pPr algn="l">
              <a:lnSpc>
                <a:spcPct val="104000"/>
              </a:lnSpc>
              <a:buNone/>
              <a:defRPr sz="1275" b="1">
                <a:solidFill>
                  <a:srgbClr val="0D8A9A"/>
                </a:solidFill>
                <a:latin typeface="Arial"/>
                <a:ea typeface="Arial"/>
                <a:cs typeface="Arial"/>
              </a:defRPr>
            </a:pPr>
            <a:r>
              <a:rPr sz="1275" b="1">
                <a:solidFill>
                  <a:srgbClr val="0D8A9A"/>
                </a:solidFill>
                <a:latin typeface="Arial"/>
                <a:ea typeface="Arial"/>
                <a:cs typeface="Arial"/>
              </a:rPr>
              <a:t>Validation</a:t>
            </a:r>
          </a:p>
        </p:txBody>
      </p:sp>
      <p:sp>
        <p:nvSpPr>
          <p:cNvPr id="22" name="">
            <a:extLst xmlns:a="http://schemas.openxmlformats.org/drawingml/2006/main">
              <a:ext uri="{FF2B5EF4-FFF2-40B4-BE49-F238E27FC236}">
                <a16:creationId xmlns:a16="http://schemas.microsoft.com/office/drawing/2014/main" id="{3F2B2058-45FB-4E47-B8E3-C5398AC4901C}"/>
              </a:ext>
            </a:extLst>
          </p:cNvPr>
          <p:cNvSpPr>
            <a:spLocks xmlns:a="http://schemas.openxmlformats.org/drawingml/2006/main" noGrp="1"/>
          </p:cNvSpPr>
          <p:nvPr/>
        </p:nvSpPr>
        <p:spPr>
          <a:xfrm xmlns:a="http://schemas.openxmlformats.org/drawingml/2006/main">
            <a:off x="685800" y="52197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100" b="1">
                <a:solidFill>
                  <a:srgbClr val="17223B"/>
                </a:solidFill>
                <a:latin typeface="Arial"/>
                <a:ea typeface="Arial"/>
                <a:cs typeface="Arial"/>
              </a:defRPr>
            </a:pPr>
            <a:r>
              <a:rPr sz="2100" b="1">
                <a:solidFill>
                  <a:srgbClr val="17223B"/>
                </a:solidFill>
                <a:latin typeface="Arial"/>
                <a:ea typeface="Arial"/>
                <a:cs typeface="Arial"/>
              </a:rPr>
              <a:t>Leave one donor out</a:t>
            </a:r>
          </a:p>
        </p:txBody>
      </p:sp>
      <p:sp>
        <p:nvSpPr>
          <p:cNvPr id="23" name="">
            <a:extLst xmlns:a="http://schemas.openxmlformats.org/drawingml/2006/main">
              <a:ext uri="{FF2B5EF4-FFF2-40B4-BE49-F238E27FC236}">
                <a16:creationId xmlns:a16="http://schemas.microsoft.com/office/drawing/2014/main" id="{5010B9C0-CE62-4EC5-BA2C-4E22257BB529}"/>
              </a:ext>
            </a:extLst>
          </p:cNvPr>
          <p:cNvSpPr>
            <a:spLocks xmlns:a="http://schemas.openxmlformats.org/drawingml/2006/main" noGrp="1"/>
          </p:cNvSpPr>
          <p:nvPr/>
        </p:nvSpPr>
        <p:spPr>
          <a:xfrm xmlns:a="http://schemas.openxmlformats.org/drawingml/2006/main">
            <a:off x="4000500" y="52197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lnSpc>
                <a:spcPct val="104000"/>
              </a:lnSpc>
              <a:buNone/>
              <a:defRPr sz="1650" b="1">
                <a:solidFill>
                  <a:srgbClr val="223A69"/>
                </a:solidFill>
                <a:latin typeface="Arial"/>
                <a:ea typeface="Arial"/>
                <a:cs typeface="Arial"/>
              </a:defRPr>
            </a:pPr>
            <a:r>
              <a:rPr sz="1650" b="1">
                <a:solidFill>
                  <a:srgbClr val="223A69"/>
                </a:solidFill>
                <a:latin typeface="Arial"/>
                <a:ea typeface="Arial"/>
                <a:cs typeface="Arial"/>
              </a:rPr>
              <a:t>Train on 9 donors</a:t>
            </a:r>
          </a:p>
        </p:txBody>
      </p:sp>
      <p:sp>
        <p:nvSpPr>
          <p:cNvPr id="24" name="">
            <a:extLst xmlns:a="http://schemas.openxmlformats.org/drawingml/2006/main">
              <a:ext uri="{FF2B5EF4-FFF2-40B4-BE49-F238E27FC236}">
                <a16:creationId xmlns:a16="http://schemas.microsoft.com/office/drawing/2014/main" id="{AC4CB11D-2EEE-4EE4-B92F-8B56F796CDED}"/>
              </a:ext>
            </a:extLst>
          </p:cNvPr>
          <p:cNvSpPr>
            <a:spLocks xmlns:a="http://schemas.openxmlformats.org/drawingml/2006/main" noGrp="1"/>
          </p:cNvSpPr>
          <p:nvPr/>
        </p:nvSpPr>
        <p:spPr>
          <a:xfrm xmlns:a="http://schemas.openxmlformats.org/drawingml/2006/main">
            <a:off x="6419850" y="51435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972"/>
          </a:bodyPr>
          <a:lstStyle xmlns:a="http://schemas.openxmlformats.org/drawingml/2006/main"/>
          <a:p xmlns:a="http://schemas.openxmlformats.org/drawingml/2006/main">
            <a:pPr algn="ctr">
              <a:lnSpc>
                <a:spcPct val="104000"/>
              </a:lnSpc>
              <a:buNone/>
              <a:defRPr sz="2850" b="1">
                <a:solidFill>
                  <a:srgbClr val="F15B64"/>
                </a:solidFill>
                <a:latin typeface="Arial"/>
                <a:ea typeface="Arial"/>
                <a:cs typeface="Arial"/>
              </a:defRPr>
            </a:pPr>
            <a:r>
              <a:rPr sz="2850" b="1">
                <a:solidFill>
                  <a:srgbClr val="F15B64"/>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DDF3D0DA-7463-4D23-AEC7-5D6FA79EAC77}"/>
              </a:ext>
            </a:extLst>
          </p:cNvPr>
          <p:cNvSpPr>
            <a:spLocks xmlns:a="http://schemas.openxmlformats.org/drawingml/2006/main" noGrp="1"/>
          </p:cNvSpPr>
          <p:nvPr/>
        </p:nvSpPr>
        <p:spPr>
          <a:xfrm xmlns:a="http://schemas.openxmlformats.org/drawingml/2006/main">
            <a:off x="7239000" y="52197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lnSpc>
                <a:spcPct val="104000"/>
              </a:lnSpc>
              <a:buNone/>
              <a:defRPr sz="1650" b="1">
                <a:solidFill>
                  <a:srgbClr val="223A69"/>
                </a:solidFill>
                <a:latin typeface="Arial"/>
                <a:ea typeface="Arial"/>
                <a:cs typeface="Arial"/>
              </a:defRPr>
            </a:pPr>
            <a:r>
              <a:rPr sz="1650" b="1">
                <a:solidFill>
                  <a:srgbClr val="223A69"/>
                </a:solidFill>
                <a:latin typeface="Arial"/>
                <a:ea typeface="Arial"/>
                <a:cs typeface="Arial"/>
              </a:rPr>
              <a:t>Test the unseen donor</a:t>
            </a:r>
          </a:p>
        </p:txBody>
      </p:sp>
      <p:sp>
        <p:nvSpPr>
          <p:cNvPr id="26" name="">
            <a:extLst xmlns:a="http://schemas.openxmlformats.org/drawingml/2006/main">
              <a:ext uri="{FF2B5EF4-FFF2-40B4-BE49-F238E27FC236}">
                <a16:creationId xmlns:a16="http://schemas.microsoft.com/office/drawing/2014/main" id="{066BB958-A245-431E-845C-AD186482E2C6}"/>
              </a:ext>
            </a:extLst>
          </p:cNvPr>
          <p:cNvSpPr>
            <a:spLocks xmlns:a="http://schemas.openxmlformats.org/drawingml/2006/main" noGrp="1"/>
          </p:cNvSpPr>
          <p:nvPr/>
        </p:nvSpPr>
        <p:spPr>
          <a:xfrm xmlns:a="http://schemas.openxmlformats.org/drawingml/2006/main">
            <a:off x="9144000" y="59055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587"/>
          </a:bodyPr>
          <a:lstStyle xmlns:a="http://schemas.openxmlformats.org/drawingml/2006/main"/>
          <a:p xmlns:a="http://schemas.openxmlformats.org/drawingml/2006/main">
            <a:pPr algn="r">
              <a:lnSpc>
                <a:spcPct val="104000"/>
              </a:lnSpc>
              <a:buNone/>
              <a:defRPr sz="1275" b="1">
                <a:solidFill>
                  <a:srgbClr val="687086"/>
                </a:solidFill>
                <a:latin typeface="Arial"/>
                <a:ea typeface="Arial"/>
                <a:cs typeface="Arial"/>
              </a:defRPr>
            </a:pPr>
            <a:r>
              <a:rPr sz="1275" b="1">
                <a:solidFill>
                  <a:srgbClr val="687086"/>
                </a:solidFill>
                <a:latin typeface="Arial"/>
                <a:ea typeface="Arial"/>
                <a:cs typeface="Arial"/>
              </a:rPr>
              <a:t>× 10 folds per model</a:t>
            </a:r>
          </a:p>
        </p:txBody>
      </p:sp>
    </p:spTree>
    <p:extLst>
      <p:ext uri="{BB962C8B-B14F-4D97-AF65-F5344CB8AC3E}">
        <p14:creationId xmlns:p14="http://schemas.microsoft.com/office/powerpoint/2010/main" val="7700790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C037EEE8-3808-4869-AE28-E90B317E1295}"/>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FUSIONVI-X ARCHITECTURE</a:t>
            </a:r>
          </a:p>
        </p:txBody>
      </p:sp>
      <p:sp>
        <p:nvSpPr>
          <p:cNvPr id="2" name="">
            <a:extLst xmlns:a="http://schemas.openxmlformats.org/drawingml/2006/main">
              <a:ext uri="{FF2B5EF4-FFF2-40B4-BE49-F238E27FC236}">
                <a16:creationId xmlns:a16="http://schemas.microsoft.com/office/drawing/2014/main" id="{6822DA65-F71A-4F2E-A845-221D990E2019}"/>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From an unsupervised gate to a targeted readout</a:t>
            </a:r>
          </a:p>
        </p:txBody>
      </p:sp>
      <p:sp>
        <p:nvSpPr>
          <p:cNvPr id="3" name="">
            <a:extLst xmlns:a="http://schemas.openxmlformats.org/drawingml/2006/main">
              <a:ext uri="{FF2B5EF4-FFF2-40B4-BE49-F238E27FC236}">
                <a16:creationId xmlns:a16="http://schemas.microsoft.com/office/drawing/2014/main" id="{B161D831-9E61-4B0F-BE4C-03AD5E7118B3}"/>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49E0C4-6473-4C1C-B04A-6674B81C4A29}"/>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C76F9BFC-3D37-4886-B325-FB3F825F0548}"/>
              </a:ext>
            </a:extLst>
          </p:cNvPr>
          <p:cNvSpPr>
            <a:spLocks xmlns:a="http://schemas.openxmlformats.org/drawingml/2006/main" noGrp="1"/>
          </p:cNvSpPr>
          <p:nvPr/>
        </p:nvSpPr>
        <p:spPr>
          <a:xfrm xmlns:a="http://schemas.openxmlformats.org/drawingml/2006/main">
            <a:off x="762000" y="16002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6"/>
          </a:bodyPr>
          <a:lstStyle xmlns:a="http://schemas.openxmlformats.org/drawingml/2006/main"/>
          <a:p xmlns:a="http://schemas.openxmlformats.org/drawingml/2006/main">
            <a:pPr algn="l">
              <a:lnSpc>
                <a:spcPct val="104000"/>
              </a:lnSpc>
              <a:buNone/>
              <a:defRPr sz="1725" b="1">
                <a:solidFill>
                  <a:srgbClr val="5267D9"/>
                </a:solidFill>
                <a:latin typeface="Arial"/>
                <a:ea typeface="Arial"/>
                <a:cs typeface="Arial"/>
              </a:defRPr>
            </a:pPr>
            <a:r>
              <a:rPr sz="1725" b="1">
                <a:solidFill>
                  <a:srgbClr val="5267D9"/>
                </a:solidFill>
                <a:latin typeface="Arial"/>
                <a:ea typeface="Arial"/>
                <a:cs typeface="Arial"/>
              </a:rPr>
              <a:t>Standard totalVI</a:t>
            </a:r>
          </a:p>
        </p:txBody>
      </p:sp>
      <p:sp>
        <p:nvSpPr>
          <p:cNvPr id="6" name="">
            <a:extLst xmlns:a="http://schemas.openxmlformats.org/drawingml/2006/main">
              <a:ext uri="{FF2B5EF4-FFF2-40B4-BE49-F238E27FC236}">
                <a16:creationId xmlns:a16="http://schemas.microsoft.com/office/drawing/2014/main" id="{D73CB3F5-F0C2-4AA5-9FA0-8453BC05BE91}"/>
              </a:ext>
            </a:extLst>
          </p:cNvPr>
          <p:cNvSpPr>
            <a:spLocks xmlns:a="http://schemas.openxmlformats.org/drawingml/2006/main" noGrp="1"/>
          </p:cNvSpPr>
          <p:nvPr/>
        </p:nvSpPr>
        <p:spPr>
          <a:xfrm xmlns:a="http://schemas.openxmlformats.org/drawingml/2006/main">
            <a:off x="762000" y="2095500"/>
            <a:ext cx="2571750" cy="723900"/>
          </a:xfrm>
          <a:prstGeom xmlns:a="http://schemas.openxmlformats.org/drawingml/2006/main" prst="roundRect">
            <a:avLst>
              <a:gd name="adj" fmla="val 15789"/>
            </a:avLst>
          </a:prstGeom>
          <a:solidFill xmlns:a="http://schemas.openxmlformats.org/drawingml/2006/main">
            <a:srgbClr val="E7EA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C00262B-EC32-45ED-9FDD-CE5CC8A14772}"/>
              </a:ext>
            </a:extLst>
          </p:cNvPr>
          <p:cNvSpPr>
            <a:spLocks xmlns:a="http://schemas.openxmlformats.org/drawingml/2006/main" noGrp="1"/>
          </p:cNvSpPr>
          <p:nvPr/>
        </p:nvSpPr>
        <p:spPr>
          <a:xfrm xmlns:a="http://schemas.openxmlformats.org/drawingml/2006/main">
            <a:off x="933450" y="2266950"/>
            <a:ext cx="2228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41"/>
          </a:bodyPr>
          <a:lstStyle xmlns:a="http://schemas.openxmlformats.org/drawingml/2006/main"/>
          <a:p xmlns:a="http://schemas.openxmlformats.org/drawingml/2006/main">
            <a:pPr algn="ctr">
              <a:lnSpc>
                <a:spcPct val="104000"/>
              </a:lnSpc>
              <a:buNone/>
              <a:defRPr sz="1800" b="1">
                <a:solidFill>
                  <a:srgbClr val="17223B"/>
                </a:solidFill>
                <a:latin typeface="Arial"/>
                <a:ea typeface="Arial"/>
                <a:cs typeface="Arial"/>
              </a:defRPr>
            </a:pPr>
            <a:r>
              <a:rPr sz="1800" b="1">
                <a:solidFill>
                  <a:srgbClr val="17223B"/>
                </a:solidFill>
                <a:latin typeface="Arial"/>
                <a:ea typeface="Arial"/>
                <a:cs typeface="Arial"/>
              </a:rPr>
              <a:t>RNA + protein</a:t>
            </a:r>
          </a:p>
        </p:txBody>
      </p:sp>
      <p:sp>
        <p:nvSpPr>
          <p:cNvPr id="8" name="">
            <a:extLst xmlns:a="http://schemas.openxmlformats.org/drawingml/2006/main">
              <a:ext uri="{FF2B5EF4-FFF2-40B4-BE49-F238E27FC236}">
                <a16:creationId xmlns:a16="http://schemas.microsoft.com/office/drawing/2014/main" id="{96B9C2F7-164C-468D-A486-24BC838BC393}"/>
              </a:ext>
            </a:extLst>
          </p:cNvPr>
          <p:cNvSpPr>
            <a:spLocks xmlns:a="http://schemas.openxmlformats.org/drawingml/2006/main" noGrp="1"/>
          </p:cNvSpPr>
          <p:nvPr/>
        </p:nvSpPr>
        <p:spPr>
          <a:xfrm xmlns:a="http://schemas.openxmlformats.org/drawingml/2006/main">
            <a:off x="3429000" y="219075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357"/>
          </a:bodyPr>
          <a:lstStyle xmlns:a="http://schemas.openxmlformats.org/drawingml/2006/main"/>
          <a:p xmlns:a="http://schemas.openxmlformats.org/drawingml/2006/main">
            <a:pPr algn="ctr">
              <a:lnSpc>
                <a:spcPct val="104000"/>
              </a:lnSpc>
              <a:buNone/>
              <a:defRPr sz="2550" b="1">
                <a:solidFill>
                  <a:srgbClr val="687086"/>
                </a:solidFill>
                <a:latin typeface="Arial"/>
                <a:ea typeface="Arial"/>
                <a:cs typeface="Arial"/>
              </a:defRPr>
            </a:pPr>
            <a:r>
              <a:rPr sz="2550" b="1">
                <a:solidFill>
                  <a:srgbClr val="687086"/>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0243DC74-42C5-4DA2-A2D7-DDD0E4DB8698}"/>
              </a:ext>
            </a:extLst>
          </p:cNvPr>
          <p:cNvSpPr>
            <a:spLocks xmlns:a="http://schemas.openxmlformats.org/drawingml/2006/main" noGrp="1"/>
          </p:cNvSpPr>
          <p:nvPr/>
        </p:nvSpPr>
        <p:spPr>
          <a:xfrm xmlns:a="http://schemas.openxmlformats.org/drawingml/2006/main">
            <a:off x="4076700" y="2000250"/>
            <a:ext cx="2238375" cy="914400"/>
          </a:xfrm>
          <a:prstGeom xmlns:a="http://schemas.openxmlformats.org/drawingml/2006/main" prst="roundRect">
            <a:avLst>
              <a:gd name="adj" fmla="val 12500"/>
            </a:avLst>
          </a:prstGeom>
          <a:solidFill xmlns:a="http://schemas.openxmlformats.org/drawingml/2006/main">
            <a:srgbClr val="EEE7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FEA0A7A-16FA-4BE6-BF7D-AC8A245273CB}"/>
              </a:ext>
            </a:extLst>
          </p:cNvPr>
          <p:cNvSpPr>
            <a:spLocks xmlns:a="http://schemas.openxmlformats.org/drawingml/2006/main" noGrp="1"/>
          </p:cNvSpPr>
          <p:nvPr/>
        </p:nvSpPr>
        <p:spPr>
          <a:xfrm xmlns:a="http://schemas.openxmlformats.org/drawingml/2006/main">
            <a:off x="4248150" y="22479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436"/>
          </a:bodyPr>
          <a:lstStyle xmlns:a="http://schemas.openxmlformats.org/drawingml/2006/main"/>
          <a:p xmlns:a="http://schemas.openxmlformats.org/drawingml/2006/main">
            <a:pPr algn="ctr">
              <a:lnSpc>
                <a:spcPct val="104000"/>
              </a:lnSpc>
              <a:buNone/>
              <a:defRPr sz="1875" b="1">
                <a:solidFill>
                  <a:srgbClr val="6C3ED9"/>
                </a:solidFill>
                <a:latin typeface="Arial"/>
                <a:ea typeface="Arial"/>
                <a:cs typeface="Arial"/>
              </a:defRPr>
            </a:pPr>
            <a:r>
              <a:rPr sz="1875" b="1">
                <a:solidFill>
                  <a:srgbClr val="6C3ED9"/>
                </a:solidFill>
                <a:latin typeface="Arial"/>
                <a:ea typeface="Arial"/>
                <a:cs typeface="Arial"/>
              </a:rPr>
              <a:t>joint encoder</a:t>
            </a:r>
          </a:p>
        </p:txBody>
      </p:sp>
      <p:sp>
        <p:nvSpPr>
          <p:cNvPr id="11" name="">
            <a:extLst xmlns:a="http://schemas.openxmlformats.org/drawingml/2006/main">
              <a:ext uri="{FF2B5EF4-FFF2-40B4-BE49-F238E27FC236}">
                <a16:creationId xmlns:a16="http://schemas.microsoft.com/office/drawing/2014/main" id="{66CC6515-38D2-44FA-B7A5-27511CEDBC89}"/>
              </a:ext>
            </a:extLst>
          </p:cNvPr>
          <p:cNvSpPr>
            <a:spLocks xmlns:a="http://schemas.openxmlformats.org/drawingml/2006/main" noGrp="1"/>
          </p:cNvSpPr>
          <p:nvPr/>
        </p:nvSpPr>
        <p:spPr>
          <a:xfrm xmlns:a="http://schemas.openxmlformats.org/drawingml/2006/main">
            <a:off x="6419850" y="219075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357"/>
          </a:bodyPr>
          <a:lstStyle xmlns:a="http://schemas.openxmlformats.org/drawingml/2006/main"/>
          <a:p xmlns:a="http://schemas.openxmlformats.org/drawingml/2006/main">
            <a:pPr algn="ctr">
              <a:lnSpc>
                <a:spcPct val="104000"/>
              </a:lnSpc>
              <a:buNone/>
              <a:defRPr sz="2550" b="1">
                <a:solidFill>
                  <a:srgbClr val="687086"/>
                </a:solidFill>
                <a:latin typeface="Arial"/>
                <a:ea typeface="Arial"/>
                <a:cs typeface="Arial"/>
              </a:defRPr>
            </a:pPr>
            <a:r>
              <a:rPr sz="2550" b="1">
                <a:solidFill>
                  <a:srgbClr val="687086"/>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C35500B1-AF91-4DA0-A610-C74C086AB7BB}"/>
              </a:ext>
            </a:extLst>
          </p:cNvPr>
          <p:cNvSpPr>
            <a:spLocks xmlns:a="http://schemas.openxmlformats.org/drawingml/2006/main" noGrp="1"/>
          </p:cNvSpPr>
          <p:nvPr/>
        </p:nvSpPr>
        <p:spPr>
          <a:xfrm xmlns:a="http://schemas.openxmlformats.org/drawingml/2006/main">
            <a:off x="7067550" y="2095500"/>
            <a:ext cx="1714500" cy="723900"/>
          </a:xfrm>
          <a:prstGeom xmlns:a="http://schemas.openxmlformats.org/drawingml/2006/main" prst="roundRect">
            <a:avLst>
              <a:gd name="adj" fmla="val 15789"/>
            </a:avLst>
          </a:prstGeom>
          <a:solidFill xmlns:a="http://schemas.openxmlformats.org/drawingml/2006/main">
            <a:srgbClr val="DDF3F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038C89A-6F56-41C5-8717-2EAC772DDB63}"/>
              </a:ext>
            </a:extLst>
          </p:cNvPr>
          <p:cNvSpPr>
            <a:spLocks xmlns:a="http://schemas.openxmlformats.org/drawingml/2006/main" noGrp="1"/>
          </p:cNvSpPr>
          <p:nvPr/>
        </p:nvSpPr>
        <p:spPr>
          <a:xfrm xmlns:a="http://schemas.openxmlformats.org/drawingml/2006/main">
            <a:off x="7239000" y="2266950"/>
            <a:ext cx="1371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41"/>
          </a:bodyPr>
          <a:lstStyle xmlns:a="http://schemas.openxmlformats.org/drawingml/2006/main"/>
          <a:p xmlns:a="http://schemas.openxmlformats.org/drawingml/2006/main">
            <a:pPr algn="ctr">
              <a:lnSpc>
                <a:spcPct val="104000"/>
              </a:lnSpc>
              <a:buNone/>
              <a:defRPr sz="1800" b="1">
                <a:solidFill>
                  <a:srgbClr val="0D8A9A"/>
                </a:solidFill>
                <a:latin typeface="Arial"/>
                <a:ea typeface="Arial"/>
                <a:cs typeface="Arial"/>
              </a:defRPr>
            </a:pPr>
            <a:r>
              <a:rPr sz="1800" b="1">
                <a:solidFill>
                  <a:srgbClr val="0D8A9A"/>
                </a:solidFill>
                <a:latin typeface="Arial"/>
                <a:ea typeface="Arial"/>
                <a:cs typeface="Arial"/>
              </a:rPr>
              <a:t>latent z</a:t>
            </a:r>
          </a:p>
        </p:txBody>
      </p:sp>
      <p:sp>
        <p:nvSpPr>
          <p:cNvPr id="14" name="">
            <a:extLst xmlns:a="http://schemas.openxmlformats.org/drawingml/2006/main">
              <a:ext uri="{FF2B5EF4-FFF2-40B4-BE49-F238E27FC236}">
                <a16:creationId xmlns:a16="http://schemas.microsoft.com/office/drawing/2014/main" id="{0CBD7603-DBF8-4F43-8C90-BA384C142A57}"/>
              </a:ext>
            </a:extLst>
          </p:cNvPr>
          <p:cNvSpPr>
            <a:spLocks xmlns:a="http://schemas.openxmlformats.org/drawingml/2006/main" noGrp="1"/>
          </p:cNvSpPr>
          <p:nvPr/>
        </p:nvSpPr>
        <p:spPr>
          <a:xfrm xmlns:a="http://schemas.openxmlformats.org/drawingml/2006/main">
            <a:off x="8877300" y="219075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357"/>
          </a:bodyPr>
          <a:lstStyle xmlns:a="http://schemas.openxmlformats.org/drawingml/2006/main"/>
          <a:p xmlns:a="http://schemas.openxmlformats.org/drawingml/2006/main">
            <a:pPr algn="ctr">
              <a:lnSpc>
                <a:spcPct val="104000"/>
              </a:lnSpc>
              <a:buNone/>
              <a:defRPr sz="2550" b="1">
                <a:solidFill>
                  <a:srgbClr val="687086"/>
                </a:solidFill>
                <a:latin typeface="Arial"/>
                <a:ea typeface="Arial"/>
                <a:cs typeface="Arial"/>
              </a:defRPr>
            </a:pPr>
            <a:r>
              <a:rPr sz="2550" b="1">
                <a:solidFill>
                  <a:srgbClr val="687086"/>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A34B8946-B6B7-483E-B777-02D6F11D006E}"/>
              </a:ext>
            </a:extLst>
          </p:cNvPr>
          <p:cNvSpPr>
            <a:spLocks xmlns:a="http://schemas.openxmlformats.org/drawingml/2006/main" noGrp="1"/>
          </p:cNvSpPr>
          <p:nvPr/>
        </p:nvSpPr>
        <p:spPr>
          <a:xfrm xmlns:a="http://schemas.openxmlformats.org/drawingml/2006/main">
            <a:off x="9525000" y="2000250"/>
            <a:ext cx="1905000" cy="914400"/>
          </a:xfrm>
          <a:prstGeom xmlns:a="http://schemas.openxmlformats.org/drawingml/2006/main" prst="roundRect">
            <a:avLst>
              <a:gd name="adj" fmla="val 12500"/>
            </a:avLst>
          </a:prstGeom>
          <a:solidFill xmlns:a="http://schemas.openxmlformats.org/drawingml/2006/main">
            <a:srgbClr val="FFE7E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D9A6DD4-C878-4B45-9869-6F8A93CCF058}"/>
              </a:ext>
            </a:extLst>
          </p:cNvPr>
          <p:cNvSpPr>
            <a:spLocks xmlns:a="http://schemas.openxmlformats.org/drawingml/2006/main" noGrp="1"/>
          </p:cNvSpPr>
          <p:nvPr/>
        </p:nvSpPr>
        <p:spPr>
          <a:xfrm xmlns:a="http://schemas.openxmlformats.org/drawingml/2006/main">
            <a:off x="9696450" y="2152650"/>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793"/>
          </a:bodyPr>
          <a:lstStyle xmlns:a="http://schemas.openxmlformats.org/drawingml/2006/main"/>
          <a:p xmlns:a="http://schemas.openxmlformats.org/drawingml/2006/main">
            <a:pPr algn="ctr">
              <a:lnSpc>
                <a:spcPct val="104000"/>
              </a:lnSpc>
              <a:buNone/>
              <a:defRPr sz="1725" b="1">
                <a:solidFill>
                  <a:srgbClr val="F15B64"/>
                </a:solidFill>
                <a:latin typeface="Arial"/>
                <a:ea typeface="Arial"/>
                <a:cs typeface="Arial"/>
              </a:defRPr>
            </a:pPr>
            <a:r>
              <a:rPr sz="1725" b="1">
                <a:solidFill>
                  <a:srgbClr val="F15B64"/>
                </a:solidFill>
                <a:latin typeface="Arial"/>
                <a:ea typeface="Arial"/>
                <a:cs typeface="Arial"/>
              </a:rPr>
              <a:t>totalVI</a:t>
            </a:r>
          </a:p>
          <a:p xmlns:a="http://schemas.openxmlformats.org/drawingml/2006/main">
            <a:pPr algn="ctr">
              <a:lnSpc>
                <a:spcPct val="104000"/>
              </a:lnSpc>
              <a:buNone/>
              <a:defRPr sz="1725" b="1">
                <a:solidFill>
                  <a:srgbClr val="F15B64"/>
                </a:solidFill>
                <a:latin typeface="Arial"/>
                <a:ea typeface="Arial"/>
                <a:cs typeface="Arial"/>
              </a:defRPr>
            </a:pPr>
            <a:r>
              <a:rPr sz="1725" b="1">
                <a:solidFill>
                  <a:srgbClr val="F15B64"/>
                </a:solidFill>
                <a:latin typeface="Arial"/>
                <a:ea typeface="Arial"/>
                <a:cs typeface="Arial"/>
              </a:rPr>
              <a:t>decoders</a:t>
            </a:r>
          </a:p>
        </p:txBody>
      </p:sp>
      <p:sp>
        <p:nvSpPr>
          <p:cNvPr id="17" name="">
            <a:extLst xmlns:a="http://schemas.openxmlformats.org/drawingml/2006/main">
              <a:ext uri="{FF2B5EF4-FFF2-40B4-BE49-F238E27FC236}">
                <a16:creationId xmlns:a16="http://schemas.microsoft.com/office/drawing/2014/main" id="{C647BD97-126C-4AF9-9BB5-0543F72D458C}"/>
              </a:ext>
            </a:extLst>
          </p:cNvPr>
          <p:cNvSpPr>
            <a:spLocks xmlns:a="http://schemas.openxmlformats.org/drawingml/2006/main" noGrp="1"/>
          </p:cNvSpPr>
          <p:nvPr/>
        </p:nvSpPr>
        <p:spPr>
          <a:xfrm xmlns:a="http://schemas.openxmlformats.org/drawingml/2006/main">
            <a:off x="762000" y="33909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6"/>
          </a:bodyPr>
          <a:lstStyle xmlns:a="http://schemas.openxmlformats.org/drawingml/2006/main"/>
          <a:p xmlns:a="http://schemas.openxmlformats.org/drawingml/2006/main">
            <a:pPr algn="l">
              <a:lnSpc>
                <a:spcPct val="104000"/>
              </a:lnSpc>
              <a:buNone/>
              <a:defRPr sz="1725" b="1">
                <a:solidFill>
                  <a:srgbClr val="F15B64"/>
                </a:solidFill>
                <a:latin typeface="Arial"/>
                <a:ea typeface="Arial"/>
                <a:cs typeface="Arial"/>
              </a:defRPr>
            </a:pPr>
            <a:r>
              <a:rPr sz="1725" b="1">
                <a:solidFill>
                  <a:srgbClr val="F15B64"/>
                </a:solidFill>
                <a:latin typeface="Arial"/>
                <a:ea typeface="Arial"/>
                <a:cs typeface="Arial"/>
              </a:rPr>
              <a:t>FusionVI</a:t>
            </a:r>
          </a:p>
        </p:txBody>
      </p:sp>
      <p:sp>
        <p:nvSpPr>
          <p:cNvPr id="18" name="">
            <a:extLst xmlns:a="http://schemas.openxmlformats.org/drawingml/2006/main">
              <a:ext uri="{FF2B5EF4-FFF2-40B4-BE49-F238E27FC236}">
                <a16:creationId xmlns:a16="http://schemas.microsoft.com/office/drawing/2014/main" id="{C2AD3223-F1DA-4BDD-829E-A2178D71FEF7}"/>
              </a:ext>
            </a:extLst>
          </p:cNvPr>
          <p:cNvSpPr>
            <a:spLocks xmlns:a="http://schemas.openxmlformats.org/drawingml/2006/main" noGrp="1"/>
          </p:cNvSpPr>
          <p:nvPr/>
        </p:nvSpPr>
        <p:spPr>
          <a:xfrm xmlns:a="http://schemas.openxmlformats.org/drawingml/2006/main">
            <a:off x="762000" y="3924300"/>
            <a:ext cx="1752600" cy="590550"/>
          </a:xfrm>
          <a:prstGeom xmlns:a="http://schemas.openxmlformats.org/drawingml/2006/main" prst="roundRect">
            <a:avLst>
              <a:gd name="adj" fmla="val 19355"/>
            </a:avLst>
          </a:prstGeom>
          <a:solidFill xmlns:a="http://schemas.openxmlformats.org/drawingml/2006/main">
            <a:srgbClr val="DDF3F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04EAB9B-57F8-4EA8-9FB5-50DDB1EAA3D1}"/>
              </a:ext>
            </a:extLst>
          </p:cNvPr>
          <p:cNvSpPr>
            <a:spLocks xmlns:a="http://schemas.openxmlformats.org/drawingml/2006/main" noGrp="1"/>
          </p:cNvSpPr>
          <p:nvPr/>
        </p:nvSpPr>
        <p:spPr>
          <a:xfrm xmlns:a="http://schemas.openxmlformats.org/drawingml/2006/main">
            <a:off x="914400" y="4038600"/>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6"/>
          </a:bodyPr>
          <a:lstStyle xmlns:a="http://schemas.openxmlformats.org/drawingml/2006/main"/>
          <a:p xmlns:a="http://schemas.openxmlformats.org/drawingml/2006/main">
            <a:pPr algn="ctr">
              <a:lnSpc>
                <a:spcPct val="104000"/>
              </a:lnSpc>
              <a:buNone/>
              <a:defRPr sz="1725" b="1">
                <a:solidFill>
                  <a:srgbClr val="0D8A9A"/>
                </a:solidFill>
                <a:latin typeface="Arial"/>
                <a:ea typeface="Arial"/>
                <a:cs typeface="Arial"/>
              </a:defRPr>
            </a:pPr>
            <a:r>
              <a:rPr sz="1725" b="1">
                <a:solidFill>
                  <a:srgbClr val="0D8A9A"/>
                </a:solidFill>
                <a:latin typeface="Arial"/>
                <a:ea typeface="Arial"/>
                <a:cs typeface="Arial"/>
              </a:rPr>
              <a:t>RNA</a:t>
            </a:r>
          </a:p>
        </p:txBody>
      </p:sp>
      <p:sp>
        <p:nvSpPr>
          <p:cNvPr id="20" name="">
            <a:extLst xmlns:a="http://schemas.openxmlformats.org/drawingml/2006/main">
              <a:ext uri="{FF2B5EF4-FFF2-40B4-BE49-F238E27FC236}">
                <a16:creationId xmlns:a16="http://schemas.microsoft.com/office/drawing/2014/main" id="{A640E52C-078A-4535-BAFA-2098CA1A7C9A}"/>
              </a:ext>
            </a:extLst>
          </p:cNvPr>
          <p:cNvSpPr>
            <a:spLocks xmlns:a="http://schemas.openxmlformats.org/drawingml/2006/main" noGrp="1"/>
          </p:cNvSpPr>
          <p:nvPr/>
        </p:nvSpPr>
        <p:spPr>
          <a:xfrm xmlns:a="http://schemas.openxmlformats.org/drawingml/2006/main">
            <a:off x="762000" y="4762500"/>
            <a:ext cx="1752600" cy="590550"/>
          </a:xfrm>
          <a:prstGeom xmlns:a="http://schemas.openxmlformats.org/drawingml/2006/main" prst="roundRect">
            <a:avLst>
              <a:gd name="adj" fmla="val 19355"/>
            </a:avLst>
          </a:prstGeom>
          <a:solidFill xmlns:a="http://schemas.openxmlformats.org/drawingml/2006/main">
            <a:srgbClr val="EEE7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683C85E-4B9B-4E40-A4A9-03318B1761FB}"/>
              </a:ext>
            </a:extLst>
          </p:cNvPr>
          <p:cNvSpPr>
            <a:spLocks xmlns:a="http://schemas.openxmlformats.org/drawingml/2006/main" noGrp="1"/>
          </p:cNvSpPr>
          <p:nvPr/>
        </p:nvSpPr>
        <p:spPr>
          <a:xfrm xmlns:a="http://schemas.openxmlformats.org/drawingml/2006/main">
            <a:off x="914400" y="4876800"/>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6"/>
          </a:bodyPr>
          <a:lstStyle xmlns:a="http://schemas.openxmlformats.org/drawingml/2006/main"/>
          <a:p xmlns:a="http://schemas.openxmlformats.org/drawingml/2006/main">
            <a:pPr algn="ctr">
              <a:lnSpc>
                <a:spcPct val="104000"/>
              </a:lnSpc>
              <a:buNone/>
              <a:defRPr sz="1725" b="1">
                <a:solidFill>
                  <a:srgbClr val="6C3ED9"/>
                </a:solidFill>
                <a:latin typeface="Arial"/>
                <a:ea typeface="Arial"/>
                <a:cs typeface="Arial"/>
              </a:defRPr>
            </a:pPr>
            <a:r>
              <a:rPr sz="1725" b="1">
                <a:solidFill>
                  <a:srgbClr val="6C3ED9"/>
                </a:solidFill>
                <a:latin typeface="Arial"/>
                <a:ea typeface="Arial"/>
                <a:cs typeface="Arial"/>
              </a:rPr>
              <a:t>protein</a:t>
            </a:r>
          </a:p>
        </p:txBody>
      </p:sp>
      <p:sp>
        <p:nvSpPr>
          <p:cNvPr id="22" name="">
            <a:extLst xmlns:a="http://schemas.openxmlformats.org/drawingml/2006/main">
              <a:ext uri="{FF2B5EF4-FFF2-40B4-BE49-F238E27FC236}">
                <a16:creationId xmlns:a16="http://schemas.microsoft.com/office/drawing/2014/main" id="{5B07C8DA-2839-496A-8F53-C608912E88A0}"/>
              </a:ext>
            </a:extLst>
          </p:cNvPr>
          <p:cNvSpPr>
            <a:spLocks xmlns:a="http://schemas.openxmlformats.org/drawingml/2006/main" noGrp="1"/>
          </p:cNvSpPr>
          <p:nvPr/>
        </p:nvSpPr>
        <p:spPr>
          <a:xfrm xmlns:a="http://schemas.openxmlformats.org/drawingml/2006/main">
            <a:off x="2628900" y="4095750"/>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114"/>
          </a:bodyPr>
          <a:lstStyle xmlns:a="http://schemas.openxmlformats.org/drawingml/2006/main"/>
          <a:p xmlns:a="http://schemas.openxmlformats.org/drawingml/2006/main">
            <a:pPr algn="ctr">
              <a:lnSpc>
                <a:spcPct val="104000"/>
              </a:lnSpc>
              <a:buNone/>
              <a:defRPr sz="2400" b="1">
                <a:solidFill>
                  <a:srgbClr val="687086"/>
                </a:solidFill>
                <a:latin typeface="Arial"/>
                <a:ea typeface="Arial"/>
                <a:cs typeface="Arial"/>
              </a:defRPr>
            </a:pPr>
            <a:r>
              <a:rPr sz="2400" b="1">
                <a:solidFill>
                  <a:srgbClr val="687086"/>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6A5CDEB4-5AF2-4675-9036-2E870BAA1735}"/>
              </a:ext>
            </a:extLst>
          </p:cNvPr>
          <p:cNvSpPr>
            <a:spLocks xmlns:a="http://schemas.openxmlformats.org/drawingml/2006/main" noGrp="1"/>
          </p:cNvSpPr>
          <p:nvPr/>
        </p:nvSpPr>
        <p:spPr>
          <a:xfrm xmlns:a="http://schemas.openxmlformats.org/drawingml/2006/main">
            <a:off x="2628900" y="4933950"/>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114"/>
          </a:bodyPr>
          <a:lstStyle xmlns:a="http://schemas.openxmlformats.org/drawingml/2006/main"/>
          <a:p xmlns:a="http://schemas.openxmlformats.org/drawingml/2006/main">
            <a:pPr algn="ctr">
              <a:lnSpc>
                <a:spcPct val="104000"/>
              </a:lnSpc>
              <a:buNone/>
              <a:defRPr sz="2400" b="1">
                <a:solidFill>
                  <a:srgbClr val="687086"/>
                </a:solidFill>
                <a:latin typeface="Arial"/>
                <a:ea typeface="Arial"/>
                <a:cs typeface="Arial"/>
              </a:defRPr>
            </a:pPr>
            <a:r>
              <a:rPr sz="2400" b="1">
                <a:solidFill>
                  <a:srgbClr val="687086"/>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BFB80B35-7939-4145-90AE-359772FDA796}"/>
              </a:ext>
            </a:extLst>
          </p:cNvPr>
          <p:cNvSpPr>
            <a:spLocks xmlns:a="http://schemas.openxmlformats.org/drawingml/2006/main" noGrp="1"/>
          </p:cNvSpPr>
          <p:nvPr/>
        </p:nvSpPr>
        <p:spPr>
          <a:xfrm xmlns:a="http://schemas.openxmlformats.org/drawingml/2006/main">
            <a:off x="3238500" y="3790950"/>
            <a:ext cx="2019300" cy="742950"/>
          </a:xfrm>
          <a:prstGeom xmlns:a="http://schemas.openxmlformats.org/drawingml/2006/main" prst="roundRect">
            <a:avLst>
              <a:gd name="adj" fmla="val 15385"/>
            </a:avLst>
          </a:prstGeom>
          <a:solidFill xmlns:a="http://schemas.openxmlformats.org/drawingml/2006/main">
            <a:srgbClr val="DDF3F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778B282-6AC8-47FF-989C-363435E8A68A}"/>
              </a:ext>
            </a:extLst>
          </p:cNvPr>
          <p:cNvSpPr>
            <a:spLocks xmlns:a="http://schemas.openxmlformats.org/drawingml/2006/main" noGrp="1"/>
          </p:cNvSpPr>
          <p:nvPr/>
        </p:nvSpPr>
        <p:spPr>
          <a:xfrm xmlns:a="http://schemas.openxmlformats.org/drawingml/2006/main">
            <a:off x="3390900" y="398145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154"/>
          </a:bodyPr>
          <a:lstStyle xmlns:a="http://schemas.openxmlformats.org/drawingml/2006/main"/>
          <a:p xmlns:a="http://schemas.openxmlformats.org/drawingml/2006/main">
            <a:pPr algn="ctr">
              <a:lnSpc>
                <a:spcPct val="104000"/>
              </a:lnSpc>
              <a:buNone/>
              <a:defRPr sz="1650" b="1">
                <a:solidFill>
                  <a:srgbClr val="0D8A9A"/>
                </a:solidFill>
                <a:latin typeface="Arial"/>
                <a:ea typeface="Arial"/>
                <a:cs typeface="Arial"/>
              </a:defRPr>
            </a:pPr>
            <a:r>
              <a:rPr sz="1650" b="1">
                <a:solidFill>
                  <a:srgbClr val="0D8A9A"/>
                </a:solidFill>
                <a:latin typeface="Arial"/>
                <a:ea typeface="Arial"/>
                <a:cs typeface="Arial"/>
              </a:rPr>
              <a:t>RNA encoder</a:t>
            </a:r>
          </a:p>
        </p:txBody>
      </p:sp>
      <p:sp>
        <p:nvSpPr>
          <p:cNvPr id="26" name="">
            <a:extLst xmlns:a="http://schemas.openxmlformats.org/drawingml/2006/main">
              <a:ext uri="{FF2B5EF4-FFF2-40B4-BE49-F238E27FC236}">
                <a16:creationId xmlns:a16="http://schemas.microsoft.com/office/drawing/2014/main" id="{3E6A2574-CBE6-4EE7-856A-996EA0CA7770}"/>
              </a:ext>
            </a:extLst>
          </p:cNvPr>
          <p:cNvSpPr>
            <a:spLocks xmlns:a="http://schemas.openxmlformats.org/drawingml/2006/main" noGrp="1"/>
          </p:cNvSpPr>
          <p:nvPr/>
        </p:nvSpPr>
        <p:spPr>
          <a:xfrm xmlns:a="http://schemas.openxmlformats.org/drawingml/2006/main">
            <a:off x="3238500" y="4629150"/>
            <a:ext cx="2019300" cy="742950"/>
          </a:xfrm>
          <a:prstGeom xmlns:a="http://schemas.openxmlformats.org/drawingml/2006/main" prst="roundRect">
            <a:avLst>
              <a:gd name="adj" fmla="val 15385"/>
            </a:avLst>
          </a:prstGeom>
          <a:solidFill xmlns:a="http://schemas.openxmlformats.org/drawingml/2006/main">
            <a:srgbClr val="EEE7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954DD96-BFFF-4311-85F5-5A29F0263E47}"/>
              </a:ext>
            </a:extLst>
          </p:cNvPr>
          <p:cNvSpPr>
            <a:spLocks xmlns:a="http://schemas.openxmlformats.org/drawingml/2006/main" noGrp="1"/>
          </p:cNvSpPr>
          <p:nvPr/>
        </p:nvSpPr>
        <p:spPr>
          <a:xfrm xmlns:a="http://schemas.openxmlformats.org/drawingml/2006/main">
            <a:off x="3390900" y="481965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154"/>
          </a:bodyPr>
          <a:lstStyle xmlns:a="http://schemas.openxmlformats.org/drawingml/2006/main"/>
          <a:p xmlns:a="http://schemas.openxmlformats.org/drawingml/2006/main">
            <a:pPr algn="ctr">
              <a:lnSpc>
                <a:spcPct val="104000"/>
              </a:lnSpc>
              <a:buNone/>
              <a:defRPr sz="1650" b="1">
                <a:solidFill>
                  <a:srgbClr val="6C3ED9"/>
                </a:solidFill>
                <a:latin typeface="Arial"/>
                <a:ea typeface="Arial"/>
                <a:cs typeface="Arial"/>
              </a:defRPr>
            </a:pPr>
            <a:r>
              <a:rPr sz="1650" b="1">
                <a:solidFill>
                  <a:srgbClr val="6C3ED9"/>
                </a:solidFill>
                <a:latin typeface="Arial"/>
                <a:ea typeface="Arial"/>
                <a:cs typeface="Arial"/>
              </a:rPr>
              <a:t>protein encoder</a:t>
            </a:r>
          </a:p>
        </p:txBody>
      </p:sp>
      <p:sp>
        <p:nvSpPr>
          <p:cNvPr id="28" name="">
            <a:extLst xmlns:a="http://schemas.openxmlformats.org/drawingml/2006/main">
              <a:ext uri="{FF2B5EF4-FFF2-40B4-BE49-F238E27FC236}">
                <a16:creationId xmlns:a16="http://schemas.microsoft.com/office/drawing/2014/main" id="{D0EB9ED5-EF9D-421F-B0F0-19FCEFA8076B}"/>
              </a:ext>
            </a:extLst>
          </p:cNvPr>
          <p:cNvSpPr>
            <a:spLocks xmlns:a="http://schemas.openxmlformats.org/drawingml/2006/main" noGrp="1"/>
          </p:cNvSpPr>
          <p:nvPr/>
        </p:nvSpPr>
        <p:spPr>
          <a:xfrm xmlns:a="http://schemas.openxmlformats.org/drawingml/2006/main">
            <a:off x="5391150" y="4114800"/>
            <a:ext cx="552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357"/>
          </a:bodyPr>
          <a:lstStyle xmlns:a="http://schemas.openxmlformats.org/drawingml/2006/main"/>
          <a:p xmlns:a="http://schemas.openxmlformats.org/drawingml/2006/main">
            <a:pPr algn="ctr">
              <a:lnSpc>
                <a:spcPct val="104000"/>
              </a:lnSpc>
              <a:buNone/>
              <a:defRPr sz="2550" b="1">
                <a:solidFill>
                  <a:srgbClr val="687086"/>
                </a:solidFill>
                <a:latin typeface="Arial"/>
                <a:ea typeface="Arial"/>
                <a:cs typeface="Arial"/>
              </a:defRPr>
            </a:pPr>
            <a:r>
              <a:rPr sz="2550" b="1">
                <a:solidFill>
                  <a:srgbClr val="687086"/>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7B706AB8-9C02-42D8-8E06-0B571596CA9C}"/>
              </a:ext>
            </a:extLst>
          </p:cNvPr>
          <p:cNvSpPr>
            <a:spLocks xmlns:a="http://schemas.openxmlformats.org/drawingml/2006/main" noGrp="1"/>
          </p:cNvSpPr>
          <p:nvPr/>
        </p:nvSpPr>
        <p:spPr>
          <a:xfrm xmlns:a="http://schemas.openxmlformats.org/drawingml/2006/main">
            <a:off x="5391150" y="4781550"/>
            <a:ext cx="552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357"/>
          </a:bodyPr>
          <a:lstStyle xmlns:a="http://schemas.openxmlformats.org/drawingml/2006/main"/>
          <a:p xmlns:a="http://schemas.openxmlformats.org/drawingml/2006/main">
            <a:pPr algn="ctr">
              <a:lnSpc>
                <a:spcPct val="104000"/>
              </a:lnSpc>
              <a:buNone/>
              <a:defRPr sz="2550" b="1">
                <a:solidFill>
                  <a:srgbClr val="687086"/>
                </a:solidFill>
                <a:latin typeface="Arial"/>
                <a:ea typeface="Arial"/>
                <a:cs typeface="Arial"/>
              </a:defRPr>
            </a:pPr>
            <a:r>
              <a:rPr sz="2550" b="1">
                <a:solidFill>
                  <a:srgbClr val="687086"/>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E84D5C03-4857-442E-98E8-38E5A6E8A6FB}"/>
              </a:ext>
            </a:extLst>
          </p:cNvPr>
          <p:cNvSpPr>
            <a:spLocks xmlns:a="http://schemas.openxmlformats.org/drawingml/2006/main" noGrp="1"/>
          </p:cNvSpPr>
          <p:nvPr/>
        </p:nvSpPr>
        <p:spPr>
          <a:xfrm xmlns:a="http://schemas.openxmlformats.org/drawingml/2006/main">
            <a:off x="5962650" y="4095750"/>
            <a:ext cx="1809750" cy="971550"/>
          </a:xfrm>
          <a:prstGeom xmlns:a="http://schemas.openxmlformats.org/drawingml/2006/main" prst="roundRect">
            <a:avLst>
              <a:gd name="adj" fmla="val 15686"/>
            </a:avLst>
          </a:prstGeom>
          <a:solidFill xmlns:a="http://schemas.openxmlformats.org/drawingml/2006/main">
            <a:srgbClr val="FFE7E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41567FE-78A0-4097-BAD2-763ACF5AEE73}"/>
              </a:ext>
            </a:extLst>
          </p:cNvPr>
          <p:cNvSpPr>
            <a:spLocks xmlns:a="http://schemas.openxmlformats.org/drawingml/2006/main" noGrp="1"/>
          </p:cNvSpPr>
          <p:nvPr/>
        </p:nvSpPr>
        <p:spPr>
          <a:xfrm xmlns:a="http://schemas.openxmlformats.org/drawingml/2006/main">
            <a:off x="6153150" y="4267200"/>
            <a:ext cx="142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812"/>
          </a:bodyPr>
          <a:lstStyle xmlns:a="http://schemas.openxmlformats.org/drawingml/2006/main"/>
          <a:p xmlns:a="http://schemas.openxmlformats.org/drawingml/2006/main">
            <a:pPr algn="ctr">
              <a:lnSpc>
                <a:spcPct val="104000"/>
              </a:lnSpc>
              <a:buNone/>
              <a:defRPr sz="1800" b="1">
                <a:solidFill>
                  <a:srgbClr val="F15B64"/>
                </a:solidFill>
                <a:latin typeface="Arial"/>
                <a:ea typeface="Arial"/>
                <a:cs typeface="Arial"/>
              </a:defRPr>
            </a:pPr>
            <a:r>
              <a:rPr sz="1800" b="1">
                <a:solidFill>
                  <a:srgbClr val="F15B64"/>
                </a:solidFill>
                <a:latin typeface="Arial"/>
                <a:ea typeface="Arial"/>
                <a:cs typeface="Arial"/>
              </a:rPr>
              <a:t>per-cell</a:t>
            </a:r>
          </a:p>
          <a:p xmlns:a="http://schemas.openxmlformats.org/drawingml/2006/main">
            <a:pPr algn="ctr">
              <a:lnSpc>
                <a:spcPct val="104000"/>
              </a:lnSpc>
              <a:buNone/>
              <a:defRPr sz="1800" b="1">
                <a:solidFill>
                  <a:srgbClr val="F15B64"/>
                </a:solidFill>
                <a:latin typeface="Arial"/>
                <a:ea typeface="Arial"/>
                <a:cs typeface="Arial"/>
              </a:defRPr>
            </a:pPr>
            <a:r>
              <a:rPr sz="1800" b="1">
                <a:solidFill>
                  <a:srgbClr val="F15B64"/>
                </a:solidFill>
                <a:latin typeface="Arial"/>
                <a:ea typeface="Arial"/>
                <a:cs typeface="Arial"/>
              </a:rPr>
              <a:t>scalar gate</a:t>
            </a:r>
          </a:p>
        </p:txBody>
      </p:sp>
      <p:sp>
        <p:nvSpPr>
          <p:cNvPr id="32" name="">
            <a:extLst xmlns:a="http://schemas.openxmlformats.org/drawingml/2006/main">
              <a:ext uri="{FF2B5EF4-FFF2-40B4-BE49-F238E27FC236}">
                <a16:creationId xmlns:a16="http://schemas.microsoft.com/office/drawing/2014/main" id="{3DAC3AB0-8061-4088-986A-4D03B1B06A90}"/>
              </a:ext>
            </a:extLst>
          </p:cNvPr>
          <p:cNvSpPr>
            <a:spLocks xmlns:a="http://schemas.openxmlformats.org/drawingml/2006/main" noGrp="1"/>
          </p:cNvSpPr>
          <p:nvPr/>
        </p:nvSpPr>
        <p:spPr>
          <a:xfrm xmlns:a="http://schemas.openxmlformats.org/drawingml/2006/main">
            <a:off x="7867650" y="438150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357"/>
          </a:bodyPr>
          <a:lstStyle xmlns:a="http://schemas.openxmlformats.org/drawingml/2006/main"/>
          <a:p xmlns:a="http://schemas.openxmlformats.org/drawingml/2006/main">
            <a:pPr algn="ctr">
              <a:lnSpc>
                <a:spcPct val="104000"/>
              </a:lnSpc>
              <a:buNone/>
              <a:defRPr sz="2550" b="1">
                <a:solidFill>
                  <a:srgbClr val="687086"/>
                </a:solidFill>
                <a:latin typeface="Arial"/>
                <a:ea typeface="Arial"/>
                <a:cs typeface="Arial"/>
              </a:defRPr>
            </a:pPr>
            <a:r>
              <a:rPr sz="2550" b="1">
                <a:solidFill>
                  <a:srgbClr val="687086"/>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A6C38CAB-CC82-44A4-93BD-C1A2D0F1FDF5}"/>
              </a:ext>
            </a:extLst>
          </p:cNvPr>
          <p:cNvSpPr>
            <a:spLocks xmlns:a="http://schemas.openxmlformats.org/drawingml/2006/main" noGrp="1"/>
          </p:cNvSpPr>
          <p:nvPr/>
        </p:nvSpPr>
        <p:spPr>
          <a:xfrm xmlns:a="http://schemas.openxmlformats.org/drawingml/2006/main">
            <a:off x="8515350" y="4210050"/>
            <a:ext cx="1238250" cy="723900"/>
          </a:xfrm>
          <a:prstGeom xmlns:a="http://schemas.openxmlformats.org/drawingml/2006/main" prst="roundRect">
            <a:avLst>
              <a:gd name="adj" fmla="val 15789"/>
            </a:avLst>
          </a:prstGeom>
          <a:solidFill xmlns:a="http://schemas.openxmlformats.org/drawingml/2006/main">
            <a:srgbClr val="DDF3F2"/>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61DD26D-47C4-46E9-AD51-5D722AAB7A1B}"/>
              </a:ext>
            </a:extLst>
          </p:cNvPr>
          <p:cNvSpPr>
            <a:spLocks xmlns:a="http://schemas.openxmlformats.org/drawingml/2006/main" noGrp="1"/>
          </p:cNvSpPr>
          <p:nvPr/>
        </p:nvSpPr>
        <p:spPr>
          <a:xfrm xmlns:a="http://schemas.openxmlformats.org/drawingml/2006/main">
            <a:off x="8667750" y="4381500"/>
            <a:ext cx="933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154"/>
          </a:bodyPr>
          <a:lstStyle xmlns:a="http://schemas.openxmlformats.org/drawingml/2006/main"/>
          <a:p xmlns:a="http://schemas.openxmlformats.org/drawingml/2006/main">
            <a:pPr algn="ctr">
              <a:lnSpc>
                <a:spcPct val="104000"/>
              </a:lnSpc>
              <a:buNone/>
              <a:defRPr sz="1650" b="1">
                <a:solidFill>
                  <a:srgbClr val="0D8A9A"/>
                </a:solidFill>
                <a:latin typeface="Arial"/>
                <a:ea typeface="Arial"/>
                <a:cs typeface="Arial"/>
              </a:defRPr>
            </a:pPr>
            <a:r>
              <a:rPr sz="1650" b="1">
                <a:solidFill>
                  <a:srgbClr val="0D8A9A"/>
                </a:solidFill>
                <a:latin typeface="Arial"/>
                <a:ea typeface="Arial"/>
                <a:cs typeface="Arial"/>
              </a:rPr>
              <a:t>latent z</a:t>
            </a:r>
          </a:p>
        </p:txBody>
      </p:sp>
      <p:sp>
        <p:nvSpPr>
          <p:cNvPr id="35" name="">
            <a:extLst xmlns:a="http://schemas.openxmlformats.org/drawingml/2006/main">
              <a:ext uri="{FF2B5EF4-FFF2-40B4-BE49-F238E27FC236}">
                <a16:creationId xmlns:a16="http://schemas.microsoft.com/office/drawing/2014/main" id="{FD33D464-FC42-49B8-8899-C1D7718AB4ED}"/>
              </a:ext>
            </a:extLst>
          </p:cNvPr>
          <p:cNvSpPr>
            <a:spLocks xmlns:a="http://schemas.openxmlformats.org/drawingml/2006/main" noGrp="1"/>
          </p:cNvSpPr>
          <p:nvPr/>
        </p:nvSpPr>
        <p:spPr>
          <a:xfrm xmlns:a="http://schemas.openxmlformats.org/drawingml/2006/main">
            <a:off x="9829800" y="438150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30"/>
          </a:bodyPr>
          <a:lstStyle xmlns:a="http://schemas.openxmlformats.org/drawingml/2006/main"/>
          <a:p xmlns:a="http://schemas.openxmlformats.org/drawingml/2006/main">
            <a:pPr algn="ctr">
              <a:lnSpc>
                <a:spcPct val="104000"/>
              </a:lnSpc>
              <a:buNone/>
              <a:defRPr sz="2400" b="1">
                <a:solidFill>
                  <a:srgbClr val="687086"/>
                </a:solidFill>
                <a:latin typeface="Arial"/>
                <a:ea typeface="Arial"/>
                <a:cs typeface="Arial"/>
              </a:defRPr>
            </a:pPr>
            <a:r>
              <a:rPr sz="2400" b="1">
                <a:solidFill>
                  <a:srgbClr val="687086"/>
                </a:solidFill>
                <a:latin typeface="Arial"/>
                <a:ea typeface="Arial"/>
                <a:cs typeface="Arial"/>
              </a:rPr>
              <a:t>→</a:t>
            </a:r>
          </a:p>
        </p:txBody>
      </p:sp>
      <p:sp>
        <p:nvSpPr>
          <p:cNvPr id="36" name="">
            <a:extLst xmlns:a="http://schemas.openxmlformats.org/drawingml/2006/main">
              <a:ext uri="{FF2B5EF4-FFF2-40B4-BE49-F238E27FC236}">
                <a16:creationId xmlns:a16="http://schemas.microsoft.com/office/drawing/2014/main" id="{93FC4ECD-F866-4217-A3E6-8B7E478B74CB}"/>
              </a:ext>
            </a:extLst>
          </p:cNvPr>
          <p:cNvSpPr>
            <a:spLocks xmlns:a="http://schemas.openxmlformats.org/drawingml/2006/main" noGrp="1"/>
          </p:cNvSpPr>
          <p:nvPr/>
        </p:nvSpPr>
        <p:spPr>
          <a:xfrm xmlns:a="http://schemas.openxmlformats.org/drawingml/2006/main">
            <a:off x="10382250" y="4095750"/>
            <a:ext cx="1123950" cy="971550"/>
          </a:xfrm>
          <a:prstGeom xmlns:a="http://schemas.openxmlformats.org/drawingml/2006/main" prst="roundRect">
            <a:avLst>
              <a:gd name="adj" fmla="val 11765"/>
            </a:avLst>
          </a:prstGeom>
          <a:solidFill xmlns:a="http://schemas.openxmlformats.org/drawingml/2006/main">
            <a:srgbClr val="FFE7E5"/>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B94E518-DFFD-40E5-9CAC-95B92449CD4D}"/>
              </a:ext>
            </a:extLst>
          </p:cNvPr>
          <p:cNvSpPr>
            <a:spLocks xmlns:a="http://schemas.openxmlformats.org/drawingml/2006/main" noGrp="1"/>
          </p:cNvSpPr>
          <p:nvPr/>
        </p:nvSpPr>
        <p:spPr>
          <a:xfrm xmlns:a="http://schemas.openxmlformats.org/drawingml/2006/main">
            <a:off x="10477500" y="4267200"/>
            <a:ext cx="933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2"/>
          </a:bodyPr>
          <a:lstStyle xmlns:a="http://schemas.openxmlformats.org/drawingml/2006/main"/>
          <a:p xmlns:a="http://schemas.openxmlformats.org/drawingml/2006/main">
            <a:pPr algn="ctr">
              <a:lnSpc>
                <a:spcPct val="104000"/>
              </a:lnSpc>
              <a:buNone/>
              <a:defRPr sz="1500" b="1">
                <a:solidFill>
                  <a:srgbClr val="F15B64"/>
                </a:solidFill>
                <a:latin typeface="Arial"/>
                <a:ea typeface="Arial"/>
                <a:cs typeface="Arial"/>
              </a:defRPr>
            </a:pPr>
            <a:r>
              <a:rPr sz="1500" b="1">
                <a:solidFill>
                  <a:srgbClr val="F15B64"/>
                </a:solidFill>
                <a:latin typeface="Arial"/>
                <a:ea typeface="Arial"/>
                <a:cs typeface="Arial"/>
              </a:rPr>
              <a:t>same</a:t>
            </a:r>
          </a:p>
          <a:p xmlns:a="http://schemas.openxmlformats.org/drawingml/2006/main">
            <a:pPr algn="ctr">
              <a:lnSpc>
                <a:spcPct val="104000"/>
              </a:lnSpc>
              <a:buNone/>
              <a:defRPr sz="1500" b="1">
                <a:solidFill>
                  <a:srgbClr val="F15B64"/>
                </a:solidFill>
                <a:latin typeface="Arial"/>
                <a:ea typeface="Arial"/>
                <a:cs typeface="Arial"/>
              </a:defRPr>
            </a:pPr>
            <a:r>
              <a:rPr sz="1500" b="1">
                <a:solidFill>
                  <a:srgbClr val="F15B64"/>
                </a:solidFill>
                <a:latin typeface="Arial"/>
                <a:ea typeface="Arial"/>
                <a:cs typeface="Arial"/>
              </a:rPr>
              <a:t>decoders</a:t>
            </a:r>
          </a:p>
        </p:txBody>
      </p:sp>
      <p:sp>
        <p:nvSpPr>
          <p:cNvPr id="38" name="">
            <a:extLst xmlns:a="http://schemas.openxmlformats.org/drawingml/2006/main">
              <a:ext uri="{FF2B5EF4-FFF2-40B4-BE49-F238E27FC236}">
                <a16:creationId xmlns:a16="http://schemas.microsoft.com/office/drawing/2014/main" id="{20D963BF-0E81-4BE3-BC2D-078EF8DACDF3}"/>
              </a:ext>
            </a:extLst>
          </p:cNvPr>
          <p:cNvSpPr>
            <a:spLocks xmlns:a="http://schemas.openxmlformats.org/drawingml/2006/main" noGrp="1"/>
          </p:cNvSpPr>
          <p:nvPr/>
        </p:nvSpPr>
        <p:spPr>
          <a:xfrm xmlns:a="http://schemas.openxmlformats.org/drawingml/2006/main">
            <a:off x="762000" y="5810250"/>
            <a:ext cx="10668000" cy="552450"/>
          </a:xfrm>
          <a:prstGeom xmlns:a="http://schemas.openxmlformats.org/drawingml/2006/main" prst="roundRect">
            <a:avLst>
              <a:gd name="adj" fmla="val 20690"/>
            </a:avLst>
          </a:prstGeom>
          <a:solidFill xmlns:a="http://schemas.openxmlformats.org/drawingml/2006/main">
            <a:srgbClr val="F7F9FC"/>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28746196-A20D-4A53-A751-1C6D45710E15}"/>
              </a:ext>
            </a:extLst>
          </p:cNvPr>
          <p:cNvSpPr>
            <a:spLocks xmlns:a="http://schemas.openxmlformats.org/drawingml/2006/main" noGrp="1"/>
          </p:cNvSpPr>
          <p:nvPr/>
        </p:nvSpPr>
        <p:spPr>
          <a:xfrm xmlns:a="http://schemas.openxmlformats.org/drawingml/2006/main">
            <a:off x="952500" y="59436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731"/>
          </a:bodyPr>
          <a:lstStyle xmlns:a="http://schemas.openxmlformats.org/drawingml/2006/main"/>
          <a:p xmlns:a="http://schemas.openxmlformats.org/drawingml/2006/main">
            <a:pPr algn="ctr">
              <a:lnSpc>
                <a:spcPct val="104000"/>
              </a:lnSpc>
              <a:buNone/>
              <a:defRPr sz="1500" b="1">
                <a:solidFill>
                  <a:srgbClr val="223A69"/>
                </a:solidFill>
                <a:latin typeface="Arial"/>
                <a:ea typeface="Arial"/>
                <a:cs typeface="Arial"/>
              </a:defRPr>
            </a:pPr>
            <a:r>
              <a:rPr sz="1500" b="1">
                <a:solidFill>
                  <a:srgbClr val="223A69"/>
                </a:solidFill>
                <a:latin typeface="Arial"/>
                <a:ea typeface="Arial"/>
                <a:cs typeface="Arial"/>
              </a:rPr>
              <a:t>FusionVI-X readout: latent z  +  remaining proteins  +  marker RNA proxy  →  hidden surface marker</a:t>
            </a:r>
          </a:p>
        </p:txBody>
      </p:sp>
    </p:spTree>
    <p:extLst>
      <p:ext uri="{BB962C8B-B14F-4D97-AF65-F5344CB8AC3E}">
        <p14:creationId xmlns:p14="http://schemas.microsoft.com/office/powerpoint/2010/main" val="1319516388"/>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A5F9E26-F251-4E6C-BEAF-007C0943791A}"/>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EVALUATION PLAN</a:t>
            </a:r>
          </a:p>
        </p:txBody>
      </p:sp>
      <p:sp>
        <p:nvSpPr>
          <p:cNvPr id="2" name="">
            <a:extLst xmlns:a="http://schemas.openxmlformats.org/drawingml/2006/main">
              <a:ext uri="{FF2B5EF4-FFF2-40B4-BE49-F238E27FC236}">
                <a16:creationId xmlns:a16="http://schemas.microsoft.com/office/drawing/2014/main" id="{2C80DA13-14BA-4AF2-A59E-0FE6CE6AA6EF}"/>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The test targets biology that the encoder cannot copy</a:t>
            </a:r>
          </a:p>
        </p:txBody>
      </p:sp>
      <p:sp>
        <p:nvSpPr>
          <p:cNvPr id="3" name="">
            <a:extLst xmlns:a="http://schemas.openxmlformats.org/drawingml/2006/main">
              <a:ext uri="{FF2B5EF4-FFF2-40B4-BE49-F238E27FC236}">
                <a16:creationId xmlns:a16="http://schemas.microsoft.com/office/drawing/2014/main" id="{BCAD54A9-9F6D-4D65-9C10-E006D0F2760F}"/>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F6DC2D8-7E02-47B3-92F1-A3DB18F35F91}"/>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8F7659B-0EDB-4ABB-A641-F113461B4F40}"/>
              </a:ext>
            </a:extLst>
          </p:cNvPr>
          <p:cNvSpPr>
            <a:spLocks xmlns:a="http://schemas.openxmlformats.org/drawingml/2006/main" noGrp="1"/>
          </p:cNvSpPr>
          <p:nvPr/>
        </p:nvSpPr>
        <p:spPr>
          <a:xfrm xmlns:a="http://schemas.openxmlformats.org/drawingml/2006/main">
            <a:off x="762000" y="16573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154"/>
          </a:bodyPr>
          <a:lstStyle xmlns:a="http://schemas.openxmlformats.org/drawingml/2006/main"/>
          <a:p xmlns:a="http://schemas.openxmlformats.org/drawingml/2006/main">
            <a:pPr algn="ctr">
              <a:lnSpc>
                <a:spcPct val="104000"/>
              </a:lnSpc>
              <a:buNone/>
              <a:defRPr sz="3150" b="1">
                <a:solidFill>
                  <a:srgbClr val="F15B64"/>
                </a:solidFill>
                <a:latin typeface="Arial"/>
                <a:ea typeface="Arial"/>
                <a:cs typeface="Arial"/>
              </a:defRPr>
            </a:pPr>
            <a:r>
              <a:rPr sz="3150" b="1">
                <a:solidFill>
                  <a:srgbClr val="F15B64"/>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8EB8B9F7-DFDF-44FD-8D89-47FA15816CA0}"/>
              </a:ext>
            </a:extLst>
          </p:cNvPr>
          <p:cNvSpPr>
            <a:spLocks xmlns:a="http://schemas.openxmlformats.org/drawingml/2006/main" noGrp="1"/>
          </p:cNvSpPr>
          <p:nvPr/>
        </p:nvSpPr>
        <p:spPr>
          <a:xfrm xmlns:a="http://schemas.openxmlformats.org/drawingml/2006/main">
            <a:off x="1428750" y="16764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348"/>
          </a:bodyPr>
          <a:lstStyle xmlns:a="http://schemas.openxmlformats.org/drawingml/2006/main"/>
          <a:p xmlns:a="http://schemas.openxmlformats.org/drawingml/2006/main">
            <a:pPr algn="l">
              <a:lnSpc>
                <a:spcPct val="104000"/>
              </a:lnSpc>
              <a:buNone/>
              <a:defRPr sz="2025" b="1">
                <a:solidFill>
                  <a:srgbClr val="17223B"/>
                </a:solidFill>
                <a:latin typeface="Arial"/>
                <a:ea typeface="Arial"/>
                <a:cs typeface="Arial"/>
              </a:defRPr>
            </a:pPr>
            <a:r>
              <a:rPr sz="2025" b="1">
                <a:solidFill>
                  <a:srgbClr val="17223B"/>
                </a:solidFill>
                <a:latin typeface="Arial"/>
                <a:ea typeface="Arial"/>
                <a:cs typeface="Arial"/>
              </a:rPr>
              <a:t>Hide activation proteins</a:t>
            </a:r>
          </a:p>
        </p:txBody>
      </p:sp>
      <p:sp>
        <p:nvSpPr>
          <p:cNvPr id="7" name="">
            <a:extLst xmlns:a="http://schemas.openxmlformats.org/drawingml/2006/main">
              <a:ext uri="{FF2B5EF4-FFF2-40B4-BE49-F238E27FC236}">
                <a16:creationId xmlns:a16="http://schemas.microsoft.com/office/drawing/2014/main" id="{7D339A4E-F61C-46A7-AB88-1F6D1895DFBA}"/>
              </a:ext>
            </a:extLst>
          </p:cNvPr>
          <p:cNvSpPr>
            <a:spLocks xmlns:a="http://schemas.openxmlformats.org/drawingml/2006/main" noGrp="1"/>
          </p:cNvSpPr>
          <p:nvPr/>
        </p:nvSpPr>
        <p:spPr>
          <a:xfrm xmlns:a="http://schemas.openxmlformats.org/drawingml/2006/main">
            <a:off x="1428750" y="20764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425" b="0">
                <a:solidFill>
                  <a:srgbClr val="687086"/>
                </a:solidFill>
                <a:latin typeface="Arial"/>
                <a:ea typeface="Arial"/>
                <a:cs typeface="Arial"/>
              </a:defRPr>
            </a:pPr>
            <a:r>
              <a:rPr sz="1425" b="0">
                <a:solidFill>
                  <a:srgbClr val="687086"/>
                </a:solidFill>
                <a:latin typeface="Arial"/>
                <a:ea typeface="Arial"/>
                <a:cs typeface="Arial"/>
              </a:rPr>
              <a:t>CD25, CD69, HLA-DR or PD-L1 is zeroed at encoder input, then reconstructed without copying the target.</a:t>
            </a:r>
          </a:p>
        </p:txBody>
      </p:sp>
      <p:sp>
        <p:nvSpPr>
          <p:cNvPr id="8" name="">
            <a:extLst xmlns:a="http://schemas.openxmlformats.org/drawingml/2006/main">
              <a:ext uri="{FF2B5EF4-FFF2-40B4-BE49-F238E27FC236}">
                <a16:creationId xmlns:a16="http://schemas.microsoft.com/office/drawing/2014/main" id="{A8CB1ABA-DF1B-41B3-AE11-E813228F028B}"/>
              </a:ext>
            </a:extLst>
          </p:cNvPr>
          <p:cNvSpPr>
            <a:spLocks xmlns:a="http://schemas.openxmlformats.org/drawingml/2006/main" noGrp="1"/>
          </p:cNvSpPr>
          <p:nvPr/>
        </p:nvSpPr>
        <p:spPr>
          <a:xfrm xmlns:a="http://schemas.openxmlformats.org/drawingml/2006/main">
            <a:off x="6381750" y="16573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154"/>
          </a:bodyPr>
          <a:lstStyle xmlns:a="http://schemas.openxmlformats.org/drawingml/2006/main"/>
          <a:p xmlns:a="http://schemas.openxmlformats.org/drawingml/2006/main">
            <a:pPr algn="ctr">
              <a:lnSpc>
                <a:spcPct val="104000"/>
              </a:lnSpc>
              <a:buNone/>
              <a:defRPr sz="3150" b="1">
                <a:solidFill>
                  <a:srgbClr val="F15B64"/>
                </a:solidFill>
                <a:latin typeface="Arial"/>
                <a:ea typeface="Arial"/>
                <a:cs typeface="Arial"/>
              </a:defRPr>
            </a:pPr>
            <a:r>
              <a:rPr sz="3150" b="1">
                <a:solidFill>
                  <a:srgbClr val="F15B64"/>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DC412774-56AB-4A69-B24B-20CFA5FB927A}"/>
              </a:ext>
            </a:extLst>
          </p:cNvPr>
          <p:cNvSpPr>
            <a:spLocks xmlns:a="http://schemas.openxmlformats.org/drawingml/2006/main" noGrp="1"/>
          </p:cNvSpPr>
          <p:nvPr/>
        </p:nvSpPr>
        <p:spPr>
          <a:xfrm xmlns:a="http://schemas.openxmlformats.org/drawingml/2006/main">
            <a:off x="7048500" y="16764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61"/>
          </a:bodyPr>
          <a:lstStyle xmlns:a="http://schemas.openxmlformats.org/drawingml/2006/main"/>
          <a:p xmlns:a="http://schemas.openxmlformats.org/drawingml/2006/main">
            <a:pPr algn="l">
              <a:lnSpc>
                <a:spcPct val="104000"/>
              </a:lnSpc>
              <a:buNone/>
              <a:defRPr sz="1950" b="1">
                <a:solidFill>
                  <a:srgbClr val="17223B"/>
                </a:solidFill>
                <a:latin typeface="Arial"/>
                <a:ea typeface="Arial"/>
                <a:cs typeface="Arial"/>
              </a:defRPr>
            </a:pPr>
            <a:r>
              <a:rPr sz="1950" b="1">
                <a:solidFill>
                  <a:srgbClr val="17223B"/>
                </a:solidFill>
                <a:latin typeface="Arial"/>
                <a:ea typeface="Arial"/>
                <a:cs typeface="Arial"/>
              </a:rPr>
              <a:t>Select the readout inside training groups</a:t>
            </a:r>
          </a:p>
        </p:txBody>
      </p:sp>
      <p:sp>
        <p:nvSpPr>
          <p:cNvPr id="10" name="">
            <a:extLst xmlns:a="http://schemas.openxmlformats.org/drawingml/2006/main">
              <a:ext uri="{FF2B5EF4-FFF2-40B4-BE49-F238E27FC236}">
                <a16:creationId xmlns:a16="http://schemas.microsoft.com/office/drawing/2014/main" id="{6F25B0CB-56FB-4EF0-909D-3A63F3051A86}"/>
              </a:ext>
            </a:extLst>
          </p:cNvPr>
          <p:cNvSpPr>
            <a:spLocks xmlns:a="http://schemas.openxmlformats.org/drawingml/2006/main" noGrp="1"/>
          </p:cNvSpPr>
          <p:nvPr/>
        </p:nvSpPr>
        <p:spPr>
          <a:xfrm xmlns:a="http://schemas.openxmlformats.org/drawingml/2006/main">
            <a:off x="7048500" y="2076450"/>
            <a:ext cx="438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425" b="0">
                <a:solidFill>
                  <a:srgbClr val="687086"/>
                </a:solidFill>
                <a:latin typeface="Arial"/>
                <a:ea typeface="Arial"/>
                <a:cs typeface="Arial"/>
              </a:defRPr>
            </a:pPr>
            <a:r>
              <a:rPr sz="1425" b="0">
                <a:solidFill>
                  <a:srgbClr val="687086"/>
                </a:solidFill>
                <a:latin typeface="Arial"/>
                <a:ea typeface="Arial"/>
                <a:cs typeface="Arial"/>
              </a:rPr>
              <a:t>Inner grouped validation chooses the head; the outer donor or CRISPR target is never used.</a:t>
            </a:r>
          </a:p>
        </p:txBody>
      </p:sp>
      <p:sp>
        <p:nvSpPr>
          <p:cNvPr id="11" name="">
            <a:extLst xmlns:a="http://schemas.openxmlformats.org/drawingml/2006/main">
              <a:ext uri="{FF2B5EF4-FFF2-40B4-BE49-F238E27FC236}">
                <a16:creationId xmlns:a16="http://schemas.microsoft.com/office/drawing/2014/main" id="{463937FC-9B07-45D7-BCED-7BB87CE5544A}"/>
              </a:ext>
            </a:extLst>
          </p:cNvPr>
          <p:cNvSpPr>
            <a:spLocks xmlns:a="http://schemas.openxmlformats.org/drawingml/2006/main" noGrp="1"/>
          </p:cNvSpPr>
          <p:nvPr/>
        </p:nvSpPr>
        <p:spPr>
          <a:xfrm xmlns:a="http://schemas.openxmlformats.org/drawingml/2006/main">
            <a:off x="762000" y="3028950"/>
            <a:ext cx="10668000" cy="19050"/>
          </a:xfrm>
          <a:prstGeom xmlns:a="http://schemas.openxmlformats.org/drawingml/2006/main" prst="rect">
            <a:avLst/>
          </a:prstGeom>
          <a:solidFill xmlns:a="http://schemas.openxmlformats.org/drawingml/2006/main">
            <a:srgbClr val="E7EA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5A4A088-4BCB-4F75-8886-97228982A282}"/>
              </a:ext>
            </a:extLst>
          </p:cNvPr>
          <p:cNvSpPr>
            <a:spLocks xmlns:a="http://schemas.openxmlformats.org/drawingml/2006/main" noGrp="1"/>
          </p:cNvSpPr>
          <p:nvPr/>
        </p:nvSpPr>
        <p:spPr>
          <a:xfrm xmlns:a="http://schemas.openxmlformats.org/drawingml/2006/main">
            <a:off x="762000" y="33337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812"/>
          </a:bodyPr>
          <a:lstStyle xmlns:a="http://schemas.openxmlformats.org/drawingml/2006/main"/>
          <a:p xmlns:a="http://schemas.openxmlformats.org/drawingml/2006/main">
            <a:pPr algn="l">
              <a:lnSpc>
                <a:spcPct val="104000"/>
              </a:lnSpc>
              <a:buNone/>
              <a:defRPr sz="1350" b="1">
                <a:solidFill>
                  <a:srgbClr val="0D8A9A"/>
                </a:solidFill>
                <a:latin typeface="Arial"/>
                <a:ea typeface="Arial"/>
                <a:cs typeface="Arial"/>
              </a:defRPr>
            </a:pPr>
            <a:r>
              <a:rPr sz="1350" b="1">
                <a:solidFill>
                  <a:srgbClr val="0D8A9A"/>
                </a:solidFill>
                <a:latin typeface="Arial"/>
                <a:ea typeface="Arial"/>
                <a:cs typeface="Arial"/>
              </a:rPr>
              <a:t>Biological readouts</a:t>
            </a:r>
          </a:p>
        </p:txBody>
      </p:sp>
      <p:sp>
        <p:nvSpPr>
          <p:cNvPr id="13" name="">
            <a:extLst xmlns:a="http://schemas.openxmlformats.org/drawingml/2006/main">
              <a:ext uri="{FF2B5EF4-FFF2-40B4-BE49-F238E27FC236}">
                <a16:creationId xmlns:a16="http://schemas.microsoft.com/office/drawing/2014/main" id="{49B4360B-6A77-48B4-AC6B-A9FA2D829011}"/>
              </a:ext>
            </a:extLst>
          </p:cNvPr>
          <p:cNvSpPr>
            <a:spLocks xmlns:a="http://schemas.openxmlformats.org/drawingml/2006/main" noGrp="1"/>
          </p:cNvSpPr>
          <p:nvPr/>
        </p:nvSpPr>
        <p:spPr>
          <a:xfrm xmlns:a="http://schemas.openxmlformats.org/drawingml/2006/main">
            <a:off x="762000" y="3771900"/>
            <a:ext cx="2571750" cy="361950"/>
          </a:xfrm>
          <a:prstGeom xmlns:a="http://schemas.openxmlformats.org/drawingml/2006/main" prst="roundRect">
            <a:avLst>
              <a:gd name="adj" fmla="val 42105"/>
            </a:avLst>
          </a:prstGeom>
          <a:solidFill xmlns:a="http://schemas.openxmlformats.org/drawingml/2006/main">
            <a:srgbClr val="DDF3F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6142622-5DEC-4683-BDBB-B14FF846D4BF}"/>
              </a:ext>
            </a:extLst>
          </p:cNvPr>
          <p:cNvSpPr>
            <a:spLocks xmlns:a="http://schemas.openxmlformats.org/drawingml/2006/main" noGrp="1"/>
          </p:cNvSpPr>
          <p:nvPr/>
        </p:nvSpPr>
        <p:spPr>
          <a:xfrm xmlns:a="http://schemas.openxmlformats.org/drawingml/2006/main">
            <a:off x="838200" y="3819525"/>
            <a:ext cx="2419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0D8A9A"/>
                </a:solidFill>
                <a:latin typeface="Arial"/>
                <a:ea typeface="Arial"/>
                <a:cs typeface="Arial"/>
              </a:defRPr>
            </a:pPr>
            <a:r>
              <a:rPr sz="1200" b="1">
                <a:solidFill>
                  <a:srgbClr val="0D8A9A"/>
                </a:solidFill>
                <a:latin typeface="Arial"/>
                <a:ea typeface="Arial"/>
                <a:cs typeface="Arial"/>
              </a:rPr>
              <a:t>T cells: anti-CD3/CD28</a:t>
            </a:r>
          </a:p>
        </p:txBody>
      </p:sp>
      <p:sp>
        <p:nvSpPr>
          <p:cNvPr id="15" name="">
            <a:extLst xmlns:a="http://schemas.openxmlformats.org/drawingml/2006/main">
              <a:ext uri="{FF2B5EF4-FFF2-40B4-BE49-F238E27FC236}">
                <a16:creationId xmlns:a16="http://schemas.microsoft.com/office/drawing/2014/main" id="{262124C6-C34D-4A64-B980-743CFCCCA70F}"/>
              </a:ext>
            </a:extLst>
          </p:cNvPr>
          <p:cNvSpPr>
            <a:spLocks xmlns:a="http://schemas.openxmlformats.org/drawingml/2006/main" noGrp="1"/>
          </p:cNvSpPr>
          <p:nvPr/>
        </p:nvSpPr>
        <p:spPr>
          <a:xfrm xmlns:a="http://schemas.openxmlformats.org/drawingml/2006/main">
            <a:off x="3524250" y="3771900"/>
            <a:ext cx="2000250" cy="361950"/>
          </a:xfrm>
          <a:prstGeom xmlns:a="http://schemas.openxmlformats.org/drawingml/2006/main" prst="roundRect">
            <a:avLst>
              <a:gd name="adj" fmla="val 42105"/>
            </a:avLst>
          </a:prstGeom>
          <a:solidFill xmlns:a="http://schemas.openxmlformats.org/drawingml/2006/main">
            <a:srgbClr val="DDF3F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E4E38EE-7C16-4DCD-BC31-1967E24E7C02}"/>
              </a:ext>
            </a:extLst>
          </p:cNvPr>
          <p:cNvSpPr>
            <a:spLocks xmlns:a="http://schemas.openxmlformats.org/drawingml/2006/main" noGrp="1"/>
          </p:cNvSpPr>
          <p:nvPr/>
        </p:nvSpPr>
        <p:spPr>
          <a:xfrm xmlns:a="http://schemas.openxmlformats.org/drawingml/2006/main">
            <a:off x="3600450" y="3819525"/>
            <a:ext cx="1847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0D8A9A"/>
                </a:solidFill>
                <a:latin typeface="Arial"/>
                <a:ea typeface="Arial"/>
                <a:cs typeface="Arial"/>
              </a:defRPr>
            </a:pPr>
            <a:r>
              <a:rPr sz="1200" b="1">
                <a:solidFill>
                  <a:srgbClr val="0D8A9A"/>
                </a:solidFill>
                <a:latin typeface="Arial"/>
                <a:ea typeface="Arial"/>
                <a:cs typeface="Arial"/>
              </a:rPr>
              <a:t>Monocytes: LPS</a:t>
            </a:r>
          </a:p>
        </p:txBody>
      </p:sp>
      <p:sp>
        <p:nvSpPr>
          <p:cNvPr id="17" name="">
            <a:extLst xmlns:a="http://schemas.openxmlformats.org/drawingml/2006/main">
              <a:ext uri="{FF2B5EF4-FFF2-40B4-BE49-F238E27FC236}">
                <a16:creationId xmlns:a16="http://schemas.microsoft.com/office/drawing/2014/main" id="{A72051D6-3E38-441C-9E90-BA7D53F7ADC7}"/>
              </a:ext>
            </a:extLst>
          </p:cNvPr>
          <p:cNvSpPr>
            <a:spLocks xmlns:a="http://schemas.openxmlformats.org/drawingml/2006/main" noGrp="1"/>
          </p:cNvSpPr>
          <p:nvPr/>
        </p:nvSpPr>
        <p:spPr>
          <a:xfrm xmlns:a="http://schemas.openxmlformats.org/drawingml/2006/main">
            <a:off x="5715000" y="3771900"/>
            <a:ext cx="2628900" cy="361950"/>
          </a:xfrm>
          <a:prstGeom xmlns:a="http://schemas.openxmlformats.org/drawingml/2006/main" prst="roundRect">
            <a:avLst>
              <a:gd name="adj" fmla="val 42105"/>
            </a:avLst>
          </a:prstGeom>
          <a:solidFill xmlns:a="http://schemas.openxmlformats.org/drawingml/2006/main">
            <a:srgbClr val="EEE7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1400C4C-9B43-4F71-B965-4B6275894DBA}"/>
              </a:ext>
            </a:extLst>
          </p:cNvPr>
          <p:cNvSpPr>
            <a:spLocks xmlns:a="http://schemas.openxmlformats.org/drawingml/2006/main" noGrp="1"/>
          </p:cNvSpPr>
          <p:nvPr/>
        </p:nvSpPr>
        <p:spPr>
          <a:xfrm xmlns:a="http://schemas.openxmlformats.org/drawingml/2006/main">
            <a:off x="5791200" y="3819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6C3ED9"/>
                </a:solidFill>
                <a:latin typeface="Arial"/>
                <a:ea typeface="Arial"/>
                <a:cs typeface="Arial"/>
              </a:defRPr>
            </a:pPr>
            <a:r>
              <a:rPr sz="1200" b="1">
                <a:solidFill>
                  <a:srgbClr val="6C3ED9"/>
                </a:solidFill>
                <a:latin typeface="Arial"/>
                <a:ea typeface="Arial"/>
                <a:cs typeface="Arial"/>
              </a:rPr>
              <a:t>Unseen CRISPR targets</a:t>
            </a:r>
          </a:p>
        </p:txBody>
      </p:sp>
      <p:sp>
        <p:nvSpPr>
          <p:cNvPr id="19" name="">
            <a:extLst xmlns:a="http://schemas.openxmlformats.org/drawingml/2006/main">
              <a:ext uri="{FF2B5EF4-FFF2-40B4-BE49-F238E27FC236}">
                <a16:creationId xmlns:a16="http://schemas.microsoft.com/office/drawing/2014/main" id="{AD7B495B-B0CC-4C1B-BEA6-97F4EE51FB1F}"/>
              </a:ext>
            </a:extLst>
          </p:cNvPr>
          <p:cNvSpPr>
            <a:spLocks xmlns:a="http://schemas.openxmlformats.org/drawingml/2006/main" noGrp="1"/>
          </p:cNvSpPr>
          <p:nvPr/>
        </p:nvSpPr>
        <p:spPr>
          <a:xfrm xmlns:a="http://schemas.openxmlformats.org/drawingml/2006/main">
            <a:off x="8534400" y="3771900"/>
            <a:ext cx="2286000" cy="361950"/>
          </a:xfrm>
          <a:prstGeom xmlns:a="http://schemas.openxmlformats.org/drawingml/2006/main" prst="roundRect">
            <a:avLst>
              <a:gd name="adj" fmla="val 42105"/>
            </a:avLst>
          </a:prstGeom>
          <a:solidFill xmlns:a="http://schemas.openxmlformats.org/drawingml/2006/main">
            <a:srgbClr val="FFE7E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E017E41-FF95-4F54-9CDA-785BA01B87F1}"/>
              </a:ext>
            </a:extLst>
          </p:cNvPr>
          <p:cNvSpPr>
            <a:spLocks xmlns:a="http://schemas.openxmlformats.org/drawingml/2006/main" noGrp="1"/>
          </p:cNvSpPr>
          <p:nvPr/>
        </p:nvSpPr>
        <p:spPr>
          <a:xfrm xmlns:a="http://schemas.openxmlformats.org/drawingml/2006/main">
            <a:off x="8610600" y="3819525"/>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F15B64"/>
                </a:solidFill>
                <a:latin typeface="Arial"/>
                <a:ea typeface="Arial"/>
                <a:cs typeface="Arial"/>
              </a:defRPr>
            </a:pPr>
            <a:r>
              <a:rPr sz="1200" b="1">
                <a:solidFill>
                  <a:srgbClr val="F15B64"/>
                </a:solidFill>
                <a:latin typeface="Arial"/>
                <a:ea typeface="Arial"/>
                <a:cs typeface="Arial"/>
              </a:rPr>
              <a:t>Discordant RNA/protein</a:t>
            </a:r>
          </a:p>
        </p:txBody>
      </p:sp>
      <p:sp>
        <p:nvSpPr>
          <p:cNvPr id="21" name="">
            <a:extLst xmlns:a="http://schemas.openxmlformats.org/drawingml/2006/main">
              <a:ext uri="{FF2B5EF4-FFF2-40B4-BE49-F238E27FC236}">
                <a16:creationId xmlns:a16="http://schemas.microsoft.com/office/drawing/2014/main" id="{D18B2A40-CDAB-4A30-983F-246C057DBE43}"/>
              </a:ext>
            </a:extLst>
          </p:cNvPr>
          <p:cNvSpPr>
            <a:spLocks xmlns:a="http://schemas.openxmlformats.org/drawingml/2006/main" noGrp="1"/>
          </p:cNvSpPr>
          <p:nvPr/>
        </p:nvSpPr>
        <p:spPr>
          <a:xfrm xmlns:a="http://schemas.openxmlformats.org/drawingml/2006/main">
            <a:off x="762000" y="46291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6C3ED9"/>
                </a:solidFill>
                <a:latin typeface="Arial"/>
                <a:ea typeface="Arial"/>
                <a:cs typeface="Arial"/>
              </a:defRPr>
            </a:pPr>
            <a:r>
              <a:rPr sz="1350" b="1">
                <a:solidFill>
                  <a:srgbClr val="6C3ED9"/>
                </a:solidFill>
                <a:latin typeface="Arial"/>
                <a:ea typeface="Arial"/>
                <a:cs typeface="Arial"/>
              </a:rPr>
              <a:t>Baselines</a:t>
            </a:r>
          </a:p>
        </p:txBody>
      </p:sp>
      <p:sp>
        <p:nvSpPr>
          <p:cNvPr id="22" name="">
            <a:extLst xmlns:a="http://schemas.openxmlformats.org/drawingml/2006/main">
              <a:ext uri="{FF2B5EF4-FFF2-40B4-BE49-F238E27FC236}">
                <a16:creationId xmlns:a16="http://schemas.microsoft.com/office/drawing/2014/main" id="{5518C098-C74F-4D02-B45C-735510A3158A}"/>
              </a:ext>
            </a:extLst>
          </p:cNvPr>
          <p:cNvSpPr>
            <a:spLocks xmlns:a="http://schemas.openxmlformats.org/drawingml/2006/main" noGrp="1"/>
          </p:cNvSpPr>
          <p:nvPr/>
        </p:nvSpPr>
        <p:spPr>
          <a:xfrm xmlns:a="http://schemas.openxmlformats.org/drawingml/2006/main">
            <a:off x="762000" y="50101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69"/>
          </a:bodyPr>
          <a:lstStyle xmlns:a="http://schemas.openxmlformats.org/drawingml/2006/main"/>
          <a:p xmlns:a="http://schemas.openxmlformats.org/drawingml/2006/main">
            <a:pPr algn="l">
              <a:lnSpc>
                <a:spcPct val="104000"/>
              </a:lnSpc>
              <a:buNone/>
              <a:defRPr sz="1650" b="1">
                <a:solidFill>
                  <a:srgbClr val="17223B"/>
                </a:solidFill>
                <a:latin typeface="Arial"/>
                <a:ea typeface="Arial"/>
                <a:cs typeface="Arial"/>
              </a:defRPr>
            </a:pPr>
            <a:r>
              <a:rPr sz="1650" b="1">
                <a:solidFill>
                  <a:srgbClr val="17223B"/>
                </a:solidFill>
                <a:latin typeface="Arial"/>
                <a:ea typeface="Arial"/>
                <a:cs typeface="Arial"/>
              </a:rPr>
              <a:t>RNA proxy   •   other ADTs   •   RNA + ADTs   •   totalVI-X   •   FusionVI-X</a:t>
            </a:r>
          </a:p>
        </p:txBody>
      </p:sp>
      <p:sp>
        <p:nvSpPr>
          <p:cNvPr id="23" name="">
            <a:extLst xmlns:a="http://schemas.openxmlformats.org/drawingml/2006/main">
              <a:ext uri="{FF2B5EF4-FFF2-40B4-BE49-F238E27FC236}">
                <a16:creationId xmlns:a16="http://schemas.microsoft.com/office/drawing/2014/main" id="{7AFFE18D-0B92-407F-83B8-02906DCE4995}"/>
              </a:ext>
            </a:extLst>
          </p:cNvPr>
          <p:cNvSpPr>
            <a:spLocks xmlns:a="http://schemas.openxmlformats.org/drawingml/2006/main" noGrp="1"/>
          </p:cNvSpPr>
          <p:nvPr/>
        </p:nvSpPr>
        <p:spPr>
          <a:xfrm xmlns:a="http://schemas.openxmlformats.org/drawingml/2006/main">
            <a:off x="762000" y="57150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0D8A9A"/>
                </a:solidFill>
                <a:latin typeface="Arial"/>
                <a:ea typeface="Arial"/>
                <a:cs typeface="Arial"/>
              </a:defRPr>
            </a:pPr>
            <a:r>
              <a:rPr sz="1350" b="1">
                <a:solidFill>
                  <a:srgbClr val="0D8A9A"/>
                </a:solidFill>
                <a:latin typeface="Arial"/>
                <a:ea typeface="Arial"/>
                <a:cs typeface="Arial"/>
              </a:rPr>
              <a:t>Statistics</a:t>
            </a:r>
          </a:p>
        </p:txBody>
      </p:sp>
      <p:sp>
        <p:nvSpPr>
          <p:cNvPr id="24" name="">
            <a:extLst xmlns:a="http://schemas.openxmlformats.org/drawingml/2006/main">
              <a:ext uri="{FF2B5EF4-FFF2-40B4-BE49-F238E27FC236}">
                <a16:creationId xmlns:a16="http://schemas.microsoft.com/office/drawing/2014/main" id="{D109A48E-49EC-44FA-87D8-BA72BA0E0733}"/>
              </a:ext>
            </a:extLst>
          </p:cNvPr>
          <p:cNvSpPr>
            <a:spLocks xmlns:a="http://schemas.openxmlformats.org/drawingml/2006/main" noGrp="1"/>
          </p:cNvSpPr>
          <p:nvPr/>
        </p:nvSpPr>
        <p:spPr>
          <a:xfrm xmlns:a="http://schemas.openxmlformats.org/drawingml/2006/main">
            <a:off x="762000" y="605790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731"/>
          </a:bodyPr>
          <a:lstStyle xmlns:a="http://schemas.openxmlformats.org/drawingml/2006/main"/>
          <a:p xmlns:a="http://schemas.openxmlformats.org/drawingml/2006/main">
            <a:pPr algn="l">
              <a:lnSpc>
                <a:spcPct val="104000"/>
              </a:lnSpc>
              <a:buNone/>
              <a:defRPr sz="1500" b="0">
                <a:solidFill>
                  <a:srgbClr val="17223B"/>
                </a:solidFill>
                <a:latin typeface="Arial"/>
                <a:ea typeface="Arial"/>
                <a:cs typeface="Arial"/>
              </a:defRPr>
            </a:pPr>
            <a:r>
              <a:rPr sz="1500" b="0">
                <a:solidFill>
                  <a:srgbClr val="17223B"/>
                </a:solidFill>
                <a:latin typeface="Arial"/>
                <a:ea typeface="Arial"/>
                <a:cs typeface="Arial"/>
              </a:rPr>
              <a:t>donor-level inference  |  target-by-replicate effects  |  paired tests</a:t>
            </a:r>
          </a:p>
        </p:txBody>
      </p:sp>
    </p:spTree>
    <p:extLst>
      <p:ext uri="{BB962C8B-B14F-4D97-AF65-F5344CB8AC3E}">
        <p14:creationId xmlns:p14="http://schemas.microsoft.com/office/powerpoint/2010/main" val="11524078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02EAF73-D998-4181-A5D1-5EB5BBF5FE9C}"/>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EXPERIMENT 2 DESIGN</a:t>
            </a:r>
          </a:p>
        </p:txBody>
      </p:sp>
      <p:sp>
        <p:nvSpPr>
          <p:cNvPr id="2" name="">
            <a:extLst xmlns:a="http://schemas.openxmlformats.org/drawingml/2006/main">
              <a:ext uri="{FF2B5EF4-FFF2-40B4-BE49-F238E27FC236}">
                <a16:creationId xmlns:a16="http://schemas.microsoft.com/office/drawing/2014/main" id="{CBEB23D1-4261-4E88-A066-526F999F791A}"/>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A second dataset tests unseen PD-L1 regulators</a:t>
            </a:r>
          </a:p>
        </p:txBody>
      </p:sp>
      <p:sp>
        <p:nvSpPr>
          <p:cNvPr id="3" name="">
            <a:extLst xmlns:a="http://schemas.openxmlformats.org/drawingml/2006/main">
              <a:ext uri="{FF2B5EF4-FFF2-40B4-BE49-F238E27FC236}">
                <a16:creationId xmlns:a16="http://schemas.microsoft.com/office/drawing/2014/main" id="{7D4AF330-8538-4458-B555-5D13C48F7606}"/>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D8AD973-25E4-4083-B650-B2D9F21C07D3}"/>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06</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369efa529db4f8c"/>
          <a:stretch xmlns:a="http://schemas.openxmlformats.org/drawingml/2006/main"/>
        </p:blipFill>
        <p:spPr>
          <a:xfrm xmlns:a="http://schemas.openxmlformats.org/drawingml/2006/main">
            <a:off x="533400" y="1468678"/>
            <a:ext cx="11049000" cy="317769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A8AEC00-BDB1-4D02-9C54-AE63518B3F91}"/>
              </a:ext>
            </a:extLst>
          </p:cNvPr>
          <p:cNvSpPr>
            <a:spLocks xmlns:a="http://schemas.openxmlformats.org/drawingml/2006/main" noGrp="1"/>
          </p:cNvSpPr>
          <p:nvPr/>
        </p:nvSpPr>
        <p:spPr>
          <a:xfrm xmlns:a="http://schemas.openxmlformats.org/drawingml/2006/main">
            <a:off x="685800" y="4933950"/>
            <a:ext cx="1714500" cy="361950"/>
          </a:xfrm>
          <a:prstGeom xmlns:a="http://schemas.openxmlformats.org/drawingml/2006/main" prst="roundRect">
            <a:avLst>
              <a:gd name="adj" fmla="val 42105"/>
            </a:avLst>
          </a:prstGeom>
          <a:solidFill xmlns:a="http://schemas.openxmlformats.org/drawingml/2006/main">
            <a:srgbClr val="DDF3F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A34670C-F26B-47A3-8A48-321B42AF24BF}"/>
              </a:ext>
            </a:extLst>
          </p:cNvPr>
          <p:cNvSpPr>
            <a:spLocks xmlns:a="http://schemas.openxmlformats.org/drawingml/2006/main" noGrp="1"/>
          </p:cNvSpPr>
          <p:nvPr/>
        </p:nvSpPr>
        <p:spPr>
          <a:xfrm xmlns:a="http://schemas.openxmlformats.org/drawingml/2006/main">
            <a:off x="762000" y="4981575"/>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0D8A9A"/>
                </a:solidFill>
                <a:latin typeface="Arial"/>
                <a:ea typeface="Arial"/>
                <a:cs typeface="Arial"/>
              </a:defRPr>
            </a:pPr>
            <a:r>
              <a:rPr sz="1200" b="1">
                <a:solidFill>
                  <a:srgbClr val="0D8A9A"/>
                </a:solidFill>
                <a:latin typeface="Arial"/>
                <a:ea typeface="Arial"/>
                <a:cs typeface="Arial"/>
              </a:rPr>
              <a:t>20,729 cells</a:t>
            </a:r>
          </a:p>
        </p:txBody>
      </p:sp>
      <p:sp>
        <p:nvSpPr>
          <p:cNvPr id="8" name="">
            <a:extLst xmlns:a="http://schemas.openxmlformats.org/drawingml/2006/main">
              <a:ext uri="{FF2B5EF4-FFF2-40B4-BE49-F238E27FC236}">
                <a16:creationId xmlns:a16="http://schemas.microsoft.com/office/drawing/2014/main" id="{88685CD8-5694-4C2A-8D40-8975F0DBBC36}"/>
              </a:ext>
            </a:extLst>
          </p:cNvPr>
          <p:cNvSpPr>
            <a:spLocks xmlns:a="http://schemas.openxmlformats.org/drawingml/2006/main" noGrp="1"/>
          </p:cNvSpPr>
          <p:nvPr/>
        </p:nvSpPr>
        <p:spPr>
          <a:xfrm xmlns:a="http://schemas.openxmlformats.org/drawingml/2006/main">
            <a:off x="2590800" y="4933950"/>
            <a:ext cx="2095500" cy="361950"/>
          </a:xfrm>
          <a:prstGeom xmlns:a="http://schemas.openxmlformats.org/drawingml/2006/main" prst="roundRect">
            <a:avLst>
              <a:gd name="adj" fmla="val 42105"/>
            </a:avLst>
          </a:prstGeom>
          <a:solidFill xmlns:a="http://schemas.openxmlformats.org/drawingml/2006/main">
            <a:srgbClr val="EEE7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8FF642B-CAA3-4FA8-A9C4-3D53C7E41E16}"/>
              </a:ext>
            </a:extLst>
          </p:cNvPr>
          <p:cNvSpPr>
            <a:spLocks xmlns:a="http://schemas.openxmlformats.org/drawingml/2006/main" noGrp="1"/>
          </p:cNvSpPr>
          <p:nvPr/>
        </p:nvSpPr>
        <p:spPr>
          <a:xfrm xmlns:a="http://schemas.openxmlformats.org/drawingml/2006/main">
            <a:off x="2667000" y="4981575"/>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6C3ED9"/>
                </a:solidFill>
                <a:latin typeface="Arial"/>
                <a:ea typeface="Arial"/>
                <a:cs typeface="Arial"/>
              </a:defRPr>
            </a:pPr>
            <a:r>
              <a:rPr sz="1200" b="1">
                <a:solidFill>
                  <a:srgbClr val="6C3ED9"/>
                </a:solidFill>
                <a:latin typeface="Arial"/>
                <a:ea typeface="Arial"/>
                <a:cs typeface="Arial"/>
              </a:rPr>
              <a:t>25 CRISPR targets</a:t>
            </a:r>
          </a:p>
        </p:txBody>
      </p:sp>
      <p:sp>
        <p:nvSpPr>
          <p:cNvPr id="10" name="">
            <a:extLst xmlns:a="http://schemas.openxmlformats.org/drawingml/2006/main">
              <a:ext uri="{FF2B5EF4-FFF2-40B4-BE49-F238E27FC236}">
                <a16:creationId xmlns:a16="http://schemas.microsoft.com/office/drawing/2014/main" id="{7BCD78A1-913A-4B67-B179-FDDE45B3721B}"/>
              </a:ext>
            </a:extLst>
          </p:cNvPr>
          <p:cNvSpPr>
            <a:spLocks xmlns:a="http://schemas.openxmlformats.org/drawingml/2006/main" noGrp="1"/>
          </p:cNvSpPr>
          <p:nvPr/>
        </p:nvSpPr>
        <p:spPr>
          <a:xfrm xmlns:a="http://schemas.openxmlformats.org/drawingml/2006/main">
            <a:off x="4876800" y="4933950"/>
            <a:ext cx="1619250" cy="361950"/>
          </a:xfrm>
          <a:prstGeom xmlns:a="http://schemas.openxmlformats.org/drawingml/2006/main" prst="roundRect">
            <a:avLst>
              <a:gd name="adj" fmla="val 42105"/>
            </a:avLst>
          </a:prstGeom>
          <a:solidFill xmlns:a="http://schemas.openxmlformats.org/drawingml/2006/main">
            <a:srgbClr val="FFE7E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0F15340-18C9-4265-A6DA-84CCBD83CE37}"/>
              </a:ext>
            </a:extLst>
          </p:cNvPr>
          <p:cNvSpPr>
            <a:spLocks xmlns:a="http://schemas.openxmlformats.org/drawingml/2006/main" noGrp="1"/>
          </p:cNvSpPr>
          <p:nvPr/>
        </p:nvSpPr>
        <p:spPr>
          <a:xfrm xmlns:a="http://schemas.openxmlformats.org/drawingml/2006/main">
            <a:off x="4953000" y="4981575"/>
            <a:ext cx="146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F15B64"/>
                </a:solidFill>
                <a:latin typeface="Arial"/>
                <a:ea typeface="Arial"/>
                <a:cs typeface="Arial"/>
              </a:defRPr>
            </a:pPr>
            <a:r>
              <a:rPr sz="1200" b="1">
                <a:solidFill>
                  <a:srgbClr val="F15B64"/>
                </a:solidFill>
                <a:latin typeface="Arial"/>
                <a:ea typeface="Arial"/>
                <a:cs typeface="Arial"/>
              </a:rPr>
              <a:t>3 replicates</a:t>
            </a:r>
          </a:p>
        </p:txBody>
      </p:sp>
      <p:sp>
        <p:nvSpPr>
          <p:cNvPr id="12" name="">
            <a:extLst xmlns:a="http://schemas.openxmlformats.org/drawingml/2006/main">
              <a:ext uri="{FF2B5EF4-FFF2-40B4-BE49-F238E27FC236}">
                <a16:creationId xmlns:a16="http://schemas.microsoft.com/office/drawing/2014/main" id="{ACA02DF1-BFC8-4C1F-8AAD-2B9F15B6F54D}"/>
              </a:ext>
            </a:extLst>
          </p:cNvPr>
          <p:cNvSpPr>
            <a:spLocks xmlns:a="http://schemas.openxmlformats.org/drawingml/2006/main" noGrp="1"/>
          </p:cNvSpPr>
          <p:nvPr/>
        </p:nvSpPr>
        <p:spPr>
          <a:xfrm xmlns:a="http://schemas.openxmlformats.org/drawingml/2006/main">
            <a:off x="6686550" y="4933950"/>
            <a:ext cx="1714500" cy="361950"/>
          </a:xfrm>
          <a:prstGeom xmlns:a="http://schemas.openxmlformats.org/drawingml/2006/main" prst="roundRect">
            <a:avLst>
              <a:gd name="adj" fmla="val 42105"/>
            </a:avLst>
          </a:prstGeom>
          <a:solidFill xmlns:a="http://schemas.openxmlformats.org/drawingml/2006/main">
            <a:srgbClr val="FFE7E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FB11A45-D64D-4013-9940-51469F3AEA70}"/>
              </a:ext>
            </a:extLst>
          </p:cNvPr>
          <p:cNvSpPr>
            <a:spLocks xmlns:a="http://schemas.openxmlformats.org/drawingml/2006/main" noGrp="1"/>
          </p:cNvSpPr>
          <p:nvPr/>
        </p:nvSpPr>
        <p:spPr>
          <a:xfrm xmlns:a="http://schemas.openxmlformats.org/drawingml/2006/main">
            <a:off x="6762750" y="4981575"/>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F15B64"/>
                </a:solidFill>
                <a:latin typeface="Arial"/>
                <a:ea typeface="Arial"/>
                <a:cs typeface="Arial"/>
              </a:defRPr>
            </a:pPr>
            <a:r>
              <a:rPr sz="1200" b="1">
                <a:solidFill>
                  <a:srgbClr val="F15B64"/>
                </a:solidFill>
                <a:latin typeface="Arial"/>
                <a:ea typeface="Arial"/>
                <a:cs typeface="Arial"/>
              </a:rPr>
              <a:t>PD-L1 hidden</a:t>
            </a:r>
          </a:p>
        </p:txBody>
      </p:sp>
      <p:sp>
        <p:nvSpPr>
          <p:cNvPr id="14" name="">
            <a:extLst xmlns:a="http://schemas.openxmlformats.org/drawingml/2006/main">
              <a:ext uri="{FF2B5EF4-FFF2-40B4-BE49-F238E27FC236}">
                <a16:creationId xmlns:a16="http://schemas.microsoft.com/office/drawing/2014/main" id="{CD470B8B-1626-4177-8A87-614B0A33DFE3}"/>
              </a:ext>
            </a:extLst>
          </p:cNvPr>
          <p:cNvSpPr>
            <a:spLocks xmlns:a="http://schemas.openxmlformats.org/drawingml/2006/main" noGrp="1"/>
          </p:cNvSpPr>
          <p:nvPr/>
        </p:nvSpPr>
        <p:spPr>
          <a:xfrm xmlns:a="http://schemas.openxmlformats.org/drawingml/2006/main">
            <a:off x="685800" y="56578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464"/>
          </a:bodyPr>
          <a:lstStyle xmlns:a="http://schemas.openxmlformats.org/drawingml/2006/main"/>
          <a:p xmlns:a="http://schemas.openxmlformats.org/drawingml/2006/main">
            <a:pPr algn="l">
              <a:lnSpc>
                <a:spcPct val="104000"/>
              </a:lnSpc>
              <a:buNone/>
              <a:defRPr sz="1800" b="1">
                <a:solidFill>
                  <a:srgbClr val="17223B"/>
                </a:solidFill>
                <a:latin typeface="Arial"/>
                <a:ea typeface="Arial"/>
                <a:cs typeface="Arial"/>
              </a:defRPr>
            </a:pPr>
            <a:r>
              <a:rPr sz="1800" b="1">
                <a:solidFill>
                  <a:srgbClr val="17223B"/>
                </a:solidFill>
                <a:latin typeface="Arial"/>
                <a:ea typeface="Arial"/>
                <a:cs typeface="Arial"/>
              </a:rPr>
              <a:t>Five target-held-out folds</a:t>
            </a:r>
          </a:p>
        </p:txBody>
      </p:sp>
      <p:sp>
        <p:nvSpPr>
          <p:cNvPr id="15" name="">
            <a:extLst xmlns:a="http://schemas.openxmlformats.org/drawingml/2006/main">
              <a:ext uri="{FF2B5EF4-FFF2-40B4-BE49-F238E27FC236}">
                <a16:creationId xmlns:a16="http://schemas.microsoft.com/office/drawing/2014/main" id="{B05F05E7-325A-4B34-9CD4-73DF01D6524E}"/>
              </a:ext>
            </a:extLst>
          </p:cNvPr>
          <p:cNvSpPr>
            <a:spLocks xmlns:a="http://schemas.openxmlformats.org/drawingml/2006/main" noGrp="1"/>
          </p:cNvSpPr>
          <p:nvPr/>
        </p:nvSpPr>
        <p:spPr>
          <a:xfrm xmlns:a="http://schemas.openxmlformats.org/drawingml/2006/main">
            <a:off x="3905250" y="56578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101"/>
          </a:bodyPr>
          <a:lstStyle xmlns:a="http://schemas.openxmlformats.org/drawingml/2006/main"/>
          <a:p xmlns:a="http://schemas.openxmlformats.org/drawingml/2006/main">
            <a:pPr algn="ctr">
              <a:lnSpc>
                <a:spcPct val="104000"/>
              </a:lnSpc>
              <a:buNone/>
              <a:defRPr sz="1575" b="1">
                <a:solidFill>
                  <a:srgbClr val="223A69"/>
                </a:solidFill>
                <a:latin typeface="Arial"/>
                <a:ea typeface="Arial"/>
                <a:cs typeface="Arial"/>
              </a:defRPr>
            </a:pPr>
            <a:r>
              <a:rPr sz="1575" b="1">
                <a:solidFill>
                  <a:srgbClr val="223A69"/>
                </a:solidFill>
                <a:latin typeface="Arial"/>
                <a:ea typeface="Arial"/>
                <a:cs typeface="Arial"/>
              </a:rPr>
              <a:t>Train on 20 targets</a:t>
            </a:r>
          </a:p>
        </p:txBody>
      </p:sp>
      <p:sp>
        <p:nvSpPr>
          <p:cNvPr id="16" name="">
            <a:extLst xmlns:a="http://schemas.openxmlformats.org/drawingml/2006/main">
              <a:ext uri="{FF2B5EF4-FFF2-40B4-BE49-F238E27FC236}">
                <a16:creationId xmlns:a16="http://schemas.microsoft.com/office/drawing/2014/main" id="{CD6D07C3-AEE1-4A8B-9190-D73E0602700A}"/>
              </a:ext>
            </a:extLst>
          </p:cNvPr>
          <p:cNvSpPr>
            <a:spLocks xmlns:a="http://schemas.openxmlformats.org/drawingml/2006/main" noGrp="1"/>
          </p:cNvSpPr>
          <p:nvPr/>
        </p:nvSpPr>
        <p:spPr>
          <a:xfrm xmlns:a="http://schemas.openxmlformats.org/drawingml/2006/main">
            <a:off x="6819900" y="56578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101"/>
          </a:bodyPr>
          <a:lstStyle xmlns:a="http://schemas.openxmlformats.org/drawingml/2006/main"/>
          <a:p xmlns:a="http://schemas.openxmlformats.org/drawingml/2006/main">
            <a:pPr algn="ctr">
              <a:lnSpc>
                <a:spcPct val="104000"/>
              </a:lnSpc>
              <a:buNone/>
              <a:defRPr sz="1575" b="1">
                <a:solidFill>
                  <a:srgbClr val="223A69"/>
                </a:solidFill>
                <a:latin typeface="Arial"/>
                <a:ea typeface="Arial"/>
                <a:cs typeface="Arial"/>
              </a:defRPr>
            </a:pPr>
            <a:r>
              <a:rPr sz="1575" b="1">
                <a:solidFill>
                  <a:srgbClr val="223A69"/>
                </a:solidFill>
                <a:latin typeface="Arial"/>
                <a:ea typeface="Arial"/>
                <a:cs typeface="Arial"/>
              </a:rPr>
              <a:t>Test 5 unseen targets</a:t>
            </a:r>
          </a:p>
        </p:txBody>
      </p:sp>
      <p:sp>
        <p:nvSpPr>
          <p:cNvPr id="17" name="">
            <a:extLst xmlns:a="http://schemas.openxmlformats.org/drawingml/2006/main">
              <a:ext uri="{FF2B5EF4-FFF2-40B4-BE49-F238E27FC236}">
                <a16:creationId xmlns:a16="http://schemas.microsoft.com/office/drawing/2014/main" id="{F0DCF9CB-3508-4F34-B0DD-7C725E14D0A3}"/>
              </a:ext>
            </a:extLst>
          </p:cNvPr>
          <p:cNvSpPr>
            <a:spLocks xmlns:a="http://schemas.openxmlformats.org/drawingml/2006/main" noGrp="1"/>
          </p:cNvSpPr>
          <p:nvPr/>
        </p:nvSpPr>
        <p:spPr>
          <a:xfrm xmlns:a="http://schemas.openxmlformats.org/drawingml/2006/main">
            <a:off x="9353550" y="5657850"/>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53"/>
          </a:bodyPr>
          <a:lstStyle xmlns:a="http://schemas.openxmlformats.org/drawingml/2006/main"/>
          <a:p xmlns:a="http://schemas.openxmlformats.org/drawingml/2006/main">
            <a:pPr algn="ctr">
              <a:lnSpc>
                <a:spcPct val="104000"/>
              </a:lnSpc>
              <a:buNone/>
              <a:defRPr sz="1350" b="1">
                <a:solidFill>
                  <a:srgbClr val="687086"/>
                </a:solidFill>
                <a:latin typeface="Arial"/>
                <a:ea typeface="Arial"/>
                <a:cs typeface="Arial"/>
              </a:defRPr>
            </a:pPr>
            <a:r>
              <a:rPr sz="1350" b="1">
                <a:solidFill>
                  <a:srgbClr val="687086"/>
                </a:solidFill>
                <a:latin typeface="Arial"/>
                <a:ea typeface="Arial"/>
                <a:cs typeface="Arial"/>
              </a:rPr>
              <a:t>75 target × replicate effects</a:t>
            </a:r>
          </a:p>
        </p:txBody>
      </p:sp>
      <p:sp>
        <p:nvSpPr>
          <p:cNvPr id="18" name="">
            <a:extLst xmlns:a="http://schemas.openxmlformats.org/drawingml/2006/main">
              <a:ext uri="{FF2B5EF4-FFF2-40B4-BE49-F238E27FC236}">
                <a16:creationId xmlns:a16="http://schemas.microsoft.com/office/drawing/2014/main" id="{B179ED15-B150-4222-90AB-288EDBCDE968}"/>
              </a:ext>
            </a:extLst>
          </p:cNvPr>
          <p:cNvSpPr>
            <a:spLocks xmlns:a="http://schemas.openxmlformats.org/drawingml/2006/main" noGrp="1"/>
          </p:cNvSpPr>
          <p:nvPr/>
        </p:nvSpPr>
        <p:spPr>
          <a:xfrm xmlns:a="http://schemas.openxmlformats.org/drawingml/2006/main">
            <a:off x="685800" y="63817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444"/>
          </a:bodyPr>
          <a:lstStyle xmlns:a="http://schemas.openxmlformats.org/drawingml/2006/main"/>
          <a:p xmlns:a="http://schemas.openxmlformats.org/drawingml/2006/main">
            <a:pPr algn="l">
              <a:lnSpc>
                <a:spcPct val="104000"/>
              </a:lnSpc>
              <a:buNone/>
              <a:defRPr sz="900" b="0">
                <a:solidFill>
                  <a:srgbClr val="687086"/>
                </a:solidFill>
                <a:latin typeface="Arial"/>
                <a:ea typeface="Arial"/>
                <a:cs typeface="Arial"/>
              </a:defRPr>
            </a:pPr>
            <a:r>
              <a:rPr sz="900" b="0">
                <a:solidFill>
                  <a:srgbClr val="687086"/>
                </a:solidFill>
                <a:latin typeface="Arial"/>
                <a:ea typeface="Arial"/>
                <a:cs typeface="Arial"/>
              </a:rPr>
              <a:t>Source: Papalexi et al., Nature Genetics 2021, Fig. 1a</a:t>
            </a:r>
          </a:p>
        </p:txBody>
      </p:sp>
    </p:spTree>
    <p:extLst>
      <p:ext uri="{BB962C8B-B14F-4D97-AF65-F5344CB8AC3E}">
        <p14:creationId xmlns:p14="http://schemas.microsoft.com/office/powerpoint/2010/main" val="1017116780"/>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529BD03-ADBA-4AC6-AE43-4FF8E001D8EF}"/>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RESULT 2</a:t>
            </a:r>
          </a:p>
        </p:txBody>
      </p:sp>
      <p:sp>
        <p:nvSpPr>
          <p:cNvPr id="2" name="">
            <a:extLst xmlns:a="http://schemas.openxmlformats.org/drawingml/2006/main">
              <a:ext uri="{FF2B5EF4-FFF2-40B4-BE49-F238E27FC236}">
                <a16:creationId xmlns:a16="http://schemas.microsoft.com/office/drawing/2014/main" id="{234BFE4C-2601-484E-AE3F-12547210FA39}"/>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Targeted cross-modal readout improves every global marker</a:t>
            </a:r>
          </a:p>
        </p:txBody>
      </p:sp>
      <p:sp>
        <p:nvSpPr>
          <p:cNvPr id="3" name="">
            <a:extLst xmlns:a="http://schemas.openxmlformats.org/drawingml/2006/main">
              <a:ext uri="{FF2B5EF4-FFF2-40B4-BE49-F238E27FC236}">
                <a16:creationId xmlns:a16="http://schemas.microsoft.com/office/drawing/2014/main" id="{3F9EF1AD-A058-4AF9-AEB6-F5C4778BEFDF}"/>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ABBB31-3F9B-4C85-82E0-14E60074D921}"/>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07</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7a9fed2bbbc485f"/>
          <a:stretch xmlns:a="http://schemas.openxmlformats.org/drawingml/2006/main"/>
        </p:blipFill>
        <p:spPr>
          <a:xfrm xmlns:a="http://schemas.openxmlformats.org/drawingml/2006/main">
            <a:off x="400050" y="1626590"/>
            <a:ext cx="8096250" cy="448112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83E7417-8351-483B-B742-57EFAC93C252}"/>
              </a:ext>
            </a:extLst>
          </p:cNvPr>
          <p:cNvSpPr>
            <a:spLocks xmlns:a="http://schemas.openxmlformats.org/drawingml/2006/main" noGrp="1"/>
          </p:cNvSpPr>
          <p:nvPr/>
        </p:nvSpPr>
        <p:spPr>
          <a:xfrm xmlns:a="http://schemas.openxmlformats.org/drawingml/2006/main">
            <a:off x="8763000" y="15621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0D8A9A"/>
                </a:solidFill>
                <a:latin typeface="Arial"/>
                <a:ea typeface="Arial"/>
                <a:cs typeface="Arial"/>
              </a:defRPr>
            </a:pPr>
            <a:r>
              <a:rPr sz="1350" b="1">
                <a:solidFill>
                  <a:srgbClr val="0D8A9A"/>
                </a:solidFill>
                <a:latin typeface="Arial"/>
                <a:ea typeface="Arial"/>
                <a:cs typeface="Arial"/>
              </a:rPr>
              <a:t>Global Spearman ρ</a:t>
            </a:r>
          </a:p>
        </p:txBody>
      </p:sp>
      <p:sp>
        <p:nvSpPr>
          <p:cNvPr id="7" name="">
            <a:extLst xmlns:a="http://schemas.openxmlformats.org/drawingml/2006/main">
              <a:ext uri="{FF2B5EF4-FFF2-40B4-BE49-F238E27FC236}">
                <a16:creationId xmlns:a16="http://schemas.microsoft.com/office/drawing/2014/main" id="{C3F645D9-0E0F-4D79-9215-A205DE94069F}"/>
              </a:ext>
            </a:extLst>
          </p:cNvPr>
          <p:cNvSpPr>
            <a:spLocks xmlns:a="http://schemas.openxmlformats.org/drawingml/2006/main" noGrp="1"/>
          </p:cNvSpPr>
          <p:nvPr/>
        </p:nvSpPr>
        <p:spPr>
          <a:xfrm xmlns:a="http://schemas.openxmlformats.org/drawingml/2006/main">
            <a:off x="8763000" y="20193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718"/>
          </a:bodyPr>
          <a:lstStyle xmlns:a="http://schemas.openxmlformats.org/drawingml/2006/main"/>
          <a:p xmlns:a="http://schemas.openxmlformats.org/drawingml/2006/main">
            <a:pPr algn="l">
              <a:lnSpc>
                <a:spcPct val="104000"/>
              </a:lnSpc>
              <a:buNone/>
              <a:defRPr sz="1500" b="1">
                <a:solidFill>
                  <a:srgbClr val="17223B"/>
                </a:solidFill>
                <a:latin typeface="Arial"/>
                <a:ea typeface="Arial"/>
                <a:cs typeface="Arial"/>
              </a:defRPr>
            </a:pPr>
            <a:r>
              <a:rPr sz="1500" b="1">
                <a:solidFill>
                  <a:srgbClr val="17223B"/>
                </a:solidFill>
                <a:latin typeface="Arial"/>
                <a:ea typeface="Arial"/>
                <a:cs typeface="Arial"/>
              </a:rPr>
              <a:t>CD25</a:t>
            </a:r>
          </a:p>
        </p:txBody>
      </p:sp>
      <p:sp>
        <p:nvSpPr>
          <p:cNvPr id="8" name="">
            <a:extLst xmlns:a="http://schemas.openxmlformats.org/drawingml/2006/main">
              <a:ext uri="{FF2B5EF4-FFF2-40B4-BE49-F238E27FC236}">
                <a16:creationId xmlns:a16="http://schemas.microsoft.com/office/drawing/2014/main" id="{8619D6BD-7EB2-4042-BE8B-4148B088AAA6}"/>
              </a:ext>
            </a:extLst>
          </p:cNvPr>
          <p:cNvSpPr>
            <a:spLocks xmlns:a="http://schemas.openxmlformats.org/drawingml/2006/main" noGrp="1"/>
          </p:cNvSpPr>
          <p:nvPr/>
        </p:nvSpPr>
        <p:spPr>
          <a:xfrm xmlns:a="http://schemas.openxmlformats.org/drawingml/2006/main">
            <a:off x="9620250" y="20193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718"/>
          </a:bodyPr>
          <a:lstStyle xmlns:a="http://schemas.openxmlformats.org/drawingml/2006/main"/>
          <a:p xmlns:a="http://schemas.openxmlformats.org/drawingml/2006/main">
            <a:pPr algn="r">
              <a:lnSpc>
                <a:spcPct val="104000"/>
              </a:lnSpc>
              <a:buNone/>
              <a:defRPr sz="1500" b="1">
                <a:solidFill>
                  <a:srgbClr val="F15B64"/>
                </a:solidFill>
                <a:latin typeface="Arial"/>
                <a:ea typeface="Arial"/>
                <a:cs typeface="Arial"/>
              </a:defRPr>
            </a:pPr>
            <a:r>
              <a:rPr sz="1500" b="1">
                <a:solidFill>
                  <a:srgbClr val="F15B64"/>
                </a:solidFill>
                <a:latin typeface="Arial"/>
                <a:ea typeface="Arial"/>
                <a:cs typeface="Arial"/>
              </a:rPr>
              <a:t>0.779 → 0.825</a:t>
            </a:r>
          </a:p>
        </p:txBody>
      </p:sp>
      <p:sp>
        <p:nvSpPr>
          <p:cNvPr id="9" name="">
            <a:extLst xmlns:a="http://schemas.openxmlformats.org/drawingml/2006/main">
              <a:ext uri="{FF2B5EF4-FFF2-40B4-BE49-F238E27FC236}">
                <a16:creationId xmlns:a16="http://schemas.microsoft.com/office/drawing/2014/main" id="{66F0B36B-2A6C-47CD-8E01-9B9C07DCC745}"/>
              </a:ext>
            </a:extLst>
          </p:cNvPr>
          <p:cNvSpPr>
            <a:spLocks xmlns:a="http://schemas.openxmlformats.org/drawingml/2006/main" noGrp="1"/>
          </p:cNvSpPr>
          <p:nvPr/>
        </p:nvSpPr>
        <p:spPr>
          <a:xfrm xmlns:a="http://schemas.openxmlformats.org/drawingml/2006/main">
            <a:off x="9620250" y="23050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239"/>
          </a:bodyPr>
          <a:lstStyle xmlns:a="http://schemas.openxmlformats.org/drawingml/2006/main"/>
          <a:p xmlns:a="http://schemas.openxmlformats.org/drawingml/2006/main">
            <a:pPr algn="r">
              <a:lnSpc>
                <a:spcPct val="104000"/>
              </a:lnSpc>
              <a:buNone/>
              <a:defRPr sz="1125" b="0">
                <a:solidFill>
                  <a:srgbClr val="687086"/>
                </a:solidFill>
                <a:latin typeface="Arial"/>
                <a:ea typeface="Arial"/>
                <a:cs typeface="Arial"/>
              </a:defRPr>
            </a:pPr>
            <a:r>
              <a:rPr sz="1125" b="0">
                <a:solidFill>
                  <a:srgbClr val="687086"/>
                </a:solidFill>
                <a:latin typeface="Arial"/>
                <a:ea typeface="Arial"/>
                <a:cs typeface="Arial"/>
              </a:rPr>
              <a:t>q = 0.0039</a:t>
            </a:r>
          </a:p>
        </p:txBody>
      </p:sp>
      <p:sp>
        <p:nvSpPr>
          <p:cNvPr id="10" name="">
            <a:extLst xmlns:a="http://schemas.openxmlformats.org/drawingml/2006/main">
              <a:ext uri="{FF2B5EF4-FFF2-40B4-BE49-F238E27FC236}">
                <a16:creationId xmlns:a16="http://schemas.microsoft.com/office/drawing/2014/main" id="{44E8B303-4A6D-459F-8984-E3E5761663CE}"/>
              </a:ext>
            </a:extLst>
          </p:cNvPr>
          <p:cNvSpPr>
            <a:spLocks xmlns:a="http://schemas.openxmlformats.org/drawingml/2006/main" noGrp="1"/>
          </p:cNvSpPr>
          <p:nvPr/>
        </p:nvSpPr>
        <p:spPr>
          <a:xfrm xmlns:a="http://schemas.openxmlformats.org/drawingml/2006/main">
            <a:off x="8763000" y="28956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718"/>
          </a:bodyPr>
          <a:lstStyle xmlns:a="http://schemas.openxmlformats.org/drawingml/2006/main"/>
          <a:p xmlns:a="http://schemas.openxmlformats.org/drawingml/2006/main">
            <a:pPr algn="l">
              <a:lnSpc>
                <a:spcPct val="104000"/>
              </a:lnSpc>
              <a:buNone/>
              <a:defRPr sz="1500" b="1">
                <a:solidFill>
                  <a:srgbClr val="17223B"/>
                </a:solidFill>
                <a:latin typeface="Arial"/>
                <a:ea typeface="Arial"/>
                <a:cs typeface="Arial"/>
              </a:defRPr>
            </a:pPr>
            <a:r>
              <a:rPr sz="1500" b="1">
                <a:solidFill>
                  <a:srgbClr val="17223B"/>
                </a:solidFill>
                <a:latin typeface="Arial"/>
                <a:ea typeface="Arial"/>
                <a:cs typeface="Arial"/>
              </a:rPr>
              <a:t>CD69</a:t>
            </a:r>
          </a:p>
        </p:txBody>
      </p:sp>
      <p:sp>
        <p:nvSpPr>
          <p:cNvPr id="11" name="">
            <a:extLst xmlns:a="http://schemas.openxmlformats.org/drawingml/2006/main">
              <a:ext uri="{FF2B5EF4-FFF2-40B4-BE49-F238E27FC236}">
                <a16:creationId xmlns:a16="http://schemas.microsoft.com/office/drawing/2014/main" id="{C27BC71B-F2D7-4953-ADAB-73310B577C53}"/>
              </a:ext>
            </a:extLst>
          </p:cNvPr>
          <p:cNvSpPr>
            <a:spLocks xmlns:a="http://schemas.openxmlformats.org/drawingml/2006/main" noGrp="1"/>
          </p:cNvSpPr>
          <p:nvPr/>
        </p:nvSpPr>
        <p:spPr>
          <a:xfrm xmlns:a="http://schemas.openxmlformats.org/drawingml/2006/main">
            <a:off x="9620250" y="28956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718"/>
          </a:bodyPr>
          <a:lstStyle xmlns:a="http://schemas.openxmlformats.org/drawingml/2006/main"/>
          <a:p xmlns:a="http://schemas.openxmlformats.org/drawingml/2006/main">
            <a:pPr algn="r">
              <a:lnSpc>
                <a:spcPct val="104000"/>
              </a:lnSpc>
              <a:buNone/>
              <a:defRPr sz="1500" b="1">
                <a:solidFill>
                  <a:srgbClr val="F15B64"/>
                </a:solidFill>
                <a:latin typeface="Arial"/>
                <a:ea typeface="Arial"/>
                <a:cs typeface="Arial"/>
              </a:defRPr>
            </a:pPr>
            <a:r>
              <a:rPr sz="1500" b="1">
                <a:solidFill>
                  <a:srgbClr val="F15B64"/>
                </a:solidFill>
                <a:latin typeface="Arial"/>
                <a:ea typeface="Arial"/>
                <a:cs typeface="Arial"/>
              </a:rPr>
              <a:t>0.822 → 0.873</a:t>
            </a:r>
          </a:p>
        </p:txBody>
      </p:sp>
      <p:sp>
        <p:nvSpPr>
          <p:cNvPr id="12" name="">
            <a:extLst xmlns:a="http://schemas.openxmlformats.org/drawingml/2006/main">
              <a:ext uri="{FF2B5EF4-FFF2-40B4-BE49-F238E27FC236}">
                <a16:creationId xmlns:a16="http://schemas.microsoft.com/office/drawing/2014/main" id="{FD1421B2-592C-4CFF-8AD3-AD5FC37E620A}"/>
              </a:ext>
            </a:extLst>
          </p:cNvPr>
          <p:cNvSpPr>
            <a:spLocks xmlns:a="http://schemas.openxmlformats.org/drawingml/2006/main" noGrp="1"/>
          </p:cNvSpPr>
          <p:nvPr/>
        </p:nvSpPr>
        <p:spPr>
          <a:xfrm xmlns:a="http://schemas.openxmlformats.org/drawingml/2006/main">
            <a:off x="9620250" y="31813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239"/>
          </a:bodyPr>
          <a:lstStyle xmlns:a="http://schemas.openxmlformats.org/drawingml/2006/main"/>
          <a:p xmlns:a="http://schemas.openxmlformats.org/drawingml/2006/main">
            <a:pPr algn="r">
              <a:lnSpc>
                <a:spcPct val="104000"/>
              </a:lnSpc>
              <a:buNone/>
              <a:defRPr sz="1125" b="0">
                <a:solidFill>
                  <a:srgbClr val="687086"/>
                </a:solidFill>
                <a:latin typeface="Arial"/>
                <a:ea typeface="Arial"/>
                <a:cs typeface="Arial"/>
              </a:defRPr>
            </a:pPr>
            <a:r>
              <a:rPr sz="1125" b="0">
                <a:solidFill>
                  <a:srgbClr val="687086"/>
                </a:solidFill>
                <a:latin typeface="Arial"/>
                <a:ea typeface="Arial"/>
                <a:cs typeface="Arial"/>
              </a:rPr>
              <a:t>q = 0.0039</a:t>
            </a:r>
          </a:p>
        </p:txBody>
      </p:sp>
      <p:sp>
        <p:nvSpPr>
          <p:cNvPr id="13" name="">
            <a:extLst xmlns:a="http://schemas.openxmlformats.org/drawingml/2006/main">
              <a:ext uri="{FF2B5EF4-FFF2-40B4-BE49-F238E27FC236}">
                <a16:creationId xmlns:a16="http://schemas.microsoft.com/office/drawing/2014/main" id="{441EBAFE-067A-480A-9B38-0A6D20416FC8}"/>
              </a:ext>
            </a:extLst>
          </p:cNvPr>
          <p:cNvSpPr>
            <a:spLocks xmlns:a="http://schemas.openxmlformats.org/drawingml/2006/main" noGrp="1"/>
          </p:cNvSpPr>
          <p:nvPr/>
        </p:nvSpPr>
        <p:spPr>
          <a:xfrm xmlns:a="http://schemas.openxmlformats.org/drawingml/2006/main">
            <a:off x="8763000" y="37719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718"/>
          </a:bodyPr>
          <a:lstStyle xmlns:a="http://schemas.openxmlformats.org/drawingml/2006/main"/>
          <a:p xmlns:a="http://schemas.openxmlformats.org/drawingml/2006/main">
            <a:pPr algn="l">
              <a:lnSpc>
                <a:spcPct val="104000"/>
              </a:lnSpc>
              <a:buNone/>
              <a:defRPr sz="1500" b="1">
                <a:solidFill>
                  <a:srgbClr val="17223B"/>
                </a:solidFill>
                <a:latin typeface="Arial"/>
                <a:ea typeface="Arial"/>
                <a:cs typeface="Arial"/>
              </a:defRPr>
            </a:pPr>
            <a:r>
              <a:rPr sz="1500" b="1">
                <a:solidFill>
                  <a:srgbClr val="17223B"/>
                </a:solidFill>
                <a:latin typeface="Arial"/>
                <a:ea typeface="Arial"/>
                <a:cs typeface="Arial"/>
              </a:rPr>
              <a:t>HLA-DR</a:t>
            </a:r>
          </a:p>
        </p:txBody>
      </p:sp>
      <p:sp>
        <p:nvSpPr>
          <p:cNvPr id="14" name="">
            <a:extLst xmlns:a="http://schemas.openxmlformats.org/drawingml/2006/main">
              <a:ext uri="{FF2B5EF4-FFF2-40B4-BE49-F238E27FC236}">
                <a16:creationId xmlns:a16="http://schemas.microsoft.com/office/drawing/2014/main" id="{0D6F9439-C14D-4AD2-995F-AF6E49B4E7F4}"/>
              </a:ext>
            </a:extLst>
          </p:cNvPr>
          <p:cNvSpPr>
            <a:spLocks xmlns:a="http://schemas.openxmlformats.org/drawingml/2006/main" noGrp="1"/>
          </p:cNvSpPr>
          <p:nvPr/>
        </p:nvSpPr>
        <p:spPr>
          <a:xfrm xmlns:a="http://schemas.openxmlformats.org/drawingml/2006/main">
            <a:off x="9620250" y="37719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718"/>
          </a:bodyPr>
          <a:lstStyle xmlns:a="http://schemas.openxmlformats.org/drawingml/2006/main"/>
          <a:p xmlns:a="http://schemas.openxmlformats.org/drawingml/2006/main">
            <a:pPr algn="r">
              <a:lnSpc>
                <a:spcPct val="104000"/>
              </a:lnSpc>
              <a:buNone/>
              <a:defRPr sz="1500" b="1">
                <a:solidFill>
                  <a:srgbClr val="F15B64"/>
                </a:solidFill>
                <a:latin typeface="Arial"/>
                <a:ea typeface="Arial"/>
                <a:cs typeface="Arial"/>
              </a:defRPr>
            </a:pPr>
            <a:r>
              <a:rPr sz="1500" b="1">
                <a:solidFill>
                  <a:srgbClr val="F15B64"/>
                </a:solidFill>
                <a:latin typeface="Arial"/>
                <a:ea typeface="Arial"/>
                <a:cs typeface="Arial"/>
              </a:rPr>
              <a:t>0.404 → 0.756</a:t>
            </a:r>
          </a:p>
        </p:txBody>
      </p:sp>
      <p:sp>
        <p:nvSpPr>
          <p:cNvPr id="15" name="">
            <a:extLst xmlns:a="http://schemas.openxmlformats.org/drawingml/2006/main">
              <a:ext uri="{FF2B5EF4-FFF2-40B4-BE49-F238E27FC236}">
                <a16:creationId xmlns:a16="http://schemas.microsoft.com/office/drawing/2014/main" id="{C3F5221B-7313-412E-9738-E6461BBEC4E2}"/>
              </a:ext>
            </a:extLst>
          </p:cNvPr>
          <p:cNvSpPr>
            <a:spLocks xmlns:a="http://schemas.openxmlformats.org/drawingml/2006/main" noGrp="1"/>
          </p:cNvSpPr>
          <p:nvPr/>
        </p:nvSpPr>
        <p:spPr>
          <a:xfrm xmlns:a="http://schemas.openxmlformats.org/drawingml/2006/main">
            <a:off x="9620250" y="40576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239"/>
          </a:bodyPr>
          <a:lstStyle xmlns:a="http://schemas.openxmlformats.org/drawingml/2006/main"/>
          <a:p xmlns:a="http://schemas.openxmlformats.org/drawingml/2006/main">
            <a:pPr algn="r">
              <a:lnSpc>
                <a:spcPct val="104000"/>
              </a:lnSpc>
              <a:buNone/>
              <a:defRPr sz="1125" b="0">
                <a:solidFill>
                  <a:srgbClr val="687086"/>
                </a:solidFill>
                <a:latin typeface="Arial"/>
                <a:ea typeface="Arial"/>
                <a:cs typeface="Arial"/>
              </a:defRPr>
            </a:pPr>
            <a:r>
              <a:rPr sz="1125" b="0">
                <a:solidFill>
                  <a:srgbClr val="687086"/>
                </a:solidFill>
                <a:latin typeface="Arial"/>
                <a:ea typeface="Arial"/>
                <a:cs typeface="Arial"/>
              </a:rPr>
              <a:t>q = 0.0039</a:t>
            </a:r>
          </a:p>
        </p:txBody>
      </p:sp>
      <p:sp>
        <p:nvSpPr>
          <p:cNvPr id="16" name="">
            <a:extLst xmlns:a="http://schemas.openxmlformats.org/drawingml/2006/main">
              <a:ext uri="{FF2B5EF4-FFF2-40B4-BE49-F238E27FC236}">
                <a16:creationId xmlns:a16="http://schemas.microsoft.com/office/drawing/2014/main" id="{18952CE2-19FC-4A80-8F3E-2A29C2DB109B}"/>
              </a:ext>
            </a:extLst>
          </p:cNvPr>
          <p:cNvSpPr>
            <a:spLocks xmlns:a="http://schemas.openxmlformats.org/drawingml/2006/main" noGrp="1"/>
          </p:cNvSpPr>
          <p:nvPr/>
        </p:nvSpPr>
        <p:spPr>
          <a:xfrm xmlns:a="http://schemas.openxmlformats.org/drawingml/2006/main">
            <a:off x="8763000" y="47625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6C3ED9"/>
                </a:solidFill>
                <a:latin typeface="Arial"/>
                <a:ea typeface="Arial"/>
                <a:cs typeface="Arial"/>
              </a:defRPr>
            </a:pPr>
            <a:r>
              <a:rPr sz="1350" b="1">
                <a:solidFill>
                  <a:srgbClr val="6C3ED9"/>
                </a:solidFill>
                <a:latin typeface="Arial"/>
                <a:ea typeface="Arial"/>
                <a:cs typeface="Arial"/>
              </a:rPr>
              <a:t>Hardest subset</a:t>
            </a:r>
          </a:p>
        </p:txBody>
      </p:sp>
      <p:sp>
        <p:nvSpPr>
          <p:cNvPr id="17" name="">
            <a:extLst xmlns:a="http://schemas.openxmlformats.org/drawingml/2006/main">
              <a:ext uri="{FF2B5EF4-FFF2-40B4-BE49-F238E27FC236}">
                <a16:creationId xmlns:a16="http://schemas.microsoft.com/office/drawing/2014/main" id="{9028F43F-41A6-4BB1-B2D2-4994FA7785F5}"/>
              </a:ext>
            </a:extLst>
          </p:cNvPr>
          <p:cNvSpPr>
            <a:spLocks xmlns:a="http://schemas.openxmlformats.org/drawingml/2006/main" noGrp="1"/>
          </p:cNvSpPr>
          <p:nvPr/>
        </p:nvSpPr>
        <p:spPr>
          <a:xfrm xmlns:a="http://schemas.openxmlformats.org/drawingml/2006/main">
            <a:off x="8763000" y="5105400"/>
            <a:ext cx="257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52"/>
          </a:bodyPr>
          <a:lstStyle xmlns:a="http://schemas.openxmlformats.org/drawingml/2006/main"/>
          <a:p xmlns:a="http://schemas.openxmlformats.org/drawingml/2006/main">
            <a:pPr algn="l">
              <a:lnSpc>
                <a:spcPct val="104000"/>
              </a:lnSpc>
              <a:buNone/>
              <a:defRPr sz="1650" b="1">
                <a:solidFill>
                  <a:srgbClr val="17223B"/>
                </a:solidFill>
                <a:latin typeface="Arial"/>
                <a:ea typeface="Arial"/>
                <a:cs typeface="Arial"/>
              </a:defRPr>
            </a:pPr>
            <a:r>
              <a:rPr sz="1650" b="1">
                <a:solidFill>
                  <a:srgbClr val="17223B"/>
                </a:solidFill>
                <a:latin typeface="Arial"/>
                <a:ea typeface="Arial"/>
                <a:cs typeface="Arial"/>
              </a:rPr>
              <a:t>HLA-DR discordant cells:</a:t>
            </a:r>
          </a:p>
          <a:p xmlns:a="http://schemas.openxmlformats.org/drawingml/2006/main">
            <a:pPr algn="l">
              <a:lnSpc>
                <a:spcPct val="104000"/>
              </a:lnSpc>
              <a:buNone/>
              <a:defRPr sz="1650" b="1">
                <a:solidFill>
                  <a:srgbClr val="17223B"/>
                </a:solidFill>
                <a:latin typeface="Arial"/>
                <a:ea typeface="Arial"/>
                <a:cs typeface="Arial"/>
              </a:defRPr>
            </a:pPr>
            <a:r>
              <a:rPr sz="1650" b="1">
                <a:solidFill>
                  <a:srgbClr val="17223B"/>
                </a:solidFill>
                <a:latin typeface="Arial"/>
                <a:ea typeface="Arial"/>
                <a:cs typeface="Arial"/>
              </a:rPr>
              <a:t>−0.175 → 0.637</a:t>
            </a:r>
          </a:p>
          <a:p xmlns:a="http://schemas.openxmlformats.org/drawingml/2006/main">
            <a:pPr algn="l">
              <a:lnSpc>
                <a:spcPct val="104000"/>
              </a:lnSpc>
              <a:buNone/>
              <a:defRPr sz="1650" b="1">
                <a:solidFill>
                  <a:srgbClr val="17223B"/>
                </a:solidFill>
                <a:latin typeface="Arial"/>
                <a:ea typeface="Arial"/>
                <a:cs typeface="Arial"/>
              </a:defRPr>
            </a:pPr>
            <a:r>
              <a:rPr sz="1650" b="1">
                <a:solidFill>
                  <a:srgbClr val="17223B"/>
                </a:solidFill>
                <a:latin typeface="Arial"/>
                <a:ea typeface="Arial"/>
                <a:cs typeface="Arial"/>
              </a:rPr>
              <a:t>q = 0.0117</a:t>
            </a:r>
          </a:p>
        </p:txBody>
      </p:sp>
    </p:spTree>
    <p:extLst>
      <p:ext uri="{BB962C8B-B14F-4D97-AF65-F5344CB8AC3E}">
        <p14:creationId xmlns:p14="http://schemas.microsoft.com/office/powerpoint/2010/main" val="16932273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6B85C8-42E9-4AA4-998B-63ECAF572736}"/>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WHY IT WORKS</a:t>
            </a:r>
          </a:p>
        </p:txBody>
      </p:sp>
      <p:sp>
        <p:nvSpPr>
          <p:cNvPr id="2" name="">
            <a:extLst xmlns:a="http://schemas.openxmlformats.org/drawingml/2006/main">
              <a:ext uri="{FF2B5EF4-FFF2-40B4-BE49-F238E27FC236}">
                <a16:creationId xmlns:a16="http://schemas.microsoft.com/office/drawing/2014/main" id="{C3347079-4AE6-42F5-9706-0E008BF91575}"/>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Protein context rescues markers when RNA is misleading</a:t>
            </a:r>
          </a:p>
        </p:txBody>
      </p:sp>
      <p:sp>
        <p:nvSpPr>
          <p:cNvPr id="3" name="">
            <a:extLst xmlns:a="http://schemas.openxmlformats.org/drawingml/2006/main">
              <a:ext uri="{FF2B5EF4-FFF2-40B4-BE49-F238E27FC236}">
                <a16:creationId xmlns:a16="http://schemas.microsoft.com/office/drawing/2014/main" id="{366E2CB7-5011-45F8-AC69-52B2CAD7FECC}"/>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952716-E2C2-432E-A110-551C8F2B462B}"/>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f12d967216740a0"/>
          <a:stretch xmlns:a="http://schemas.openxmlformats.org/drawingml/2006/main"/>
        </p:blipFill>
        <p:spPr>
          <a:xfrm xmlns:a="http://schemas.openxmlformats.org/drawingml/2006/main">
            <a:off x="789200" y="1428750"/>
            <a:ext cx="10461201"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DBCBC60-9E54-4A1C-8804-3C810713C178}"/>
              </a:ext>
            </a:extLst>
          </p:cNvPr>
          <p:cNvSpPr>
            <a:spLocks xmlns:a="http://schemas.openxmlformats.org/drawingml/2006/main" noGrp="1"/>
          </p:cNvSpPr>
          <p:nvPr/>
        </p:nvSpPr>
        <p:spPr>
          <a:xfrm xmlns:a="http://schemas.openxmlformats.org/drawingml/2006/main">
            <a:off x="876300" y="5600700"/>
            <a:ext cx="10439400" cy="723900"/>
          </a:xfrm>
          <a:prstGeom xmlns:a="http://schemas.openxmlformats.org/drawingml/2006/main" prst="roundRect">
            <a:avLst>
              <a:gd name="adj" fmla="val 15789"/>
            </a:avLst>
          </a:prstGeom>
          <a:solidFill xmlns:a="http://schemas.openxmlformats.org/drawingml/2006/main">
            <a:srgbClr val="DDF3F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42BE77F-3DA3-4869-9277-A1458921A574}"/>
              </a:ext>
            </a:extLst>
          </p:cNvPr>
          <p:cNvSpPr>
            <a:spLocks xmlns:a="http://schemas.openxmlformats.org/drawingml/2006/main" noGrp="1"/>
          </p:cNvSpPr>
          <p:nvPr/>
        </p:nvSpPr>
        <p:spPr>
          <a:xfrm xmlns:a="http://schemas.openxmlformats.org/drawingml/2006/main">
            <a:off x="1143000" y="57721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898"/>
          </a:bodyPr>
          <a:lstStyle xmlns:a="http://schemas.openxmlformats.org/drawingml/2006/main"/>
          <a:p xmlns:a="http://schemas.openxmlformats.org/drawingml/2006/main">
            <a:pPr algn="ctr">
              <a:lnSpc>
                <a:spcPct val="104000"/>
              </a:lnSpc>
              <a:buNone/>
              <a:defRPr sz="1650" b="1">
                <a:solidFill>
                  <a:srgbClr val="223A69"/>
                </a:solidFill>
                <a:latin typeface="Arial"/>
                <a:ea typeface="Arial"/>
                <a:cs typeface="Arial"/>
              </a:defRPr>
            </a:pPr>
            <a:r>
              <a:rPr sz="1650" b="1">
                <a:solidFill>
                  <a:srgbClr val="223A69"/>
                </a:solidFill>
                <a:latin typeface="Arial"/>
                <a:ea typeface="Arial"/>
                <a:cs typeface="Arial"/>
              </a:rPr>
              <a:t>RNA proxy alone fails in discordant cells  →  the other surface proteins preserve activation-state information</a:t>
            </a:r>
          </a:p>
        </p:txBody>
      </p:sp>
    </p:spTree>
    <p:extLst>
      <p:ext uri="{BB962C8B-B14F-4D97-AF65-F5344CB8AC3E}">
        <p14:creationId xmlns:p14="http://schemas.microsoft.com/office/powerpoint/2010/main" val="5241803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898A38-1A21-4FFE-B563-79C217D7C6C5}"/>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EXPERIMENT 2 RESULT</a:t>
            </a:r>
          </a:p>
        </p:txBody>
      </p:sp>
      <p:sp>
        <p:nvSpPr>
          <p:cNvPr id="2" name="">
            <a:extLst xmlns:a="http://schemas.openxmlformats.org/drawingml/2006/main">
              <a:ext uri="{FF2B5EF4-FFF2-40B4-BE49-F238E27FC236}">
                <a16:creationId xmlns:a16="http://schemas.microsoft.com/office/drawing/2014/main" id="{DCA2BF3F-9F76-4A0F-8C16-C8605E8D1245}"/>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The result transfers to unseen PD-L1 perturbations</a:t>
            </a:r>
          </a:p>
        </p:txBody>
      </p:sp>
      <p:sp>
        <p:nvSpPr>
          <p:cNvPr id="3" name="">
            <a:extLst xmlns:a="http://schemas.openxmlformats.org/drawingml/2006/main">
              <a:ext uri="{FF2B5EF4-FFF2-40B4-BE49-F238E27FC236}">
                <a16:creationId xmlns:a16="http://schemas.microsoft.com/office/drawing/2014/main" id="{870C888A-9068-44C6-B8F2-3F088BAAB94A}"/>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638E77-4ACC-4762-97CC-F40808BE4176}"/>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09</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b1be33f37e243bd"/>
          <a:stretch xmlns:a="http://schemas.openxmlformats.org/drawingml/2006/main"/>
        </p:blipFill>
        <p:spPr>
          <a:xfrm xmlns:a="http://schemas.openxmlformats.org/drawingml/2006/main">
            <a:off x="419100" y="2071279"/>
            <a:ext cx="7981950" cy="311549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8829FA3-2BB5-4B9D-9A5A-600115EF5C46}"/>
              </a:ext>
            </a:extLst>
          </p:cNvPr>
          <p:cNvSpPr>
            <a:spLocks xmlns:a="http://schemas.openxmlformats.org/drawingml/2006/main" noGrp="1"/>
          </p:cNvSpPr>
          <p:nvPr/>
        </p:nvSpPr>
        <p:spPr>
          <a:xfrm xmlns:a="http://schemas.openxmlformats.org/drawingml/2006/main">
            <a:off x="8801100" y="16764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2550" b="1">
                <a:solidFill>
                  <a:srgbClr val="F15B64"/>
                </a:solidFill>
                <a:latin typeface="Arial"/>
                <a:ea typeface="Arial"/>
                <a:cs typeface="Arial"/>
              </a:defRPr>
            </a:pPr>
            <a:r>
              <a:rPr sz="2550" b="1">
                <a:solidFill>
                  <a:srgbClr val="F15B64"/>
                </a:solidFill>
                <a:latin typeface="Arial"/>
                <a:ea typeface="Arial"/>
                <a:cs typeface="Arial"/>
              </a:rPr>
              <a:t>ρ = 0.879</a:t>
            </a:r>
          </a:p>
        </p:txBody>
      </p:sp>
      <p:sp>
        <p:nvSpPr>
          <p:cNvPr id="7" name="">
            <a:extLst xmlns:a="http://schemas.openxmlformats.org/drawingml/2006/main">
              <a:ext uri="{FF2B5EF4-FFF2-40B4-BE49-F238E27FC236}">
                <a16:creationId xmlns:a16="http://schemas.microsoft.com/office/drawing/2014/main" id="{16629BDB-8789-4D69-9B13-5EEEC53A1357}"/>
              </a:ext>
            </a:extLst>
          </p:cNvPr>
          <p:cNvSpPr>
            <a:spLocks xmlns:a="http://schemas.openxmlformats.org/drawingml/2006/main" noGrp="1"/>
          </p:cNvSpPr>
          <p:nvPr/>
        </p:nvSpPr>
        <p:spPr>
          <a:xfrm xmlns:a="http://schemas.openxmlformats.org/drawingml/2006/main">
            <a:off x="8801100" y="22098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812"/>
          </a:bodyPr>
          <a:lstStyle xmlns:a="http://schemas.openxmlformats.org/drawingml/2006/main"/>
          <a:p xmlns:a="http://schemas.openxmlformats.org/drawingml/2006/main">
            <a:pPr algn="ctr">
              <a:lnSpc>
                <a:spcPct val="104000"/>
              </a:lnSpc>
              <a:buNone/>
              <a:defRPr sz="1350" b="1">
                <a:solidFill>
                  <a:srgbClr val="687086"/>
                </a:solidFill>
                <a:latin typeface="Arial"/>
                <a:ea typeface="Arial"/>
                <a:cs typeface="Arial"/>
              </a:defRPr>
            </a:pPr>
            <a:r>
              <a:rPr sz="1350" b="1">
                <a:solidFill>
                  <a:srgbClr val="687086"/>
                </a:solidFill>
                <a:latin typeface="Arial"/>
                <a:ea typeface="Arial"/>
                <a:cs typeface="Arial"/>
              </a:rPr>
              <a:t>FusionVI-X effect ranking</a:t>
            </a:r>
          </a:p>
        </p:txBody>
      </p:sp>
      <p:sp>
        <p:nvSpPr>
          <p:cNvPr id="8" name="">
            <a:extLst xmlns:a="http://schemas.openxmlformats.org/drawingml/2006/main">
              <a:ext uri="{FF2B5EF4-FFF2-40B4-BE49-F238E27FC236}">
                <a16:creationId xmlns:a16="http://schemas.microsoft.com/office/drawing/2014/main" id="{2F142CEC-16ED-4D6E-9B45-80CF4F04A66A}"/>
              </a:ext>
            </a:extLst>
          </p:cNvPr>
          <p:cNvSpPr>
            <a:spLocks xmlns:a="http://schemas.openxmlformats.org/drawingml/2006/main" noGrp="1"/>
          </p:cNvSpPr>
          <p:nvPr/>
        </p:nvSpPr>
        <p:spPr>
          <a:xfrm xmlns:a="http://schemas.openxmlformats.org/drawingml/2006/main">
            <a:off x="8801100" y="310515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623"/>
          </a:bodyPr>
          <a:lstStyle xmlns:a="http://schemas.openxmlformats.org/drawingml/2006/main"/>
          <a:p xmlns:a="http://schemas.openxmlformats.org/drawingml/2006/main">
            <a:pPr algn="ctr">
              <a:lnSpc>
                <a:spcPct val="104000"/>
              </a:lnSpc>
              <a:buNone/>
              <a:defRPr sz="2850" b="1">
                <a:solidFill>
                  <a:srgbClr val="0D8A9A"/>
                </a:solidFill>
                <a:latin typeface="Arial"/>
                <a:ea typeface="Arial"/>
                <a:cs typeface="Arial"/>
              </a:defRPr>
            </a:pPr>
            <a:r>
              <a:rPr sz="2850" b="1">
                <a:solidFill>
                  <a:srgbClr val="0D8A9A"/>
                </a:solidFill>
                <a:latin typeface="Arial"/>
                <a:ea typeface="Arial"/>
                <a:cs typeface="Arial"/>
              </a:rPr>
              <a:t>84%</a:t>
            </a:r>
          </a:p>
        </p:txBody>
      </p:sp>
      <p:sp>
        <p:nvSpPr>
          <p:cNvPr id="9" name="">
            <a:extLst xmlns:a="http://schemas.openxmlformats.org/drawingml/2006/main">
              <a:ext uri="{FF2B5EF4-FFF2-40B4-BE49-F238E27FC236}">
                <a16:creationId xmlns:a16="http://schemas.microsoft.com/office/drawing/2014/main" id="{C69D21B0-F83E-47B0-B84B-1EC60EA15503}"/>
              </a:ext>
            </a:extLst>
          </p:cNvPr>
          <p:cNvSpPr>
            <a:spLocks xmlns:a="http://schemas.openxmlformats.org/drawingml/2006/main" noGrp="1"/>
          </p:cNvSpPr>
          <p:nvPr/>
        </p:nvSpPr>
        <p:spPr>
          <a:xfrm xmlns:a="http://schemas.openxmlformats.org/drawingml/2006/main">
            <a:off x="8801100" y="3638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812"/>
          </a:bodyPr>
          <a:lstStyle xmlns:a="http://schemas.openxmlformats.org/drawingml/2006/main"/>
          <a:p xmlns:a="http://schemas.openxmlformats.org/drawingml/2006/main">
            <a:pPr algn="ctr">
              <a:lnSpc>
                <a:spcPct val="104000"/>
              </a:lnSpc>
              <a:buNone/>
              <a:defRPr sz="1350" b="1">
                <a:solidFill>
                  <a:srgbClr val="687086"/>
                </a:solidFill>
                <a:latin typeface="Arial"/>
                <a:ea typeface="Arial"/>
                <a:cs typeface="Arial"/>
              </a:defRPr>
            </a:pPr>
            <a:r>
              <a:rPr sz="1350" b="1">
                <a:solidFill>
                  <a:srgbClr val="687086"/>
                </a:solidFill>
                <a:latin typeface="Arial"/>
                <a:ea typeface="Arial"/>
                <a:cs typeface="Arial"/>
              </a:rPr>
              <a:t>effect direction correct</a:t>
            </a:r>
          </a:p>
        </p:txBody>
      </p:sp>
      <p:sp>
        <p:nvSpPr>
          <p:cNvPr id="10" name="">
            <a:extLst xmlns:a="http://schemas.openxmlformats.org/drawingml/2006/main">
              <a:ext uri="{FF2B5EF4-FFF2-40B4-BE49-F238E27FC236}">
                <a16:creationId xmlns:a16="http://schemas.microsoft.com/office/drawing/2014/main" id="{34CABD36-ECF5-4E44-B0C7-43D345F545A2}"/>
              </a:ext>
            </a:extLst>
          </p:cNvPr>
          <p:cNvSpPr>
            <a:spLocks xmlns:a="http://schemas.openxmlformats.org/drawingml/2006/main" noGrp="1"/>
          </p:cNvSpPr>
          <p:nvPr/>
        </p:nvSpPr>
        <p:spPr>
          <a:xfrm xmlns:a="http://schemas.openxmlformats.org/drawingml/2006/main">
            <a:off x="8705850" y="4476750"/>
            <a:ext cx="2667000" cy="1200150"/>
          </a:xfrm>
          <a:prstGeom xmlns:a="http://schemas.openxmlformats.org/drawingml/2006/main" prst="roundRect">
            <a:avLst>
              <a:gd name="adj" fmla="val 9524"/>
            </a:avLst>
          </a:prstGeom>
          <a:solidFill xmlns:a="http://schemas.openxmlformats.org/drawingml/2006/main">
            <a:srgbClr val="FFE7E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41212B8-59F7-468B-B31F-75B410A4DBE8}"/>
              </a:ext>
            </a:extLst>
          </p:cNvPr>
          <p:cNvSpPr>
            <a:spLocks xmlns:a="http://schemas.openxmlformats.org/drawingml/2006/main" noGrp="1"/>
          </p:cNvSpPr>
          <p:nvPr/>
        </p:nvSpPr>
        <p:spPr>
          <a:xfrm xmlns:a="http://schemas.openxmlformats.org/drawingml/2006/main">
            <a:off x="8896350" y="46291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006"/>
          </a:bodyPr>
          <a:lstStyle xmlns:a="http://schemas.openxmlformats.org/drawingml/2006/main"/>
          <a:p xmlns:a="http://schemas.openxmlformats.org/drawingml/2006/main">
            <a:pPr algn="ctr">
              <a:lnSpc>
                <a:spcPct val="104000"/>
              </a:lnSpc>
              <a:buNone/>
              <a:defRPr sz="1350" b="1">
                <a:solidFill>
                  <a:srgbClr val="F15B64"/>
                </a:solidFill>
                <a:latin typeface="Arial"/>
                <a:ea typeface="Arial"/>
                <a:cs typeface="Arial"/>
              </a:defRPr>
            </a:pPr>
            <a:r>
              <a:rPr sz="1350" b="1">
                <a:solidFill>
                  <a:srgbClr val="F15B64"/>
                </a:solidFill>
                <a:latin typeface="Arial"/>
                <a:ea typeface="Arial"/>
                <a:cs typeface="Arial"/>
              </a:rPr>
              <a:t>Useful failure</a:t>
            </a:r>
          </a:p>
        </p:txBody>
      </p:sp>
      <p:sp>
        <p:nvSpPr>
          <p:cNvPr id="12" name="">
            <a:extLst xmlns:a="http://schemas.openxmlformats.org/drawingml/2006/main">
              <a:ext uri="{FF2B5EF4-FFF2-40B4-BE49-F238E27FC236}">
                <a16:creationId xmlns:a16="http://schemas.microsoft.com/office/drawing/2014/main" id="{881A6387-A4E6-4C1D-B374-3A58C5FCA620}"/>
              </a:ext>
            </a:extLst>
          </p:cNvPr>
          <p:cNvSpPr>
            <a:spLocks xmlns:a="http://schemas.openxmlformats.org/drawingml/2006/main" noGrp="1"/>
          </p:cNvSpPr>
          <p:nvPr/>
        </p:nvSpPr>
        <p:spPr>
          <a:xfrm xmlns:a="http://schemas.openxmlformats.org/drawingml/2006/main">
            <a:off x="8896350" y="497205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647"/>
          </a:bodyPr>
          <a:lstStyle xmlns:a="http://schemas.openxmlformats.org/drawingml/2006/main"/>
          <a:p xmlns:a="http://schemas.openxmlformats.org/drawingml/2006/main">
            <a:pPr algn="ctr">
              <a:lnSpc>
                <a:spcPct val="104000"/>
              </a:lnSpc>
              <a:buNone/>
              <a:defRPr sz="1350" b="1">
                <a:solidFill>
                  <a:srgbClr val="17223B"/>
                </a:solidFill>
                <a:latin typeface="Arial"/>
                <a:ea typeface="Arial"/>
                <a:cs typeface="Arial"/>
              </a:defRPr>
            </a:pPr>
            <a:r>
              <a:rPr sz="1350" b="1">
                <a:solidFill>
                  <a:srgbClr val="17223B"/>
                </a:solidFill>
                <a:latin typeface="Arial"/>
                <a:ea typeface="Arial"/>
                <a:cs typeface="Arial"/>
              </a:rPr>
              <a:t>CMTM6 lowers surface PD-L1, but RNA and the model miss it.</a:t>
            </a:r>
          </a:p>
        </p:txBody>
      </p:sp>
      <p:sp>
        <p:nvSpPr>
          <p:cNvPr id="13" name="">
            <a:extLst xmlns:a="http://schemas.openxmlformats.org/drawingml/2006/main">
              <a:ext uri="{FF2B5EF4-FFF2-40B4-BE49-F238E27FC236}">
                <a16:creationId xmlns:a16="http://schemas.microsoft.com/office/drawing/2014/main" id="{7FAA8BE1-5EEF-490F-84C6-0CB45B7389D7}"/>
              </a:ext>
            </a:extLst>
          </p:cNvPr>
          <p:cNvSpPr>
            <a:spLocks xmlns:a="http://schemas.openxmlformats.org/drawingml/2006/main" noGrp="1"/>
          </p:cNvSpPr>
          <p:nvPr/>
        </p:nvSpPr>
        <p:spPr>
          <a:xfrm xmlns:a="http://schemas.openxmlformats.org/drawingml/2006/main">
            <a:off x="685800" y="61150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300"/>
          </a:bodyPr>
          <a:lstStyle xmlns:a="http://schemas.openxmlformats.org/drawingml/2006/main"/>
          <a:p xmlns:a="http://schemas.openxmlformats.org/drawingml/2006/main">
            <a:pPr algn="l">
              <a:lnSpc>
                <a:spcPct val="104000"/>
              </a:lnSpc>
              <a:buNone/>
              <a:defRPr sz="1275" b="1">
                <a:solidFill>
                  <a:srgbClr val="223A69"/>
                </a:solidFill>
                <a:latin typeface="Arial"/>
                <a:ea typeface="Arial"/>
                <a:cs typeface="Arial"/>
              </a:defRPr>
            </a:pPr>
            <a:r>
              <a:rPr sz="1275" b="1">
                <a:solidFill>
                  <a:srgbClr val="223A69"/>
                </a:solidFill>
                <a:latin typeface="Arial"/>
                <a:ea typeface="Arial"/>
                <a:cs typeface="Arial"/>
              </a:rPr>
              <a:t>FusionVI-X vs totalVI-X: median target error reduction 0.0042; p = 0.042</a:t>
            </a:r>
          </a:p>
        </p:txBody>
      </p:sp>
    </p:spTree>
    <p:extLst>
      <p:ext uri="{BB962C8B-B14F-4D97-AF65-F5344CB8AC3E}">
        <p14:creationId xmlns:p14="http://schemas.microsoft.com/office/powerpoint/2010/main" val="652865722"/>
      </p:ext>
    </p:extLst>
  </p:cSld>
</p:sld>
</file>

<file path=ppt/slides/slide10.xml><?xml version="1.0" encoding="utf-8"?>
<p:sld xmlns:p="http://schemas.openxmlformats.org/presentationml/2006/main">
  <p:cSld>
    <p:bg>
      <p:bgPr>
        <a:solidFill xmlns:a="http://schemas.openxmlformats.org/drawingml/2006/main">
          <a:srgbClr val="17223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1D203C-D3CC-4531-A761-F969C19ACA01}"/>
              </a:ext>
            </a:extLst>
          </p:cNvPr>
          <p:cNvSpPr>
            <a:spLocks xmlns:a="http://schemas.openxmlformats.org/drawingml/2006/main" noGrp="1"/>
          </p:cNvSpPr>
          <p:nvPr/>
        </p:nvSpPr>
        <p:spPr>
          <a:xfrm xmlns:a="http://schemas.openxmlformats.org/drawingml/2006/main">
            <a:off x="685800" y="4572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923"/>
          </a:bodyPr>
          <a:lstStyle xmlns:a="http://schemas.openxmlformats.org/drawingml/2006/main"/>
          <a:p xmlns:a="http://schemas.openxmlformats.org/drawingml/2006/main">
            <a:pPr algn="l">
              <a:lnSpc>
                <a:spcPct val="104000"/>
              </a:lnSpc>
              <a:buNone/>
              <a:defRPr sz="1125" b="1">
                <a:solidFill>
                  <a:srgbClr val="DDF3F2"/>
                </a:solidFill>
                <a:latin typeface="Arial"/>
                <a:ea typeface="Arial"/>
                <a:cs typeface="Arial"/>
              </a:defRPr>
            </a:pPr>
            <a:r>
              <a:rPr sz="1125" b="1">
                <a:solidFill>
                  <a:srgbClr val="DDF3F2"/>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F3B633AC-7BF5-422C-BE5F-853550CB6D42}"/>
              </a:ext>
            </a:extLst>
          </p:cNvPr>
          <p:cNvSpPr>
            <a:spLocks xmlns:a="http://schemas.openxmlformats.org/drawingml/2006/main" noGrp="1"/>
          </p:cNvSpPr>
          <p:nvPr/>
        </p:nvSpPr>
        <p:spPr>
          <a:xfrm xmlns:a="http://schemas.openxmlformats.org/drawingml/2006/main">
            <a:off x="685800" y="89535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3000" b="1">
                <a:solidFill>
                  <a:srgbClr val="FFFFFF"/>
                </a:solidFill>
                <a:latin typeface="Arial"/>
                <a:ea typeface="Arial"/>
                <a:cs typeface="Arial"/>
              </a:defRPr>
            </a:pPr>
            <a:r>
              <a:rPr sz="3000" b="1">
                <a:solidFill>
                  <a:srgbClr val="FFFFFF"/>
                </a:solidFill>
                <a:latin typeface="Arial"/>
                <a:ea typeface="Arial"/>
                <a:cs typeface="Arial"/>
              </a:rPr>
              <a:t>Cross-modal context generalizes across two tests</a:t>
            </a:r>
          </a:p>
        </p:txBody>
      </p:sp>
      <p:sp>
        <p:nvSpPr>
          <p:cNvPr id="3" name="">
            <a:extLst xmlns:a="http://schemas.openxmlformats.org/drawingml/2006/main">
              <a:ext uri="{FF2B5EF4-FFF2-40B4-BE49-F238E27FC236}">
                <a16:creationId xmlns:a16="http://schemas.microsoft.com/office/drawing/2014/main" id="{88C03A71-F41F-47A1-A2FF-9A0CB3C89937}"/>
              </a:ext>
            </a:extLst>
          </p:cNvPr>
          <p:cNvSpPr>
            <a:spLocks xmlns:a="http://schemas.openxmlformats.org/drawingml/2006/main" noGrp="1"/>
          </p:cNvSpPr>
          <p:nvPr/>
        </p:nvSpPr>
        <p:spPr>
          <a:xfrm xmlns:a="http://schemas.openxmlformats.org/drawingml/2006/main">
            <a:off x="685800" y="1657350"/>
            <a:ext cx="9525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34F649-CBAA-4DCF-9CDE-961CAF80CC17}"/>
              </a:ext>
            </a:extLst>
          </p:cNvPr>
          <p:cNvSpPr>
            <a:spLocks xmlns:a="http://schemas.openxmlformats.org/drawingml/2006/main" noGrp="1"/>
          </p:cNvSpPr>
          <p:nvPr/>
        </p:nvSpPr>
        <p:spPr>
          <a:xfrm xmlns:a="http://schemas.openxmlformats.org/drawingml/2006/main">
            <a:off x="685800" y="2095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DDF3F2"/>
                </a:solidFill>
                <a:latin typeface="Arial"/>
                <a:ea typeface="Arial"/>
                <a:cs typeface="Arial"/>
              </a:defRPr>
            </a:pPr>
            <a:r>
              <a:rPr sz="1350" b="1">
                <a:solidFill>
                  <a:srgbClr val="DDF3F2"/>
                </a:solidFill>
                <a:latin typeface="Arial"/>
                <a:ea typeface="Arial"/>
                <a:cs typeface="Arial"/>
              </a:rPr>
              <a:t>What worked</a:t>
            </a:r>
          </a:p>
        </p:txBody>
      </p:sp>
      <p:sp>
        <p:nvSpPr>
          <p:cNvPr id="5" name="">
            <a:extLst xmlns:a="http://schemas.openxmlformats.org/drawingml/2006/main">
              <a:ext uri="{FF2B5EF4-FFF2-40B4-BE49-F238E27FC236}">
                <a16:creationId xmlns:a16="http://schemas.microsoft.com/office/drawing/2014/main" id="{9EE782C9-4F14-4E55-A98D-54F92A10C439}"/>
              </a:ext>
            </a:extLst>
          </p:cNvPr>
          <p:cNvSpPr>
            <a:spLocks xmlns:a="http://schemas.openxmlformats.org/drawingml/2006/main" noGrp="1"/>
          </p:cNvSpPr>
          <p:nvPr/>
        </p:nvSpPr>
        <p:spPr>
          <a:xfrm xmlns:a="http://schemas.openxmlformats.org/drawingml/2006/main">
            <a:off x="685800" y="2476500"/>
            <a:ext cx="4476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844"/>
          </a:bodyPr>
          <a:lstStyle xmlns:a="http://schemas.openxmlformats.org/drawingml/2006/main"/>
          <a:p xmlns:a="http://schemas.openxmlformats.org/drawingml/2006/main">
            <a:pPr algn="l">
              <a:lnSpc>
                <a:spcPct val="104000"/>
              </a:lnSpc>
              <a:buNone/>
              <a:defRPr sz="2025" b="1">
                <a:solidFill>
                  <a:srgbClr val="FFFFFF"/>
                </a:solidFill>
                <a:latin typeface="Arial"/>
                <a:ea typeface="Arial"/>
                <a:cs typeface="Arial"/>
              </a:defRPr>
            </a:pPr>
            <a:r>
              <a:rPr sz="2025" b="1">
                <a:solidFill>
                  <a:srgbClr val="FFFFFF"/>
                </a:solidFill>
                <a:latin typeface="Arial"/>
                <a:ea typeface="Arial"/>
                <a:cs typeface="Arial"/>
              </a:rPr>
              <a:t>FusionVI-X improved CD25, CD69 and HLA-DR in unseen donors, then recovered PD-L1 effects from unseen CRISPR targets.</a:t>
            </a:r>
          </a:p>
        </p:txBody>
      </p:sp>
      <p:sp>
        <p:nvSpPr>
          <p:cNvPr id="6" name="">
            <a:extLst xmlns:a="http://schemas.openxmlformats.org/drawingml/2006/main">
              <a:ext uri="{FF2B5EF4-FFF2-40B4-BE49-F238E27FC236}">
                <a16:creationId xmlns:a16="http://schemas.microsoft.com/office/drawing/2014/main" id="{856BAE84-AC05-4BAF-BF05-5ABE50BDA3EC}"/>
              </a:ext>
            </a:extLst>
          </p:cNvPr>
          <p:cNvSpPr>
            <a:spLocks xmlns:a="http://schemas.openxmlformats.org/drawingml/2006/main" noGrp="1"/>
          </p:cNvSpPr>
          <p:nvPr/>
        </p:nvSpPr>
        <p:spPr>
          <a:xfrm xmlns:a="http://schemas.openxmlformats.org/drawingml/2006/main">
            <a:off x="685800" y="40386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F15B64"/>
                </a:solidFill>
                <a:latin typeface="Arial"/>
                <a:ea typeface="Arial"/>
                <a:cs typeface="Arial"/>
              </a:defRPr>
            </a:pPr>
            <a:r>
              <a:rPr sz="1350" b="1">
                <a:solidFill>
                  <a:srgbClr val="F15B64"/>
                </a:solidFill>
                <a:latin typeface="Arial"/>
                <a:ea typeface="Arial"/>
                <a:cs typeface="Arial"/>
              </a:rPr>
              <a:t>What the ablation says</a:t>
            </a:r>
          </a:p>
        </p:txBody>
      </p:sp>
      <p:sp>
        <p:nvSpPr>
          <p:cNvPr id="7" name="">
            <a:extLst xmlns:a="http://schemas.openxmlformats.org/drawingml/2006/main">
              <a:ext uri="{FF2B5EF4-FFF2-40B4-BE49-F238E27FC236}">
                <a16:creationId xmlns:a16="http://schemas.microsoft.com/office/drawing/2014/main" id="{CD03C7E0-0F1E-466D-9941-95D45F8499AC}"/>
              </a:ext>
            </a:extLst>
          </p:cNvPr>
          <p:cNvSpPr>
            <a:spLocks xmlns:a="http://schemas.openxmlformats.org/drawingml/2006/main" noGrp="1"/>
          </p:cNvSpPr>
          <p:nvPr/>
        </p:nvSpPr>
        <p:spPr>
          <a:xfrm xmlns:a="http://schemas.openxmlformats.org/drawingml/2006/main">
            <a:off x="685800" y="441960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449"/>
          </a:bodyPr>
          <a:lstStyle xmlns:a="http://schemas.openxmlformats.org/drawingml/2006/main"/>
          <a:p xmlns:a="http://schemas.openxmlformats.org/drawingml/2006/main">
            <a:pPr algn="l">
              <a:lnSpc>
                <a:spcPct val="104000"/>
              </a:lnSpc>
              <a:buNone/>
              <a:defRPr sz="2025" b="1">
                <a:solidFill>
                  <a:srgbClr val="FFFFFF"/>
                </a:solidFill>
                <a:latin typeface="Arial"/>
                <a:ea typeface="Arial"/>
                <a:cs typeface="Arial"/>
              </a:defRPr>
            </a:pPr>
            <a:r>
              <a:rPr sz="2025" b="1">
                <a:solidFill>
                  <a:srgbClr val="FFFFFF"/>
                </a:solidFill>
                <a:latin typeface="Arial"/>
                <a:ea typeface="Arial"/>
                <a:cs typeface="Arial"/>
              </a:rPr>
              <a:t>Neighbouring surface proteins retain response information that marker RNA can miss.</a:t>
            </a:r>
          </a:p>
        </p:txBody>
      </p:sp>
      <p:sp>
        <p:nvSpPr>
          <p:cNvPr id="8" name="">
            <a:extLst xmlns:a="http://schemas.openxmlformats.org/drawingml/2006/main">
              <a:ext uri="{FF2B5EF4-FFF2-40B4-BE49-F238E27FC236}">
                <a16:creationId xmlns:a16="http://schemas.microsoft.com/office/drawing/2014/main" id="{E9ABC328-6FEF-45C1-B41E-A6F91B31B853}"/>
              </a:ext>
            </a:extLst>
          </p:cNvPr>
          <p:cNvSpPr>
            <a:spLocks xmlns:a="http://schemas.openxmlformats.org/drawingml/2006/main" noGrp="1"/>
          </p:cNvSpPr>
          <p:nvPr/>
        </p:nvSpPr>
        <p:spPr>
          <a:xfrm xmlns:a="http://schemas.openxmlformats.org/drawingml/2006/main">
            <a:off x="6191250" y="20955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DDF3F2"/>
                </a:solidFill>
                <a:latin typeface="Arial"/>
                <a:ea typeface="Arial"/>
                <a:cs typeface="Arial"/>
              </a:defRPr>
            </a:pPr>
            <a:r>
              <a:rPr sz="1350" b="1">
                <a:solidFill>
                  <a:srgbClr val="DDF3F2"/>
                </a:solidFill>
                <a:latin typeface="Arial"/>
                <a:ea typeface="Arial"/>
                <a:cs typeface="Arial"/>
              </a:rPr>
              <a:t>Methodological lesson</a:t>
            </a:r>
          </a:p>
        </p:txBody>
      </p:sp>
      <p:sp>
        <p:nvSpPr>
          <p:cNvPr id="9" name="">
            <a:extLst xmlns:a="http://schemas.openxmlformats.org/drawingml/2006/main">
              <a:ext uri="{FF2B5EF4-FFF2-40B4-BE49-F238E27FC236}">
                <a16:creationId xmlns:a16="http://schemas.microsoft.com/office/drawing/2014/main" id="{8AA461D1-D33D-4CD2-9386-DB6EC21BF9FB}"/>
              </a:ext>
            </a:extLst>
          </p:cNvPr>
          <p:cNvSpPr>
            <a:spLocks xmlns:a="http://schemas.openxmlformats.org/drawingml/2006/main" noGrp="1"/>
          </p:cNvSpPr>
          <p:nvPr/>
        </p:nvSpPr>
        <p:spPr>
          <a:xfrm xmlns:a="http://schemas.openxmlformats.org/drawingml/2006/main">
            <a:off x="6191250" y="249555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983"/>
          </a:bodyPr>
          <a:lstStyle xmlns:a="http://schemas.openxmlformats.org/drawingml/2006/main"/>
          <a:p xmlns:a="http://schemas.openxmlformats.org/drawingml/2006/main">
            <a:pPr algn="l">
              <a:lnSpc>
                <a:spcPct val="104000"/>
              </a:lnSpc>
              <a:buNone/>
              <a:defRPr sz="2175" b="1">
                <a:solidFill>
                  <a:srgbClr val="FFFFFF"/>
                </a:solidFill>
                <a:latin typeface="Arial"/>
                <a:ea typeface="Arial"/>
                <a:cs typeface="Arial"/>
              </a:defRPr>
            </a:pPr>
            <a:r>
              <a:rPr sz="2175" b="1">
                <a:solidFill>
                  <a:srgbClr val="FFFFFF"/>
                </a:solidFill>
                <a:latin typeface="Arial"/>
                <a:ea typeface="Arial"/>
                <a:cs typeface="Arial"/>
              </a:rPr>
              <a:t>Targeted supervision converts cross-modal context into better biomarker recovery. The scalar gate alone contributes less.</a:t>
            </a:r>
          </a:p>
        </p:txBody>
      </p:sp>
      <p:sp>
        <p:nvSpPr>
          <p:cNvPr id="10" name="">
            <a:extLst xmlns:a="http://schemas.openxmlformats.org/drawingml/2006/main">
              <a:ext uri="{FF2B5EF4-FFF2-40B4-BE49-F238E27FC236}">
                <a16:creationId xmlns:a16="http://schemas.microsoft.com/office/drawing/2014/main" id="{DE6FD311-6C7B-4631-A4E2-67ECA4C06454}"/>
              </a:ext>
            </a:extLst>
          </p:cNvPr>
          <p:cNvSpPr>
            <a:spLocks xmlns:a="http://schemas.openxmlformats.org/drawingml/2006/main" noGrp="1"/>
          </p:cNvSpPr>
          <p:nvPr/>
        </p:nvSpPr>
        <p:spPr>
          <a:xfrm xmlns:a="http://schemas.openxmlformats.org/drawingml/2006/main">
            <a:off x="6191250" y="45339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115"/>
          </a:bodyPr>
          <a:lstStyle xmlns:a="http://schemas.openxmlformats.org/drawingml/2006/main"/>
          <a:p xmlns:a="http://schemas.openxmlformats.org/drawingml/2006/main">
            <a:pPr algn="l">
              <a:lnSpc>
                <a:spcPct val="104000"/>
              </a:lnSpc>
              <a:buNone/>
              <a:defRPr sz="1200" b="1">
                <a:solidFill>
                  <a:srgbClr val="F15B64"/>
                </a:solidFill>
                <a:latin typeface="Arial"/>
                <a:ea typeface="Arial"/>
                <a:cs typeface="Arial"/>
              </a:defRPr>
            </a:pPr>
            <a:r>
              <a:rPr sz="1200" b="1">
                <a:solidFill>
                  <a:srgbClr val="F15B64"/>
                </a:solidFill>
                <a:latin typeface="Arial"/>
                <a:ea typeface="Arial"/>
                <a:cs typeface="Arial"/>
              </a:rPr>
              <a:t>Boundary</a:t>
            </a:r>
          </a:p>
        </p:txBody>
      </p:sp>
      <p:sp>
        <p:nvSpPr>
          <p:cNvPr id="11" name="">
            <a:extLst xmlns:a="http://schemas.openxmlformats.org/drawingml/2006/main">
              <a:ext uri="{FF2B5EF4-FFF2-40B4-BE49-F238E27FC236}">
                <a16:creationId xmlns:a16="http://schemas.microsoft.com/office/drawing/2014/main" id="{A6FE71E5-EB01-4888-BEC5-42B078D5D3C7}"/>
              </a:ext>
            </a:extLst>
          </p:cNvPr>
          <p:cNvSpPr>
            <a:spLocks xmlns:a="http://schemas.openxmlformats.org/drawingml/2006/main" noGrp="1"/>
          </p:cNvSpPr>
          <p:nvPr/>
        </p:nvSpPr>
        <p:spPr>
          <a:xfrm xmlns:a="http://schemas.openxmlformats.org/drawingml/2006/main">
            <a:off x="6191250" y="489585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500" b="0">
                <a:solidFill>
                  <a:srgbClr val="D7DCEC"/>
                </a:solidFill>
                <a:latin typeface="Arial"/>
                <a:ea typeface="Arial"/>
                <a:cs typeface="Arial"/>
              </a:defRPr>
            </a:pPr>
            <a:r>
              <a:rPr sz="1500" b="0">
                <a:solidFill>
                  <a:srgbClr val="D7DCEC"/>
                </a:solidFill>
                <a:latin typeface="Arial"/>
                <a:ea typeface="Arial"/>
                <a:cs typeface="Arial"/>
              </a:rPr>
              <a:t>CMTM6 shows that post-transcriptional stability mechanisms can remain invisible without direct protein evidence.</a:t>
            </a:r>
          </a:p>
        </p:txBody>
      </p:sp>
      <p:sp>
        <p:nvSpPr>
          <p:cNvPr id="12" name="">
            <a:extLst xmlns:a="http://schemas.openxmlformats.org/drawingml/2006/main">
              <a:ext uri="{FF2B5EF4-FFF2-40B4-BE49-F238E27FC236}">
                <a16:creationId xmlns:a16="http://schemas.microsoft.com/office/drawing/2014/main" id="{8F5590BE-3C17-4572-B8C3-929E6D31CF37}"/>
              </a:ext>
            </a:extLst>
          </p:cNvPr>
          <p:cNvSpPr>
            <a:spLocks xmlns:a="http://schemas.openxmlformats.org/drawingml/2006/main" noGrp="1"/>
          </p:cNvSpPr>
          <p:nvPr/>
        </p:nvSpPr>
        <p:spPr>
          <a:xfrm xmlns:a="http://schemas.openxmlformats.org/drawingml/2006/main">
            <a:off x="6191250" y="61531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2099"/>
          </a:bodyPr>
          <a:lstStyle xmlns:a="http://schemas.openxmlformats.org/drawingml/2006/main"/>
          <a:p xmlns:a="http://schemas.openxmlformats.org/drawingml/2006/main">
            <a:pPr algn="l">
              <a:lnSpc>
                <a:spcPct val="104000"/>
              </a:lnSpc>
              <a:buNone/>
              <a:defRPr sz="1200" b="1">
                <a:solidFill>
                  <a:srgbClr val="DDF3F2"/>
                </a:solidFill>
                <a:latin typeface="Arial"/>
                <a:ea typeface="Arial"/>
                <a:cs typeface="Arial"/>
              </a:defRPr>
            </a:pPr>
            <a:r>
              <a:rPr sz="1200" b="1">
                <a:solidFill>
                  <a:srgbClr val="DDF3F2"/>
                </a:solidFill>
                <a:latin typeface="Arial"/>
                <a:ea typeface="Arial"/>
                <a:cs typeface="Arial"/>
              </a:rPr>
              <a:t>Two outer validation schemes, all ablations and all statistics are reproducible.</a:t>
            </a:r>
          </a:p>
        </p:txBody>
      </p:sp>
    </p:spTree>
    <p:extLst>
      <p:ext uri="{BB962C8B-B14F-4D97-AF65-F5344CB8AC3E}">
        <p14:creationId xmlns:p14="http://schemas.microsoft.com/office/powerpoint/2010/main" val="696579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2026-10-02T07:45:43.0750000Z</dcterms:created>
  <dcterms:modified xsi:type="dcterms:W3CDTF">2026-10-02T07:45:43.0760000Z</dcterms:modified>
</coreProperties>
</file>