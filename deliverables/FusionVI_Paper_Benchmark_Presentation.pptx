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9d5a8e292c4f5b" /><Relationship Type="http://schemas.openxmlformats.org/officeDocument/2006/relationships/extended-properties" Target="/docProps/app.xml" Id="R024555bf83114a8b" /><Relationship Type="http://schemas.openxmlformats.org/officeDocument/2006/relationships/officeDocument" Target="/ppt/presentation.xml" Id="R08f1f1a87fc34e25" /></Relationships>
</file>

<file path=ppt/presentation.xml><?xml version="1.0" encoding="utf-8"?>
<p:presentation xmlns:p="http://schemas.openxmlformats.org/presentationml/2006/main">
  <p:sldMasterIdLst>
    <p:sldMasterId xmlns:r="http://schemas.openxmlformats.org/officeDocument/2006/relationships" id="2147483648" r:id="R461e4298c85d40c2"/>
  </p:sldMasterIdLst>
  <p:notesMasterIdLst>
    <p:notesMasterId xmlns:r="http://schemas.openxmlformats.org/officeDocument/2006/relationships" r:id="R963302e809c143f4"/>
  </p:notesMasterIdLst>
  <p:sldIdLst>
    <p:sldId xmlns:r="http://schemas.openxmlformats.org/officeDocument/2006/relationships" id="256" r:id="Rfb6277cc7f364d10"/>
    <p:sldId xmlns:r="http://schemas.openxmlformats.org/officeDocument/2006/relationships" id="257" r:id="R7ba6d69d367348ff"/>
    <p:sldId xmlns:r="http://schemas.openxmlformats.org/officeDocument/2006/relationships" id="258" r:id="R67afacaf67a34125"/>
    <p:sldId xmlns:r="http://schemas.openxmlformats.org/officeDocument/2006/relationships" id="259" r:id="R8662132757524c04"/>
    <p:sldId xmlns:r="http://schemas.openxmlformats.org/officeDocument/2006/relationships" id="260" r:id="Rbfde0676234d489a"/>
    <p:sldId xmlns:r="http://schemas.openxmlformats.org/officeDocument/2006/relationships" id="261" r:id="Rf6e57e39b23a42f9"/>
    <p:sldId xmlns:r="http://schemas.openxmlformats.org/officeDocument/2006/relationships" id="262" r:id="Rdaeda9edb8804874"/>
    <p:sldId xmlns:r="http://schemas.openxmlformats.org/officeDocument/2006/relationships" id="263" r:id="R4938500d2f1f42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8518baa0a742a4" /><Relationship Type="http://schemas.openxmlformats.org/officeDocument/2006/relationships/slideMaster" Target="/ppt/slideMasters/slideMaster1.xml" Id="R461e4298c85d40c2" /><Relationship Type="http://schemas.openxmlformats.org/officeDocument/2006/relationships/notesMaster" Target="/ppt/notesMasters/notesMaster1.xml" Id="R963302e809c143f4" /><Relationship Type="http://schemas.openxmlformats.org/officeDocument/2006/relationships/presProps" Target="/ppt/presProps.xml" Id="R62850846e7c24a39" /><Relationship Type="http://schemas.openxmlformats.org/officeDocument/2006/relationships/tableStyles" Target="/ppt/tableStyles.xml" Id="R7093879764974c9c" /><Relationship Type="http://schemas.openxmlformats.org/officeDocument/2006/relationships/slide" Target="/ppt/slides/slide1.xml" Id="Rfb6277cc7f364d10" /><Relationship Type="http://schemas.openxmlformats.org/officeDocument/2006/relationships/slide" Target="/ppt/slides/slide2.xml" Id="R7ba6d69d367348ff" /><Relationship Type="http://schemas.openxmlformats.org/officeDocument/2006/relationships/slide" Target="/ppt/slides/slide3.xml" Id="R67afacaf67a34125" /><Relationship Type="http://schemas.openxmlformats.org/officeDocument/2006/relationships/slide" Target="/ppt/slides/slide4.xml" Id="R8662132757524c04" /><Relationship Type="http://schemas.openxmlformats.org/officeDocument/2006/relationships/slide" Target="/ppt/slides/slide5.xml" Id="Rbfde0676234d489a" /><Relationship Type="http://schemas.openxmlformats.org/officeDocument/2006/relationships/slide" Target="/ppt/slides/slide6.xml" Id="Rf6e57e39b23a42f9" /><Relationship Type="http://schemas.openxmlformats.org/officeDocument/2006/relationships/slide" Target="/ppt/slides/slide7.xml" Id="Rdaeda9edb8804874" /><Relationship Type="http://schemas.openxmlformats.org/officeDocument/2006/relationships/slide" Target="/ppt/slides/slide8.xml" Id="R4938500d2f1f42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d099bbf7c940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a14321195a4792" /><Relationship Type="http://schemas.openxmlformats.org/officeDocument/2006/relationships/notesMaster" Target="/ppt/notesMasters/notesMaster1.xml" Id="R6b0e79b1986e4e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4c6e00d59e4799" /><Relationship Type="http://schemas.openxmlformats.org/officeDocument/2006/relationships/notesMaster" Target="/ppt/notesMasters/notesMaster1.xml" Id="R0428a933b32342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e0e50809d6b495a" /><Relationship Type="http://schemas.openxmlformats.org/officeDocument/2006/relationships/notesMaster" Target="/ppt/notesMasters/notesMaster1.xml" Id="R2d7576db484d4f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2b8f16781043f4" /><Relationship Type="http://schemas.openxmlformats.org/officeDocument/2006/relationships/notesMaster" Target="/ppt/notesMasters/notesMaster1.xml" Id="R6c7e8f6db7264e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4cc486d16a45b3" /><Relationship Type="http://schemas.openxmlformats.org/officeDocument/2006/relationships/notesMaster" Target="/ppt/notesMasters/notesMaster1.xml" Id="Rc0e855caa3514a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b589393af54b91" /><Relationship Type="http://schemas.openxmlformats.org/officeDocument/2006/relationships/notesMaster" Target="/ppt/notesMasters/notesMaster1.xml" Id="R495c675bcd94482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7478a014d14fbb" /><Relationship Type="http://schemas.openxmlformats.org/officeDocument/2006/relationships/notesMaster" Target="/ppt/notesMasters/notesMaster1.xml" Id="R58b5ae8689fc41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96b022cbb764df2" /><Relationship Type="http://schemas.openxmlformats.org/officeDocument/2006/relationships/notesMaster" Target="/ppt/notesMasters/notesMaster1.xml" Id="R4c8cea65512e41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the published totalVI architecture with FusionVI on the paper's own missing-protein benchmark. Every protein in SLN111-D2 is hidden during training, and the model predicts all 110 from RNA plus the multimodal structure learned in SLN111-D1. We use 4 paired random seeds. The headline difference is −0.0060 RMSLE, and FusionVI uses 35.0 percent fewer trainable parameters. Timing: 40 seconds. Source: Gayoso et al., Nature Methods 2021, doi:10.1038/s41592-020-01050-x.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biological question concerns panel completion. Surface proteins define immune populations and include therapeutic targets such as CD20. If a whole antibody panel is missing in a new batch, can transcript measurements recover those protein abundances? CD20, CD28, CD4 and CD8a are examples among the 110 targets.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SLN111-D1 supplies RNA and the complete protein panel. We set every D2 protein input to zero and let totalVI treat that batch as missing protein measurements. The untouched D2 counts remain separate as test truth. Both models receive the same 4,005 genes, 110 target proteins, batches and validation split. Timing: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totalVI concatenates RNA and protein measurements in one encoder. FusionVI uses separate RNA and protein branches, then combines their hidden states with a learned gate for each cell. Both models estimate a 20-dimensional latent state and use the same native totalVI decoders and likelihoods. This isolates the encoder as the experimental variable. Timing: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of 4 seeds, we train one totalVI model and one FusionVI model with identical settings: at most 500 epochs, learning rate 0.004, batch size 256, 90/10 training-validation split and early stopping patience 45. Prediction averages 25 posterior samples. The primary metric is mean per-protein root mean squared log error across 7,564 D2 cells. The paper ran 30 initializations; our course benchmark runs 4 paired seeds.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 lowers mean RMSLE by 0.0060 across 110 proteins. The left panel connects totalVI and FusionVI results from the same random seed. The right panel compares mean error for each of 110 proteins; points below the diagonal favor FusionVI. FusionVI is lower for 74 proteins. The paired Wilcoxon value across proteins is 0.0000104, but proteins are algorithmic units rather than independent animals. Timing: 70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result answers the method question under the paper's exact missing-panel setup. The four-marker extension asks a related biological question in a mouse-held-out design and favors FusionVI, but it uses a different readout and remains secondary. Our evidence supports a technical benchmark claim, not clinical utility or population-level biology.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 lowers missing-protein reconstruction error. The direct benchmark is fair because the models share the data, decoder, likelihood and training protocol. Our conclusion remains bounded by one source-target pair and 4 rather than 30 initializations. Timing: 35 seconds, leaving three minutes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5acb64b73345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1a7538fa2d413c" /><Relationship Type="http://schemas.openxmlformats.org/officeDocument/2006/relationships/slideLayout" Target="/ppt/slideLayouts/slideLayout1.xml" Id="R13b4466cb71a4b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b4466cb71a4b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1a0c42c9f0b41bd" /><Relationship Type="http://schemas.openxmlformats.org/officeDocument/2006/relationships/notesSlide" Target="/ppt/notesSlides/notesSlide1.xml" Id="R7f51fe31035642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0c50fd488bf4004" /><Relationship Type="http://schemas.openxmlformats.org/officeDocument/2006/relationships/notesSlide" Target="/ppt/notesSlides/notesSlide2.xml" Id="R91a064532b904b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9b4ab431e8c4c45" /><Relationship Type="http://schemas.openxmlformats.org/officeDocument/2006/relationships/notesSlide" Target="/ppt/notesSlides/notesSlide3.xml" Id="Ree6b316a2f8b4c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7a5f916313f4c36" /><Relationship Type="http://schemas.openxmlformats.org/officeDocument/2006/relationships/notesSlide" Target="/ppt/notesSlides/notesSlide4.xml" Id="R35f6776bbb5240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7a529ad27f495b" /><Relationship Type="http://schemas.openxmlformats.org/officeDocument/2006/relationships/notesSlide" Target="/ppt/notesSlides/notesSlide5.xml" Id="R2eeba8e9fe5b47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fc099bca27a4023" /><Relationship Type="http://schemas.openxmlformats.org/officeDocument/2006/relationships/image" Target="/ppt/media/image.png" Id="R2730fe664fc14684" /><Relationship Type="http://schemas.openxmlformats.org/officeDocument/2006/relationships/notesSlide" Target="/ppt/notesSlides/notesSlide6.xml" Id="R3eae245a620b41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badd520e6ad4c6d" /><Relationship Type="http://schemas.openxmlformats.org/officeDocument/2006/relationships/notesSlide" Target="/ppt/notesSlides/notesSlide7.xml" Id="Ra8f2b5eecffe4a4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d206d58c8d34d83" /><Relationship Type="http://schemas.openxmlformats.org/officeDocument/2006/relationships/notesSlide" Target="/ppt/notesSlides/notesSlide8.xml" Id="Rcf05ce9664d649e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53254EE-404D-4E4F-BE6D-B49C82006D1E}"/>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DBE74A-A493-462C-824F-85D55F6BF1D8}"/>
              </a:ext>
            </a:extLst>
          </p:cNvPr>
          <p:cNvSpPr>
            <a:spLocks xmlns:a="http://schemas.openxmlformats.org/drawingml/2006/main" noGrp="1"/>
          </p:cNvSpPr>
          <p:nvPr/>
        </p:nvSpPr>
        <p:spPr>
          <a:xfrm xmlns:a="http://schemas.openxmlformats.org/drawingml/2006/main">
            <a:off x="8382000" y="0"/>
            <a:ext cx="3810000" cy="6858000"/>
          </a:xfrm>
          <a:prstGeom xmlns:a="http://schemas.openxmlformats.org/drawingml/2006/main" prst="rect">
            <a:avLst/>
          </a:prstGeom>
          <a:solidFill xmlns:a="http://schemas.openxmlformats.org/drawingml/2006/main">
            <a:srgbClr val="EEF2F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3419BB-BF9B-40A3-BBD8-EDE42DA87486}"/>
              </a:ext>
            </a:extLst>
          </p:cNvPr>
          <p:cNvSpPr>
            <a:spLocks xmlns:a="http://schemas.openxmlformats.org/drawingml/2006/main" noGrp="1"/>
          </p:cNvSpPr>
          <p:nvPr/>
        </p:nvSpPr>
        <p:spPr>
          <a:xfrm xmlns:a="http://schemas.openxmlformats.org/drawingml/2006/main">
            <a:off x="666750" y="5334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FUSIONVI</a:t>
            </a:r>
          </a:p>
        </p:txBody>
      </p:sp>
      <p:sp>
        <p:nvSpPr>
          <p:cNvPr id="4" name="">
            <a:extLst xmlns:a="http://schemas.openxmlformats.org/drawingml/2006/main">
              <a:ext uri="{FF2B5EF4-FFF2-40B4-BE49-F238E27FC236}">
                <a16:creationId xmlns:a16="http://schemas.microsoft.com/office/drawing/2014/main" id="{733F237B-09A7-4E4B-A301-1D13BF717F3F}"/>
              </a:ext>
            </a:extLst>
          </p:cNvPr>
          <p:cNvSpPr>
            <a:spLocks xmlns:a="http://schemas.openxmlformats.org/drawingml/2006/main" noGrp="1"/>
          </p:cNvSpPr>
          <p:nvPr/>
        </p:nvSpPr>
        <p:spPr>
          <a:xfrm xmlns:a="http://schemas.openxmlformats.org/drawingml/2006/main">
            <a:off x="666750" y="1200150"/>
            <a:ext cx="7239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122"/>
          </a:bodyPr>
          <a:lstStyle xmlns:a="http://schemas.openxmlformats.org/drawingml/2006/main"/>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Can RNA recover an</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entire missing</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protein panel?</a:t>
            </a:r>
          </a:p>
        </p:txBody>
      </p:sp>
      <p:sp>
        <p:nvSpPr>
          <p:cNvPr id="5" name="">
            <a:extLst xmlns:a="http://schemas.openxmlformats.org/drawingml/2006/main">
              <a:ext uri="{FF2B5EF4-FFF2-40B4-BE49-F238E27FC236}">
                <a16:creationId xmlns:a16="http://schemas.microsoft.com/office/drawing/2014/main" id="{2203FB05-77EB-4996-940C-9C49CC8A115F}"/>
              </a:ext>
            </a:extLst>
          </p:cNvPr>
          <p:cNvSpPr>
            <a:spLocks xmlns:a="http://schemas.openxmlformats.org/drawingml/2006/main" noGrp="1"/>
          </p:cNvSpPr>
          <p:nvPr/>
        </p:nvSpPr>
        <p:spPr>
          <a:xfrm xmlns:a="http://schemas.openxmlformats.org/drawingml/2006/main">
            <a:off x="704850" y="342900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00" b="0">
                <a:solidFill>
                  <a:srgbClr val="4F46E5"/>
                </a:solidFill>
                <a:latin typeface="Arial"/>
                <a:ea typeface="Arial"/>
                <a:cs typeface="Arial"/>
              </a:defRPr>
            </a:pPr>
            <a:r>
              <a:rPr sz="1800" b="0">
                <a:solidFill>
                  <a:srgbClr val="4F46E5"/>
                </a:solidFill>
                <a:latin typeface="Arial"/>
                <a:ea typeface="Arial"/>
                <a:cs typeface="Arial"/>
              </a:rPr>
              <a:t>Published totalVI versus our FusionVI encoder</a:t>
            </a:r>
          </a:p>
        </p:txBody>
      </p:sp>
      <p:sp>
        <p:nvSpPr>
          <p:cNvPr id="6" name="">
            <a:extLst xmlns:a="http://schemas.openxmlformats.org/drawingml/2006/main">
              <a:ext uri="{FF2B5EF4-FFF2-40B4-BE49-F238E27FC236}">
                <a16:creationId xmlns:a16="http://schemas.microsoft.com/office/drawing/2014/main" id="{BEC12EC1-1543-4BE5-93BC-051CF957EB2F}"/>
              </a:ext>
            </a:extLst>
          </p:cNvPr>
          <p:cNvSpPr>
            <a:spLocks xmlns:a="http://schemas.openxmlformats.org/drawingml/2006/main" noGrp="1"/>
          </p:cNvSpPr>
          <p:nvPr/>
        </p:nvSpPr>
        <p:spPr>
          <a:xfrm xmlns:a="http://schemas.openxmlformats.org/drawingml/2006/main">
            <a:off x="704850" y="3943350"/>
            <a:ext cx="6743700" cy="457200"/>
          </a:xfrm>
          <a:prstGeom xmlns:a="http://schemas.openxmlformats.org/drawingml/2006/main" prst="roundRect">
            <a:avLst>
              <a:gd name="adj" fmla="val 25000"/>
            </a:avLst>
          </a:prstGeom>
          <a:solidFill xmlns:a="http://schemas.openxmlformats.org/drawingml/2006/main">
            <a:srgbClr val="EEF2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4CC86A-8F41-4A08-A38C-D5AF99F4BA67}"/>
              </a:ext>
            </a:extLst>
          </p:cNvPr>
          <p:cNvSpPr>
            <a:spLocks xmlns:a="http://schemas.openxmlformats.org/drawingml/2006/main" noGrp="1"/>
          </p:cNvSpPr>
          <p:nvPr/>
        </p:nvSpPr>
        <p:spPr>
          <a:xfrm xmlns:a="http://schemas.openxmlformats.org/drawingml/2006/main">
            <a:off x="876300" y="4038600"/>
            <a:ext cx="6400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4F46E5"/>
                </a:solidFill>
                <a:latin typeface="Arial"/>
                <a:ea typeface="Arial"/>
                <a:cs typeface="Arial"/>
              </a:defRPr>
            </a:pPr>
            <a:r>
              <a:rPr sz="1200" b="1">
                <a:solidFill>
                  <a:srgbClr val="4F46E5"/>
                </a:solidFill>
                <a:latin typeface="Arial"/>
                <a:ea typeface="Arial"/>
                <a:cs typeface="Arial"/>
              </a:rPr>
              <a:t>Paper Figure 3 task on the official SLN111 CITE-seq object</a:t>
            </a:r>
          </a:p>
        </p:txBody>
      </p:sp>
      <p:sp>
        <p:nvSpPr>
          <p:cNvPr id="8" name="">
            <a:extLst xmlns:a="http://schemas.openxmlformats.org/drawingml/2006/main">
              <a:ext uri="{FF2B5EF4-FFF2-40B4-BE49-F238E27FC236}">
                <a16:creationId xmlns:a16="http://schemas.microsoft.com/office/drawing/2014/main" id="{DF90CB2E-C1CE-4029-A288-281B214208CF}"/>
              </a:ext>
            </a:extLst>
          </p:cNvPr>
          <p:cNvSpPr>
            <a:spLocks xmlns:a="http://schemas.openxmlformats.org/drawingml/2006/main" noGrp="1"/>
          </p:cNvSpPr>
          <p:nvPr/>
        </p:nvSpPr>
        <p:spPr>
          <a:xfrm xmlns:a="http://schemas.openxmlformats.org/drawingml/2006/main">
            <a:off x="704850" y="4629150"/>
            <a:ext cx="17526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6FC12B-1522-49A2-8153-8B9C954BE6FC}"/>
              </a:ext>
            </a:extLst>
          </p:cNvPr>
          <p:cNvSpPr>
            <a:spLocks xmlns:a="http://schemas.openxmlformats.org/drawingml/2006/main" noGrp="1"/>
          </p:cNvSpPr>
          <p:nvPr/>
        </p:nvSpPr>
        <p:spPr>
          <a:xfrm xmlns:a="http://schemas.openxmlformats.org/drawingml/2006/main">
            <a:off x="8191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10" name="">
            <a:extLst xmlns:a="http://schemas.openxmlformats.org/drawingml/2006/main">
              <a:ext uri="{FF2B5EF4-FFF2-40B4-BE49-F238E27FC236}">
                <a16:creationId xmlns:a16="http://schemas.microsoft.com/office/drawing/2014/main" id="{AE0A6310-62CA-4270-B9B3-3D332E97E1AB}"/>
              </a:ext>
            </a:extLst>
          </p:cNvPr>
          <p:cNvSpPr>
            <a:spLocks xmlns:a="http://schemas.openxmlformats.org/drawingml/2006/main" noGrp="1"/>
          </p:cNvSpPr>
          <p:nvPr/>
        </p:nvSpPr>
        <p:spPr>
          <a:xfrm xmlns:a="http://schemas.openxmlformats.org/drawingml/2006/main">
            <a:off x="8191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11" name="">
            <a:extLst xmlns:a="http://schemas.openxmlformats.org/drawingml/2006/main">
              <a:ext uri="{FF2B5EF4-FFF2-40B4-BE49-F238E27FC236}">
                <a16:creationId xmlns:a16="http://schemas.microsoft.com/office/drawing/2014/main" id="{9F009113-408A-4191-B093-2E1CF59BF607}"/>
              </a:ext>
            </a:extLst>
          </p:cNvPr>
          <p:cNvSpPr>
            <a:spLocks xmlns:a="http://schemas.openxmlformats.org/drawingml/2006/main" noGrp="1"/>
          </p:cNvSpPr>
          <p:nvPr/>
        </p:nvSpPr>
        <p:spPr>
          <a:xfrm xmlns:a="http://schemas.openxmlformats.org/drawingml/2006/main">
            <a:off x="2628900" y="4629150"/>
            <a:ext cx="17526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82F33C3-59A6-41F0-BB2C-9836D9899B2B}"/>
              </a:ext>
            </a:extLst>
          </p:cNvPr>
          <p:cNvSpPr>
            <a:spLocks xmlns:a="http://schemas.openxmlformats.org/drawingml/2006/main" noGrp="1"/>
          </p:cNvSpPr>
          <p:nvPr/>
        </p:nvSpPr>
        <p:spPr>
          <a:xfrm xmlns:a="http://schemas.openxmlformats.org/drawingml/2006/main">
            <a:off x="274320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483F9711-78EA-4C69-ACAA-3194ABC80135}"/>
              </a:ext>
            </a:extLst>
          </p:cNvPr>
          <p:cNvSpPr>
            <a:spLocks xmlns:a="http://schemas.openxmlformats.org/drawingml/2006/main" noGrp="1"/>
          </p:cNvSpPr>
          <p:nvPr/>
        </p:nvSpPr>
        <p:spPr>
          <a:xfrm xmlns:a="http://schemas.openxmlformats.org/drawingml/2006/main">
            <a:off x="274320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 hidden</a:t>
            </a:r>
          </a:p>
        </p:txBody>
      </p:sp>
      <p:sp>
        <p:nvSpPr>
          <p:cNvPr id="14" name="">
            <a:extLst xmlns:a="http://schemas.openxmlformats.org/drawingml/2006/main">
              <a:ext uri="{FF2B5EF4-FFF2-40B4-BE49-F238E27FC236}">
                <a16:creationId xmlns:a16="http://schemas.microsoft.com/office/drawing/2014/main" id="{0EDBCC62-8DDC-4740-A7C6-AC061405ECDD}"/>
              </a:ext>
            </a:extLst>
          </p:cNvPr>
          <p:cNvSpPr>
            <a:spLocks xmlns:a="http://schemas.openxmlformats.org/drawingml/2006/main" noGrp="1"/>
          </p:cNvSpPr>
          <p:nvPr/>
        </p:nvSpPr>
        <p:spPr>
          <a:xfrm xmlns:a="http://schemas.openxmlformats.org/drawingml/2006/main">
            <a:off x="4552950" y="4629150"/>
            <a:ext cx="17526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27B23F-8987-45B6-98A4-24CD6428250D}"/>
              </a:ext>
            </a:extLst>
          </p:cNvPr>
          <p:cNvSpPr>
            <a:spLocks xmlns:a="http://schemas.openxmlformats.org/drawingml/2006/main" noGrp="1"/>
          </p:cNvSpPr>
          <p:nvPr/>
        </p:nvSpPr>
        <p:spPr>
          <a:xfrm xmlns:a="http://schemas.openxmlformats.org/drawingml/2006/main">
            <a:off x="46672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a:t>
            </a:r>
          </a:p>
        </p:txBody>
      </p:sp>
      <p:sp>
        <p:nvSpPr>
          <p:cNvPr id="16" name="">
            <a:extLst xmlns:a="http://schemas.openxmlformats.org/drawingml/2006/main">
              <a:ext uri="{FF2B5EF4-FFF2-40B4-BE49-F238E27FC236}">
                <a16:creationId xmlns:a16="http://schemas.microsoft.com/office/drawing/2014/main" id="{118B1A07-A3FA-4DC2-8595-D08AF188596A}"/>
              </a:ext>
            </a:extLst>
          </p:cNvPr>
          <p:cNvSpPr>
            <a:spLocks xmlns:a="http://schemas.openxmlformats.org/drawingml/2006/main" noGrp="1"/>
          </p:cNvSpPr>
          <p:nvPr/>
        </p:nvSpPr>
        <p:spPr>
          <a:xfrm xmlns:a="http://schemas.openxmlformats.org/drawingml/2006/main">
            <a:off x="46672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paired seeds</a:t>
            </a:r>
          </a:p>
        </p:txBody>
      </p:sp>
      <p:sp>
        <p:nvSpPr>
          <p:cNvPr id="17" name="">
            <a:extLst xmlns:a="http://schemas.openxmlformats.org/drawingml/2006/main">
              <a:ext uri="{FF2B5EF4-FFF2-40B4-BE49-F238E27FC236}">
                <a16:creationId xmlns:a16="http://schemas.microsoft.com/office/drawing/2014/main" id="{27C5F2C8-418E-44EE-90FE-0E2122EEB9EF}"/>
              </a:ext>
            </a:extLst>
          </p:cNvPr>
          <p:cNvSpPr>
            <a:spLocks xmlns:a="http://schemas.openxmlformats.org/drawingml/2006/main" noGrp="1"/>
          </p:cNvSpPr>
          <p:nvPr/>
        </p:nvSpPr>
        <p:spPr>
          <a:xfrm xmlns:a="http://schemas.openxmlformats.org/drawingml/2006/main">
            <a:off x="704850" y="619125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Multimodal AI for therapeutic discovery</a:t>
            </a:r>
          </a:p>
        </p:txBody>
      </p:sp>
      <p:sp>
        <p:nvSpPr>
          <p:cNvPr id="18" name="">
            <a:extLst xmlns:a="http://schemas.openxmlformats.org/drawingml/2006/main">
              <a:ext uri="{FF2B5EF4-FFF2-40B4-BE49-F238E27FC236}">
                <a16:creationId xmlns:a16="http://schemas.microsoft.com/office/drawing/2014/main" id="{F41FA2A6-F34B-449E-A6FA-94EA5DE051AD}"/>
              </a:ext>
            </a:extLst>
          </p:cNvPr>
          <p:cNvSpPr>
            <a:spLocks xmlns:a="http://schemas.openxmlformats.org/drawingml/2006/main" noGrp="1"/>
          </p:cNvSpPr>
          <p:nvPr/>
        </p:nvSpPr>
        <p:spPr>
          <a:xfrm xmlns:a="http://schemas.openxmlformats.org/drawingml/2006/main">
            <a:off x="8915400" y="1809750"/>
            <a:ext cx="266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4200" b="1">
                <a:solidFill>
                  <a:srgbClr val="F97316"/>
                </a:solidFill>
                <a:latin typeface="Arial"/>
                <a:ea typeface="Arial"/>
                <a:cs typeface="Arial"/>
              </a:defRPr>
            </a:pPr>
            <a:r>
              <a:rPr sz="4200" b="1">
                <a:solidFill>
                  <a:srgbClr val="F97316"/>
                </a:solidFill>
                <a:latin typeface="Arial"/>
                <a:ea typeface="Arial"/>
                <a:cs typeface="Arial"/>
              </a:rPr>
              <a:t>−0.0060</a:t>
            </a:r>
          </a:p>
        </p:txBody>
      </p:sp>
      <p:sp>
        <p:nvSpPr>
          <p:cNvPr id="19" name="">
            <a:extLst xmlns:a="http://schemas.openxmlformats.org/drawingml/2006/main">
              <a:ext uri="{FF2B5EF4-FFF2-40B4-BE49-F238E27FC236}">
                <a16:creationId xmlns:a16="http://schemas.microsoft.com/office/drawing/2014/main" id="{530E6E4F-0346-43F9-A15C-5754A2927D4A}"/>
              </a:ext>
            </a:extLst>
          </p:cNvPr>
          <p:cNvSpPr>
            <a:spLocks xmlns:a="http://schemas.openxmlformats.org/drawingml/2006/main" noGrp="1"/>
          </p:cNvSpPr>
          <p:nvPr/>
        </p:nvSpPr>
        <p:spPr>
          <a:xfrm xmlns:a="http://schemas.openxmlformats.org/drawingml/2006/main">
            <a:off x="8915400" y="26098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ctr">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FusionVI − totalVI RMSLE</a:t>
            </a:r>
          </a:p>
        </p:txBody>
      </p:sp>
      <p:sp>
        <p:nvSpPr>
          <p:cNvPr id="20" name="">
            <a:extLst xmlns:a="http://schemas.openxmlformats.org/drawingml/2006/main">
              <a:ext uri="{FF2B5EF4-FFF2-40B4-BE49-F238E27FC236}">
                <a16:creationId xmlns:a16="http://schemas.microsoft.com/office/drawing/2014/main" id="{8793C35B-DAFB-4510-915A-0371A94A3419}"/>
              </a:ext>
            </a:extLst>
          </p:cNvPr>
          <p:cNvSpPr>
            <a:spLocks xmlns:a="http://schemas.openxmlformats.org/drawingml/2006/main" noGrp="1"/>
          </p:cNvSpPr>
          <p:nvPr/>
        </p:nvSpPr>
        <p:spPr>
          <a:xfrm xmlns:a="http://schemas.openxmlformats.org/drawingml/2006/main">
            <a:off x="8915400" y="30670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585"/>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35% fewer parameters</a:t>
            </a:r>
          </a:p>
        </p:txBody>
      </p:sp>
    </p:spTree>
    <p:extLst>
      <p:ext uri="{BB962C8B-B14F-4D97-AF65-F5344CB8AC3E}">
        <p14:creationId xmlns:p14="http://schemas.microsoft.com/office/powerpoint/2010/main" val="7114747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7B9D5E9-3087-442B-8DD2-680F091EEBD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BIOLOGICAL QUESTION</a:t>
            </a:r>
          </a:p>
        </p:txBody>
      </p:sp>
      <p:sp>
        <p:nvSpPr>
          <p:cNvPr id="2" name="">
            <a:extLst xmlns:a="http://schemas.openxmlformats.org/drawingml/2006/main">
              <a:ext uri="{FF2B5EF4-FFF2-40B4-BE49-F238E27FC236}">
                <a16:creationId xmlns:a16="http://schemas.microsoft.com/office/drawing/2014/main" id="{A83B599E-C02C-44D3-97FC-2FF854F8122C}"/>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A missing protein panel weakens immune phenotyping</a:t>
            </a:r>
          </a:p>
        </p:txBody>
      </p:sp>
      <p:sp>
        <p:nvSpPr>
          <p:cNvPr id="3" name="">
            <a:extLst xmlns:a="http://schemas.openxmlformats.org/drawingml/2006/main">
              <a:ext uri="{FF2B5EF4-FFF2-40B4-BE49-F238E27FC236}">
                <a16:creationId xmlns:a16="http://schemas.microsoft.com/office/drawing/2014/main" id="{5636433D-50BE-4E18-9C36-00CE86186BC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A4D4B0-D344-4462-8FBD-8071B328F3C0}"/>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3BC52A35-AF76-4CF3-B7EB-F2368CDDD6B7}"/>
              </a:ext>
            </a:extLst>
          </p:cNvPr>
          <p:cNvSpPr>
            <a:spLocks xmlns:a="http://schemas.openxmlformats.org/drawingml/2006/main" noGrp="1"/>
          </p:cNvSpPr>
          <p:nvPr/>
        </p:nvSpPr>
        <p:spPr>
          <a:xfrm xmlns:a="http://schemas.openxmlformats.org/drawingml/2006/main">
            <a:off x="647700" y="15049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876"/>
          </a:bodyPr>
          <a:lstStyle xmlns:a="http://schemas.openxmlformats.org/drawingml/2006/main"/>
          <a:p xmlns:a="http://schemas.openxmlformats.org/drawingml/2006/main">
            <a:pPr algn="ctr">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Can RNA in a new batch recover all 110 proteins after their measurements are removed?</a:t>
            </a:r>
          </a:p>
        </p:txBody>
      </p:sp>
      <p:sp>
        <p:nvSpPr>
          <p:cNvPr id="6" name="">
            <a:extLst xmlns:a="http://schemas.openxmlformats.org/drawingml/2006/main">
              <a:ext uri="{FF2B5EF4-FFF2-40B4-BE49-F238E27FC236}">
                <a16:creationId xmlns:a16="http://schemas.microsoft.com/office/drawing/2014/main" id="{D27D16C2-5244-4BBB-88BB-BBF0ED54EC31}"/>
              </a:ext>
            </a:extLst>
          </p:cNvPr>
          <p:cNvSpPr>
            <a:spLocks xmlns:a="http://schemas.openxmlformats.org/drawingml/2006/main" noGrp="1"/>
          </p:cNvSpPr>
          <p:nvPr/>
        </p:nvSpPr>
        <p:spPr>
          <a:xfrm xmlns:a="http://schemas.openxmlformats.org/drawingml/2006/main">
            <a:off x="60960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A8DCF1-6D93-43A7-8FDB-95DF08198F6C}"/>
              </a:ext>
            </a:extLst>
          </p:cNvPr>
          <p:cNvSpPr>
            <a:spLocks xmlns:a="http://schemas.openxmlformats.org/drawingml/2006/main" noGrp="1"/>
          </p:cNvSpPr>
          <p:nvPr/>
        </p:nvSpPr>
        <p:spPr>
          <a:xfrm xmlns:a="http://schemas.openxmlformats.org/drawingml/2006/main">
            <a:off x="8001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CD20</a:t>
            </a:r>
          </a:p>
        </p:txBody>
      </p:sp>
      <p:sp>
        <p:nvSpPr>
          <p:cNvPr id="8" name="">
            <a:extLst xmlns:a="http://schemas.openxmlformats.org/drawingml/2006/main">
              <a:ext uri="{FF2B5EF4-FFF2-40B4-BE49-F238E27FC236}">
                <a16:creationId xmlns:a16="http://schemas.microsoft.com/office/drawing/2014/main" id="{A59FB779-121B-4CBE-9BAF-DDA9E437BF6F}"/>
              </a:ext>
            </a:extLst>
          </p:cNvPr>
          <p:cNvSpPr>
            <a:spLocks xmlns:a="http://schemas.openxmlformats.org/drawingml/2006/main" noGrp="1"/>
          </p:cNvSpPr>
          <p:nvPr/>
        </p:nvSpPr>
        <p:spPr>
          <a:xfrm xmlns:a="http://schemas.openxmlformats.org/drawingml/2006/main">
            <a:off x="7810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B-cell identity</a:t>
            </a:r>
          </a:p>
        </p:txBody>
      </p:sp>
      <p:sp>
        <p:nvSpPr>
          <p:cNvPr id="9" name="">
            <a:extLst xmlns:a="http://schemas.openxmlformats.org/drawingml/2006/main">
              <a:ext uri="{FF2B5EF4-FFF2-40B4-BE49-F238E27FC236}">
                <a16:creationId xmlns:a16="http://schemas.microsoft.com/office/drawing/2014/main" id="{2EFAD5DA-F69A-428B-99FC-9ABA36F9F036}"/>
              </a:ext>
            </a:extLst>
          </p:cNvPr>
          <p:cNvSpPr>
            <a:spLocks xmlns:a="http://schemas.openxmlformats.org/drawingml/2006/main" noGrp="1"/>
          </p:cNvSpPr>
          <p:nvPr/>
        </p:nvSpPr>
        <p:spPr>
          <a:xfrm xmlns:a="http://schemas.openxmlformats.org/drawingml/2006/main">
            <a:off x="7810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therapeutic target</a:t>
            </a:r>
          </a:p>
        </p:txBody>
      </p:sp>
      <p:sp>
        <p:nvSpPr>
          <p:cNvPr id="10" name="">
            <a:extLst xmlns:a="http://schemas.openxmlformats.org/drawingml/2006/main">
              <a:ext uri="{FF2B5EF4-FFF2-40B4-BE49-F238E27FC236}">
                <a16:creationId xmlns:a16="http://schemas.microsoft.com/office/drawing/2014/main" id="{DD1F6C92-6C1E-433A-AA6C-F94CF651D157}"/>
              </a:ext>
            </a:extLst>
          </p:cNvPr>
          <p:cNvSpPr>
            <a:spLocks xmlns:a="http://schemas.openxmlformats.org/drawingml/2006/main" noGrp="1"/>
          </p:cNvSpPr>
          <p:nvPr/>
        </p:nvSpPr>
        <p:spPr>
          <a:xfrm xmlns:a="http://schemas.openxmlformats.org/drawingml/2006/main">
            <a:off x="93345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8AC3AB-76F2-419B-97D6-2E1DBB8B77F5}"/>
              </a:ext>
            </a:extLst>
          </p:cNvPr>
          <p:cNvSpPr>
            <a:spLocks xmlns:a="http://schemas.openxmlformats.org/drawingml/2006/main" noGrp="1"/>
          </p:cNvSpPr>
          <p:nvPr/>
        </p:nvSpPr>
        <p:spPr>
          <a:xfrm xmlns:a="http://schemas.openxmlformats.org/drawingml/2006/main">
            <a:off x="10096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2" name="">
            <a:extLst xmlns:a="http://schemas.openxmlformats.org/drawingml/2006/main">
              <a:ext uri="{FF2B5EF4-FFF2-40B4-BE49-F238E27FC236}">
                <a16:creationId xmlns:a16="http://schemas.microsoft.com/office/drawing/2014/main" id="{F72ED17F-B9D2-425A-BCF0-3DDE02A57580}"/>
              </a:ext>
            </a:extLst>
          </p:cNvPr>
          <p:cNvSpPr>
            <a:spLocks xmlns:a="http://schemas.openxmlformats.org/drawingml/2006/main" noGrp="1"/>
          </p:cNvSpPr>
          <p:nvPr/>
        </p:nvSpPr>
        <p:spPr>
          <a:xfrm xmlns:a="http://schemas.openxmlformats.org/drawingml/2006/main">
            <a:off x="3448050" y="2533650"/>
            <a:ext cx="2571750" cy="2324100"/>
          </a:xfrm>
          <a:prstGeom xmlns:a="http://schemas.openxmlformats.org/drawingml/2006/main" prst="roundRect">
            <a:avLst>
              <a:gd name="adj" fmla="val 4918"/>
            </a:avLst>
          </a:prstGeom>
          <a:solidFill xmlns:a="http://schemas.openxmlformats.org/drawingml/2006/main">
            <a:srgbClr val="E6FFF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FCCDD82-5BA8-4E55-817F-C8CB3D93FC4B}"/>
              </a:ext>
            </a:extLst>
          </p:cNvPr>
          <p:cNvSpPr>
            <a:spLocks xmlns:a="http://schemas.openxmlformats.org/drawingml/2006/main" noGrp="1"/>
          </p:cNvSpPr>
          <p:nvPr/>
        </p:nvSpPr>
        <p:spPr>
          <a:xfrm xmlns:a="http://schemas.openxmlformats.org/drawingml/2006/main">
            <a:off x="36385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0F9F9A"/>
                </a:solidFill>
                <a:latin typeface="Arial"/>
                <a:ea typeface="Arial"/>
                <a:cs typeface="Arial"/>
              </a:defRPr>
            </a:pPr>
            <a:r>
              <a:rPr sz="2850" b="1">
                <a:solidFill>
                  <a:srgbClr val="0F9F9A"/>
                </a:solidFill>
                <a:latin typeface="Arial"/>
                <a:ea typeface="Arial"/>
                <a:cs typeface="Arial"/>
              </a:rPr>
              <a:t>CD28</a:t>
            </a:r>
          </a:p>
        </p:txBody>
      </p:sp>
      <p:sp>
        <p:nvSpPr>
          <p:cNvPr id="14" name="">
            <a:extLst xmlns:a="http://schemas.openxmlformats.org/drawingml/2006/main">
              <a:ext uri="{FF2B5EF4-FFF2-40B4-BE49-F238E27FC236}">
                <a16:creationId xmlns:a16="http://schemas.microsoft.com/office/drawing/2014/main" id="{56DDA92F-F07E-4856-B705-43654F0EEF5E}"/>
              </a:ext>
            </a:extLst>
          </p:cNvPr>
          <p:cNvSpPr>
            <a:spLocks xmlns:a="http://schemas.openxmlformats.org/drawingml/2006/main" noGrp="1"/>
          </p:cNvSpPr>
          <p:nvPr/>
        </p:nvSpPr>
        <p:spPr>
          <a:xfrm xmlns:a="http://schemas.openxmlformats.org/drawingml/2006/main">
            <a:off x="36195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T-cell costimulation</a:t>
            </a:r>
          </a:p>
        </p:txBody>
      </p:sp>
      <p:sp>
        <p:nvSpPr>
          <p:cNvPr id="15" name="">
            <a:extLst xmlns:a="http://schemas.openxmlformats.org/drawingml/2006/main">
              <a:ext uri="{FF2B5EF4-FFF2-40B4-BE49-F238E27FC236}">
                <a16:creationId xmlns:a16="http://schemas.microsoft.com/office/drawing/2014/main" id="{24685452-D5E4-4F36-9250-CBB1D8B339EA}"/>
              </a:ext>
            </a:extLst>
          </p:cNvPr>
          <p:cNvSpPr>
            <a:spLocks xmlns:a="http://schemas.openxmlformats.org/drawingml/2006/main" noGrp="1"/>
          </p:cNvSpPr>
          <p:nvPr/>
        </p:nvSpPr>
        <p:spPr>
          <a:xfrm xmlns:a="http://schemas.openxmlformats.org/drawingml/2006/main">
            <a:off x="36195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activation state</a:t>
            </a:r>
          </a:p>
        </p:txBody>
      </p:sp>
      <p:sp>
        <p:nvSpPr>
          <p:cNvPr id="16" name="">
            <a:extLst xmlns:a="http://schemas.openxmlformats.org/drawingml/2006/main">
              <a:ext uri="{FF2B5EF4-FFF2-40B4-BE49-F238E27FC236}">
                <a16:creationId xmlns:a16="http://schemas.microsoft.com/office/drawing/2014/main" id="{88D301A9-3214-4605-8B7A-1F2B67846F6A}"/>
              </a:ext>
            </a:extLst>
          </p:cNvPr>
          <p:cNvSpPr>
            <a:spLocks xmlns:a="http://schemas.openxmlformats.org/drawingml/2006/main" noGrp="1"/>
          </p:cNvSpPr>
          <p:nvPr/>
        </p:nvSpPr>
        <p:spPr>
          <a:xfrm xmlns:a="http://schemas.openxmlformats.org/drawingml/2006/main">
            <a:off x="3771900" y="4400550"/>
            <a:ext cx="1924050" cy="342900"/>
          </a:xfrm>
          <a:prstGeom xmlns:a="http://schemas.openxmlformats.org/drawingml/2006/main" prst="roundRect">
            <a:avLst>
              <a:gd name="adj" fmla="val 33333"/>
            </a:avLst>
          </a:prstGeom>
          <a:solidFill xmlns:a="http://schemas.openxmlformats.org/drawingml/2006/main">
            <a:srgbClr val="0F9F9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E5414E-E368-4FE4-8B7D-F1407B0EDAED}"/>
              </a:ext>
            </a:extLst>
          </p:cNvPr>
          <p:cNvSpPr>
            <a:spLocks xmlns:a="http://schemas.openxmlformats.org/drawingml/2006/main" noGrp="1"/>
          </p:cNvSpPr>
          <p:nvPr/>
        </p:nvSpPr>
        <p:spPr>
          <a:xfrm xmlns:a="http://schemas.openxmlformats.org/drawingml/2006/main">
            <a:off x="38481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8" name="">
            <a:extLst xmlns:a="http://schemas.openxmlformats.org/drawingml/2006/main">
              <a:ext uri="{FF2B5EF4-FFF2-40B4-BE49-F238E27FC236}">
                <a16:creationId xmlns:a16="http://schemas.microsoft.com/office/drawing/2014/main" id="{0EAAB1AC-8C99-40FC-AE9D-7C93B1AE37EA}"/>
              </a:ext>
            </a:extLst>
          </p:cNvPr>
          <p:cNvSpPr>
            <a:spLocks xmlns:a="http://schemas.openxmlformats.org/drawingml/2006/main" noGrp="1"/>
          </p:cNvSpPr>
          <p:nvPr/>
        </p:nvSpPr>
        <p:spPr>
          <a:xfrm xmlns:a="http://schemas.openxmlformats.org/drawingml/2006/main">
            <a:off x="6286500" y="2533650"/>
            <a:ext cx="2571750" cy="2324100"/>
          </a:xfrm>
          <a:prstGeom xmlns:a="http://schemas.openxmlformats.org/drawingml/2006/main" prst="roundRect">
            <a:avLst>
              <a:gd name="adj" fmla="val 4918"/>
            </a:avLst>
          </a:prstGeom>
          <a:solidFill xmlns:a="http://schemas.openxmlformats.org/drawingml/2006/main">
            <a:srgbClr val="EEF2F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DDBC2C-4814-4A1D-A7E4-A3B5D8DFCF85}"/>
              </a:ext>
            </a:extLst>
          </p:cNvPr>
          <p:cNvSpPr>
            <a:spLocks xmlns:a="http://schemas.openxmlformats.org/drawingml/2006/main" noGrp="1"/>
          </p:cNvSpPr>
          <p:nvPr/>
        </p:nvSpPr>
        <p:spPr>
          <a:xfrm xmlns:a="http://schemas.openxmlformats.org/drawingml/2006/main">
            <a:off x="64770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4F46E5"/>
                </a:solidFill>
                <a:latin typeface="Arial"/>
                <a:ea typeface="Arial"/>
                <a:cs typeface="Arial"/>
              </a:defRPr>
            </a:pPr>
            <a:r>
              <a:rPr sz="2850" b="1">
                <a:solidFill>
                  <a:srgbClr val="4F46E5"/>
                </a:solidFill>
                <a:latin typeface="Arial"/>
                <a:ea typeface="Arial"/>
                <a:cs typeface="Arial"/>
              </a:rPr>
              <a:t>CD4</a:t>
            </a:r>
          </a:p>
        </p:txBody>
      </p:sp>
      <p:sp>
        <p:nvSpPr>
          <p:cNvPr id="20" name="">
            <a:extLst xmlns:a="http://schemas.openxmlformats.org/drawingml/2006/main">
              <a:ext uri="{FF2B5EF4-FFF2-40B4-BE49-F238E27FC236}">
                <a16:creationId xmlns:a16="http://schemas.microsoft.com/office/drawing/2014/main" id="{0E74148F-DF0B-4A90-A42A-F68DCBC59F9D}"/>
              </a:ext>
            </a:extLst>
          </p:cNvPr>
          <p:cNvSpPr>
            <a:spLocks xmlns:a="http://schemas.openxmlformats.org/drawingml/2006/main" noGrp="1"/>
          </p:cNvSpPr>
          <p:nvPr/>
        </p:nvSpPr>
        <p:spPr>
          <a:xfrm xmlns:a="http://schemas.openxmlformats.org/drawingml/2006/main">
            <a:off x="64579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helper T cells</a:t>
            </a:r>
          </a:p>
        </p:txBody>
      </p:sp>
      <p:sp>
        <p:nvSpPr>
          <p:cNvPr id="21" name="">
            <a:extLst xmlns:a="http://schemas.openxmlformats.org/drawingml/2006/main">
              <a:ext uri="{FF2B5EF4-FFF2-40B4-BE49-F238E27FC236}">
                <a16:creationId xmlns:a16="http://schemas.microsoft.com/office/drawing/2014/main" id="{2AEAA0DB-AC6C-48C6-9BE4-3C2B9B0B02D8}"/>
              </a:ext>
            </a:extLst>
          </p:cNvPr>
          <p:cNvSpPr>
            <a:spLocks xmlns:a="http://schemas.openxmlformats.org/drawingml/2006/main" noGrp="1"/>
          </p:cNvSpPr>
          <p:nvPr/>
        </p:nvSpPr>
        <p:spPr>
          <a:xfrm xmlns:a="http://schemas.openxmlformats.org/drawingml/2006/main">
            <a:off x="64579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2" name="">
            <a:extLst xmlns:a="http://schemas.openxmlformats.org/drawingml/2006/main">
              <a:ext uri="{FF2B5EF4-FFF2-40B4-BE49-F238E27FC236}">
                <a16:creationId xmlns:a16="http://schemas.microsoft.com/office/drawing/2014/main" id="{6855A5AC-B61D-4E1A-B7D7-BDFD47FDED5A}"/>
              </a:ext>
            </a:extLst>
          </p:cNvPr>
          <p:cNvSpPr>
            <a:spLocks xmlns:a="http://schemas.openxmlformats.org/drawingml/2006/main" noGrp="1"/>
          </p:cNvSpPr>
          <p:nvPr/>
        </p:nvSpPr>
        <p:spPr>
          <a:xfrm xmlns:a="http://schemas.openxmlformats.org/drawingml/2006/main">
            <a:off x="6610350" y="4400550"/>
            <a:ext cx="1924050" cy="342900"/>
          </a:xfrm>
          <a:prstGeom xmlns:a="http://schemas.openxmlformats.org/drawingml/2006/main" prst="roundRect">
            <a:avLst>
              <a:gd name="adj" fmla="val 33333"/>
            </a:avLst>
          </a:prstGeom>
          <a:solidFill xmlns:a="http://schemas.openxmlformats.org/drawingml/2006/main">
            <a:srgbClr val="4F46E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46218E1-FD64-4BCD-A39B-948411014D59}"/>
              </a:ext>
            </a:extLst>
          </p:cNvPr>
          <p:cNvSpPr>
            <a:spLocks xmlns:a="http://schemas.openxmlformats.org/drawingml/2006/main" noGrp="1"/>
          </p:cNvSpPr>
          <p:nvPr/>
        </p:nvSpPr>
        <p:spPr>
          <a:xfrm xmlns:a="http://schemas.openxmlformats.org/drawingml/2006/main">
            <a:off x="66865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24" name="">
            <a:extLst xmlns:a="http://schemas.openxmlformats.org/drawingml/2006/main">
              <a:ext uri="{FF2B5EF4-FFF2-40B4-BE49-F238E27FC236}">
                <a16:creationId xmlns:a16="http://schemas.microsoft.com/office/drawing/2014/main" id="{EE58221D-08A7-4D45-8E17-C11C017E469A}"/>
              </a:ext>
            </a:extLst>
          </p:cNvPr>
          <p:cNvSpPr>
            <a:spLocks xmlns:a="http://schemas.openxmlformats.org/drawingml/2006/main" noGrp="1"/>
          </p:cNvSpPr>
          <p:nvPr/>
        </p:nvSpPr>
        <p:spPr>
          <a:xfrm xmlns:a="http://schemas.openxmlformats.org/drawingml/2006/main">
            <a:off x="912495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3ADFA2B-5312-468A-993D-DA54FC318080}"/>
              </a:ext>
            </a:extLst>
          </p:cNvPr>
          <p:cNvSpPr>
            <a:spLocks xmlns:a="http://schemas.openxmlformats.org/drawingml/2006/main" noGrp="1"/>
          </p:cNvSpPr>
          <p:nvPr/>
        </p:nvSpPr>
        <p:spPr>
          <a:xfrm xmlns:a="http://schemas.openxmlformats.org/drawingml/2006/main">
            <a:off x="93154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CD8a</a:t>
            </a:r>
          </a:p>
        </p:txBody>
      </p:sp>
      <p:sp>
        <p:nvSpPr>
          <p:cNvPr id="26" name="">
            <a:extLst xmlns:a="http://schemas.openxmlformats.org/drawingml/2006/main">
              <a:ext uri="{FF2B5EF4-FFF2-40B4-BE49-F238E27FC236}">
                <a16:creationId xmlns:a16="http://schemas.microsoft.com/office/drawing/2014/main" id="{F77E4F51-BC58-44D3-BC61-22C632A0E8A5}"/>
              </a:ext>
            </a:extLst>
          </p:cNvPr>
          <p:cNvSpPr>
            <a:spLocks xmlns:a="http://schemas.openxmlformats.org/drawingml/2006/main" noGrp="1"/>
          </p:cNvSpPr>
          <p:nvPr/>
        </p:nvSpPr>
        <p:spPr>
          <a:xfrm xmlns:a="http://schemas.openxmlformats.org/drawingml/2006/main">
            <a:off x="92964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cytotoxic T cells</a:t>
            </a:r>
          </a:p>
        </p:txBody>
      </p:sp>
      <p:sp>
        <p:nvSpPr>
          <p:cNvPr id="27" name="">
            <a:extLst xmlns:a="http://schemas.openxmlformats.org/drawingml/2006/main">
              <a:ext uri="{FF2B5EF4-FFF2-40B4-BE49-F238E27FC236}">
                <a16:creationId xmlns:a16="http://schemas.microsoft.com/office/drawing/2014/main" id="{011543BD-A92D-4055-AD59-2E84139241EF}"/>
              </a:ext>
            </a:extLst>
          </p:cNvPr>
          <p:cNvSpPr>
            <a:spLocks xmlns:a="http://schemas.openxmlformats.org/drawingml/2006/main" noGrp="1"/>
          </p:cNvSpPr>
          <p:nvPr/>
        </p:nvSpPr>
        <p:spPr>
          <a:xfrm xmlns:a="http://schemas.openxmlformats.org/drawingml/2006/main">
            <a:off x="92964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8" name="">
            <a:extLst xmlns:a="http://schemas.openxmlformats.org/drawingml/2006/main">
              <a:ext uri="{FF2B5EF4-FFF2-40B4-BE49-F238E27FC236}">
                <a16:creationId xmlns:a16="http://schemas.microsoft.com/office/drawing/2014/main" id="{4B6B3134-527F-4F41-BBA5-9F356BF0C0E9}"/>
              </a:ext>
            </a:extLst>
          </p:cNvPr>
          <p:cNvSpPr>
            <a:spLocks xmlns:a="http://schemas.openxmlformats.org/drawingml/2006/main" noGrp="1"/>
          </p:cNvSpPr>
          <p:nvPr/>
        </p:nvSpPr>
        <p:spPr>
          <a:xfrm xmlns:a="http://schemas.openxmlformats.org/drawingml/2006/main">
            <a:off x="944880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6BAB793-FBD1-4517-8D96-87DB0FA89500}"/>
              </a:ext>
            </a:extLst>
          </p:cNvPr>
          <p:cNvSpPr>
            <a:spLocks xmlns:a="http://schemas.openxmlformats.org/drawingml/2006/main" noGrp="1"/>
          </p:cNvSpPr>
          <p:nvPr/>
        </p:nvSpPr>
        <p:spPr>
          <a:xfrm xmlns:a="http://schemas.openxmlformats.org/drawingml/2006/main">
            <a:off x="95250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30" name="">
            <a:extLst xmlns:a="http://schemas.openxmlformats.org/drawingml/2006/main">
              <a:ext uri="{FF2B5EF4-FFF2-40B4-BE49-F238E27FC236}">
                <a16:creationId xmlns:a16="http://schemas.microsoft.com/office/drawing/2014/main" id="{51E12772-64D5-4956-B332-6264746DF58F}"/>
              </a:ext>
            </a:extLst>
          </p:cNvPr>
          <p:cNvSpPr>
            <a:spLocks xmlns:a="http://schemas.openxmlformats.org/drawingml/2006/main" noGrp="1"/>
          </p:cNvSpPr>
          <p:nvPr/>
        </p:nvSpPr>
        <p:spPr>
          <a:xfrm xmlns:a="http://schemas.openxmlformats.org/drawingml/2006/main">
            <a:off x="1352550" y="5314950"/>
            <a:ext cx="948690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CBD5E1"/>
            </a:solidFill>
          </a:ln>
        </p:spPr>
      </p:sp>
      <p:sp>
        <p:nvSpPr>
          <p:cNvPr id="31" name="">
            <a:extLst xmlns:a="http://schemas.openxmlformats.org/drawingml/2006/main">
              <a:ext uri="{FF2B5EF4-FFF2-40B4-BE49-F238E27FC236}">
                <a16:creationId xmlns:a16="http://schemas.microsoft.com/office/drawing/2014/main" id="{745C8BFD-317C-4663-92C4-AEB5F86BB9AC}"/>
              </a:ext>
            </a:extLst>
          </p:cNvPr>
          <p:cNvSpPr>
            <a:spLocks xmlns:a="http://schemas.openxmlformats.org/drawingml/2006/main" noGrp="1"/>
          </p:cNvSpPr>
          <p:nvPr/>
        </p:nvSpPr>
        <p:spPr>
          <a:xfrm xmlns:a="http://schemas.openxmlformats.org/drawingml/2006/main">
            <a:off x="1619250" y="5486400"/>
            <a:ext cx="895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26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Therapeutic relevance: recovering surface proteins can rescue immune biomarker profiling when an antibody panel fails or differs between studies.</a:t>
            </a:r>
          </a:p>
        </p:txBody>
      </p:sp>
    </p:spTree>
    <p:extLst>
      <p:ext uri="{BB962C8B-B14F-4D97-AF65-F5344CB8AC3E}">
        <p14:creationId xmlns:p14="http://schemas.microsoft.com/office/powerpoint/2010/main" val="897124473"/>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278F18B-6DFF-43CA-A192-7E03A8CEF33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STUDY DESIGN</a:t>
            </a:r>
          </a:p>
        </p:txBody>
      </p:sp>
      <p:sp>
        <p:nvSpPr>
          <p:cNvPr id="2" name="">
            <a:extLst xmlns:a="http://schemas.openxmlformats.org/drawingml/2006/main">
              <a:ext uri="{FF2B5EF4-FFF2-40B4-BE49-F238E27FC236}">
                <a16:creationId xmlns:a16="http://schemas.microsoft.com/office/drawing/2014/main" id="{71D807F4-2D2A-4956-97BA-BFD0972BBB79}"/>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paper's two-batch design creates a direct transfer test</a:t>
            </a:r>
          </a:p>
        </p:txBody>
      </p:sp>
      <p:sp>
        <p:nvSpPr>
          <p:cNvPr id="3" name="">
            <a:extLst xmlns:a="http://schemas.openxmlformats.org/drawingml/2006/main">
              <a:ext uri="{FF2B5EF4-FFF2-40B4-BE49-F238E27FC236}">
                <a16:creationId xmlns:a16="http://schemas.microsoft.com/office/drawing/2014/main" id="{16B77C88-0495-4924-8F35-86A4024CD6BF}"/>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5A671C-0FFB-4FAD-92EF-187F722631EE}"/>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28A53B9-B997-489C-B7BD-5C37ADEF8CD2}"/>
              </a:ext>
            </a:extLst>
          </p:cNvPr>
          <p:cNvSpPr>
            <a:spLocks xmlns:a="http://schemas.openxmlformats.org/drawingml/2006/main" noGrp="1"/>
          </p:cNvSpPr>
          <p:nvPr/>
        </p:nvSpPr>
        <p:spPr>
          <a:xfrm xmlns:a="http://schemas.openxmlformats.org/drawingml/2006/main">
            <a:off x="685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D6C0C7-192E-4106-9CAC-CC7F911022A7}"/>
              </a:ext>
            </a:extLst>
          </p:cNvPr>
          <p:cNvSpPr>
            <a:spLocks xmlns:a="http://schemas.openxmlformats.org/drawingml/2006/main" noGrp="1"/>
          </p:cNvSpPr>
          <p:nvPr/>
        </p:nvSpPr>
        <p:spPr>
          <a:xfrm xmlns:a="http://schemas.openxmlformats.org/drawingml/2006/main">
            <a:off x="800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7" name="">
            <a:extLst xmlns:a="http://schemas.openxmlformats.org/drawingml/2006/main">
              <a:ext uri="{FF2B5EF4-FFF2-40B4-BE49-F238E27FC236}">
                <a16:creationId xmlns:a16="http://schemas.microsoft.com/office/drawing/2014/main" id="{20E1A12C-BE89-48A0-AAB2-702A55365930}"/>
              </a:ext>
            </a:extLst>
          </p:cNvPr>
          <p:cNvSpPr>
            <a:spLocks xmlns:a="http://schemas.openxmlformats.org/drawingml/2006/main" noGrp="1"/>
          </p:cNvSpPr>
          <p:nvPr/>
        </p:nvSpPr>
        <p:spPr>
          <a:xfrm xmlns:a="http://schemas.openxmlformats.org/drawingml/2006/main">
            <a:off x="800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8" name="">
            <a:extLst xmlns:a="http://schemas.openxmlformats.org/drawingml/2006/main">
              <a:ext uri="{FF2B5EF4-FFF2-40B4-BE49-F238E27FC236}">
                <a16:creationId xmlns:a16="http://schemas.microsoft.com/office/drawing/2014/main" id="{A918FCD4-DA33-463E-9B0C-65E82FD6B597}"/>
              </a:ext>
            </a:extLst>
          </p:cNvPr>
          <p:cNvSpPr>
            <a:spLocks xmlns:a="http://schemas.openxmlformats.org/drawingml/2006/main" noGrp="1"/>
          </p:cNvSpPr>
          <p:nvPr/>
        </p:nvSpPr>
        <p:spPr>
          <a:xfrm xmlns:a="http://schemas.openxmlformats.org/drawingml/2006/main">
            <a:off x="2971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681688-B834-44B8-95F7-1E95BD22B2BC}"/>
              </a:ext>
            </a:extLst>
          </p:cNvPr>
          <p:cNvSpPr>
            <a:spLocks xmlns:a="http://schemas.openxmlformats.org/drawingml/2006/main" noGrp="1"/>
          </p:cNvSpPr>
          <p:nvPr/>
        </p:nvSpPr>
        <p:spPr>
          <a:xfrm xmlns:a="http://schemas.openxmlformats.org/drawingml/2006/main">
            <a:off x="3086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4,005</a:t>
            </a:r>
          </a:p>
        </p:txBody>
      </p:sp>
      <p:sp>
        <p:nvSpPr>
          <p:cNvPr id="10" name="">
            <a:extLst xmlns:a="http://schemas.openxmlformats.org/drawingml/2006/main">
              <a:ext uri="{FF2B5EF4-FFF2-40B4-BE49-F238E27FC236}">
                <a16:creationId xmlns:a16="http://schemas.microsoft.com/office/drawing/2014/main" id="{9A42F196-4210-4FF1-AC1C-7DAABCEBE6D3}"/>
              </a:ext>
            </a:extLst>
          </p:cNvPr>
          <p:cNvSpPr>
            <a:spLocks xmlns:a="http://schemas.openxmlformats.org/drawingml/2006/main" noGrp="1"/>
          </p:cNvSpPr>
          <p:nvPr/>
        </p:nvSpPr>
        <p:spPr>
          <a:xfrm xmlns:a="http://schemas.openxmlformats.org/drawingml/2006/main">
            <a:off x="3086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genes</a:t>
            </a:r>
          </a:p>
        </p:txBody>
      </p:sp>
      <p:sp>
        <p:nvSpPr>
          <p:cNvPr id="11" name="">
            <a:extLst xmlns:a="http://schemas.openxmlformats.org/drawingml/2006/main">
              <a:ext uri="{FF2B5EF4-FFF2-40B4-BE49-F238E27FC236}">
                <a16:creationId xmlns:a16="http://schemas.microsoft.com/office/drawing/2014/main" id="{B2067CE6-84EF-43D6-A2FF-4DFEB44302AE}"/>
              </a:ext>
            </a:extLst>
          </p:cNvPr>
          <p:cNvSpPr>
            <a:spLocks xmlns:a="http://schemas.openxmlformats.org/drawingml/2006/main" noGrp="1"/>
          </p:cNvSpPr>
          <p:nvPr/>
        </p:nvSpPr>
        <p:spPr>
          <a:xfrm xmlns:a="http://schemas.openxmlformats.org/drawingml/2006/main">
            <a:off x="5257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642057-BF37-4929-BA58-DECC3674E7A8}"/>
              </a:ext>
            </a:extLst>
          </p:cNvPr>
          <p:cNvSpPr>
            <a:spLocks xmlns:a="http://schemas.openxmlformats.org/drawingml/2006/main" noGrp="1"/>
          </p:cNvSpPr>
          <p:nvPr/>
        </p:nvSpPr>
        <p:spPr>
          <a:xfrm xmlns:a="http://schemas.openxmlformats.org/drawingml/2006/main">
            <a:off x="5372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688A6EF8-EDEF-4138-8293-5CE979AC866D}"/>
              </a:ext>
            </a:extLst>
          </p:cNvPr>
          <p:cNvSpPr>
            <a:spLocks xmlns:a="http://schemas.openxmlformats.org/drawingml/2006/main" noGrp="1"/>
          </p:cNvSpPr>
          <p:nvPr/>
        </p:nvSpPr>
        <p:spPr>
          <a:xfrm xmlns:a="http://schemas.openxmlformats.org/drawingml/2006/main">
            <a:off x="5372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a:t>
            </a:r>
          </a:p>
        </p:txBody>
      </p:sp>
      <p:sp>
        <p:nvSpPr>
          <p:cNvPr id="14" name="">
            <a:extLst xmlns:a="http://schemas.openxmlformats.org/drawingml/2006/main">
              <a:ext uri="{FF2B5EF4-FFF2-40B4-BE49-F238E27FC236}">
                <a16:creationId xmlns:a16="http://schemas.microsoft.com/office/drawing/2014/main" id="{9F52F725-8887-422A-98F5-A0C0E058F1D9}"/>
              </a:ext>
            </a:extLst>
          </p:cNvPr>
          <p:cNvSpPr>
            <a:spLocks xmlns:a="http://schemas.openxmlformats.org/drawingml/2006/main" noGrp="1"/>
          </p:cNvSpPr>
          <p:nvPr/>
        </p:nvSpPr>
        <p:spPr>
          <a:xfrm xmlns:a="http://schemas.openxmlformats.org/drawingml/2006/main">
            <a:off x="7543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7358A2-52F3-46CC-80FB-53A5CB64F495}"/>
              </a:ext>
            </a:extLst>
          </p:cNvPr>
          <p:cNvSpPr>
            <a:spLocks xmlns:a="http://schemas.openxmlformats.org/drawingml/2006/main" noGrp="1"/>
          </p:cNvSpPr>
          <p:nvPr/>
        </p:nvSpPr>
        <p:spPr>
          <a:xfrm xmlns:a="http://schemas.openxmlformats.org/drawingml/2006/main">
            <a:off x="7658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13F79C40-681C-4AE7-8F7C-DBC078421750}"/>
              </a:ext>
            </a:extLst>
          </p:cNvPr>
          <p:cNvSpPr>
            <a:spLocks xmlns:a="http://schemas.openxmlformats.org/drawingml/2006/main" noGrp="1"/>
          </p:cNvSpPr>
          <p:nvPr/>
        </p:nvSpPr>
        <p:spPr>
          <a:xfrm xmlns:a="http://schemas.openxmlformats.org/drawingml/2006/main">
            <a:off x="7658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batches</a:t>
            </a:r>
          </a:p>
        </p:txBody>
      </p:sp>
      <p:sp>
        <p:nvSpPr>
          <p:cNvPr id="17" name="">
            <a:extLst xmlns:a="http://schemas.openxmlformats.org/drawingml/2006/main">
              <a:ext uri="{FF2B5EF4-FFF2-40B4-BE49-F238E27FC236}">
                <a16:creationId xmlns:a16="http://schemas.microsoft.com/office/drawing/2014/main" id="{0F5CC82E-B1C2-41A2-9848-46D221EA790D}"/>
              </a:ext>
            </a:extLst>
          </p:cNvPr>
          <p:cNvSpPr>
            <a:spLocks xmlns:a="http://schemas.openxmlformats.org/drawingml/2006/main" noGrp="1"/>
          </p:cNvSpPr>
          <p:nvPr/>
        </p:nvSpPr>
        <p:spPr>
          <a:xfrm xmlns:a="http://schemas.openxmlformats.org/drawingml/2006/main">
            <a:off x="9829800" y="1562100"/>
            <a:ext cx="16764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9EEA33-95FB-44B0-BF90-8F1E042DC7E0}"/>
              </a:ext>
            </a:extLst>
          </p:cNvPr>
          <p:cNvSpPr>
            <a:spLocks xmlns:a="http://schemas.openxmlformats.org/drawingml/2006/main" noGrp="1"/>
          </p:cNvSpPr>
          <p:nvPr/>
        </p:nvSpPr>
        <p:spPr>
          <a:xfrm xmlns:a="http://schemas.openxmlformats.org/drawingml/2006/main">
            <a:off x="9944100" y="1695450"/>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78E7BB4A-9747-4EDD-9115-5C14632E98E6}"/>
              </a:ext>
            </a:extLst>
          </p:cNvPr>
          <p:cNvSpPr>
            <a:spLocks xmlns:a="http://schemas.openxmlformats.org/drawingml/2006/main" noGrp="1"/>
          </p:cNvSpPr>
          <p:nvPr/>
        </p:nvSpPr>
        <p:spPr>
          <a:xfrm xmlns:a="http://schemas.openxmlformats.org/drawingml/2006/main">
            <a:off x="9944100" y="2181225"/>
            <a:ext cx="144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transfer task</a:t>
            </a:r>
          </a:p>
        </p:txBody>
      </p:sp>
      <p:sp>
        <p:nvSpPr>
          <p:cNvPr id="20" name="">
            <a:extLst xmlns:a="http://schemas.openxmlformats.org/drawingml/2006/main">
              <a:ext uri="{FF2B5EF4-FFF2-40B4-BE49-F238E27FC236}">
                <a16:creationId xmlns:a16="http://schemas.microsoft.com/office/drawing/2014/main" id="{841C1085-18C9-46BF-AA11-139414E0A32D}"/>
              </a:ext>
            </a:extLst>
          </p:cNvPr>
          <p:cNvSpPr>
            <a:spLocks xmlns:a="http://schemas.openxmlformats.org/drawingml/2006/main" noGrp="1"/>
          </p:cNvSpPr>
          <p:nvPr/>
        </p:nvSpPr>
        <p:spPr>
          <a:xfrm xmlns:a="http://schemas.openxmlformats.org/drawingml/2006/main">
            <a:off x="8001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1" name="">
            <a:extLst xmlns:a="http://schemas.openxmlformats.org/drawingml/2006/main">
              <a:ext uri="{FF2B5EF4-FFF2-40B4-BE49-F238E27FC236}">
                <a16:creationId xmlns:a16="http://schemas.microsoft.com/office/drawing/2014/main" id="{2CE3BE9D-44D3-46CA-9130-00FDE5D537F9}"/>
              </a:ext>
            </a:extLst>
          </p:cNvPr>
          <p:cNvSpPr>
            <a:spLocks xmlns:a="http://schemas.openxmlformats.org/drawingml/2006/main" noGrp="1"/>
          </p:cNvSpPr>
          <p:nvPr/>
        </p:nvSpPr>
        <p:spPr>
          <a:xfrm xmlns:a="http://schemas.openxmlformats.org/drawingml/2006/main">
            <a:off x="10287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SLN111-D1</a:t>
            </a:r>
          </a:p>
        </p:txBody>
      </p:sp>
      <p:sp>
        <p:nvSpPr>
          <p:cNvPr id="22" name="">
            <a:extLst xmlns:a="http://schemas.openxmlformats.org/drawingml/2006/main">
              <a:ext uri="{FF2B5EF4-FFF2-40B4-BE49-F238E27FC236}">
                <a16:creationId xmlns:a16="http://schemas.microsoft.com/office/drawing/2014/main" id="{51A53A41-4C7F-4C65-84E0-F1B02AA6B95A}"/>
              </a:ext>
            </a:extLst>
          </p:cNvPr>
          <p:cNvSpPr>
            <a:spLocks xmlns:a="http://schemas.openxmlformats.org/drawingml/2006/main" noGrp="1"/>
          </p:cNvSpPr>
          <p:nvPr/>
        </p:nvSpPr>
        <p:spPr>
          <a:xfrm xmlns:a="http://schemas.openxmlformats.org/drawingml/2006/main">
            <a:off x="10287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9,264 cells</a:t>
            </a:r>
          </a:p>
        </p:txBody>
      </p:sp>
      <p:sp>
        <p:nvSpPr>
          <p:cNvPr id="23" name="">
            <a:extLst xmlns:a="http://schemas.openxmlformats.org/drawingml/2006/main">
              <a:ext uri="{FF2B5EF4-FFF2-40B4-BE49-F238E27FC236}">
                <a16:creationId xmlns:a16="http://schemas.microsoft.com/office/drawing/2014/main" id="{567F4151-9A27-4A13-8C7B-C09257FCA3FB}"/>
              </a:ext>
            </a:extLst>
          </p:cNvPr>
          <p:cNvSpPr>
            <a:spLocks xmlns:a="http://schemas.openxmlformats.org/drawingml/2006/main" noGrp="1"/>
          </p:cNvSpPr>
          <p:nvPr/>
        </p:nvSpPr>
        <p:spPr>
          <a:xfrm xmlns:a="http://schemas.openxmlformats.org/drawingml/2006/main">
            <a:off x="10287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+ 110 proteins</a:t>
            </a:r>
          </a:p>
        </p:txBody>
      </p:sp>
      <p:sp>
        <p:nvSpPr>
          <p:cNvPr id="24" name="">
            <a:extLst xmlns:a="http://schemas.openxmlformats.org/drawingml/2006/main">
              <a:ext uri="{FF2B5EF4-FFF2-40B4-BE49-F238E27FC236}">
                <a16:creationId xmlns:a16="http://schemas.microsoft.com/office/drawing/2014/main" id="{D20C443B-22E9-423B-857B-24B16F68671B}"/>
              </a:ext>
            </a:extLst>
          </p:cNvPr>
          <p:cNvSpPr>
            <a:spLocks xmlns:a="http://schemas.openxmlformats.org/drawingml/2006/main" noGrp="1"/>
          </p:cNvSpPr>
          <p:nvPr/>
        </p:nvSpPr>
        <p:spPr>
          <a:xfrm xmlns:a="http://schemas.openxmlformats.org/drawingml/2006/main">
            <a:off x="35623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REFERENCE</a:t>
            </a:r>
          </a:p>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BATCH</a:t>
            </a:r>
          </a:p>
        </p:txBody>
      </p:sp>
      <p:sp>
        <p:nvSpPr>
          <p:cNvPr id="25" name="">
            <a:extLst xmlns:a="http://schemas.openxmlformats.org/drawingml/2006/main">
              <a:ext uri="{FF2B5EF4-FFF2-40B4-BE49-F238E27FC236}">
                <a16:creationId xmlns:a16="http://schemas.microsoft.com/office/drawing/2014/main" id="{C95589F5-DCA6-46D8-9A13-BB6CE8B764DE}"/>
              </a:ext>
            </a:extLst>
          </p:cNvPr>
          <p:cNvSpPr>
            <a:spLocks xmlns:a="http://schemas.openxmlformats.org/drawingml/2006/main" noGrp="1"/>
          </p:cNvSpPr>
          <p:nvPr/>
        </p:nvSpPr>
        <p:spPr>
          <a:xfrm xmlns:a="http://schemas.openxmlformats.org/drawingml/2006/main">
            <a:off x="67437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6" name="">
            <a:extLst xmlns:a="http://schemas.openxmlformats.org/drawingml/2006/main">
              <a:ext uri="{FF2B5EF4-FFF2-40B4-BE49-F238E27FC236}">
                <a16:creationId xmlns:a16="http://schemas.microsoft.com/office/drawing/2014/main" id="{992C2E78-CFE1-4C57-8232-9E89B175A70B}"/>
              </a:ext>
            </a:extLst>
          </p:cNvPr>
          <p:cNvSpPr>
            <a:spLocks xmlns:a="http://schemas.openxmlformats.org/drawingml/2006/main" noGrp="1"/>
          </p:cNvSpPr>
          <p:nvPr/>
        </p:nvSpPr>
        <p:spPr>
          <a:xfrm xmlns:a="http://schemas.openxmlformats.org/drawingml/2006/main">
            <a:off x="69723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SLN111-D2</a:t>
            </a:r>
          </a:p>
        </p:txBody>
      </p:sp>
      <p:sp>
        <p:nvSpPr>
          <p:cNvPr id="27" name="">
            <a:extLst xmlns:a="http://schemas.openxmlformats.org/drawingml/2006/main">
              <a:ext uri="{FF2B5EF4-FFF2-40B4-BE49-F238E27FC236}">
                <a16:creationId xmlns:a16="http://schemas.microsoft.com/office/drawing/2014/main" id="{3AAC4442-ECA2-42E9-B0EA-8EBD3B223732}"/>
              </a:ext>
            </a:extLst>
          </p:cNvPr>
          <p:cNvSpPr>
            <a:spLocks xmlns:a="http://schemas.openxmlformats.org/drawingml/2006/main" noGrp="1"/>
          </p:cNvSpPr>
          <p:nvPr/>
        </p:nvSpPr>
        <p:spPr>
          <a:xfrm xmlns:a="http://schemas.openxmlformats.org/drawingml/2006/main">
            <a:off x="69723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7,564 cells</a:t>
            </a:r>
          </a:p>
        </p:txBody>
      </p:sp>
      <p:sp>
        <p:nvSpPr>
          <p:cNvPr id="28" name="">
            <a:extLst xmlns:a="http://schemas.openxmlformats.org/drawingml/2006/main">
              <a:ext uri="{FF2B5EF4-FFF2-40B4-BE49-F238E27FC236}">
                <a16:creationId xmlns:a16="http://schemas.microsoft.com/office/drawing/2014/main" id="{BF0ABCDC-6958-4F83-AEB7-CE977BB78930}"/>
              </a:ext>
            </a:extLst>
          </p:cNvPr>
          <p:cNvSpPr>
            <a:spLocks xmlns:a="http://schemas.openxmlformats.org/drawingml/2006/main" noGrp="1"/>
          </p:cNvSpPr>
          <p:nvPr/>
        </p:nvSpPr>
        <p:spPr>
          <a:xfrm xmlns:a="http://schemas.openxmlformats.org/drawingml/2006/main">
            <a:off x="69723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only for training</a:t>
            </a:r>
          </a:p>
        </p:txBody>
      </p:sp>
      <p:sp>
        <p:nvSpPr>
          <p:cNvPr id="29" name="">
            <a:extLst xmlns:a="http://schemas.openxmlformats.org/drawingml/2006/main">
              <a:ext uri="{FF2B5EF4-FFF2-40B4-BE49-F238E27FC236}">
                <a16:creationId xmlns:a16="http://schemas.microsoft.com/office/drawing/2014/main" id="{2415A3DB-0D12-493A-95F3-0B00536DD194}"/>
              </a:ext>
            </a:extLst>
          </p:cNvPr>
          <p:cNvSpPr>
            <a:spLocks xmlns:a="http://schemas.openxmlformats.org/drawingml/2006/main" noGrp="1"/>
          </p:cNvSpPr>
          <p:nvPr/>
        </p:nvSpPr>
        <p:spPr>
          <a:xfrm xmlns:a="http://schemas.openxmlformats.org/drawingml/2006/main">
            <a:off x="95059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ALL PROTEINS</a:t>
            </a:r>
          </a:p>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HIDDEN</a:t>
            </a:r>
          </a:p>
        </p:txBody>
      </p:sp>
      <p:sp>
        <p:nvSpPr>
          <p:cNvPr id="30" name="">
            <a:extLst xmlns:a="http://schemas.openxmlformats.org/drawingml/2006/main">
              <a:ext uri="{FF2B5EF4-FFF2-40B4-BE49-F238E27FC236}">
                <a16:creationId xmlns:a16="http://schemas.microsoft.com/office/drawing/2014/main" id="{5D560BEC-9734-4F13-A024-A4A39C604C58}"/>
              </a:ext>
            </a:extLst>
          </p:cNvPr>
          <p:cNvSpPr>
            <a:spLocks xmlns:a="http://schemas.openxmlformats.org/drawingml/2006/main" noGrp="1"/>
          </p:cNvSpPr>
          <p:nvPr/>
        </p:nvSpPr>
        <p:spPr>
          <a:xfrm xmlns:a="http://schemas.openxmlformats.org/drawingml/2006/main">
            <a:off x="1676400" y="5715000"/>
            <a:ext cx="883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D2 proteins never enter training and are revealed only for scoring</a:t>
            </a:r>
          </a:p>
        </p:txBody>
      </p:sp>
      <p:sp>
        <p:nvSpPr>
          <p:cNvPr id="31" name="">
            <a:extLst xmlns:a="http://schemas.openxmlformats.org/drawingml/2006/main">
              <a:ext uri="{FF2B5EF4-FFF2-40B4-BE49-F238E27FC236}">
                <a16:creationId xmlns:a16="http://schemas.microsoft.com/office/drawing/2014/main" id="{44A73434-E8A8-4972-A141-D3ED179ABFE8}"/>
              </a:ext>
            </a:extLst>
          </p:cNvPr>
          <p:cNvSpPr>
            <a:spLocks xmlns:a="http://schemas.openxmlformats.org/drawingml/2006/main" noGrp="1"/>
          </p:cNvSpPr>
          <p:nvPr/>
        </p:nvSpPr>
        <p:spPr>
          <a:xfrm xmlns:a="http://schemas.openxmlformats.org/drawingml/2006/main">
            <a:off x="1714500" y="6191250"/>
            <a:ext cx="876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971"/>
          </a:bodyPr>
          <a:lstStyle xmlns:a="http://schemas.openxmlformats.org/drawingml/2006/main"/>
          <a:p xmlns:a="http://schemas.openxmlformats.org/drawingml/2006/main">
            <a:pPr algn="ctr">
              <a:lnSpc>
                <a:spcPct val="104000"/>
              </a:lnSpc>
              <a:buNone/>
              <a:defRPr sz="1050" b="0">
                <a:solidFill>
                  <a:srgbClr val="64748B"/>
                </a:solidFill>
                <a:latin typeface="Arial"/>
                <a:ea typeface="Arial"/>
                <a:cs typeface="Arial"/>
              </a:defRPr>
            </a:pPr>
            <a:r>
              <a:rPr sz="1050" b="0">
                <a:solidFill>
                  <a:srgbClr val="64748B"/>
                </a:solidFill>
                <a:latin typeface="Arial"/>
                <a:ea typeface="Arial"/>
                <a:cs typeface="Arial"/>
              </a:rPr>
              <a:t>Source: Gayoso et al., Nature Methods 2021; GSE150599; official reproducibility object</a:t>
            </a:r>
          </a:p>
        </p:txBody>
      </p:sp>
    </p:spTree>
    <p:extLst>
      <p:ext uri="{BB962C8B-B14F-4D97-AF65-F5344CB8AC3E}">
        <p14:creationId xmlns:p14="http://schemas.microsoft.com/office/powerpoint/2010/main" val="201196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4E0BD8F-20D7-43EC-95A5-FF617D79A94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METHODS</a:t>
            </a:r>
          </a:p>
        </p:txBody>
      </p:sp>
      <p:sp>
        <p:nvSpPr>
          <p:cNvPr id="2" name="">
            <a:extLst xmlns:a="http://schemas.openxmlformats.org/drawingml/2006/main">
              <a:ext uri="{FF2B5EF4-FFF2-40B4-BE49-F238E27FC236}">
                <a16:creationId xmlns:a16="http://schemas.microsoft.com/office/drawing/2014/main" id="{B29AC7BD-8F9E-46AC-846D-AB198DF20DB6}"/>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One controlled architectural change</a:t>
            </a:r>
          </a:p>
        </p:txBody>
      </p:sp>
      <p:sp>
        <p:nvSpPr>
          <p:cNvPr id="3" name="">
            <a:extLst xmlns:a="http://schemas.openxmlformats.org/drawingml/2006/main">
              <a:ext uri="{FF2B5EF4-FFF2-40B4-BE49-F238E27FC236}">
                <a16:creationId xmlns:a16="http://schemas.microsoft.com/office/drawing/2014/main" id="{AACB2801-1FD2-4B2C-8835-23D6E643FC3D}"/>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71DF71-CFD0-4001-8137-EFA58BFF71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8704B8F-771F-4D7D-81DF-94E0D09D1EF3}"/>
              </a:ext>
            </a:extLst>
          </p:cNvPr>
          <p:cNvSpPr>
            <a:spLocks xmlns:a="http://schemas.openxmlformats.org/drawingml/2006/main" noGrp="1"/>
          </p:cNvSpPr>
          <p:nvPr/>
        </p:nvSpPr>
        <p:spPr>
          <a:xfrm xmlns:a="http://schemas.openxmlformats.org/drawingml/2006/main">
            <a:off x="609600" y="1504950"/>
            <a:ext cx="5219700" cy="4362450"/>
          </a:xfrm>
          <a:prstGeom xmlns:a="http://schemas.openxmlformats.org/drawingml/2006/main" prst="roundRect">
            <a:avLst>
              <a:gd name="adj" fmla="val 2620"/>
            </a:avLst>
          </a:prstGeom>
          <a:solidFill xmlns:a="http://schemas.openxmlformats.org/drawingml/2006/main">
            <a:srgbClr val="F8FAFC"/>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BDF019D-32D9-438C-992F-1ECA4DA96A13}"/>
              </a:ext>
            </a:extLst>
          </p:cNvPr>
          <p:cNvSpPr>
            <a:spLocks xmlns:a="http://schemas.openxmlformats.org/drawingml/2006/main" noGrp="1"/>
          </p:cNvSpPr>
          <p:nvPr/>
        </p:nvSpPr>
        <p:spPr>
          <a:xfrm xmlns:a="http://schemas.openxmlformats.org/drawingml/2006/main">
            <a:off x="8572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4F46E5"/>
                </a:solidFill>
                <a:latin typeface="Arial"/>
                <a:ea typeface="Arial"/>
                <a:cs typeface="Arial"/>
              </a:defRPr>
            </a:pPr>
            <a:r>
              <a:rPr sz="2400"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828BC3FA-2C77-49AA-8674-8E94F571C3B0}"/>
              </a:ext>
            </a:extLst>
          </p:cNvPr>
          <p:cNvSpPr>
            <a:spLocks xmlns:a="http://schemas.openxmlformats.org/drawingml/2006/main" noGrp="1"/>
          </p:cNvSpPr>
          <p:nvPr/>
        </p:nvSpPr>
        <p:spPr>
          <a:xfrm xmlns:a="http://schemas.openxmlformats.org/drawingml/2006/main">
            <a:off x="33718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Paper baseline</a:t>
            </a:r>
          </a:p>
        </p:txBody>
      </p:sp>
      <p:sp>
        <p:nvSpPr>
          <p:cNvPr id="8" name="">
            <a:extLst xmlns:a="http://schemas.openxmlformats.org/drawingml/2006/main">
              <a:ext uri="{FF2B5EF4-FFF2-40B4-BE49-F238E27FC236}">
                <a16:creationId xmlns:a16="http://schemas.microsoft.com/office/drawing/2014/main" id="{367E492C-4F68-49C3-80E8-EF954324F9B1}"/>
              </a:ext>
            </a:extLst>
          </p:cNvPr>
          <p:cNvSpPr>
            <a:spLocks xmlns:a="http://schemas.openxmlformats.org/drawingml/2006/main" noGrp="1"/>
          </p:cNvSpPr>
          <p:nvPr/>
        </p:nvSpPr>
        <p:spPr>
          <a:xfrm xmlns:a="http://schemas.openxmlformats.org/drawingml/2006/main">
            <a:off x="895350" y="2400300"/>
            <a:ext cx="4552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RNA + available proteins</a:t>
            </a:r>
          </a:p>
        </p:txBody>
      </p:sp>
      <p:sp>
        <p:nvSpPr>
          <p:cNvPr id="9" name="">
            <a:extLst xmlns:a="http://schemas.openxmlformats.org/drawingml/2006/main">
              <a:ext uri="{FF2B5EF4-FFF2-40B4-BE49-F238E27FC236}">
                <a16:creationId xmlns:a16="http://schemas.microsoft.com/office/drawing/2014/main" id="{2645F834-1F71-447A-B9FB-C17A798A795F}"/>
              </a:ext>
            </a:extLst>
          </p:cNvPr>
          <p:cNvSpPr>
            <a:spLocks xmlns:a="http://schemas.openxmlformats.org/drawingml/2006/main" noGrp="1"/>
          </p:cNvSpPr>
          <p:nvPr/>
        </p:nvSpPr>
        <p:spPr>
          <a:xfrm xmlns:a="http://schemas.openxmlformats.org/drawingml/2006/main">
            <a:off x="2762250" y="2781300"/>
            <a:ext cx="85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61"/>
          </a:bodyPr>
          <a:lstStyle xmlns:a="http://schemas.openxmlformats.org/drawingml/2006/main"/>
          <a:p xmlns:a="http://schemas.openxmlformats.org/drawingml/2006/main">
            <a:pPr algn="ctr">
              <a:lnSpc>
                <a:spcPct val="104000"/>
              </a:lnSpc>
              <a:buNone/>
              <a:defRPr sz="1950" b="1">
                <a:solidFill>
                  <a:srgbClr val="64748B"/>
                </a:solidFill>
                <a:latin typeface="Arial"/>
                <a:ea typeface="Arial"/>
                <a:cs typeface="Arial"/>
              </a:defRPr>
            </a:pPr>
            <a:r>
              <a:rPr sz="1950" b="1">
                <a:solidFill>
                  <a:srgbClr val="64748B"/>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32DC00F-9B05-43BD-B2AA-C3E752760937}"/>
              </a:ext>
            </a:extLst>
          </p:cNvPr>
          <p:cNvSpPr>
            <a:spLocks xmlns:a="http://schemas.openxmlformats.org/drawingml/2006/main" noGrp="1"/>
          </p:cNvSpPr>
          <p:nvPr/>
        </p:nvSpPr>
        <p:spPr>
          <a:xfrm xmlns:a="http://schemas.openxmlformats.org/drawingml/2006/main">
            <a:off x="1485900" y="3162300"/>
            <a:ext cx="346710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9BA48C-F44C-4082-A087-25ABE63E6027}"/>
              </a:ext>
            </a:extLst>
          </p:cNvPr>
          <p:cNvSpPr>
            <a:spLocks xmlns:a="http://schemas.openxmlformats.org/drawingml/2006/main" noGrp="1"/>
          </p:cNvSpPr>
          <p:nvPr/>
        </p:nvSpPr>
        <p:spPr>
          <a:xfrm xmlns:a="http://schemas.openxmlformats.org/drawingml/2006/main">
            <a:off x="1676400" y="333375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4F46E5"/>
                </a:solidFill>
                <a:latin typeface="Arial"/>
                <a:ea typeface="Arial"/>
                <a:cs typeface="Arial"/>
              </a:defRPr>
            </a:pPr>
            <a:r>
              <a:rPr sz="1725" b="1">
                <a:solidFill>
                  <a:srgbClr val="4F46E5"/>
                </a:solidFill>
                <a:latin typeface="Arial"/>
                <a:ea typeface="Arial"/>
                <a:cs typeface="Arial"/>
              </a:rPr>
              <a:t>joint RNA-protein encoder</a:t>
            </a:r>
          </a:p>
        </p:txBody>
      </p:sp>
      <p:sp>
        <p:nvSpPr>
          <p:cNvPr id="12" name="">
            <a:extLst xmlns:a="http://schemas.openxmlformats.org/drawingml/2006/main">
              <a:ext uri="{FF2B5EF4-FFF2-40B4-BE49-F238E27FC236}">
                <a16:creationId xmlns:a16="http://schemas.microsoft.com/office/drawing/2014/main" id="{628647E2-B5BE-46C4-938D-8EB3EFB0D739}"/>
              </a:ext>
            </a:extLst>
          </p:cNvPr>
          <p:cNvSpPr>
            <a:spLocks xmlns:a="http://schemas.openxmlformats.org/drawingml/2006/main" noGrp="1"/>
          </p:cNvSpPr>
          <p:nvPr/>
        </p:nvSpPr>
        <p:spPr>
          <a:xfrm xmlns:a="http://schemas.openxmlformats.org/drawingml/2006/main">
            <a:off x="1485900" y="40386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13" name="">
            <a:extLst xmlns:a="http://schemas.openxmlformats.org/drawingml/2006/main">
              <a:ext uri="{FF2B5EF4-FFF2-40B4-BE49-F238E27FC236}">
                <a16:creationId xmlns:a16="http://schemas.microsoft.com/office/drawing/2014/main" id="{38078183-CEF1-4A6E-90A5-EA6651897927}"/>
              </a:ext>
            </a:extLst>
          </p:cNvPr>
          <p:cNvSpPr>
            <a:spLocks xmlns:a="http://schemas.openxmlformats.org/drawingml/2006/main" noGrp="1"/>
          </p:cNvSpPr>
          <p:nvPr/>
        </p:nvSpPr>
        <p:spPr>
          <a:xfrm xmlns:a="http://schemas.openxmlformats.org/drawingml/2006/main">
            <a:off x="1485900" y="4552950"/>
            <a:ext cx="34671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4F46E5"/>
            </a:solidFill>
          </a:ln>
        </p:spPr>
      </p:sp>
      <p:sp>
        <p:nvSpPr>
          <p:cNvPr id="14" name="">
            <a:extLst xmlns:a="http://schemas.openxmlformats.org/drawingml/2006/main">
              <a:ext uri="{FF2B5EF4-FFF2-40B4-BE49-F238E27FC236}">
                <a16:creationId xmlns:a16="http://schemas.microsoft.com/office/drawing/2014/main" id="{6EEE87F8-C96F-47EF-A005-442AF5F4944A}"/>
              </a:ext>
            </a:extLst>
          </p:cNvPr>
          <p:cNvSpPr>
            <a:spLocks xmlns:a="http://schemas.openxmlformats.org/drawingml/2006/main" noGrp="1"/>
          </p:cNvSpPr>
          <p:nvPr/>
        </p:nvSpPr>
        <p:spPr>
          <a:xfrm xmlns:a="http://schemas.openxmlformats.org/drawingml/2006/main">
            <a:off x="1676400" y="47244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69"/>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native protein decoder</a:t>
            </a:r>
          </a:p>
        </p:txBody>
      </p:sp>
      <p:sp>
        <p:nvSpPr>
          <p:cNvPr id="15" name="">
            <a:extLst xmlns:a="http://schemas.openxmlformats.org/drawingml/2006/main">
              <a:ext uri="{FF2B5EF4-FFF2-40B4-BE49-F238E27FC236}">
                <a16:creationId xmlns:a16="http://schemas.microsoft.com/office/drawing/2014/main" id="{322A2E8D-CEB5-4972-BD0D-34435947DC52}"/>
              </a:ext>
            </a:extLst>
          </p:cNvPr>
          <p:cNvSpPr>
            <a:spLocks xmlns:a="http://schemas.openxmlformats.org/drawingml/2006/main" noGrp="1"/>
          </p:cNvSpPr>
          <p:nvPr/>
        </p:nvSpPr>
        <p:spPr>
          <a:xfrm xmlns:a="http://schemas.openxmlformats.org/drawingml/2006/main">
            <a:off x="14859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16" name="">
            <a:extLst xmlns:a="http://schemas.openxmlformats.org/drawingml/2006/main">
              <a:ext uri="{FF2B5EF4-FFF2-40B4-BE49-F238E27FC236}">
                <a16:creationId xmlns:a16="http://schemas.microsoft.com/office/drawing/2014/main" id="{7EAF77FE-5D12-46DD-AE00-ACFA79AB8548}"/>
              </a:ext>
            </a:extLst>
          </p:cNvPr>
          <p:cNvSpPr>
            <a:spLocks xmlns:a="http://schemas.openxmlformats.org/drawingml/2006/main" noGrp="1"/>
          </p:cNvSpPr>
          <p:nvPr/>
        </p:nvSpPr>
        <p:spPr>
          <a:xfrm xmlns:a="http://schemas.openxmlformats.org/drawingml/2006/main">
            <a:off x="6362700" y="1504950"/>
            <a:ext cx="5219700" cy="4362450"/>
          </a:xfrm>
          <a:prstGeom xmlns:a="http://schemas.openxmlformats.org/drawingml/2006/main" prst="roundRect">
            <a:avLst>
              <a:gd name="adj" fmla="val 2620"/>
            </a:avLst>
          </a:prstGeom>
          <a:solidFill xmlns:a="http://schemas.openxmlformats.org/drawingml/2006/main">
            <a:srgbClr val="FFF7ED"/>
          </a:solidFill>
          <a:ln xmlns:a="http://schemas.openxmlformats.org/drawingml/2006/main" w="9525">
            <a:solidFill>
              <a:srgbClr val="FDBA74"/>
            </a:solidFill>
          </a:ln>
        </p:spPr>
      </p:sp>
      <p:sp>
        <p:nvSpPr>
          <p:cNvPr id="17" name="">
            <a:extLst xmlns:a="http://schemas.openxmlformats.org/drawingml/2006/main">
              <a:ext uri="{FF2B5EF4-FFF2-40B4-BE49-F238E27FC236}">
                <a16:creationId xmlns:a16="http://schemas.microsoft.com/office/drawing/2014/main" id="{322CAEC6-F851-4EF3-9178-BA87BE0E4DE2}"/>
              </a:ext>
            </a:extLst>
          </p:cNvPr>
          <p:cNvSpPr>
            <a:spLocks xmlns:a="http://schemas.openxmlformats.org/drawingml/2006/main" noGrp="1"/>
          </p:cNvSpPr>
          <p:nvPr/>
        </p:nvSpPr>
        <p:spPr>
          <a:xfrm xmlns:a="http://schemas.openxmlformats.org/drawingml/2006/main">
            <a:off x="66103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F97316"/>
                </a:solidFill>
                <a:latin typeface="Arial"/>
                <a:ea typeface="Arial"/>
                <a:cs typeface="Arial"/>
              </a:defRPr>
            </a:pPr>
            <a:r>
              <a:rPr sz="2400" b="1">
                <a:solidFill>
                  <a:srgbClr val="F97316"/>
                </a:solidFill>
                <a:latin typeface="Arial"/>
                <a:ea typeface="Arial"/>
                <a:cs typeface="Arial"/>
              </a:rPr>
              <a:t>FusionVI</a:t>
            </a:r>
          </a:p>
        </p:txBody>
      </p:sp>
      <p:sp>
        <p:nvSpPr>
          <p:cNvPr id="18" name="">
            <a:extLst xmlns:a="http://schemas.openxmlformats.org/drawingml/2006/main">
              <a:ext uri="{FF2B5EF4-FFF2-40B4-BE49-F238E27FC236}">
                <a16:creationId xmlns:a16="http://schemas.microsoft.com/office/drawing/2014/main" id="{424B0F85-EA20-4B61-919A-B09CBDB93092}"/>
              </a:ext>
            </a:extLst>
          </p:cNvPr>
          <p:cNvSpPr>
            <a:spLocks xmlns:a="http://schemas.openxmlformats.org/drawingml/2006/main" noGrp="1"/>
          </p:cNvSpPr>
          <p:nvPr/>
        </p:nvSpPr>
        <p:spPr>
          <a:xfrm xmlns:a="http://schemas.openxmlformats.org/drawingml/2006/main">
            <a:off x="91249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Our final model</a:t>
            </a:r>
          </a:p>
        </p:txBody>
      </p:sp>
      <p:sp>
        <p:nvSpPr>
          <p:cNvPr id="19" name="">
            <a:extLst xmlns:a="http://schemas.openxmlformats.org/drawingml/2006/main">
              <a:ext uri="{FF2B5EF4-FFF2-40B4-BE49-F238E27FC236}">
                <a16:creationId xmlns:a16="http://schemas.microsoft.com/office/drawing/2014/main" id="{CB0D196C-65A2-4422-B9DC-37CBD84CAD51}"/>
              </a:ext>
            </a:extLst>
          </p:cNvPr>
          <p:cNvSpPr>
            <a:spLocks xmlns:a="http://schemas.openxmlformats.org/drawingml/2006/main" noGrp="1"/>
          </p:cNvSpPr>
          <p:nvPr/>
        </p:nvSpPr>
        <p:spPr>
          <a:xfrm xmlns:a="http://schemas.openxmlformats.org/drawingml/2006/main">
            <a:off x="6762750" y="2381250"/>
            <a:ext cx="2000250" cy="685800"/>
          </a:xfrm>
          <a:prstGeom xmlns:a="http://schemas.openxmlformats.org/drawingml/2006/main" prst="roundRect">
            <a:avLst>
              <a:gd name="adj" fmla="val 16667"/>
            </a:avLst>
          </a:prstGeom>
          <a:solidFill xmlns:a="http://schemas.openxmlformats.org/drawingml/2006/main">
            <a:srgbClr val="E6FFF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05AFA3-1048-4984-9304-58EA73108FFB}"/>
              </a:ext>
            </a:extLst>
          </p:cNvPr>
          <p:cNvSpPr>
            <a:spLocks xmlns:a="http://schemas.openxmlformats.org/drawingml/2006/main" noGrp="1"/>
          </p:cNvSpPr>
          <p:nvPr/>
        </p:nvSpPr>
        <p:spPr>
          <a:xfrm xmlns:a="http://schemas.openxmlformats.org/drawingml/2006/main">
            <a:off x="9182100" y="2381250"/>
            <a:ext cx="200025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A642405-EFAF-4A06-AAF0-23776420E1EB}"/>
              </a:ext>
            </a:extLst>
          </p:cNvPr>
          <p:cNvSpPr>
            <a:spLocks xmlns:a="http://schemas.openxmlformats.org/drawingml/2006/main" noGrp="1"/>
          </p:cNvSpPr>
          <p:nvPr/>
        </p:nvSpPr>
        <p:spPr>
          <a:xfrm xmlns:a="http://schemas.openxmlformats.org/drawingml/2006/main">
            <a:off x="695325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0F9F9A"/>
                </a:solidFill>
                <a:latin typeface="Arial"/>
                <a:ea typeface="Arial"/>
                <a:cs typeface="Arial"/>
              </a:defRPr>
            </a:pPr>
            <a:r>
              <a:rPr sz="1575" b="1">
                <a:solidFill>
                  <a:srgbClr val="0F9F9A"/>
                </a:solidFill>
                <a:latin typeface="Arial"/>
                <a:ea typeface="Arial"/>
                <a:cs typeface="Arial"/>
              </a:rPr>
              <a:t>RNA branch</a:t>
            </a:r>
          </a:p>
        </p:txBody>
      </p:sp>
      <p:sp>
        <p:nvSpPr>
          <p:cNvPr id="22" name="">
            <a:extLst xmlns:a="http://schemas.openxmlformats.org/drawingml/2006/main">
              <a:ext uri="{FF2B5EF4-FFF2-40B4-BE49-F238E27FC236}">
                <a16:creationId xmlns:a16="http://schemas.microsoft.com/office/drawing/2014/main" id="{A0BFA83F-80A0-4C66-9671-BB93BA74D640}"/>
              </a:ext>
            </a:extLst>
          </p:cNvPr>
          <p:cNvSpPr>
            <a:spLocks xmlns:a="http://schemas.openxmlformats.org/drawingml/2006/main" noGrp="1"/>
          </p:cNvSpPr>
          <p:nvPr/>
        </p:nvSpPr>
        <p:spPr>
          <a:xfrm xmlns:a="http://schemas.openxmlformats.org/drawingml/2006/main">
            <a:off x="937260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protein branch</a:t>
            </a:r>
          </a:p>
        </p:txBody>
      </p:sp>
      <p:sp>
        <p:nvSpPr>
          <p:cNvPr id="23" name="">
            <a:extLst xmlns:a="http://schemas.openxmlformats.org/drawingml/2006/main">
              <a:ext uri="{FF2B5EF4-FFF2-40B4-BE49-F238E27FC236}">
                <a16:creationId xmlns:a16="http://schemas.microsoft.com/office/drawing/2014/main" id="{4A746520-4618-4B96-AFF6-BBA4067FEE4A}"/>
              </a:ext>
            </a:extLst>
          </p:cNvPr>
          <p:cNvSpPr>
            <a:spLocks xmlns:a="http://schemas.openxmlformats.org/drawingml/2006/main" noGrp="1"/>
          </p:cNvSpPr>
          <p:nvPr/>
        </p:nvSpPr>
        <p:spPr>
          <a:xfrm xmlns:a="http://schemas.openxmlformats.org/drawingml/2006/main">
            <a:off x="7467600" y="327660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6"/>
          </a:bodyPr>
          <a:lstStyle xmlns:a="http://schemas.openxmlformats.org/drawingml/2006/main"/>
          <a:p xmlns:a="http://schemas.openxmlformats.org/drawingml/2006/main">
            <a:pPr algn="ctr">
              <a:lnSpc>
                <a:spcPct val="104000"/>
              </a:lnSpc>
              <a:buNone/>
              <a:defRPr sz="1500" b="1">
                <a:solidFill>
                  <a:srgbClr val="F97316"/>
                </a:solidFill>
                <a:latin typeface="Arial"/>
                <a:ea typeface="Arial"/>
                <a:cs typeface="Arial"/>
              </a:defRPr>
            </a:pPr>
            <a:r>
              <a:rPr sz="1500" b="1">
                <a:solidFill>
                  <a:srgbClr val="F97316"/>
                </a:solidFill>
                <a:latin typeface="Arial"/>
                <a:ea typeface="Arial"/>
                <a:cs typeface="Arial"/>
              </a:rPr>
              <a:t>availability-aware gate</a:t>
            </a:r>
          </a:p>
        </p:txBody>
      </p:sp>
      <p:sp>
        <p:nvSpPr>
          <p:cNvPr id="24" name="">
            <a:extLst xmlns:a="http://schemas.openxmlformats.org/drawingml/2006/main">
              <a:ext uri="{FF2B5EF4-FFF2-40B4-BE49-F238E27FC236}">
                <a16:creationId xmlns:a16="http://schemas.microsoft.com/office/drawing/2014/main" id="{F4A9B1C5-E322-427C-B96A-2A5293832A6F}"/>
              </a:ext>
            </a:extLst>
          </p:cNvPr>
          <p:cNvSpPr>
            <a:spLocks xmlns:a="http://schemas.openxmlformats.org/drawingml/2006/main" noGrp="1"/>
          </p:cNvSpPr>
          <p:nvPr/>
        </p:nvSpPr>
        <p:spPr>
          <a:xfrm xmlns:a="http://schemas.openxmlformats.org/drawingml/2006/main">
            <a:off x="7239000" y="37338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25" name="">
            <a:extLst xmlns:a="http://schemas.openxmlformats.org/drawingml/2006/main">
              <a:ext uri="{FF2B5EF4-FFF2-40B4-BE49-F238E27FC236}">
                <a16:creationId xmlns:a16="http://schemas.microsoft.com/office/drawing/2014/main" id="{EC4B0DA9-DA86-42BA-B3DE-8C0650C63154}"/>
              </a:ext>
            </a:extLst>
          </p:cNvPr>
          <p:cNvSpPr>
            <a:spLocks xmlns:a="http://schemas.openxmlformats.org/drawingml/2006/main" noGrp="1"/>
          </p:cNvSpPr>
          <p:nvPr/>
        </p:nvSpPr>
        <p:spPr>
          <a:xfrm xmlns:a="http://schemas.openxmlformats.org/drawingml/2006/main">
            <a:off x="6991350" y="4267200"/>
            <a:ext cx="39624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F97316"/>
            </a:solidFill>
          </a:ln>
        </p:spPr>
      </p:sp>
      <p:sp>
        <p:nvSpPr>
          <p:cNvPr id="26" name="">
            <a:extLst xmlns:a="http://schemas.openxmlformats.org/drawingml/2006/main">
              <a:ext uri="{FF2B5EF4-FFF2-40B4-BE49-F238E27FC236}">
                <a16:creationId xmlns:a16="http://schemas.microsoft.com/office/drawing/2014/main" id="{6035D0EE-CF48-48F5-A4B0-C468F3924DE6}"/>
              </a:ext>
            </a:extLst>
          </p:cNvPr>
          <p:cNvSpPr>
            <a:spLocks xmlns:a="http://schemas.openxmlformats.org/drawingml/2006/main" noGrp="1"/>
          </p:cNvSpPr>
          <p:nvPr/>
        </p:nvSpPr>
        <p:spPr>
          <a:xfrm xmlns:a="http://schemas.openxmlformats.org/drawingml/2006/main">
            <a:off x="7181850" y="4400550"/>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301"/>
          </a:bodyPr>
          <a:lstStyle xmlns:a="http://schemas.openxmlformats.org/drawingml/2006/main"/>
          <a:p xmlns:a="http://schemas.openxmlformats.org/drawingml/2006/main">
            <a:pPr algn="ctr">
              <a:lnSpc>
                <a:spcPct val="104000"/>
              </a:lnSpc>
              <a:buNone/>
              <a:defRPr sz="1650" b="1">
                <a:solidFill>
                  <a:srgbClr val="F97316"/>
                </a:solidFill>
                <a:latin typeface="Arial"/>
                <a:ea typeface="Arial"/>
                <a:cs typeface="Arial"/>
              </a:defRPr>
            </a:pPr>
            <a:r>
              <a:rPr sz="1650" b="1">
                <a:solidFill>
                  <a:srgbClr val="F97316"/>
                </a:solidFill>
                <a:latin typeface="Arial"/>
                <a:ea typeface="Arial"/>
                <a:cs typeface="Arial"/>
              </a:rPr>
              <a:t>native totalVI decoder</a:t>
            </a:r>
          </a:p>
        </p:txBody>
      </p:sp>
      <p:sp>
        <p:nvSpPr>
          <p:cNvPr id="27" name="">
            <a:extLst xmlns:a="http://schemas.openxmlformats.org/drawingml/2006/main">
              <a:ext uri="{FF2B5EF4-FFF2-40B4-BE49-F238E27FC236}">
                <a16:creationId xmlns:a16="http://schemas.microsoft.com/office/drawing/2014/main" id="{515FBD2F-A731-45A2-A1DF-DE139FCB3EBD}"/>
              </a:ext>
            </a:extLst>
          </p:cNvPr>
          <p:cNvSpPr>
            <a:spLocks xmlns:a="http://schemas.openxmlformats.org/drawingml/2006/main" noGrp="1"/>
          </p:cNvSpPr>
          <p:nvPr/>
        </p:nvSpPr>
        <p:spPr>
          <a:xfrm xmlns:a="http://schemas.openxmlformats.org/drawingml/2006/main">
            <a:off x="7181850" y="4819650"/>
            <a:ext cx="3581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131"/>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same RNA and protein likelihoods</a:t>
            </a:r>
          </a:p>
        </p:txBody>
      </p:sp>
      <p:sp>
        <p:nvSpPr>
          <p:cNvPr id="28" name="">
            <a:extLst xmlns:a="http://schemas.openxmlformats.org/drawingml/2006/main">
              <a:ext uri="{FF2B5EF4-FFF2-40B4-BE49-F238E27FC236}">
                <a16:creationId xmlns:a16="http://schemas.microsoft.com/office/drawing/2014/main" id="{78BDDEA3-8371-44E1-BA81-2C23BA235D82}"/>
              </a:ext>
            </a:extLst>
          </p:cNvPr>
          <p:cNvSpPr>
            <a:spLocks xmlns:a="http://schemas.openxmlformats.org/drawingml/2006/main" noGrp="1"/>
          </p:cNvSpPr>
          <p:nvPr/>
        </p:nvSpPr>
        <p:spPr>
          <a:xfrm xmlns:a="http://schemas.openxmlformats.org/drawingml/2006/main">
            <a:off x="72390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29" name="">
            <a:extLst xmlns:a="http://schemas.openxmlformats.org/drawingml/2006/main">
              <a:ext uri="{FF2B5EF4-FFF2-40B4-BE49-F238E27FC236}">
                <a16:creationId xmlns:a16="http://schemas.microsoft.com/office/drawing/2014/main" id="{89104298-A569-4AE5-83D5-0DC4F49F178F}"/>
              </a:ext>
            </a:extLst>
          </p:cNvPr>
          <p:cNvSpPr>
            <a:spLocks xmlns:a="http://schemas.openxmlformats.org/drawingml/2006/main" noGrp="1"/>
          </p:cNvSpPr>
          <p:nvPr/>
        </p:nvSpPr>
        <p:spPr>
          <a:xfrm xmlns:a="http://schemas.openxmlformats.org/drawingml/2006/main">
            <a:off x="2857500" y="61531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ctr">
              <a:lnSpc>
                <a:spcPct val="104000"/>
              </a:lnSpc>
              <a:buNone/>
              <a:defRPr sz="1350" b="1">
                <a:solidFill>
                  <a:srgbClr val="172554"/>
                </a:solidFill>
                <a:latin typeface="Arial"/>
                <a:ea typeface="Arial"/>
                <a:cs typeface="Arial"/>
              </a:defRPr>
            </a:pPr>
            <a:r>
              <a:rPr sz="1350" b="1">
                <a:solidFill>
                  <a:srgbClr val="172554"/>
                </a:solidFill>
                <a:latin typeface="Arial"/>
                <a:ea typeface="Arial"/>
                <a:cs typeface="Arial"/>
              </a:rPr>
              <a:t>Only the encoder changes; missing panel routes to RNA only</a:t>
            </a:r>
          </a:p>
        </p:txBody>
      </p:sp>
    </p:spTree>
    <p:extLst>
      <p:ext uri="{BB962C8B-B14F-4D97-AF65-F5344CB8AC3E}">
        <p14:creationId xmlns:p14="http://schemas.microsoft.com/office/powerpoint/2010/main" val="85321161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988EEA2-A903-46C9-B493-B02D2C7A680C}"/>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VALIDATION</a:t>
            </a:r>
          </a:p>
        </p:txBody>
      </p:sp>
      <p:sp>
        <p:nvSpPr>
          <p:cNvPr id="2" name="">
            <a:extLst xmlns:a="http://schemas.openxmlformats.org/drawingml/2006/main">
              <a:ext uri="{FF2B5EF4-FFF2-40B4-BE49-F238E27FC236}">
                <a16:creationId xmlns:a16="http://schemas.microsoft.com/office/drawing/2014/main" id="{3CD3E8DE-F1D4-440F-8934-932F00175CAA}"/>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Paired training controls the comparison</a:t>
            </a:r>
          </a:p>
        </p:txBody>
      </p:sp>
      <p:sp>
        <p:nvSpPr>
          <p:cNvPr id="3" name="">
            <a:extLst xmlns:a="http://schemas.openxmlformats.org/drawingml/2006/main">
              <a:ext uri="{FF2B5EF4-FFF2-40B4-BE49-F238E27FC236}">
                <a16:creationId xmlns:a16="http://schemas.microsoft.com/office/drawing/2014/main" id="{5749D150-2EFD-465D-996A-2871563D4AF5}"/>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46A0C2E-3B78-46F4-9357-E6AF5F3D73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B0E4135-44E7-4DFF-B9F8-DEA08DBC7EAA}"/>
              </a:ext>
            </a:extLst>
          </p:cNvPr>
          <p:cNvSpPr>
            <a:spLocks xmlns:a="http://schemas.openxmlformats.org/drawingml/2006/main" noGrp="1"/>
          </p:cNvSpPr>
          <p:nvPr/>
        </p:nvSpPr>
        <p:spPr>
          <a:xfrm xmlns:a="http://schemas.openxmlformats.org/drawingml/2006/main">
            <a:off x="7429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B49E7D29-E18E-465E-8951-01548BD58364}"/>
              </a:ext>
            </a:extLst>
          </p:cNvPr>
          <p:cNvSpPr>
            <a:spLocks xmlns:a="http://schemas.openxmlformats.org/drawingml/2006/main" noGrp="1"/>
          </p:cNvSpPr>
          <p:nvPr/>
        </p:nvSpPr>
        <p:spPr>
          <a:xfrm xmlns:a="http://schemas.openxmlformats.org/drawingml/2006/main">
            <a:off x="9715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A27791D7-DA02-4D1E-95C5-81BDCF04EF5E}"/>
              </a:ext>
            </a:extLst>
          </p:cNvPr>
          <p:cNvSpPr>
            <a:spLocks xmlns:a="http://schemas.openxmlformats.org/drawingml/2006/main" noGrp="1"/>
          </p:cNvSpPr>
          <p:nvPr/>
        </p:nvSpPr>
        <p:spPr>
          <a:xfrm xmlns:a="http://schemas.openxmlformats.org/drawingml/2006/main">
            <a:off x="11239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8" name="">
            <a:extLst xmlns:a="http://schemas.openxmlformats.org/drawingml/2006/main">
              <a:ext uri="{FF2B5EF4-FFF2-40B4-BE49-F238E27FC236}">
                <a16:creationId xmlns:a16="http://schemas.microsoft.com/office/drawing/2014/main" id="{64166189-089C-4081-AEAB-5CE94DC48E9D}"/>
              </a:ext>
            </a:extLst>
          </p:cNvPr>
          <p:cNvSpPr>
            <a:spLocks xmlns:a="http://schemas.openxmlformats.org/drawingml/2006/main" noGrp="1"/>
          </p:cNvSpPr>
          <p:nvPr/>
        </p:nvSpPr>
        <p:spPr>
          <a:xfrm xmlns:a="http://schemas.openxmlformats.org/drawingml/2006/main">
            <a:off x="11239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9" name="">
            <a:extLst xmlns:a="http://schemas.openxmlformats.org/drawingml/2006/main">
              <a:ext uri="{FF2B5EF4-FFF2-40B4-BE49-F238E27FC236}">
                <a16:creationId xmlns:a16="http://schemas.microsoft.com/office/drawing/2014/main" id="{82E4C9EF-F466-47FD-BBC3-6EC83FD1E8D2}"/>
              </a:ext>
            </a:extLst>
          </p:cNvPr>
          <p:cNvSpPr>
            <a:spLocks xmlns:a="http://schemas.openxmlformats.org/drawingml/2006/main" noGrp="1"/>
          </p:cNvSpPr>
          <p:nvPr/>
        </p:nvSpPr>
        <p:spPr>
          <a:xfrm xmlns:a="http://schemas.openxmlformats.org/drawingml/2006/main">
            <a:off x="26670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99609CE-29C0-4479-AE99-E34356059AFB}"/>
              </a:ext>
            </a:extLst>
          </p:cNvPr>
          <p:cNvSpPr>
            <a:spLocks xmlns:a="http://schemas.openxmlformats.org/drawingml/2006/main" noGrp="1"/>
          </p:cNvSpPr>
          <p:nvPr/>
        </p:nvSpPr>
        <p:spPr>
          <a:xfrm xmlns:a="http://schemas.openxmlformats.org/drawingml/2006/main">
            <a:off x="36957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1" name="">
            <a:extLst xmlns:a="http://schemas.openxmlformats.org/drawingml/2006/main">
              <a:ext uri="{FF2B5EF4-FFF2-40B4-BE49-F238E27FC236}">
                <a16:creationId xmlns:a16="http://schemas.microsoft.com/office/drawing/2014/main" id="{C428BCF1-50BC-4F00-94AA-C4840AD9DFD2}"/>
              </a:ext>
            </a:extLst>
          </p:cNvPr>
          <p:cNvSpPr>
            <a:spLocks xmlns:a="http://schemas.openxmlformats.org/drawingml/2006/main" noGrp="1"/>
          </p:cNvSpPr>
          <p:nvPr/>
        </p:nvSpPr>
        <p:spPr>
          <a:xfrm xmlns:a="http://schemas.openxmlformats.org/drawingml/2006/main">
            <a:off x="36957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12" name="">
            <a:extLst xmlns:a="http://schemas.openxmlformats.org/drawingml/2006/main">
              <a:ext uri="{FF2B5EF4-FFF2-40B4-BE49-F238E27FC236}">
                <a16:creationId xmlns:a16="http://schemas.microsoft.com/office/drawing/2014/main" id="{1ED40EEE-A97B-4D55-9088-8A0F6680D7A8}"/>
              </a:ext>
            </a:extLst>
          </p:cNvPr>
          <p:cNvSpPr>
            <a:spLocks xmlns:a="http://schemas.openxmlformats.org/drawingml/2006/main" noGrp="1"/>
          </p:cNvSpPr>
          <p:nvPr/>
        </p:nvSpPr>
        <p:spPr>
          <a:xfrm xmlns:a="http://schemas.openxmlformats.org/drawingml/2006/main">
            <a:off x="15621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110 D2 proteins scored</a:t>
            </a:r>
          </a:p>
        </p:txBody>
      </p:sp>
      <p:sp>
        <p:nvSpPr>
          <p:cNvPr id="13" name="">
            <a:extLst xmlns:a="http://schemas.openxmlformats.org/drawingml/2006/main">
              <a:ext uri="{FF2B5EF4-FFF2-40B4-BE49-F238E27FC236}">
                <a16:creationId xmlns:a16="http://schemas.microsoft.com/office/drawing/2014/main" id="{A4F82748-807A-46F6-B8BC-56BD4D937FC7}"/>
              </a:ext>
            </a:extLst>
          </p:cNvPr>
          <p:cNvSpPr>
            <a:spLocks xmlns:a="http://schemas.openxmlformats.org/drawingml/2006/main" noGrp="1"/>
          </p:cNvSpPr>
          <p:nvPr/>
        </p:nvSpPr>
        <p:spPr>
          <a:xfrm xmlns:a="http://schemas.openxmlformats.org/drawingml/2006/main">
            <a:off x="64960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14" name="">
            <a:extLst xmlns:a="http://schemas.openxmlformats.org/drawingml/2006/main">
              <a:ext uri="{FF2B5EF4-FFF2-40B4-BE49-F238E27FC236}">
                <a16:creationId xmlns:a16="http://schemas.microsoft.com/office/drawing/2014/main" id="{8CA1277F-E3E3-44AB-AFE0-18AAB4FDEE9B}"/>
              </a:ext>
            </a:extLst>
          </p:cNvPr>
          <p:cNvSpPr>
            <a:spLocks xmlns:a="http://schemas.openxmlformats.org/drawingml/2006/main" noGrp="1"/>
          </p:cNvSpPr>
          <p:nvPr/>
        </p:nvSpPr>
        <p:spPr>
          <a:xfrm xmlns:a="http://schemas.openxmlformats.org/drawingml/2006/main">
            <a:off x="67246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FusionVI</a:t>
            </a:r>
          </a:p>
        </p:txBody>
      </p:sp>
      <p:sp>
        <p:nvSpPr>
          <p:cNvPr id="15" name="">
            <a:extLst xmlns:a="http://schemas.openxmlformats.org/drawingml/2006/main">
              <a:ext uri="{FF2B5EF4-FFF2-40B4-BE49-F238E27FC236}">
                <a16:creationId xmlns:a16="http://schemas.microsoft.com/office/drawing/2014/main" id="{4B56887A-9E03-4EBB-B59F-2D111E5E51B2}"/>
              </a:ext>
            </a:extLst>
          </p:cNvPr>
          <p:cNvSpPr>
            <a:spLocks xmlns:a="http://schemas.openxmlformats.org/drawingml/2006/main" noGrp="1"/>
          </p:cNvSpPr>
          <p:nvPr/>
        </p:nvSpPr>
        <p:spPr>
          <a:xfrm xmlns:a="http://schemas.openxmlformats.org/drawingml/2006/main">
            <a:off x="68770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16" name="">
            <a:extLst xmlns:a="http://schemas.openxmlformats.org/drawingml/2006/main">
              <a:ext uri="{FF2B5EF4-FFF2-40B4-BE49-F238E27FC236}">
                <a16:creationId xmlns:a16="http://schemas.microsoft.com/office/drawing/2014/main" id="{4A761EF1-B1E9-4BF6-8D17-FAAB329C4A93}"/>
              </a:ext>
            </a:extLst>
          </p:cNvPr>
          <p:cNvSpPr>
            <a:spLocks xmlns:a="http://schemas.openxmlformats.org/drawingml/2006/main" noGrp="1"/>
          </p:cNvSpPr>
          <p:nvPr/>
        </p:nvSpPr>
        <p:spPr>
          <a:xfrm xmlns:a="http://schemas.openxmlformats.org/drawingml/2006/main">
            <a:off x="68770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C2E000B1-2B54-4F7D-918D-5CA08D41A6A7}"/>
              </a:ext>
            </a:extLst>
          </p:cNvPr>
          <p:cNvSpPr>
            <a:spLocks xmlns:a="http://schemas.openxmlformats.org/drawingml/2006/main" noGrp="1"/>
          </p:cNvSpPr>
          <p:nvPr/>
        </p:nvSpPr>
        <p:spPr>
          <a:xfrm xmlns:a="http://schemas.openxmlformats.org/drawingml/2006/main">
            <a:off x="84201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0FE97C88-2A14-4AEA-8189-1A917510A8C3}"/>
              </a:ext>
            </a:extLst>
          </p:cNvPr>
          <p:cNvSpPr>
            <a:spLocks xmlns:a="http://schemas.openxmlformats.org/drawingml/2006/main" noGrp="1"/>
          </p:cNvSpPr>
          <p:nvPr/>
        </p:nvSpPr>
        <p:spPr>
          <a:xfrm xmlns:a="http://schemas.openxmlformats.org/drawingml/2006/main">
            <a:off x="94488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9" name="">
            <a:extLst xmlns:a="http://schemas.openxmlformats.org/drawingml/2006/main">
              <a:ext uri="{FF2B5EF4-FFF2-40B4-BE49-F238E27FC236}">
                <a16:creationId xmlns:a16="http://schemas.microsoft.com/office/drawing/2014/main" id="{9F6EEE3A-D21F-4483-9E97-0F3DA701407B}"/>
              </a:ext>
            </a:extLst>
          </p:cNvPr>
          <p:cNvSpPr>
            <a:spLocks xmlns:a="http://schemas.openxmlformats.org/drawingml/2006/main" noGrp="1"/>
          </p:cNvSpPr>
          <p:nvPr/>
        </p:nvSpPr>
        <p:spPr>
          <a:xfrm xmlns:a="http://schemas.openxmlformats.org/drawingml/2006/main">
            <a:off x="94488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20" name="">
            <a:extLst xmlns:a="http://schemas.openxmlformats.org/drawingml/2006/main">
              <a:ext uri="{FF2B5EF4-FFF2-40B4-BE49-F238E27FC236}">
                <a16:creationId xmlns:a16="http://schemas.microsoft.com/office/drawing/2014/main" id="{AD37BE54-6AEB-4F4D-8412-AD8A396884EE}"/>
              </a:ext>
            </a:extLst>
          </p:cNvPr>
          <p:cNvSpPr>
            <a:spLocks xmlns:a="http://schemas.openxmlformats.org/drawingml/2006/main" noGrp="1"/>
          </p:cNvSpPr>
          <p:nvPr/>
        </p:nvSpPr>
        <p:spPr>
          <a:xfrm xmlns:a="http://schemas.openxmlformats.org/drawingml/2006/main">
            <a:off x="73152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same 110 proteins scored</a:t>
            </a:r>
          </a:p>
        </p:txBody>
      </p:sp>
      <p:sp>
        <p:nvSpPr>
          <p:cNvPr id="21" name="">
            <a:extLst xmlns:a="http://schemas.openxmlformats.org/drawingml/2006/main">
              <a:ext uri="{FF2B5EF4-FFF2-40B4-BE49-F238E27FC236}">
                <a16:creationId xmlns:a16="http://schemas.microsoft.com/office/drawing/2014/main" id="{8704E548-98FA-45A0-9F57-D019CDF86F24}"/>
              </a:ext>
            </a:extLst>
          </p:cNvPr>
          <p:cNvSpPr>
            <a:spLocks xmlns:a="http://schemas.openxmlformats.org/drawingml/2006/main" noGrp="1"/>
          </p:cNvSpPr>
          <p:nvPr/>
        </p:nvSpPr>
        <p:spPr>
          <a:xfrm xmlns:a="http://schemas.openxmlformats.org/drawingml/2006/main">
            <a:off x="933450" y="5162550"/>
            <a:ext cx="27813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0824978-B9CA-44A9-8CB8-3707885C19BC}"/>
              </a:ext>
            </a:extLst>
          </p:cNvPr>
          <p:cNvSpPr>
            <a:spLocks xmlns:a="http://schemas.openxmlformats.org/drawingml/2006/main" noGrp="1"/>
          </p:cNvSpPr>
          <p:nvPr/>
        </p:nvSpPr>
        <p:spPr>
          <a:xfrm xmlns:a="http://schemas.openxmlformats.org/drawingml/2006/main">
            <a:off x="10477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500</a:t>
            </a:r>
          </a:p>
        </p:txBody>
      </p:sp>
      <p:sp>
        <p:nvSpPr>
          <p:cNvPr id="23" name="">
            <a:extLst xmlns:a="http://schemas.openxmlformats.org/drawingml/2006/main">
              <a:ext uri="{FF2B5EF4-FFF2-40B4-BE49-F238E27FC236}">
                <a16:creationId xmlns:a16="http://schemas.microsoft.com/office/drawing/2014/main" id="{505FAB24-A4DB-4F18-8739-940738E73FE9}"/>
              </a:ext>
            </a:extLst>
          </p:cNvPr>
          <p:cNvSpPr>
            <a:spLocks xmlns:a="http://schemas.openxmlformats.org/drawingml/2006/main" noGrp="1"/>
          </p:cNvSpPr>
          <p:nvPr/>
        </p:nvSpPr>
        <p:spPr>
          <a:xfrm xmlns:a="http://schemas.openxmlformats.org/drawingml/2006/main">
            <a:off x="10477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09"/>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maximum epochs + early stopping</a:t>
            </a:r>
          </a:p>
        </p:txBody>
      </p:sp>
      <p:sp>
        <p:nvSpPr>
          <p:cNvPr id="24" name="">
            <a:extLst xmlns:a="http://schemas.openxmlformats.org/drawingml/2006/main">
              <a:ext uri="{FF2B5EF4-FFF2-40B4-BE49-F238E27FC236}">
                <a16:creationId xmlns:a16="http://schemas.microsoft.com/office/drawing/2014/main" id="{D185B1C3-93D5-4404-B109-1BAA73FA234C}"/>
              </a:ext>
            </a:extLst>
          </p:cNvPr>
          <p:cNvSpPr>
            <a:spLocks xmlns:a="http://schemas.openxmlformats.org/drawingml/2006/main" noGrp="1"/>
          </p:cNvSpPr>
          <p:nvPr/>
        </p:nvSpPr>
        <p:spPr>
          <a:xfrm xmlns:a="http://schemas.openxmlformats.org/drawingml/2006/main">
            <a:off x="4705350" y="5162550"/>
            <a:ext cx="27813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BB49375-F1D9-47E6-8EF5-D1F94B870DEC}"/>
              </a:ext>
            </a:extLst>
          </p:cNvPr>
          <p:cNvSpPr>
            <a:spLocks xmlns:a="http://schemas.openxmlformats.org/drawingml/2006/main" noGrp="1"/>
          </p:cNvSpPr>
          <p:nvPr/>
        </p:nvSpPr>
        <p:spPr>
          <a:xfrm xmlns:a="http://schemas.openxmlformats.org/drawingml/2006/main">
            <a:off x="48196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25</a:t>
            </a:r>
          </a:p>
        </p:txBody>
      </p:sp>
      <p:sp>
        <p:nvSpPr>
          <p:cNvPr id="26" name="">
            <a:extLst xmlns:a="http://schemas.openxmlformats.org/drawingml/2006/main">
              <a:ext uri="{FF2B5EF4-FFF2-40B4-BE49-F238E27FC236}">
                <a16:creationId xmlns:a16="http://schemas.microsoft.com/office/drawing/2014/main" id="{FF1FF08D-9F33-4338-AB0C-1865A473A7D8}"/>
              </a:ext>
            </a:extLst>
          </p:cNvPr>
          <p:cNvSpPr>
            <a:spLocks xmlns:a="http://schemas.openxmlformats.org/drawingml/2006/main" noGrp="1"/>
          </p:cNvSpPr>
          <p:nvPr/>
        </p:nvSpPr>
        <p:spPr>
          <a:xfrm xmlns:a="http://schemas.openxmlformats.org/drawingml/2006/main">
            <a:off x="48196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posterior samples averaged</a:t>
            </a:r>
          </a:p>
        </p:txBody>
      </p:sp>
      <p:sp>
        <p:nvSpPr>
          <p:cNvPr id="27" name="">
            <a:extLst xmlns:a="http://schemas.openxmlformats.org/drawingml/2006/main">
              <a:ext uri="{FF2B5EF4-FFF2-40B4-BE49-F238E27FC236}">
                <a16:creationId xmlns:a16="http://schemas.microsoft.com/office/drawing/2014/main" id="{3032DB19-CA25-4276-ACF4-430E5B32C084}"/>
              </a:ext>
            </a:extLst>
          </p:cNvPr>
          <p:cNvSpPr>
            <a:spLocks xmlns:a="http://schemas.openxmlformats.org/drawingml/2006/main" noGrp="1"/>
          </p:cNvSpPr>
          <p:nvPr/>
        </p:nvSpPr>
        <p:spPr>
          <a:xfrm xmlns:a="http://schemas.openxmlformats.org/drawingml/2006/main">
            <a:off x="8477250" y="5162550"/>
            <a:ext cx="27813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649DC7B-4E35-4336-A26D-8B777E77BCD1}"/>
              </a:ext>
            </a:extLst>
          </p:cNvPr>
          <p:cNvSpPr>
            <a:spLocks xmlns:a="http://schemas.openxmlformats.org/drawingml/2006/main" noGrp="1"/>
          </p:cNvSpPr>
          <p:nvPr/>
        </p:nvSpPr>
        <p:spPr>
          <a:xfrm xmlns:a="http://schemas.openxmlformats.org/drawingml/2006/main">
            <a:off x="85915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RMSLE</a:t>
            </a:r>
          </a:p>
        </p:txBody>
      </p:sp>
      <p:sp>
        <p:nvSpPr>
          <p:cNvPr id="29" name="">
            <a:extLst xmlns:a="http://schemas.openxmlformats.org/drawingml/2006/main">
              <a:ext uri="{FF2B5EF4-FFF2-40B4-BE49-F238E27FC236}">
                <a16:creationId xmlns:a16="http://schemas.microsoft.com/office/drawing/2014/main" id="{FEE829AA-FE8E-447E-9E64-2405BE10B0A2}"/>
              </a:ext>
            </a:extLst>
          </p:cNvPr>
          <p:cNvSpPr>
            <a:spLocks xmlns:a="http://schemas.openxmlformats.org/drawingml/2006/main" noGrp="1"/>
          </p:cNvSpPr>
          <p:nvPr/>
        </p:nvSpPr>
        <p:spPr>
          <a:xfrm xmlns:a="http://schemas.openxmlformats.org/drawingml/2006/main">
            <a:off x="85915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primary metric • lower is better</a:t>
            </a:r>
          </a:p>
        </p:txBody>
      </p:sp>
    </p:spTree>
    <p:extLst>
      <p:ext uri="{BB962C8B-B14F-4D97-AF65-F5344CB8AC3E}">
        <p14:creationId xmlns:p14="http://schemas.microsoft.com/office/powerpoint/2010/main" val="12294297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2BB647-F12E-423E-A9AC-F3FE348269D8}"/>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RESULTS</a:t>
            </a:r>
          </a:p>
        </p:txBody>
      </p:sp>
      <p:sp>
        <p:nvSpPr>
          <p:cNvPr id="2" name="">
            <a:extLst xmlns:a="http://schemas.openxmlformats.org/drawingml/2006/main">
              <a:ext uri="{FF2B5EF4-FFF2-40B4-BE49-F238E27FC236}">
                <a16:creationId xmlns:a16="http://schemas.microsoft.com/office/drawing/2014/main" id="{18B43848-0EFB-4099-80D2-1A1C44EBF252}"/>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FusionVI lowers missing-protein reconstruction error</a:t>
            </a:r>
          </a:p>
        </p:txBody>
      </p:sp>
      <p:sp>
        <p:nvSpPr>
          <p:cNvPr id="3" name="">
            <a:extLst xmlns:a="http://schemas.openxmlformats.org/drawingml/2006/main">
              <a:ext uri="{FF2B5EF4-FFF2-40B4-BE49-F238E27FC236}">
                <a16:creationId xmlns:a16="http://schemas.microsoft.com/office/drawing/2014/main" id="{CDD24C77-798A-4EB5-BE14-905ABA1BE9D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637E17-4CA3-44BA-A91F-2117BE265B97}"/>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06</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730fe664fc14684"/>
          <a:stretch xmlns:a="http://schemas.openxmlformats.org/drawingml/2006/main"/>
        </p:blipFill>
        <p:spPr>
          <a:xfrm xmlns:a="http://schemas.openxmlformats.org/drawingml/2006/main">
            <a:off x="592814" y="1796191"/>
            <a:ext cx="7996471" cy="395141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27C360-D9C1-450E-B070-81764F6EA2FF}"/>
              </a:ext>
            </a:extLst>
          </p:cNvPr>
          <p:cNvSpPr>
            <a:spLocks xmlns:a="http://schemas.openxmlformats.org/drawingml/2006/main" noGrp="1"/>
          </p:cNvSpPr>
          <p:nvPr/>
        </p:nvSpPr>
        <p:spPr>
          <a:xfrm xmlns:a="http://schemas.openxmlformats.org/drawingml/2006/main">
            <a:off x="8896350" y="1581150"/>
            <a:ext cx="2705100" cy="156210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DBA74"/>
            </a:solidFill>
          </a:ln>
        </p:spPr>
      </p:sp>
      <p:sp>
        <p:nvSpPr>
          <p:cNvPr id="7" name="">
            <a:extLst xmlns:a="http://schemas.openxmlformats.org/drawingml/2006/main">
              <a:ext uri="{FF2B5EF4-FFF2-40B4-BE49-F238E27FC236}">
                <a16:creationId xmlns:a16="http://schemas.microsoft.com/office/drawing/2014/main" id="{09147184-E5A2-4DA5-9954-A6AE8A049169}"/>
              </a:ext>
            </a:extLst>
          </p:cNvPr>
          <p:cNvSpPr>
            <a:spLocks xmlns:a="http://schemas.openxmlformats.org/drawingml/2006/main" noGrp="1"/>
          </p:cNvSpPr>
          <p:nvPr/>
        </p:nvSpPr>
        <p:spPr>
          <a:xfrm xmlns:a="http://schemas.openxmlformats.org/drawingml/2006/main">
            <a:off x="9086850" y="1752600"/>
            <a:ext cx="23241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841"/>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−0.0060</a:t>
            </a:r>
          </a:p>
        </p:txBody>
      </p:sp>
      <p:sp>
        <p:nvSpPr>
          <p:cNvPr id="8" name="">
            <a:extLst xmlns:a="http://schemas.openxmlformats.org/drawingml/2006/main">
              <a:ext uri="{FF2B5EF4-FFF2-40B4-BE49-F238E27FC236}">
                <a16:creationId xmlns:a16="http://schemas.microsoft.com/office/drawing/2014/main" id="{3962E079-F5EA-4FC2-B059-EFD2146CE356}"/>
              </a:ext>
            </a:extLst>
          </p:cNvPr>
          <p:cNvSpPr>
            <a:spLocks xmlns:a="http://schemas.openxmlformats.org/drawingml/2006/main" noGrp="1"/>
          </p:cNvSpPr>
          <p:nvPr/>
        </p:nvSpPr>
        <p:spPr>
          <a:xfrm xmlns:a="http://schemas.openxmlformats.org/drawingml/2006/main">
            <a:off x="9086850" y="23431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ctr">
              <a:lnSpc>
                <a:spcPct val="104000"/>
              </a:lnSpc>
              <a:buNone/>
              <a:defRPr sz="1275" b="1">
                <a:solidFill>
                  <a:srgbClr val="64748B"/>
                </a:solidFill>
                <a:latin typeface="Arial"/>
                <a:ea typeface="Arial"/>
                <a:cs typeface="Arial"/>
              </a:defRPr>
            </a:pPr>
            <a:r>
              <a:rPr sz="1275" b="1">
                <a:solidFill>
                  <a:srgbClr val="64748B"/>
                </a:solidFill>
                <a:latin typeface="Arial"/>
                <a:ea typeface="Arial"/>
                <a:cs typeface="Arial"/>
              </a:rPr>
              <a:t>FusionVI − totalVI RMSLE</a:t>
            </a:r>
          </a:p>
        </p:txBody>
      </p:sp>
      <p:sp>
        <p:nvSpPr>
          <p:cNvPr id="9" name="">
            <a:extLst xmlns:a="http://schemas.openxmlformats.org/drawingml/2006/main">
              <a:ext uri="{FF2B5EF4-FFF2-40B4-BE49-F238E27FC236}">
                <a16:creationId xmlns:a16="http://schemas.microsoft.com/office/drawing/2014/main" id="{A9891CE3-D8DF-42EF-8F32-A439DA51ECCD}"/>
              </a:ext>
            </a:extLst>
          </p:cNvPr>
          <p:cNvSpPr>
            <a:spLocks xmlns:a="http://schemas.openxmlformats.org/drawingml/2006/main" noGrp="1"/>
          </p:cNvSpPr>
          <p:nvPr/>
        </p:nvSpPr>
        <p:spPr>
          <a:xfrm xmlns:a="http://schemas.openxmlformats.org/drawingml/2006/main">
            <a:off x="9086850" y="274320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ctr">
              <a:lnSpc>
                <a:spcPct val="104000"/>
              </a:lnSpc>
              <a:buNone/>
              <a:defRPr sz="1500" b="1">
                <a:solidFill>
                  <a:srgbClr val="172554"/>
                </a:solidFill>
                <a:latin typeface="Arial"/>
                <a:ea typeface="Arial"/>
                <a:cs typeface="Arial"/>
              </a:defRPr>
            </a:pPr>
            <a:r>
              <a:rPr sz="1500" b="1">
                <a:solidFill>
                  <a:srgbClr val="172554"/>
                </a:solidFill>
                <a:latin typeface="Arial"/>
                <a:ea typeface="Arial"/>
                <a:cs typeface="Arial"/>
              </a:rPr>
              <a:t>1.0605  |  1.0544</a:t>
            </a:r>
          </a:p>
        </p:txBody>
      </p:sp>
      <p:sp>
        <p:nvSpPr>
          <p:cNvPr id="10" name="">
            <a:extLst xmlns:a="http://schemas.openxmlformats.org/drawingml/2006/main">
              <a:ext uri="{FF2B5EF4-FFF2-40B4-BE49-F238E27FC236}">
                <a16:creationId xmlns:a16="http://schemas.microsoft.com/office/drawing/2014/main" id="{F93A9BB5-67E1-4FDE-BC03-81840979CD6F}"/>
              </a:ext>
            </a:extLst>
          </p:cNvPr>
          <p:cNvSpPr>
            <a:spLocks xmlns:a="http://schemas.openxmlformats.org/drawingml/2006/main" noGrp="1"/>
          </p:cNvSpPr>
          <p:nvPr/>
        </p:nvSpPr>
        <p:spPr>
          <a:xfrm xmlns:a="http://schemas.openxmlformats.org/drawingml/2006/main">
            <a:off x="8896350" y="3371850"/>
            <a:ext cx="27051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CBD5E1"/>
            </a:solidFill>
          </a:ln>
        </p:spPr>
      </p:sp>
      <p:sp>
        <p:nvSpPr>
          <p:cNvPr id="11" name="">
            <a:extLst xmlns:a="http://schemas.openxmlformats.org/drawingml/2006/main">
              <a:ext uri="{FF2B5EF4-FFF2-40B4-BE49-F238E27FC236}">
                <a16:creationId xmlns:a16="http://schemas.microsoft.com/office/drawing/2014/main" id="{0A646E25-AB48-467E-93AA-98DA35C14B7D}"/>
              </a:ext>
            </a:extLst>
          </p:cNvPr>
          <p:cNvSpPr>
            <a:spLocks xmlns:a="http://schemas.openxmlformats.org/drawingml/2006/main" noGrp="1"/>
          </p:cNvSpPr>
          <p:nvPr/>
        </p:nvSpPr>
        <p:spPr>
          <a:xfrm xmlns:a="http://schemas.openxmlformats.org/drawingml/2006/main">
            <a:off x="9086850" y="35623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032"/>
          </a:bodyPr>
          <a:lstStyle xmlns:a="http://schemas.openxmlformats.org/drawingml/2006/main"/>
          <a:p xmlns:a="http://schemas.openxmlformats.org/drawingml/2006/main">
            <a:pPr algn="ctr">
              <a:lnSpc>
                <a:spcPct val="104000"/>
              </a:lnSpc>
              <a:buNone/>
              <a:defRPr sz="1425" b="1">
                <a:solidFill>
                  <a:srgbClr val="4F46E5"/>
                </a:solidFill>
                <a:latin typeface="Arial"/>
                <a:ea typeface="Arial"/>
                <a:cs typeface="Arial"/>
              </a:defRPr>
            </a:pPr>
            <a:r>
              <a:rPr sz="1425" b="1">
                <a:solidFill>
                  <a:srgbClr val="4F46E5"/>
                </a:solidFill>
                <a:latin typeface="Arial"/>
                <a:ea typeface="Arial"/>
                <a:cs typeface="Arial"/>
              </a:rPr>
              <a:t>Protein-level comparison</a:t>
            </a:r>
          </a:p>
        </p:txBody>
      </p:sp>
      <p:sp>
        <p:nvSpPr>
          <p:cNvPr id="12" name="">
            <a:extLst xmlns:a="http://schemas.openxmlformats.org/drawingml/2006/main">
              <a:ext uri="{FF2B5EF4-FFF2-40B4-BE49-F238E27FC236}">
                <a16:creationId xmlns:a16="http://schemas.microsoft.com/office/drawing/2014/main" id="{017159E8-E07A-42E6-8D2E-AEE4CE41B15B}"/>
              </a:ext>
            </a:extLst>
          </p:cNvPr>
          <p:cNvSpPr>
            <a:spLocks xmlns:a="http://schemas.openxmlformats.org/drawingml/2006/main" noGrp="1"/>
          </p:cNvSpPr>
          <p:nvPr/>
        </p:nvSpPr>
        <p:spPr>
          <a:xfrm xmlns:a="http://schemas.openxmlformats.org/drawingml/2006/main">
            <a:off x="9353550" y="4057650"/>
            <a:ext cx="1809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002"/>
          </a:bodyPr>
          <a:lstStyle xmlns:a="http://schemas.openxmlformats.org/drawingml/2006/main"/>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FusionVI lower</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for 74/110 proteins</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paired p = 0.000010</a:t>
            </a:r>
          </a:p>
        </p:txBody>
      </p:sp>
      <p:sp>
        <p:nvSpPr>
          <p:cNvPr id="13" name="">
            <a:extLst xmlns:a="http://schemas.openxmlformats.org/drawingml/2006/main">
              <a:ext uri="{FF2B5EF4-FFF2-40B4-BE49-F238E27FC236}">
                <a16:creationId xmlns:a16="http://schemas.microsoft.com/office/drawing/2014/main" id="{CEF54F0A-1CDB-4752-9C96-C3FA08153696}"/>
              </a:ext>
            </a:extLst>
          </p:cNvPr>
          <p:cNvSpPr>
            <a:spLocks xmlns:a="http://schemas.openxmlformats.org/drawingml/2006/main" noGrp="1"/>
          </p:cNvSpPr>
          <p:nvPr/>
        </p:nvSpPr>
        <p:spPr>
          <a:xfrm xmlns:a="http://schemas.openxmlformats.org/drawingml/2006/main">
            <a:off x="9010650" y="58864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591"/>
          </a:bodyPr>
          <a:lstStyle xmlns:a="http://schemas.openxmlformats.org/drawingml/2006/main"/>
          <a:p xmlns:a="http://schemas.openxmlformats.org/drawingml/2006/main">
            <a:pPr algn="ctr">
              <a:lnSpc>
                <a:spcPct val="104000"/>
              </a:lnSpc>
              <a:buNone/>
              <a:defRPr sz="1200" b="1">
                <a:solidFill>
                  <a:srgbClr val="16A34A"/>
                </a:solidFill>
                <a:latin typeface="Arial"/>
                <a:ea typeface="Arial"/>
                <a:cs typeface="Arial"/>
              </a:defRPr>
            </a:pPr>
            <a:r>
              <a:rPr sz="1200" b="1">
                <a:solidFill>
                  <a:srgbClr val="16A34A"/>
                </a:solidFill>
                <a:latin typeface="Arial"/>
                <a:ea typeface="Arial"/>
                <a:cs typeface="Arial"/>
              </a:rPr>
              <a:t>4 paired seeds  •  35% fewer parameters</a:t>
            </a:r>
          </a:p>
        </p:txBody>
      </p:sp>
    </p:spTree>
    <p:extLst>
      <p:ext uri="{BB962C8B-B14F-4D97-AF65-F5344CB8AC3E}">
        <p14:creationId xmlns:p14="http://schemas.microsoft.com/office/powerpoint/2010/main" val="175534621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B5A002B-3B7A-4D2E-9A6A-A3C39C5B0BC7}"/>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INTERPRETATION</a:t>
            </a:r>
          </a:p>
        </p:txBody>
      </p:sp>
      <p:sp>
        <p:nvSpPr>
          <p:cNvPr id="2" name="">
            <a:extLst xmlns:a="http://schemas.openxmlformats.org/drawingml/2006/main">
              <a:ext uri="{FF2B5EF4-FFF2-40B4-BE49-F238E27FC236}">
                <a16:creationId xmlns:a16="http://schemas.microsoft.com/office/drawing/2014/main" id="{64315C03-185F-4E8F-878A-9099C7C582D1}"/>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benchmark supports a narrow technical claim</a:t>
            </a:r>
          </a:p>
        </p:txBody>
      </p:sp>
      <p:sp>
        <p:nvSpPr>
          <p:cNvPr id="3" name="">
            <a:extLst xmlns:a="http://schemas.openxmlformats.org/drawingml/2006/main">
              <a:ext uri="{FF2B5EF4-FFF2-40B4-BE49-F238E27FC236}">
                <a16:creationId xmlns:a16="http://schemas.microsoft.com/office/drawing/2014/main" id="{77B6EF63-6751-4DC3-86BE-41AB3CC453D3}"/>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4AB404-C493-4F55-8439-1AA137E9FD23}"/>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D63C4C2-6A54-4E75-AEBD-E81B38E052E5}"/>
              </a:ext>
            </a:extLst>
          </p:cNvPr>
          <p:cNvSpPr>
            <a:spLocks xmlns:a="http://schemas.openxmlformats.org/drawingml/2006/main" noGrp="1"/>
          </p:cNvSpPr>
          <p:nvPr/>
        </p:nvSpPr>
        <p:spPr>
          <a:xfrm xmlns:a="http://schemas.openxmlformats.org/drawingml/2006/main">
            <a:off x="628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F8717AD-E57D-4192-AC3E-EE82CADAC698}"/>
              </a:ext>
            </a:extLst>
          </p:cNvPr>
          <p:cNvSpPr>
            <a:spLocks xmlns:a="http://schemas.openxmlformats.org/drawingml/2006/main" noGrp="1"/>
          </p:cNvSpPr>
          <p:nvPr/>
        </p:nvSpPr>
        <p:spPr>
          <a:xfrm xmlns:a="http://schemas.openxmlformats.org/drawingml/2006/main">
            <a:off x="857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F97316"/>
                </a:solidFill>
                <a:latin typeface="Arial"/>
                <a:ea typeface="Arial"/>
                <a:cs typeface="Arial"/>
              </a:defRPr>
            </a:pPr>
            <a:r>
              <a:rPr sz="2100" b="1">
                <a:solidFill>
                  <a:srgbClr val="F97316"/>
                </a:solidFill>
                <a:latin typeface="Arial"/>
                <a:ea typeface="Arial"/>
                <a:cs typeface="Arial"/>
              </a:rPr>
              <a:t>Primary paper benchmark</a:t>
            </a:r>
          </a:p>
        </p:txBody>
      </p:sp>
      <p:sp>
        <p:nvSpPr>
          <p:cNvPr id="7" name="">
            <a:extLst xmlns:a="http://schemas.openxmlformats.org/drawingml/2006/main">
              <a:ext uri="{FF2B5EF4-FFF2-40B4-BE49-F238E27FC236}">
                <a16:creationId xmlns:a16="http://schemas.microsoft.com/office/drawing/2014/main" id="{D8A0A679-4629-4175-AE64-C3454718A692}"/>
              </a:ext>
            </a:extLst>
          </p:cNvPr>
          <p:cNvSpPr>
            <a:spLocks xmlns:a="http://schemas.openxmlformats.org/drawingml/2006/main" noGrp="1"/>
          </p:cNvSpPr>
          <p:nvPr/>
        </p:nvSpPr>
        <p:spPr>
          <a:xfrm xmlns:a="http://schemas.openxmlformats.org/drawingml/2006/main">
            <a:off x="857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FusionVI lowers mean RMSLE by 0.0060 across 110 proteins. The encoder is the only architectural difference.</a:t>
            </a:r>
          </a:p>
        </p:txBody>
      </p:sp>
      <p:sp>
        <p:nvSpPr>
          <p:cNvPr id="8" name="">
            <a:extLst xmlns:a="http://schemas.openxmlformats.org/drawingml/2006/main">
              <a:ext uri="{FF2B5EF4-FFF2-40B4-BE49-F238E27FC236}">
                <a16:creationId xmlns:a16="http://schemas.microsoft.com/office/drawing/2014/main" id="{098A69E9-F9A2-4D0F-B565-866CF5A79587}"/>
              </a:ext>
            </a:extLst>
          </p:cNvPr>
          <p:cNvSpPr>
            <a:spLocks xmlns:a="http://schemas.openxmlformats.org/drawingml/2006/main" noGrp="1"/>
          </p:cNvSpPr>
          <p:nvPr/>
        </p:nvSpPr>
        <p:spPr>
          <a:xfrm xmlns:a="http://schemas.openxmlformats.org/drawingml/2006/main">
            <a:off x="6343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9" name="">
            <a:extLst xmlns:a="http://schemas.openxmlformats.org/drawingml/2006/main">
              <a:ext uri="{FF2B5EF4-FFF2-40B4-BE49-F238E27FC236}">
                <a16:creationId xmlns:a16="http://schemas.microsoft.com/office/drawing/2014/main" id="{14940686-358A-47A2-A742-25EB2BEC8500}"/>
              </a:ext>
            </a:extLst>
          </p:cNvPr>
          <p:cNvSpPr>
            <a:spLocks xmlns:a="http://schemas.openxmlformats.org/drawingml/2006/main" noGrp="1"/>
          </p:cNvSpPr>
          <p:nvPr/>
        </p:nvSpPr>
        <p:spPr>
          <a:xfrm xmlns:a="http://schemas.openxmlformats.org/drawingml/2006/main">
            <a:off x="6572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0F9F9A"/>
                </a:solidFill>
                <a:latin typeface="Arial"/>
                <a:ea typeface="Arial"/>
                <a:cs typeface="Arial"/>
              </a:defRPr>
            </a:pPr>
            <a:r>
              <a:rPr sz="2100" b="1">
                <a:solidFill>
                  <a:srgbClr val="0F9F9A"/>
                </a:solidFill>
                <a:latin typeface="Arial"/>
                <a:ea typeface="Arial"/>
                <a:cs typeface="Arial"/>
              </a:rPr>
              <a:t>Parameter efficiency</a:t>
            </a:r>
          </a:p>
        </p:txBody>
      </p:sp>
      <p:sp>
        <p:nvSpPr>
          <p:cNvPr id="10" name="">
            <a:extLst xmlns:a="http://schemas.openxmlformats.org/drawingml/2006/main">
              <a:ext uri="{FF2B5EF4-FFF2-40B4-BE49-F238E27FC236}">
                <a16:creationId xmlns:a16="http://schemas.microsoft.com/office/drawing/2014/main" id="{F05700F7-AF18-4934-9C99-9A7D1ADCFE6B}"/>
              </a:ext>
            </a:extLst>
          </p:cNvPr>
          <p:cNvSpPr>
            <a:spLocks xmlns:a="http://schemas.openxmlformats.org/drawingml/2006/main" noGrp="1"/>
          </p:cNvSpPr>
          <p:nvPr/>
        </p:nvSpPr>
        <p:spPr>
          <a:xfrm xmlns:a="http://schemas.openxmlformats.org/drawingml/2006/main">
            <a:off x="6572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FusionVI uses 2.97 million parameters versus 4.57 million for totalVI, a 35.0% reduction.</a:t>
            </a:r>
          </a:p>
        </p:txBody>
      </p:sp>
      <p:sp>
        <p:nvSpPr>
          <p:cNvPr id="11" name="">
            <a:extLst xmlns:a="http://schemas.openxmlformats.org/drawingml/2006/main">
              <a:ext uri="{FF2B5EF4-FFF2-40B4-BE49-F238E27FC236}">
                <a16:creationId xmlns:a16="http://schemas.microsoft.com/office/drawing/2014/main" id="{E7370A3D-6D8C-4D4E-B72C-50DA8E79D90F}"/>
              </a:ext>
            </a:extLst>
          </p:cNvPr>
          <p:cNvSpPr>
            <a:spLocks xmlns:a="http://schemas.openxmlformats.org/drawingml/2006/main" noGrp="1"/>
          </p:cNvSpPr>
          <p:nvPr/>
        </p:nvSpPr>
        <p:spPr>
          <a:xfrm xmlns:a="http://schemas.openxmlformats.org/drawingml/2006/main">
            <a:off x="685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Secondary marker extension</a:t>
            </a:r>
          </a:p>
        </p:txBody>
      </p:sp>
      <p:sp>
        <p:nvSpPr>
          <p:cNvPr id="12" name="">
            <a:extLst xmlns:a="http://schemas.openxmlformats.org/drawingml/2006/main">
              <a:ext uri="{FF2B5EF4-FFF2-40B4-BE49-F238E27FC236}">
                <a16:creationId xmlns:a16="http://schemas.microsoft.com/office/drawing/2014/main" id="{2C8C96E8-1FDD-4F80-9031-FAEDFFE3E083}"/>
              </a:ext>
            </a:extLst>
          </p:cNvPr>
          <p:cNvSpPr>
            <a:spLocks xmlns:a="http://schemas.openxmlformats.org/drawingml/2006/main" noGrp="1"/>
          </p:cNvSpPr>
          <p:nvPr/>
        </p:nvSpPr>
        <p:spPr>
          <a:xfrm xmlns:a="http://schemas.openxmlformats.org/drawingml/2006/main">
            <a:off x="685800" y="4381500"/>
            <a:ext cx="476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34"/>
          </a:bodyPr>
          <a:lstStyle xmlns:a="http://schemas.openxmlformats.org/drawingml/2006/main"/>
          <a:p xmlns:a="http://schemas.openxmlformats.org/drawingml/2006/main">
            <a:pPr algn="l">
              <a:lnSpc>
                <a:spcPct val="104000"/>
              </a:lnSpc>
              <a:buNone/>
              <a:defRPr sz="1875" b="1">
                <a:solidFill>
                  <a:srgbClr val="172554"/>
                </a:solidFill>
                <a:latin typeface="Arial"/>
                <a:ea typeface="Arial"/>
                <a:cs typeface="Arial"/>
              </a:defRPr>
            </a:pPr>
            <a:r>
              <a:rPr sz="1875" b="1">
                <a:solidFill>
                  <a:srgbClr val="172554"/>
                </a:solidFill>
                <a:latin typeface="Arial"/>
                <a:ea typeface="Arial"/>
                <a:cs typeface="Arial"/>
              </a:rPr>
              <a:t>In a separate four-marker mouse-held-out test, FusionVI raised mean Spearman correlation from 0.578 to 0.673.</a:t>
            </a:r>
          </a:p>
        </p:txBody>
      </p:sp>
      <p:sp>
        <p:nvSpPr>
          <p:cNvPr id="13" name="">
            <a:extLst xmlns:a="http://schemas.openxmlformats.org/drawingml/2006/main">
              <a:ext uri="{FF2B5EF4-FFF2-40B4-BE49-F238E27FC236}">
                <a16:creationId xmlns:a16="http://schemas.microsoft.com/office/drawing/2014/main" id="{30778563-451F-4EC4-86CA-7F8159D6D11A}"/>
              </a:ext>
            </a:extLst>
          </p:cNvPr>
          <p:cNvSpPr>
            <a:spLocks xmlns:a="http://schemas.openxmlformats.org/drawingml/2006/main" noGrp="1"/>
          </p:cNvSpPr>
          <p:nvPr/>
        </p:nvSpPr>
        <p:spPr>
          <a:xfrm xmlns:a="http://schemas.openxmlformats.org/drawingml/2006/main">
            <a:off x="6400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F97316"/>
                </a:solidFill>
                <a:latin typeface="Arial"/>
                <a:ea typeface="Arial"/>
                <a:cs typeface="Arial"/>
              </a:defRPr>
            </a:pPr>
            <a:r>
              <a:rPr sz="1575" b="1">
                <a:solidFill>
                  <a:srgbClr val="F97316"/>
                </a:solidFill>
                <a:latin typeface="Arial"/>
                <a:ea typeface="Arial"/>
                <a:cs typeface="Arial"/>
              </a:rPr>
              <a:t>Limits on the claim</a:t>
            </a:r>
          </a:p>
        </p:txBody>
      </p:sp>
      <p:sp>
        <p:nvSpPr>
          <p:cNvPr id="14" name="">
            <a:extLst xmlns:a="http://schemas.openxmlformats.org/drawingml/2006/main">
              <a:ext uri="{FF2B5EF4-FFF2-40B4-BE49-F238E27FC236}">
                <a16:creationId xmlns:a16="http://schemas.microsoft.com/office/drawing/2014/main" id="{4AFE4801-2C28-4533-ABB8-459700303B3C}"/>
              </a:ext>
            </a:extLst>
          </p:cNvPr>
          <p:cNvSpPr>
            <a:spLocks xmlns:a="http://schemas.openxmlformats.org/drawingml/2006/main" noGrp="1"/>
          </p:cNvSpPr>
          <p:nvPr/>
        </p:nvSpPr>
        <p:spPr>
          <a:xfrm xmlns:a="http://schemas.openxmlformats.org/drawingml/2006/main">
            <a:off x="6400800" y="4381500"/>
            <a:ext cx="4762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82"/>
          </a:bodyPr>
          <a:lstStyle xmlns:a="http://schemas.openxmlformats.org/drawingml/2006/main"/>
          <a:p xmlns:a="http://schemas.openxmlformats.org/drawingml/2006/main">
            <a:pPr algn="l">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One source-target batch pair and 4 seeds cannot establish population or clinical generalization. The paper used 30 initializations.</a:t>
            </a:r>
          </a:p>
        </p:txBody>
      </p:sp>
    </p:spTree>
    <p:extLst>
      <p:ext uri="{BB962C8B-B14F-4D97-AF65-F5344CB8AC3E}">
        <p14:creationId xmlns:p14="http://schemas.microsoft.com/office/powerpoint/2010/main" val="804352027"/>
      </p:ext>
    </p:extLst>
  </p:cSld>
</p:sld>
</file>

<file path=ppt/slides/slide8.xml><?xml version="1.0" encoding="utf-8"?>
<p:sld xmlns:p="http://schemas.openxmlformats.org/presentationml/2006/main">
  <p:cSld>
    <p:bg>
      <p:bgPr>
        <a:solidFill xmlns:a="http://schemas.openxmlformats.org/drawingml/2006/main">
          <a:srgbClr val="17255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428635-0120-4E42-BB49-4A57D6C05F77}"/>
              </a:ext>
            </a:extLst>
          </p:cNvPr>
          <p:cNvSpPr>
            <a:spLocks xmlns:a="http://schemas.openxmlformats.org/drawingml/2006/main" noGrp="1"/>
          </p:cNvSpPr>
          <p:nvPr/>
        </p:nvSpPr>
        <p:spPr>
          <a:xfrm xmlns:a="http://schemas.openxmlformats.org/drawingml/2006/main">
            <a:off x="685800" y="4191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923"/>
          </a:bodyPr>
          <a:lstStyle xmlns:a="http://schemas.openxmlformats.org/drawingml/2006/main"/>
          <a:p xmlns:a="http://schemas.openxmlformats.org/drawingml/2006/main">
            <a:pPr algn="l">
              <a:lnSpc>
                <a:spcPct val="104000"/>
              </a:lnSpc>
              <a:buNone/>
              <a:defRPr sz="1125" b="1">
                <a:solidFill>
                  <a:srgbClr val="E6FFFB"/>
                </a:solidFill>
                <a:latin typeface="Arial"/>
                <a:ea typeface="Arial"/>
                <a:cs typeface="Arial"/>
              </a:defRPr>
            </a:pPr>
            <a:r>
              <a:rPr sz="1125" b="1">
                <a:solidFill>
                  <a:srgbClr val="E6FFFB"/>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E78DD208-5F0F-4464-A681-BFC107A42B72}"/>
              </a:ext>
            </a:extLst>
          </p:cNvPr>
          <p:cNvSpPr>
            <a:spLocks xmlns:a="http://schemas.openxmlformats.org/drawingml/2006/main" noGrp="1"/>
          </p:cNvSpPr>
          <p:nvPr/>
        </p:nvSpPr>
        <p:spPr>
          <a:xfrm xmlns:a="http://schemas.openxmlformats.org/drawingml/2006/main">
            <a:off x="685800" y="876300"/>
            <a:ext cx="10191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823"/>
          </a:bodyPr>
          <a:lstStyle xmlns:a="http://schemas.openxmlformats.org/drawingml/2006/main"/>
          <a:p xmlns:a="http://schemas.openxmlformats.org/drawingml/2006/main">
            <a:pPr algn="l">
              <a:lnSpc>
                <a:spcPct val="104000"/>
              </a:lnSpc>
              <a:buNone/>
              <a:defRPr sz="3150" b="1">
                <a:solidFill>
                  <a:srgbClr val="FFFFFF"/>
                </a:solidFill>
                <a:latin typeface="Arial"/>
                <a:ea typeface="Arial"/>
                <a:cs typeface="Arial"/>
              </a:defRPr>
            </a:pPr>
            <a:r>
              <a:rPr sz="3150" b="1">
                <a:solidFill>
                  <a:srgbClr val="FFFFFF"/>
                </a:solidFill>
                <a:latin typeface="Arial"/>
                <a:ea typeface="Arial"/>
                <a:cs typeface="Arial"/>
              </a:rPr>
              <a:t>FusionVI lowers missing-protein reconstruction error</a:t>
            </a:r>
          </a:p>
        </p:txBody>
      </p:sp>
      <p:sp>
        <p:nvSpPr>
          <p:cNvPr id="3" name="">
            <a:extLst xmlns:a="http://schemas.openxmlformats.org/drawingml/2006/main">
              <a:ext uri="{FF2B5EF4-FFF2-40B4-BE49-F238E27FC236}">
                <a16:creationId xmlns:a16="http://schemas.microsoft.com/office/drawing/2014/main" id="{9244C386-87BE-4C70-83D9-A6B1DF88E561}"/>
              </a:ext>
            </a:extLst>
          </p:cNvPr>
          <p:cNvSpPr>
            <a:spLocks xmlns:a="http://schemas.openxmlformats.org/drawingml/2006/main" noGrp="1"/>
          </p:cNvSpPr>
          <p:nvPr/>
        </p:nvSpPr>
        <p:spPr>
          <a:xfrm xmlns:a="http://schemas.openxmlformats.org/drawingml/2006/main">
            <a:off x="685800" y="1847850"/>
            <a:ext cx="9906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343AAC-FE70-4C64-A82D-C076485AAEB9}"/>
              </a:ext>
            </a:extLst>
          </p:cNvPr>
          <p:cNvSpPr>
            <a:spLocks xmlns:a="http://schemas.openxmlformats.org/drawingml/2006/main" noGrp="1"/>
          </p:cNvSpPr>
          <p:nvPr/>
        </p:nvSpPr>
        <p:spPr>
          <a:xfrm xmlns:a="http://schemas.openxmlformats.org/drawingml/2006/main">
            <a:off x="8382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CBD5E1"/>
                </a:solidFill>
                <a:latin typeface="Arial"/>
                <a:ea typeface="Arial"/>
                <a:cs typeface="Arial"/>
              </a:defRPr>
            </a:pPr>
            <a:r>
              <a:rPr sz="3150" b="1">
                <a:solidFill>
                  <a:srgbClr val="CBD5E1"/>
                </a:solidFill>
                <a:latin typeface="Arial"/>
                <a:ea typeface="Arial"/>
                <a:cs typeface="Arial"/>
              </a:rPr>
              <a:t>1.0605</a:t>
            </a:r>
          </a:p>
        </p:txBody>
      </p:sp>
      <p:sp>
        <p:nvSpPr>
          <p:cNvPr id="5" name="">
            <a:extLst xmlns:a="http://schemas.openxmlformats.org/drawingml/2006/main">
              <a:ext uri="{FF2B5EF4-FFF2-40B4-BE49-F238E27FC236}">
                <a16:creationId xmlns:a16="http://schemas.microsoft.com/office/drawing/2014/main" id="{0EB9B353-91F9-4CD2-9678-7580940B03D5}"/>
              </a:ext>
            </a:extLst>
          </p:cNvPr>
          <p:cNvSpPr>
            <a:spLocks xmlns:a="http://schemas.openxmlformats.org/drawingml/2006/main" noGrp="1"/>
          </p:cNvSpPr>
          <p:nvPr/>
        </p:nvSpPr>
        <p:spPr>
          <a:xfrm xmlns:a="http://schemas.openxmlformats.org/drawingml/2006/main">
            <a:off x="8382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CBD5E1"/>
                </a:solidFill>
                <a:latin typeface="Arial"/>
                <a:ea typeface="Arial"/>
                <a:cs typeface="Arial"/>
              </a:defRPr>
            </a:pPr>
            <a:r>
              <a:rPr sz="1275" b="1">
                <a:solidFill>
                  <a:srgbClr val="CBD5E1"/>
                </a:solidFill>
                <a:latin typeface="Arial"/>
                <a:ea typeface="Arial"/>
                <a:cs typeface="Arial"/>
              </a:rPr>
              <a:t>totalVI RMSLE</a:t>
            </a:r>
          </a:p>
        </p:txBody>
      </p:sp>
      <p:sp>
        <p:nvSpPr>
          <p:cNvPr id="6" name="">
            <a:extLst xmlns:a="http://schemas.openxmlformats.org/drawingml/2006/main">
              <a:ext uri="{FF2B5EF4-FFF2-40B4-BE49-F238E27FC236}">
                <a16:creationId xmlns:a16="http://schemas.microsoft.com/office/drawing/2014/main" id="{1D34A93D-36C6-4C6A-A51E-9093A341B9ED}"/>
              </a:ext>
            </a:extLst>
          </p:cNvPr>
          <p:cNvSpPr>
            <a:spLocks xmlns:a="http://schemas.openxmlformats.org/drawingml/2006/main" noGrp="1"/>
          </p:cNvSpPr>
          <p:nvPr/>
        </p:nvSpPr>
        <p:spPr>
          <a:xfrm xmlns:a="http://schemas.openxmlformats.org/drawingml/2006/main">
            <a:off x="3333750" y="2571750"/>
            <a:ext cx="95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922"/>
          </a:bodyPr>
          <a:lstStyle xmlns:a="http://schemas.openxmlformats.org/drawingml/2006/main"/>
          <a:p xmlns:a="http://schemas.openxmlformats.org/drawingml/2006/main">
            <a:pPr algn="ctr">
              <a:lnSpc>
                <a:spcPct val="104000"/>
              </a:lnSpc>
              <a:buNone/>
              <a:defRPr sz="2700" b="1">
                <a:solidFill>
                  <a:srgbClr val="F97316"/>
                </a:solidFill>
                <a:latin typeface="Arial"/>
                <a:ea typeface="Arial"/>
                <a:cs typeface="Arial"/>
              </a:defRPr>
            </a:pPr>
            <a:r>
              <a:rPr sz="2700" b="1">
                <a:solidFill>
                  <a:srgbClr val="F97316"/>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00EED77E-D1FB-4528-82E6-BF40CCAE3094}"/>
              </a:ext>
            </a:extLst>
          </p:cNvPr>
          <p:cNvSpPr>
            <a:spLocks xmlns:a="http://schemas.openxmlformats.org/drawingml/2006/main" noGrp="1"/>
          </p:cNvSpPr>
          <p:nvPr/>
        </p:nvSpPr>
        <p:spPr>
          <a:xfrm xmlns:a="http://schemas.openxmlformats.org/drawingml/2006/main">
            <a:off x="45720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F97316"/>
                </a:solidFill>
                <a:latin typeface="Arial"/>
                <a:ea typeface="Arial"/>
                <a:cs typeface="Arial"/>
              </a:defRPr>
            </a:pPr>
            <a:r>
              <a:rPr sz="3150" b="1">
                <a:solidFill>
                  <a:srgbClr val="F97316"/>
                </a:solidFill>
                <a:latin typeface="Arial"/>
                <a:ea typeface="Arial"/>
                <a:cs typeface="Arial"/>
              </a:rPr>
              <a:t>1.0544</a:t>
            </a:r>
          </a:p>
        </p:txBody>
      </p:sp>
      <p:sp>
        <p:nvSpPr>
          <p:cNvPr id="8" name="">
            <a:extLst xmlns:a="http://schemas.openxmlformats.org/drawingml/2006/main">
              <a:ext uri="{FF2B5EF4-FFF2-40B4-BE49-F238E27FC236}">
                <a16:creationId xmlns:a16="http://schemas.microsoft.com/office/drawing/2014/main" id="{9E5A596D-5999-4724-B588-CA4028CE30EA}"/>
              </a:ext>
            </a:extLst>
          </p:cNvPr>
          <p:cNvSpPr>
            <a:spLocks xmlns:a="http://schemas.openxmlformats.org/drawingml/2006/main" noGrp="1"/>
          </p:cNvSpPr>
          <p:nvPr/>
        </p:nvSpPr>
        <p:spPr>
          <a:xfrm xmlns:a="http://schemas.openxmlformats.org/drawingml/2006/main">
            <a:off x="45720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FFF7ED"/>
                </a:solidFill>
                <a:latin typeface="Arial"/>
                <a:ea typeface="Arial"/>
                <a:cs typeface="Arial"/>
              </a:defRPr>
            </a:pPr>
            <a:r>
              <a:rPr sz="1275" b="1">
                <a:solidFill>
                  <a:srgbClr val="FFF7ED"/>
                </a:solidFill>
                <a:latin typeface="Arial"/>
                <a:ea typeface="Arial"/>
                <a:cs typeface="Arial"/>
              </a:rPr>
              <a:t>FusionVI RMSLE</a:t>
            </a:r>
          </a:p>
        </p:txBody>
      </p:sp>
      <p:sp>
        <p:nvSpPr>
          <p:cNvPr id="9" name="">
            <a:extLst xmlns:a="http://schemas.openxmlformats.org/drawingml/2006/main">
              <a:ext uri="{FF2B5EF4-FFF2-40B4-BE49-F238E27FC236}">
                <a16:creationId xmlns:a16="http://schemas.microsoft.com/office/drawing/2014/main" id="{E94B412D-1239-494E-84E1-6940E7B4988A}"/>
              </a:ext>
            </a:extLst>
          </p:cNvPr>
          <p:cNvSpPr>
            <a:spLocks xmlns:a="http://schemas.openxmlformats.org/drawingml/2006/main" noGrp="1"/>
          </p:cNvSpPr>
          <p:nvPr/>
        </p:nvSpPr>
        <p:spPr>
          <a:xfrm xmlns:a="http://schemas.openxmlformats.org/drawingml/2006/main">
            <a:off x="742950" y="390525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E6FFFB"/>
                </a:solidFill>
                <a:latin typeface="Arial"/>
                <a:ea typeface="Arial"/>
                <a:cs typeface="Arial"/>
              </a:defRPr>
            </a:pPr>
            <a:r>
              <a:rPr sz="1425" b="1">
                <a:solidFill>
                  <a:srgbClr val="E6FFFB"/>
                </a:solidFill>
                <a:latin typeface="Arial"/>
                <a:ea typeface="Arial"/>
                <a:cs typeface="Arial"/>
              </a:rPr>
              <a:t>What we learned</a:t>
            </a:r>
          </a:p>
        </p:txBody>
      </p:sp>
      <p:sp>
        <p:nvSpPr>
          <p:cNvPr id="10" name="">
            <a:extLst xmlns:a="http://schemas.openxmlformats.org/drawingml/2006/main">
              <a:ext uri="{FF2B5EF4-FFF2-40B4-BE49-F238E27FC236}">
                <a16:creationId xmlns:a16="http://schemas.microsoft.com/office/drawing/2014/main" id="{6E4E1340-81A8-4088-932C-8651A0C4B166}"/>
              </a:ext>
            </a:extLst>
          </p:cNvPr>
          <p:cNvSpPr>
            <a:spLocks xmlns:a="http://schemas.openxmlformats.org/drawingml/2006/main" noGrp="1"/>
          </p:cNvSpPr>
          <p:nvPr/>
        </p:nvSpPr>
        <p:spPr>
          <a:xfrm xmlns:a="http://schemas.openxmlformats.org/drawingml/2006/main">
            <a:off x="742950" y="42862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657"/>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FusionVI lowers mean RMSLE by 0.0060 across 110 proteins. The dual-branch gate achieves this with 35% fewer parameters.</a:t>
            </a:r>
          </a:p>
        </p:txBody>
      </p:sp>
      <p:sp>
        <p:nvSpPr>
          <p:cNvPr id="11" name="">
            <a:extLst xmlns:a="http://schemas.openxmlformats.org/drawingml/2006/main">
              <a:ext uri="{FF2B5EF4-FFF2-40B4-BE49-F238E27FC236}">
                <a16:creationId xmlns:a16="http://schemas.microsoft.com/office/drawing/2014/main" id="{ED202566-68B5-49F6-B69C-A8256F635234}"/>
              </a:ext>
            </a:extLst>
          </p:cNvPr>
          <p:cNvSpPr>
            <a:spLocks xmlns:a="http://schemas.openxmlformats.org/drawingml/2006/main" noGrp="1"/>
          </p:cNvSpPr>
          <p:nvPr/>
        </p:nvSpPr>
        <p:spPr>
          <a:xfrm xmlns:a="http://schemas.openxmlformats.org/drawingml/2006/main">
            <a:off x="6572250" y="39052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F97316"/>
                </a:solidFill>
                <a:latin typeface="Arial"/>
                <a:ea typeface="Arial"/>
                <a:cs typeface="Arial"/>
              </a:defRPr>
            </a:pPr>
            <a:r>
              <a:rPr sz="1425" b="1">
                <a:solidFill>
                  <a:srgbClr val="F97316"/>
                </a:solidFill>
                <a:latin typeface="Arial"/>
                <a:ea typeface="Arial"/>
                <a:cs typeface="Arial"/>
              </a:rPr>
              <a:t>Next decisive test</a:t>
            </a:r>
          </a:p>
        </p:txBody>
      </p:sp>
      <p:sp>
        <p:nvSpPr>
          <p:cNvPr id="12" name="">
            <a:extLst xmlns:a="http://schemas.openxmlformats.org/drawingml/2006/main">
              <a:ext uri="{FF2B5EF4-FFF2-40B4-BE49-F238E27FC236}">
                <a16:creationId xmlns:a16="http://schemas.microsoft.com/office/drawing/2014/main" id="{DFBF4A01-1E1A-47C4-9BD7-40B84F344267}"/>
              </a:ext>
            </a:extLst>
          </p:cNvPr>
          <p:cNvSpPr>
            <a:spLocks xmlns:a="http://schemas.openxmlformats.org/drawingml/2006/main" noGrp="1"/>
          </p:cNvSpPr>
          <p:nvPr/>
        </p:nvSpPr>
        <p:spPr>
          <a:xfrm xmlns:a="http://schemas.openxmlformats.org/drawingml/2006/main">
            <a:off x="6572250" y="4286250"/>
            <a:ext cx="4095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228"/>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Repeat all 30 paper initializations and evaluate additional donor cohorts with independently missing protein panels.</a:t>
            </a:r>
          </a:p>
        </p:txBody>
      </p:sp>
      <p:sp>
        <p:nvSpPr>
          <p:cNvPr id="13" name="">
            <a:extLst xmlns:a="http://schemas.openxmlformats.org/drawingml/2006/main">
              <a:ext uri="{FF2B5EF4-FFF2-40B4-BE49-F238E27FC236}">
                <a16:creationId xmlns:a16="http://schemas.microsoft.com/office/drawing/2014/main" id="{9AB55407-3D66-4CF2-BE5D-5A0F610B0BC2}"/>
              </a:ext>
            </a:extLst>
          </p:cNvPr>
          <p:cNvSpPr>
            <a:spLocks xmlns:a="http://schemas.openxmlformats.org/drawingml/2006/main" noGrp="1"/>
          </p:cNvSpPr>
          <p:nvPr/>
        </p:nvSpPr>
        <p:spPr>
          <a:xfrm xmlns:a="http://schemas.openxmlformats.org/drawingml/2006/main">
            <a:off x="8420100" y="60198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443"/>
          </a:bodyPr>
          <a:lstStyle xmlns:a="http://schemas.openxmlformats.org/drawingml/2006/main"/>
          <a:p xmlns:a="http://schemas.openxmlformats.org/drawingml/2006/main">
            <a:pPr algn="r">
              <a:lnSpc>
                <a:spcPct val="104000"/>
              </a:lnSpc>
              <a:buNone/>
              <a:defRPr sz="2100" b="1">
                <a:solidFill>
                  <a:srgbClr val="E6FFFB"/>
                </a:solidFill>
                <a:latin typeface="Arial"/>
                <a:ea typeface="Arial"/>
                <a:cs typeface="Arial"/>
              </a:defRPr>
            </a:pPr>
            <a:r>
              <a:rPr sz="2100" b="1">
                <a:solidFill>
                  <a:srgbClr val="E6FFFB"/>
                </a:solidFill>
                <a:latin typeface="Arial"/>
                <a:ea typeface="Arial"/>
                <a:cs typeface="Arial"/>
              </a:rPr>
              <a:t>Questions?</a:t>
            </a:r>
          </a:p>
        </p:txBody>
      </p:sp>
    </p:spTree>
    <p:extLst>
      <p:ext uri="{BB962C8B-B14F-4D97-AF65-F5344CB8AC3E}">
        <p14:creationId xmlns:p14="http://schemas.microsoft.com/office/powerpoint/2010/main" val="1237912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2026-10-03T14:46:55.4550000Z</dcterms:created>
  <dcterms:modified xsi:type="dcterms:W3CDTF">2026-10-03T14:46:55.4550000Z</dcterms:modified>
</coreProperties>
</file>