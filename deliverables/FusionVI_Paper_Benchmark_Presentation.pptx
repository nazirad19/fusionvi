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bcac82f14e1456b" /><Relationship Type="http://schemas.openxmlformats.org/officeDocument/2006/relationships/extended-properties" Target="/docProps/app.xml" Id="Rec1b80f94d324870" /><Relationship Type="http://schemas.openxmlformats.org/officeDocument/2006/relationships/officeDocument" Target="/ppt/presentation.xml" Id="R0fb2ca11abba44b5" /></Relationships>
</file>

<file path=ppt/presentation.xml><?xml version="1.0" encoding="utf-8"?>
<p:presentation xmlns:p="http://schemas.openxmlformats.org/presentationml/2006/main">
  <p:sldMasterIdLst>
    <p:sldMasterId xmlns:r="http://schemas.openxmlformats.org/officeDocument/2006/relationships" id="2147483648" r:id="R52ec499024024b48"/>
  </p:sldMasterIdLst>
  <p:notesMasterIdLst>
    <p:notesMasterId xmlns:r="http://schemas.openxmlformats.org/officeDocument/2006/relationships" r:id="Rbf926d1968c945d7"/>
  </p:notesMasterIdLst>
  <p:sldIdLst>
    <p:sldId xmlns:r="http://schemas.openxmlformats.org/officeDocument/2006/relationships" id="256" r:id="R33ebf886863d496c"/>
    <p:sldId xmlns:r="http://schemas.openxmlformats.org/officeDocument/2006/relationships" id="257" r:id="R697fdedd398d4577"/>
    <p:sldId xmlns:r="http://schemas.openxmlformats.org/officeDocument/2006/relationships" id="258" r:id="Recc85faca5e94652"/>
    <p:sldId xmlns:r="http://schemas.openxmlformats.org/officeDocument/2006/relationships" id="259" r:id="Re93fd9ea2fe24e1d"/>
    <p:sldId xmlns:r="http://schemas.openxmlformats.org/officeDocument/2006/relationships" id="260" r:id="R3ddc6f752b3e4e73"/>
    <p:sldId xmlns:r="http://schemas.openxmlformats.org/officeDocument/2006/relationships" id="261" r:id="R5aedf9d8d23f471c"/>
    <p:sldId xmlns:r="http://schemas.openxmlformats.org/officeDocument/2006/relationships" id="262" r:id="R62570c88fb3e4ab2"/>
    <p:sldId xmlns:r="http://schemas.openxmlformats.org/officeDocument/2006/relationships" id="263" r:id="Rddd3332a1b3344e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fc9586774174cba" /><Relationship Type="http://schemas.openxmlformats.org/officeDocument/2006/relationships/slideMaster" Target="/ppt/slideMasters/slideMaster1.xml" Id="R52ec499024024b48" /><Relationship Type="http://schemas.openxmlformats.org/officeDocument/2006/relationships/notesMaster" Target="/ppt/notesMasters/notesMaster1.xml" Id="Rbf926d1968c945d7" /><Relationship Type="http://schemas.openxmlformats.org/officeDocument/2006/relationships/presProps" Target="/ppt/presProps.xml" Id="Rc800a586764d4efe" /><Relationship Type="http://schemas.openxmlformats.org/officeDocument/2006/relationships/tableStyles" Target="/ppt/tableStyles.xml" Id="R753b7b7a2dd9469b" /><Relationship Type="http://schemas.openxmlformats.org/officeDocument/2006/relationships/slide" Target="/ppt/slides/slide1.xml" Id="R33ebf886863d496c" /><Relationship Type="http://schemas.openxmlformats.org/officeDocument/2006/relationships/slide" Target="/ppt/slides/slide2.xml" Id="R697fdedd398d4577" /><Relationship Type="http://schemas.openxmlformats.org/officeDocument/2006/relationships/slide" Target="/ppt/slides/slide3.xml" Id="Recc85faca5e94652" /><Relationship Type="http://schemas.openxmlformats.org/officeDocument/2006/relationships/slide" Target="/ppt/slides/slide4.xml" Id="Re93fd9ea2fe24e1d" /><Relationship Type="http://schemas.openxmlformats.org/officeDocument/2006/relationships/slide" Target="/ppt/slides/slide5.xml" Id="R3ddc6f752b3e4e73" /><Relationship Type="http://schemas.openxmlformats.org/officeDocument/2006/relationships/slide" Target="/ppt/slides/slide6.xml" Id="R5aedf9d8d23f471c" /><Relationship Type="http://schemas.openxmlformats.org/officeDocument/2006/relationships/slide" Target="/ppt/slides/slide7.xml" Id="R62570c88fb3e4ab2" /><Relationship Type="http://schemas.openxmlformats.org/officeDocument/2006/relationships/slide" Target="/ppt/slides/slide8.xml" Id="Rddd3332a1b3344e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b0551de040043f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8c231558acd40b0" /><Relationship Type="http://schemas.openxmlformats.org/officeDocument/2006/relationships/notesMaster" Target="/ppt/notesMasters/notesMaster1.xml" Id="R511a2e44e9eb4265" /></Relationships>
</file>

<file path=ppt/notesSlides/_rels/notesSlide2.xml.rels>&#65279;<?xml version="1.0" encoding="utf-8"?><Relationships xmlns="http://schemas.openxmlformats.org/package/2006/relationships"><Relationship Type="http://schemas.openxmlformats.org/officeDocument/2006/relationships/slide" Target="/ppt/slides/slide2.xml" Id="R7ffa95d6234a4be4" /><Relationship Type="http://schemas.openxmlformats.org/officeDocument/2006/relationships/notesMaster" Target="/ppt/notesMasters/notesMaster1.xml" Id="R519be368e4a04f70" /></Relationships>
</file>

<file path=ppt/notesSlides/_rels/notesSlide3.xml.rels>&#65279;<?xml version="1.0" encoding="utf-8"?><Relationships xmlns="http://schemas.openxmlformats.org/package/2006/relationships"><Relationship Type="http://schemas.openxmlformats.org/officeDocument/2006/relationships/slide" Target="/ppt/slides/slide3.xml" Id="Re6e99fa964cc457a" /><Relationship Type="http://schemas.openxmlformats.org/officeDocument/2006/relationships/notesMaster" Target="/ppt/notesMasters/notesMaster1.xml" Id="R3a2bd3ac868b4484" /></Relationships>
</file>

<file path=ppt/notesSlides/_rels/notesSlide4.xml.rels>&#65279;<?xml version="1.0" encoding="utf-8"?><Relationships xmlns="http://schemas.openxmlformats.org/package/2006/relationships"><Relationship Type="http://schemas.openxmlformats.org/officeDocument/2006/relationships/slide" Target="/ppt/slides/slide4.xml" Id="Rbc67f2c26b9342d8" /><Relationship Type="http://schemas.openxmlformats.org/officeDocument/2006/relationships/notesMaster" Target="/ppt/notesMasters/notesMaster1.xml" Id="Rfa8d935af3654fd1" /></Relationships>
</file>

<file path=ppt/notesSlides/_rels/notesSlide5.xml.rels>&#65279;<?xml version="1.0" encoding="utf-8"?><Relationships xmlns="http://schemas.openxmlformats.org/package/2006/relationships"><Relationship Type="http://schemas.openxmlformats.org/officeDocument/2006/relationships/slide" Target="/ppt/slides/slide5.xml" Id="R496825240d664c44" /><Relationship Type="http://schemas.openxmlformats.org/officeDocument/2006/relationships/notesMaster" Target="/ppt/notesMasters/notesMaster1.xml" Id="R36edd94900a54074" /></Relationships>
</file>

<file path=ppt/notesSlides/_rels/notesSlide6.xml.rels>&#65279;<?xml version="1.0" encoding="utf-8"?><Relationships xmlns="http://schemas.openxmlformats.org/package/2006/relationships"><Relationship Type="http://schemas.openxmlformats.org/officeDocument/2006/relationships/slide" Target="/ppt/slides/slide6.xml" Id="R82b5d4a78c7047dd" /><Relationship Type="http://schemas.openxmlformats.org/officeDocument/2006/relationships/notesMaster" Target="/ppt/notesMasters/notesMaster1.xml" Id="R417c8d445fde4f38" /></Relationships>
</file>

<file path=ppt/notesSlides/_rels/notesSlide7.xml.rels>&#65279;<?xml version="1.0" encoding="utf-8"?><Relationships xmlns="http://schemas.openxmlformats.org/package/2006/relationships"><Relationship Type="http://schemas.openxmlformats.org/officeDocument/2006/relationships/slide" Target="/ppt/slides/slide7.xml" Id="R2d252090024144db" /><Relationship Type="http://schemas.openxmlformats.org/officeDocument/2006/relationships/notesMaster" Target="/ppt/notesMasters/notesMaster1.xml" Id="Rf6a31aef5e914779" /></Relationships>
</file>

<file path=ppt/notesSlides/_rels/notesSlide8.xml.rels>&#65279;<?xml version="1.0" encoding="utf-8"?><Relationships xmlns="http://schemas.openxmlformats.org/package/2006/relationships"><Relationship Type="http://schemas.openxmlformats.org/officeDocument/2006/relationships/slide" Target="/ppt/slides/slide8.xml" Id="R77377fd760214b3b" /><Relationship Type="http://schemas.openxmlformats.org/officeDocument/2006/relationships/notesMaster" Target="/ppt/notesMasters/notesMaster1.xml" Id="R6dc31814121349c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compare the published totalVI architecture with FusionVI on the paper's missing-protein benchmark. Every protein in SLN111-D2 is hidden during training, and the model predicts all 110 from RNA plus the multimodal structure learned in SLN111-D1. Across 16 paired seeds, FusionVI's original RMSLE lead disappears after a D1-only affine calibration: the calibrated difference is +0.0085 and its 95 percent interval crosses zero. Timing: 40 seconds. Source: Gayoso et al., Nature Methods 2021, doi:10.1038/s41592-020-01050-x.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biological question concerns panel completion. Surface proteins define immune populations and include therapeutic targets such as CD20. If a whole antibody panel is missing in a new batch, can transcript measurements recover those protein abundances? CD20, CD28, CD4 and CD8a are examples among the 110 targets. Timing: 50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SLN111-D1 supplies RNA and the complete protein panel. We set every D2 protein input to zero and let totalVI treat that batch as missing protein measurements. The untouched D2 counts remain separate as test truth. Both models receive the same 4,005 genes, 110 target proteins, batches and validation split. Timing: 55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totalVI concatenates RNA and protein measurements in one encoder. FusionVI uses separate RNA and protein branches, then combines their hidden states with a learned gate for each cell. Both models estimate a 20-dimensional latent state and use the same native totalVI decoders and likelihoods. This isolates the encoder as the experimental variable. Timing: 65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each of 16 seeds, we train one totalVI model and one FusionVI model with identical settings: at most 500 epochs, learning rate 0.004, batch size 256, 90/10 training-validation split and early stopping patience 45. Prediction averages 25 posterior samples. The primary metric is mean per-protein root mean squared log error across 7,564 D2 cells. The paper ran 30 initializations; our course benchmark runs 16 paired seeds. Timing: 60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log-of-mean readout favours FusionVI, but both posterior E[log1p y] and D1-only calibration reduce the difference. After calibration, totalVI is numerically better by 0.0085 RMSLE and the confidence interval crosses zero. Calibration removes mean bias without improving residual or within-cell-type recovery for FusionVI. Timing: 70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Matched controls first showed that the raw RMSLE difference was reproducible. The scale-matched evaluation then changed its interpretation: calibration removes the advantage, residual error is higher, and within-cell-type rank recovery is slightly lower for FusionVI. Timing: 60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FusionVI's original-scale RMSLE advantage is reproducible, but it does not survive D1-only calibration and is not supported by residual or within-cell-type metrics. The useful contribution is the diagnostic: evaluation scale can reverse conclusions in missing-protein benchmarks. Timing: 35 seconds, leaving three minutes for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3348c80f33543b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f664c8219db403a" /><Relationship Type="http://schemas.openxmlformats.org/officeDocument/2006/relationships/slideLayout" Target="/ppt/slideLayouts/slideLayout1.xml" Id="R8e6040c91bdc4bf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e6040c91bdc4bf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57a90fe9e5d47c6" /><Relationship Type="http://schemas.openxmlformats.org/officeDocument/2006/relationships/notesSlide" Target="/ppt/notesSlides/notesSlide1.xml" Id="R1da51c19da9e46e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3664445781a493a" /><Relationship Type="http://schemas.openxmlformats.org/officeDocument/2006/relationships/notesSlide" Target="/ppt/notesSlides/notesSlide2.xml" Id="R669854082ef2494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eb29ed976b44426" /><Relationship Type="http://schemas.openxmlformats.org/officeDocument/2006/relationships/notesSlide" Target="/ppt/notesSlides/notesSlide3.xml" Id="Rcf20da3ca6a54f5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a4420a9352b499e" /><Relationship Type="http://schemas.openxmlformats.org/officeDocument/2006/relationships/notesSlide" Target="/ppt/notesSlides/notesSlide4.xml" Id="R13809654ca7542e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67a21f0582649aa" /><Relationship Type="http://schemas.openxmlformats.org/officeDocument/2006/relationships/notesSlide" Target="/ppt/notesSlides/notesSlide5.xml" Id="R959dff4ef7c8428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020261d17ab4ecc" /><Relationship Type="http://schemas.openxmlformats.org/officeDocument/2006/relationships/image" Target="/ppt/media/image.png" Id="Rda85e4ac152340a7" /><Relationship Type="http://schemas.openxmlformats.org/officeDocument/2006/relationships/notesSlide" Target="/ppt/notesSlides/notesSlide6.xml" Id="R28d885e750524a1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02d7317d52e41af" /><Relationship Type="http://schemas.openxmlformats.org/officeDocument/2006/relationships/notesSlide" Target="/ppt/notesSlides/notesSlide7.xml" Id="Rfc7b53acc9b9421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a54f971a8284d11" /><Relationship Type="http://schemas.openxmlformats.org/officeDocument/2006/relationships/notesSlide" Target="/ppt/notesSlides/notesSlide8.xml" Id="R20362b9f9979487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53254EE-404D-4E4F-BE6D-B49C82006D1E}"/>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F9731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1DBE74A-A493-462C-824F-85D55F6BF1D8}"/>
              </a:ext>
            </a:extLst>
          </p:cNvPr>
          <p:cNvSpPr>
            <a:spLocks xmlns:a="http://schemas.openxmlformats.org/drawingml/2006/main" noGrp="1"/>
          </p:cNvSpPr>
          <p:nvPr/>
        </p:nvSpPr>
        <p:spPr>
          <a:xfrm xmlns:a="http://schemas.openxmlformats.org/drawingml/2006/main">
            <a:off x="8382000" y="0"/>
            <a:ext cx="3810000" cy="6858000"/>
          </a:xfrm>
          <a:prstGeom xmlns:a="http://schemas.openxmlformats.org/drawingml/2006/main" prst="rect">
            <a:avLst/>
          </a:prstGeom>
          <a:solidFill xmlns:a="http://schemas.openxmlformats.org/drawingml/2006/main">
            <a:srgbClr val="EEF2F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C3419BB-BF9B-40A3-BBD8-EDE42DA87486}"/>
              </a:ext>
            </a:extLst>
          </p:cNvPr>
          <p:cNvSpPr>
            <a:spLocks xmlns:a="http://schemas.openxmlformats.org/drawingml/2006/main" noGrp="1"/>
          </p:cNvSpPr>
          <p:nvPr/>
        </p:nvSpPr>
        <p:spPr>
          <a:xfrm xmlns:a="http://schemas.openxmlformats.org/drawingml/2006/main">
            <a:off x="666750" y="5334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715"/>
          </a:bodyPr>
          <a:lstStyle xmlns:a="http://schemas.openxmlformats.org/drawingml/2006/main"/>
          <a:p xmlns:a="http://schemas.openxmlformats.org/drawingml/2006/main">
            <a:pPr algn="l">
              <a:lnSpc>
                <a:spcPct val="104000"/>
              </a:lnSpc>
              <a:buNone/>
              <a:defRPr sz="1350" b="1">
                <a:solidFill>
                  <a:srgbClr val="F97316"/>
                </a:solidFill>
                <a:latin typeface="Arial"/>
                <a:ea typeface="Arial"/>
                <a:cs typeface="Arial"/>
              </a:defRPr>
            </a:pPr>
            <a:r>
              <a:rPr sz="1350" b="1">
                <a:solidFill>
                  <a:srgbClr val="F97316"/>
                </a:solidFill>
                <a:latin typeface="Arial"/>
                <a:ea typeface="Arial"/>
                <a:cs typeface="Arial"/>
              </a:rPr>
              <a:t>FUSIONVI</a:t>
            </a:r>
          </a:p>
        </p:txBody>
      </p:sp>
      <p:sp>
        <p:nvSpPr>
          <p:cNvPr id="4" name="">
            <a:extLst xmlns:a="http://schemas.openxmlformats.org/drawingml/2006/main">
              <a:ext uri="{FF2B5EF4-FFF2-40B4-BE49-F238E27FC236}">
                <a16:creationId xmlns:a16="http://schemas.microsoft.com/office/drawing/2014/main" id="{733F237B-09A7-4E4B-A301-1D13BF717F3F}"/>
              </a:ext>
            </a:extLst>
          </p:cNvPr>
          <p:cNvSpPr>
            <a:spLocks xmlns:a="http://schemas.openxmlformats.org/drawingml/2006/main" noGrp="1"/>
          </p:cNvSpPr>
          <p:nvPr/>
        </p:nvSpPr>
        <p:spPr>
          <a:xfrm xmlns:a="http://schemas.openxmlformats.org/drawingml/2006/main">
            <a:off x="666750" y="1200150"/>
            <a:ext cx="7239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22"/>
          </a:bodyPr>
          <a:lstStyle xmlns:a="http://schemas.openxmlformats.org/drawingml/2006/main"/>
          <a:p xmlns:a="http://schemas.openxmlformats.org/drawingml/2006/main">
            <a:pPr algn="l">
              <a:lnSpc>
                <a:spcPct val="104000"/>
              </a:lnSpc>
              <a:buNone/>
              <a:defRPr sz="4050" b="1">
                <a:solidFill>
                  <a:srgbClr val="172554"/>
                </a:solidFill>
                <a:latin typeface="Arial"/>
                <a:ea typeface="Arial"/>
                <a:cs typeface="Arial"/>
              </a:defRPr>
            </a:pPr>
            <a:r>
              <a:rPr sz="4050" b="1">
                <a:solidFill>
                  <a:srgbClr val="172554"/>
                </a:solidFill>
                <a:latin typeface="Arial"/>
                <a:ea typeface="Arial"/>
                <a:cs typeface="Arial"/>
              </a:rPr>
              <a:t>Can RNA recover an</a:t>
            </a:r>
          </a:p>
          <a:p xmlns:a="http://schemas.openxmlformats.org/drawingml/2006/main">
            <a:pPr algn="l">
              <a:lnSpc>
                <a:spcPct val="104000"/>
              </a:lnSpc>
              <a:buNone/>
              <a:defRPr sz="4050" b="1">
                <a:solidFill>
                  <a:srgbClr val="172554"/>
                </a:solidFill>
                <a:latin typeface="Arial"/>
                <a:ea typeface="Arial"/>
                <a:cs typeface="Arial"/>
              </a:defRPr>
            </a:pPr>
            <a:r>
              <a:rPr sz="4050" b="1">
                <a:solidFill>
                  <a:srgbClr val="172554"/>
                </a:solidFill>
                <a:latin typeface="Arial"/>
                <a:ea typeface="Arial"/>
                <a:cs typeface="Arial"/>
              </a:rPr>
              <a:t>entire missing</a:t>
            </a:r>
          </a:p>
          <a:p xmlns:a="http://schemas.openxmlformats.org/drawingml/2006/main">
            <a:pPr algn="l">
              <a:lnSpc>
                <a:spcPct val="104000"/>
              </a:lnSpc>
              <a:buNone/>
              <a:defRPr sz="4050" b="1">
                <a:solidFill>
                  <a:srgbClr val="172554"/>
                </a:solidFill>
                <a:latin typeface="Arial"/>
                <a:ea typeface="Arial"/>
                <a:cs typeface="Arial"/>
              </a:defRPr>
            </a:pPr>
            <a:r>
              <a:rPr sz="4050" b="1">
                <a:solidFill>
                  <a:srgbClr val="172554"/>
                </a:solidFill>
                <a:latin typeface="Arial"/>
                <a:ea typeface="Arial"/>
                <a:cs typeface="Arial"/>
              </a:rPr>
              <a:t>protein panel?</a:t>
            </a:r>
          </a:p>
        </p:txBody>
      </p:sp>
      <p:sp>
        <p:nvSpPr>
          <p:cNvPr id="5" name="">
            <a:extLst xmlns:a="http://schemas.openxmlformats.org/drawingml/2006/main">
              <a:ext uri="{FF2B5EF4-FFF2-40B4-BE49-F238E27FC236}">
                <a16:creationId xmlns:a16="http://schemas.microsoft.com/office/drawing/2014/main" id="{2203FB05-77EB-4996-940C-9C49CC8A115F}"/>
              </a:ext>
            </a:extLst>
          </p:cNvPr>
          <p:cNvSpPr>
            <a:spLocks xmlns:a="http://schemas.openxmlformats.org/drawingml/2006/main" noGrp="1"/>
          </p:cNvSpPr>
          <p:nvPr/>
        </p:nvSpPr>
        <p:spPr>
          <a:xfrm xmlns:a="http://schemas.openxmlformats.org/drawingml/2006/main">
            <a:off x="704850" y="3429000"/>
            <a:ext cx="685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4000"/>
              </a:lnSpc>
              <a:buNone/>
              <a:defRPr sz="1800" b="0">
                <a:solidFill>
                  <a:srgbClr val="4F46E5"/>
                </a:solidFill>
                <a:latin typeface="Arial"/>
                <a:ea typeface="Arial"/>
                <a:cs typeface="Arial"/>
              </a:defRPr>
            </a:pPr>
            <a:r>
              <a:rPr sz="1800" b="0">
                <a:solidFill>
                  <a:srgbClr val="4F46E5"/>
                </a:solidFill>
                <a:latin typeface="Arial"/>
                <a:ea typeface="Arial"/>
                <a:cs typeface="Arial"/>
              </a:rPr>
              <a:t>Published totalVI versus FusionVI after scale matching</a:t>
            </a:r>
          </a:p>
        </p:txBody>
      </p:sp>
      <p:sp>
        <p:nvSpPr>
          <p:cNvPr id="6" name="">
            <a:extLst xmlns:a="http://schemas.openxmlformats.org/drawingml/2006/main">
              <a:ext uri="{FF2B5EF4-FFF2-40B4-BE49-F238E27FC236}">
                <a16:creationId xmlns:a16="http://schemas.microsoft.com/office/drawing/2014/main" id="{BEC12EC1-1543-4BE5-93BC-051CF957EB2F}"/>
              </a:ext>
            </a:extLst>
          </p:cNvPr>
          <p:cNvSpPr>
            <a:spLocks xmlns:a="http://schemas.openxmlformats.org/drawingml/2006/main" noGrp="1"/>
          </p:cNvSpPr>
          <p:nvPr/>
        </p:nvSpPr>
        <p:spPr>
          <a:xfrm xmlns:a="http://schemas.openxmlformats.org/drawingml/2006/main">
            <a:off x="704850" y="3943350"/>
            <a:ext cx="6743700" cy="457200"/>
          </a:xfrm>
          <a:prstGeom xmlns:a="http://schemas.openxmlformats.org/drawingml/2006/main" prst="roundRect">
            <a:avLst>
              <a:gd name="adj" fmla="val 25000"/>
            </a:avLst>
          </a:prstGeom>
          <a:solidFill xmlns:a="http://schemas.openxmlformats.org/drawingml/2006/main">
            <a:srgbClr val="EEF2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64CC86A-8F41-4A08-A38C-D5AF99F4BA67}"/>
              </a:ext>
            </a:extLst>
          </p:cNvPr>
          <p:cNvSpPr>
            <a:spLocks xmlns:a="http://schemas.openxmlformats.org/drawingml/2006/main" noGrp="1"/>
          </p:cNvSpPr>
          <p:nvPr/>
        </p:nvSpPr>
        <p:spPr>
          <a:xfrm xmlns:a="http://schemas.openxmlformats.org/drawingml/2006/main">
            <a:off x="876300" y="4038600"/>
            <a:ext cx="640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147"/>
          </a:bodyPr>
          <a:lstStyle xmlns:a="http://schemas.openxmlformats.org/drawingml/2006/main"/>
          <a:p xmlns:a="http://schemas.openxmlformats.org/drawingml/2006/main">
            <a:pPr algn="ctr">
              <a:lnSpc>
                <a:spcPct val="104000"/>
              </a:lnSpc>
              <a:buNone/>
              <a:defRPr sz="1200" b="1">
                <a:solidFill>
                  <a:srgbClr val="4F46E5"/>
                </a:solidFill>
                <a:latin typeface="Arial"/>
                <a:ea typeface="Arial"/>
                <a:cs typeface="Arial"/>
              </a:defRPr>
            </a:pPr>
            <a:r>
              <a:rPr sz="1200" b="1">
                <a:solidFill>
                  <a:srgbClr val="4F46E5"/>
                </a:solidFill>
                <a:latin typeface="Arial"/>
                <a:ea typeface="Arial"/>
                <a:cs typeface="Arial"/>
              </a:rPr>
              <a:t>Paper Figure 3 task on the official SLN111 CITE-seq object</a:t>
            </a:r>
          </a:p>
        </p:txBody>
      </p:sp>
      <p:sp>
        <p:nvSpPr>
          <p:cNvPr id="8" name="">
            <a:extLst xmlns:a="http://schemas.openxmlformats.org/drawingml/2006/main">
              <a:ext uri="{FF2B5EF4-FFF2-40B4-BE49-F238E27FC236}">
                <a16:creationId xmlns:a16="http://schemas.microsoft.com/office/drawing/2014/main" id="{DF90CB2E-C1CE-4029-A288-281B214208CF}"/>
              </a:ext>
            </a:extLst>
          </p:cNvPr>
          <p:cNvSpPr>
            <a:spLocks xmlns:a="http://schemas.openxmlformats.org/drawingml/2006/main" noGrp="1"/>
          </p:cNvSpPr>
          <p:nvPr/>
        </p:nvSpPr>
        <p:spPr>
          <a:xfrm xmlns:a="http://schemas.openxmlformats.org/drawingml/2006/main">
            <a:off x="704850" y="4629150"/>
            <a:ext cx="1752600" cy="1066800"/>
          </a:xfrm>
          <a:prstGeom xmlns:a="http://schemas.openxmlformats.org/drawingml/2006/main" prst="roundRect">
            <a:avLst>
              <a:gd name="adj" fmla="val 10714"/>
            </a:avLst>
          </a:prstGeom>
          <a:solidFill xmlns:a="http://schemas.openxmlformats.org/drawingml/2006/main">
            <a:srgbClr val="E6FFFB"/>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D6FC12B-1522-49A2-8153-8B9C954BE6FC}"/>
              </a:ext>
            </a:extLst>
          </p:cNvPr>
          <p:cNvSpPr>
            <a:spLocks xmlns:a="http://schemas.openxmlformats.org/drawingml/2006/main" noGrp="1"/>
          </p:cNvSpPr>
          <p:nvPr/>
        </p:nvSpPr>
        <p:spPr>
          <a:xfrm xmlns:a="http://schemas.openxmlformats.org/drawingml/2006/main">
            <a:off x="819150" y="4762500"/>
            <a:ext cx="1524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84"/>
          </a:bodyPr>
          <a:lstStyle xmlns:a="http://schemas.openxmlformats.org/drawingml/2006/main"/>
          <a:p xmlns:a="http://schemas.openxmlformats.org/drawingml/2006/main">
            <a:pPr algn="ctr">
              <a:lnSpc>
                <a:spcPct val="104000"/>
              </a:lnSpc>
              <a:buNone/>
              <a:defRPr sz="2550" b="1">
                <a:solidFill>
                  <a:srgbClr val="0F9F9A"/>
                </a:solidFill>
                <a:latin typeface="Arial"/>
                <a:ea typeface="Arial"/>
                <a:cs typeface="Arial"/>
              </a:defRPr>
            </a:pPr>
            <a:r>
              <a:rPr sz="2550" b="1">
                <a:solidFill>
                  <a:srgbClr val="0F9F9A"/>
                </a:solidFill>
                <a:latin typeface="Arial"/>
                <a:ea typeface="Arial"/>
                <a:cs typeface="Arial"/>
              </a:rPr>
              <a:t>16,828</a:t>
            </a:r>
          </a:p>
        </p:txBody>
      </p:sp>
      <p:sp>
        <p:nvSpPr>
          <p:cNvPr id="10" name="">
            <a:extLst xmlns:a="http://schemas.openxmlformats.org/drawingml/2006/main">
              <a:ext uri="{FF2B5EF4-FFF2-40B4-BE49-F238E27FC236}">
                <a16:creationId xmlns:a16="http://schemas.microsoft.com/office/drawing/2014/main" id="{AE0A6310-62CA-4270-B9B3-3D332E97E1AB}"/>
              </a:ext>
            </a:extLst>
          </p:cNvPr>
          <p:cNvSpPr>
            <a:spLocks xmlns:a="http://schemas.openxmlformats.org/drawingml/2006/main" noGrp="1"/>
          </p:cNvSpPr>
          <p:nvPr/>
        </p:nvSpPr>
        <p:spPr>
          <a:xfrm xmlns:a="http://schemas.openxmlformats.org/drawingml/2006/main">
            <a:off x="819150" y="5248275"/>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1200" b="1">
                <a:solidFill>
                  <a:srgbClr val="64748B"/>
                </a:solidFill>
                <a:latin typeface="Arial"/>
                <a:ea typeface="Arial"/>
                <a:cs typeface="Arial"/>
              </a:defRPr>
            </a:pPr>
            <a:r>
              <a:rPr sz="1200" b="1">
                <a:solidFill>
                  <a:srgbClr val="64748B"/>
                </a:solidFill>
                <a:latin typeface="Arial"/>
                <a:ea typeface="Arial"/>
                <a:cs typeface="Arial"/>
              </a:rPr>
              <a:t>cells</a:t>
            </a:r>
          </a:p>
        </p:txBody>
      </p:sp>
      <p:sp>
        <p:nvSpPr>
          <p:cNvPr id="11" name="">
            <a:extLst xmlns:a="http://schemas.openxmlformats.org/drawingml/2006/main">
              <a:ext uri="{FF2B5EF4-FFF2-40B4-BE49-F238E27FC236}">
                <a16:creationId xmlns:a16="http://schemas.microsoft.com/office/drawing/2014/main" id="{9F009113-408A-4191-B093-2E1CF59BF607}"/>
              </a:ext>
            </a:extLst>
          </p:cNvPr>
          <p:cNvSpPr>
            <a:spLocks xmlns:a="http://schemas.openxmlformats.org/drawingml/2006/main" noGrp="1"/>
          </p:cNvSpPr>
          <p:nvPr/>
        </p:nvSpPr>
        <p:spPr>
          <a:xfrm xmlns:a="http://schemas.openxmlformats.org/drawingml/2006/main">
            <a:off x="2628900" y="4629150"/>
            <a:ext cx="1752600" cy="1066800"/>
          </a:xfrm>
          <a:prstGeom xmlns:a="http://schemas.openxmlformats.org/drawingml/2006/main" prst="roundRect">
            <a:avLst>
              <a:gd name="adj" fmla="val 10714"/>
            </a:avLst>
          </a:prstGeom>
          <a:solidFill xmlns:a="http://schemas.openxmlformats.org/drawingml/2006/main">
            <a:srgbClr val="FFF7E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82F33C3-59A6-41F0-BB2C-9836D9899B2B}"/>
              </a:ext>
            </a:extLst>
          </p:cNvPr>
          <p:cNvSpPr>
            <a:spLocks xmlns:a="http://schemas.openxmlformats.org/drawingml/2006/main" noGrp="1"/>
          </p:cNvSpPr>
          <p:nvPr/>
        </p:nvSpPr>
        <p:spPr>
          <a:xfrm xmlns:a="http://schemas.openxmlformats.org/drawingml/2006/main">
            <a:off x="2743200" y="4762500"/>
            <a:ext cx="1524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84"/>
          </a:bodyPr>
          <a:lstStyle xmlns:a="http://schemas.openxmlformats.org/drawingml/2006/main"/>
          <a:p xmlns:a="http://schemas.openxmlformats.org/drawingml/2006/main">
            <a:pPr algn="ctr">
              <a:lnSpc>
                <a:spcPct val="104000"/>
              </a:lnSpc>
              <a:buNone/>
              <a:defRPr sz="2550" b="1">
                <a:solidFill>
                  <a:srgbClr val="F97316"/>
                </a:solidFill>
                <a:latin typeface="Arial"/>
                <a:ea typeface="Arial"/>
                <a:cs typeface="Arial"/>
              </a:defRPr>
            </a:pPr>
            <a:r>
              <a:rPr sz="2550" b="1">
                <a:solidFill>
                  <a:srgbClr val="F97316"/>
                </a:solidFill>
                <a:latin typeface="Arial"/>
                <a:ea typeface="Arial"/>
                <a:cs typeface="Arial"/>
              </a:rPr>
              <a:t>110</a:t>
            </a:r>
          </a:p>
        </p:txBody>
      </p:sp>
      <p:sp>
        <p:nvSpPr>
          <p:cNvPr id="13" name="">
            <a:extLst xmlns:a="http://schemas.openxmlformats.org/drawingml/2006/main">
              <a:ext uri="{FF2B5EF4-FFF2-40B4-BE49-F238E27FC236}">
                <a16:creationId xmlns:a16="http://schemas.microsoft.com/office/drawing/2014/main" id="{483F9711-78EA-4C69-ACAA-3194ABC80135}"/>
              </a:ext>
            </a:extLst>
          </p:cNvPr>
          <p:cNvSpPr>
            <a:spLocks xmlns:a="http://schemas.openxmlformats.org/drawingml/2006/main" noGrp="1"/>
          </p:cNvSpPr>
          <p:nvPr/>
        </p:nvSpPr>
        <p:spPr>
          <a:xfrm xmlns:a="http://schemas.openxmlformats.org/drawingml/2006/main">
            <a:off x="2743200" y="5248275"/>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1200" b="1">
                <a:solidFill>
                  <a:srgbClr val="64748B"/>
                </a:solidFill>
                <a:latin typeface="Arial"/>
                <a:ea typeface="Arial"/>
                <a:cs typeface="Arial"/>
              </a:defRPr>
            </a:pPr>
            <a:r>
              <a:rPr sz="1200" b="1">
                <a:solidFill>
                  <a:srgbClr val="64748B"/>
                </a:solidFill>
                <a:latin typeface="Arial"/>
                <a:ea typeface="Arial"/>
                <a:cs typeface="Arial"/>
              </a:rPr>
              <a:t>proteins hidden</a:t>
            </a:r>
          </a:p>
        </p:txBody>
      </p:sp>
      <p:sp>
        <p:nvSpPr>
          <p:cNvPr id="14" name="">
            <a:extLst xmlns:a="http://schemas.openxmlformats.org/drawingml/2006/main">
              <a:ext uri="{FF2B5EF4-FFF2-40B4-BE49-F238E27FC236}">
                <a16:creationId xmlns:a16="http://schemas.microsoft.com/office/drawing/2014/main" id="{0EDBCC62-8DDC-4740-A7C6-AC061405ECDD}"/>
              </a:ext>
            </a:extLst>
          </p:cNvPr>
          <p:cNvSpPr>
            <a:spLocks xmlns:a="http://schemas.openxmlformats.org/drawingml/2006/main" noGrp="1"/>
          </p:cNvSpPr>
          <p:nvPr/>
        </p:nvSpPr>
        <p:spPr>
          <a:xfrm xmlns:a="http://schemas.openxmlformats.org/drawingml/2006/main">
            <a:off x="4552950" y="4629150"/>
            <a:ext cx="1752600" cy="1066800"/>
          </a:xfrm>
          <a:prstGeom xmlns:a="http://schemas.openxmlformats.org/drawingml/2006/main" prst="roundRect">
            <a:avLst>
              <a:gd name="adj" fmla="val 10714"/>
            </a:avLst>
          </a:prstGeom>
          <a:solidFill xmlns:a="http://schemas.openxmlformats.org/drawingml/2006/main">
            <a:srgbClr val="EEF2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627B23F-8987-45B6-98A4-24CD6428250D}"/>
              </a:ext>
            </a:extLst>
          </p:cNvPr>
          <p:cNvSpPr>
            <a:spLocks xmlns:a="http://schemas.openxmlformats.org/drawingml/2006/main" noGrp="1"/>
          </p:cNvSpPr>
          <p:nvPr/>
        </p:nvSpPr>
        <p:spPr>
          <a:xfrm xmlns:a="http://schemas.openxmlformats.org/drawingml/2006/main">
            <a:off x="4667250" y="4762500"/>
            <a:ext cx="1524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84"/>
          </a:bodyPr>
          <a:lstStyle xmlns:a="http://schemas.openxmlformats.org/drawingml/2006/main"/>
          <a:p xmlns:a="http://schemas.openxmlformats.org/drawingml/2006/main">
            <a:pPr algn="ctr">
              <a:lnSpc>
                <a:spcPct val="104000"/>
              </a:lnSpc>
              <a:buNone/>
              <a:defRPr sz="2550" b="1">
                <a:solidFill>
                  <a:srgbClr val="4F46E5"/>
                </a:solidFill>
                <a:latin typeface="Arial"/>
                <a:ea typeface="Arial"/>
                <a:cs typeface="Arial"/>
              </a:defRPr>
            </a:pPr>
            <a:r>
              <a:rPr sz="2550" b="1">
                <a:solidFill>
                  <a:srgbClr val="4F46E5"/>
                </a:solidFill>
                <a:latin typeface="Arial"/>
                <a:ea typeface="Arial"/>
                <a:cs typeface="Arial"/>
              </a:rPr>
              <a:t>16</a:t>
            </a:r>
          </a:p>
        </p:txBody>
      </p:sp>
      <p:sp>
        <p:nvSpPr>
          <p:cNvPr id="16" name="">
            <a:extLst xmlns:a="http://schemas.openxmlformats.org/drawingml/2006/main">
              <a:ext uri="{FF2B5EF4-FFF2-40B4-BE49-F238E27FC236}">
                <a16:creationId xmlns:a16="http://schemas.microsoft.com/office/drawing/2014/main" id="{118B1A07-A3FA-4DC2-8595-D08AF188596A}"/>
              </a:ext>
            </a:extLst>
          </p:cNvPr>
          <p:cNvSpPr>
            <a:spLocks xmlns:a="http://schemas.openxmlformats.org/drawingml/2006/main" noGrp="1"/>
          </p:cNvSpPr>
          <p:nvPr/>
        </p:nvSpPr>
        <p:spPr>
          <a:xfrm xmlns:a="http://schemas.openxmlformats.org/drawingml/2006/main">
            <a:off x="4667250" y="5248275"/>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1200" b="1">
                <a:solidFill>
                  <a:srgbClr val="64748B"/>
                </a:solidFill>
                <a:latin typeface="Arial"/>
                <a:ea typeface="Arial"/>
                <a:cs typeface="Arial"/>
              </a:defRPr>
            </a:pPr>
            <a:r>
              <a:rPr sz="1200" b="1">
                <a:solidFill>
                  <a:srgbClr val="64748B"/>
                </a:solidFill>
                <a:latin typeface="Arial"/>
                <a:ea typeface="Arial"/>
                <a:cs typeface="Arial"/>
              </a:rPr>
              <a:t>paired seeds</a:t>
            </a:r>
          </a:p>
        </p:txBody>
      </p:sp>
      <p:sp>
        <p:nvSpPr>
          <p:cNvPr id="17" name="">
            <a:extLst xmlns:a="http://schemas.openxmlformats.org/drawingml/2006/main">
              <a:ext uri="{FF2B5EF4-FFF2-40B4-BE49-F238E27FC236}">
                <a16:creationId xmlns:a16="http://schemas.microsoft.com/office/drawing/2014/main" id="{27C5F2C8-418E-44EE-90FE-0E2122EEB9EF}"/>
              </a:ext>
            </a:extLst>
          </p:cNvPr>
          <p:cNvSpPr>
            <a:spLocks xmlns:a="http://schemas.openxmlformats.org/drawingml/2006/main" noGrp="1"/>
          </p:cNvSpPr>
          <p:nvPr/>
        </p:nvSpPr>
        <p:spPr>
          <a:xfrm xmlns:a="http://schemas.openxmlformats.org/drawingml/2006/main">
            <a:off x="704850" y="6191250"/>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909"/>
          </a:bodyPr>
          <a:lstStyle xmlns:a="http://schemas.openxmlformats.org/drawingml/2006/main"/>
          <a:p xmlns:a="http://schemas.openxmlformats.org/drawingml/2006/main">
            <a:pPr algn="l">
              <a:lnSpc>
                <a:spcPct val="104000"/>
              </a:lnSpc>
              <a:buNone/>
              <a:defRPr sz="1350" b="1">
                <a:solidFill>
                  <a:srgbClr val="64748B"/>
                </a:solidFill>
                <a:latin typeface="Arial"/>
                <a:ea typeface="Arial"/>
                <a:cs typeface="Arial"/>
              </a:defRPr>
            </a:pPr>
            <a:r>
              <a:rPr sz="1350" b="1">
                <a:solidFill>
                  <a:srgbClr val="64748B"/>
                </a:solidFill>
                <a:latin typeface="Arial"/>
                <a:ea typeface="Arial"/>
                <a:cs typeface="Arial"/>
              </a:rPr>
              <a:t>Multimodal AI for therapeutic discovery</a:t>
            </a:r>
          </a:p>
        </p:txBody>
      </p:sp>
      <p:sp>
        <p:nvSpPr>
          <p:cNvPr id="18" name="">
            <a:extLst xmlns:a="http://schemas.openxmlformats.org/drawingml/2006/main">
              <a:ext uri="{FF2B5EF4-FFF2-40B4-BE49-F238E27FC236}">
                <a16:creationId xmlns:a16="http://schemas.microsoft.com/office/drawing/2014/main" id="{F41FA2A6-F34B-449E-A6FA-94EA5DE051AD}"/>
              </a:ext>
            </a:extLst>
          </p:cNvPr>
          <p:cNvSpPr>
            <a:spLocks xmlns:a="http://schemas.openxmlformats.org/drawingml/2006/main" noGrp="1"/>
          </p:cNvSpPr>
          <p:nvPr/>
        </p:nvSpPr>
        <p:spPr>
          <a:xfrm xmlns:a="http://schemas.openxmlformats.org/drawingml/2006/main">
            <a:off x="8915400" y="1809750"/>
            <a:ext cx="266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4200" b="1">
                <a:solidFill>
                  <a:srgbClr val="F97316"/>
                </a:solidFill>
                <a:latin typeface="Arial"/>
                <a:ea typeface="Arial"/>
                <a:cs typeface="Arial"/>
              </a:defRPr>
            </a:pPr>
            <a:r>
              <a:rPr sz="4200" b="1">
                <a:solidFill>
                  <a:srgbClr val="F97316"/>
                </a:solidFill>
                <a:latin typeface="Arial"/>
                <a:ea typeface="Arial"/>
                <a:cs typeface="Arial"/>
              </a:rPr>
              <a:t>+0.0085</a:t>
            </a:r>
          </a:p>
        </p:txBody>
      </p:sp>
      <p:sp>
        <p:nvSpPr>
          <p:cNvPr id="19" name="">
            <a:extLst xmlns:a="http://schemas.openxmlformats.org/drawingml/2006/main">
              <a:ext uri="{FF2B5EF4-FFF2-40B4-BE49-F238E27FC236}">
                <a16:creationId xmlns:a16="http://schemas.microsoft.com/office/drawing/2014/main" id="{530E6E4F-0346-43F9-A15C-5754A2927D4A}"/>
              </a:ext>
            </a:extLst>
          </p:cNvPr>
          <p:cNvSpPr>
            <a:spLocks xmlns:a="http://schemas.openxmlformats.org/drawingml/2006/main" noGrp="1"/>
          </p:cNvSpPr>
          <p:nvPr/>
        </p:nvSpPr>
        <p:spPr>
          <a:xfrm xmlns:a="http://schemas.openxmlformats.org/drawingml/2006/main">
            <a:off x="8915400" y="260985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715"/>
          </a:bodyPr>
          <a:lstStyle xmlns:a="http://schemas.openxmlformats.org/drawingml/2006/main"/>
          <a:p xmlns:a="http://schemas.openxmlformats.org/drawingml/2006/main">
            <a:pPr algn="ctr">
              <a:lnSpc>
                <a:spcPct val="104000"/>
              </a:lnSpc>
              <a:buNone/>
              <a:defRPr sz="1350" b="1">
                <a:solidFill>
                  <a:srgbClr val="64748B"/>
                </a:solidFill>
                <a:latin typeface="Arial"/>
                <a:ea typeface="Arial"/>
                <a:cs typeface="Arial"/>
              </a:defRPr>
            </a:pPr>
            <a:r>
              <a:rPr sz="1350" b="1">
                <a:solidFill>
                  <a:srgbClr val="64748B"/>
                </a:solidFill>
                <a:latin typeface="Arial"/>
                <a:ea typeface="Arial"/>
                <a:cs typeface="Arial"/>
              </a:rPr>
              <a:t>calibrated FusionVI − totalVI</a:t>
            </a:r>
          </a:p>
        </p:txBody>
      </p:sp>
      <p:sp>
        <p:nvSpPr>
          <p:cNvPr id="20" name="">
            <a:extLst xmlns:a="http://schemas.openxmlformats.org/drawingml/2006/main">
              <a:ext uri="{FF2B5EF4-FFF2-40B4-BE49-F238E27FC236}">
                <a16:creationId xmlns:a16="http://schemas.microsoft.com/office/drawing/2014/main" id="{8793C35B-DAFB-4510-915A-0371A94A3419}"/>
              </a:ext>
            </a:extLst>
          </p:cNvPr>
          <p:cNvSpPr>
            <a:spLocks xmlns:a="http://schemas.openxmlformats.org/drawingml/2006/main" noGrp="1"/>
          </p:cNvSpPr>
          <p:nvPr/>
        </p:nvSpPr>
        <p:spPr>
          <a:xfrm xmlns:a="http://schemas.openxmlformats.org/drawingml/2006/main">
            <a:off x="8915400" y="306705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585"/>
          </a:bodyPr>
          <a:lstStyle xmlns:a="http://schemas.openxmlformats.org/drawingml/2006/main"/>
          <a:p xmlns:a="http://schemas.openxmlformats.org/drawingml/2006/main">
            <a:pPr algn="ctr">
              <a:lnSpc>
                <a:spcPct val="104000"/>
              </a:lnSpc>
              <a:buNone/>
              <a:defRPr sz="1650" b="1">
                <a:solidFill>
                  <a:srgbClr val="172554"/>
                </a:solidFill>
                <a:latin typeface="Arial"/>
                <a:ea typeface="Arial"/>
                <a:cs typeface="Arial"/>
              </a:defRPr>
            </a:pPr>
            <a:r>
              <a:rPr sz="1650" b="1">
                <a:solidFill>
                  <a:srgbClr val="172554"/>
                </a:solidFill>
                <a:latin typeface="Arial"/>
                <a:ea typeface="Arial"/>
                <a:cs typeface="Arial"/>
              </a:rPr>
              <a:t>95% CI crosses zero</a:t>
            </a:r>
          </a:p>
        </p:txBody>
      </p:sp>
    </p:spTree>
    <p:extLst>
      <p:ext uri="{BB962C8B-B14F-4D97-AF65-F5344CB8AC3E}">
        <p14:creationId xmlns:p14="http://schemas.microsoft.com/office/powerpoint/2010/main" val="71147471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C7B9D5E9-3087-442B-8DD2-680F091EEBD5}"/>
              </a:ext>
            </a:extLst>
          </p:cNvPr>
          <p:cNvSpPr>
            <a:spLocks xmlns:a="http://schemas.openxmlformats.org/drawingml/2006/main" noGrp="1"/>
          </p:cNvSpPr>
          <p:nvPr/>
        </p:nvSpPr>
        <p:spPr>
          <a:xfrm xmlns:a="http://schemas.openxmlformats.org/drawingml/2006/main">
            <a:off x="647700" y="2857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17"/>
          </a:bodyPr>
          <a:lstStyle xmlns:a="http://schemas.openxmlformats.org/drawingml/2006/main"/>
          <a:p xmlns:a="http://schemas.openxmlformats.org/drawingml/2006/main">
            <a:pPr algn="l">
              <a:lnSpc>
                <a:spcPct val="104000"/>
              </a:lnSpc>
              <a:buNone/>
              <a:defRPr sz="1050" b="1">
                <a:solidFill>
                  <a:srgbClr val="0F9F9A"/>
                </a:solidFill>
                <a:latin typeface="Arial"/>
                <a:ea typeface="Arial"/>
                <a:cs typeface="Arial"/>
              </a:defRPr>
            </a:pPr>
            <a:r>
              <a:rPr sz="1050" b="1">
                <a:solidFill>
                  <a:srgbClr val="0F9F9A"/>
                </a:solidFill>
                <a:latin typeface="Arial"/>
                <a:ea typeface="Arial"/>
                <a:cs typeface="Arial"/>
              </a:rPr>
              <a:t>BIOLOGICAL QUESTION</a:t>
            </a:r>
          </a:p>
        </p:txBody>
      </p:sp>
      <p:sp>
        <p:nvSpPr>
          <p:cNvPr id="2" name="">
            <a:extLst xmlns:a="http://schemas.openxmlformats.org/drawingml/2006/main">
              <a:ext uri="{FF2B5EF4-FFF2-40B4-BE49-F238E27FC236}">
                <a16:creationId xmlns:a16="http://schemas.microsoft.com/office/drawing/2014/main" id="{A83B599E-C02C-44D3-97FC-2FF854F8122C}"/>
              </a:ext>
            </a:extLst>
          </p:cNvPr>
          <p:cNvSpPr>
            <a:spLocks xmlns:a="http://schemas.openxmlformats.org/drawingml/2006/main" noGrp="1"/>
          </p:cNvSpPr>
          <p:nvPr/>
        </p:nvSpPr>
        <p:spPr>
          <a:xfrm xmlns:a="http://schemas.openxmlformats.org/drawingml/2006/main">
            <a:off x="647700" y="5715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4000"/>
              </a:lnSpc>
              <a:buNone/>
              <a:defRPr sz="2850" b="1">
                <a:solidFill>
                  <a:srgbClr val="172554"/>
                </a:solidFill>
                <a:latin typeface="Arial"/>
                <a:ea typeface="Arial"/>
                <a:cs typeface="Arial"/>
              </a:defRPr>
            </a:pPr>
            <a:r>
              <a:rPr sz="2850" b="1">
                <a:solidFill>
                  <a:srgbClr val="172554"/>
                </a:solidFill>
                <a:latin typeface="Arial"/>
                <a:ea typeface="Arial"/>
                <a:cs typeface="Arial"/>
              </a:rPr>
              <a:t>A missing protein panel weakens immune phenotyping</a:t>
            </a:r>
          </a:p>
        </p:txBody>
      </p:sp>
      <p:sp>
        <p:nvSpPr>
          <p:cNvPr id="3" name="">
            <a:extLst xmlns:a="http://schemas.openxmlformats.org/drawingml/2006/main">
              <a:ext uri="{FF2B5EF4-FFF2-40B4-BE49-F238E27FC236}">
                <a16:creationId xmlns:a16="http://schemas.microsoft.com/office/drawing/2014/main" id="{5636433D-50BE-4E18-9C36-00CE86186BC6}"/>
              </a:ext>
            </a:extLst>
          </p:cNvPr>
          <p:cNvSpPr>
            <a:spLocks xmlns:a="http://schemas.openxmlformats.org/drawingml/2006/main" noGrp="1"/>
          </p:cNvSpPr>
          <p:nvPr/>
        </p:nvSpPr>
        <p:spPr>
          <a:xfrm xmlns:a="http://schemas.openxmlformats.org/drawingml/2006/main">
            <a:off x="647700" y="1219200"/>
            <a:ext cx="876300" cy="47625"/>
          </a:xfrm>
          <a:prstGeom xmlns:a="http://schemas.openxmlformats.org/drawingml/2006/main" prst="rect">
            <a:avLst/>
          </a:prstGeom>
          <a:solidFill xmlns:a="http://schemas.openxmlformats.org/drawingml/2006/main">
            <a:srgbClr val="F9731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AA4D4B0-D344-4462-8FBD-8071B328F3C0}"/>
              </a:ext>
            </a:extLst>
          </p:cNvPr>
          <p:cNvSpPr>
            <a:spLocks xmlns:a="http://schemas.openxmlformats.org/drawingml/2006/main" noGrp="1"/>
          </p:cNvSpPr>
          <p:nvPr/>
        </p:nvSpPr>
        <p:spPr>
          <a:xfrm xmlns:a="http://schemas.openxmlformats.org/drawingml/2006/main">
            <a:off x="11239500" y="32385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17"/>
          </a:bodyPr>
          <a:lstStyle xmlns:a="http://schemas.openxmlformats.org/drawingml/2006/main"/>
          <a:p xmlns:a="http://schemas.openxmlformats.org/drawingml/2006/main">
            <a:pPr algn="r">
              <a:lnSpc>
                <a:spcPct val="104000"/>
              </a:lnSpc>
              <a:buNone/>
              <a:defRPr sz="1050" b="1">
                <a:solidFill>
                  <a:srgbClr val="64748B"/>
                </a:solidFill>
                <a:latin typeface="Arial"/>
                <a:ea typeface="Arial"/>
                <a:cs typeface="Arial"/>
              </a:defRPr>
            </a:pPr>
            <a:r>
              <a:rPr sz="1050" b="1">
                <a:solidFill>
                  <a:srgbClr val="64748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3BC52A35-AF76-4CF3-B7EB-F2368CDDD6B7}"/>
              </a:ext>
            </a:extLst>
          </p:cNvPr>
          <p:cNvSpPr>
            <a:spLocks xmlns:a="http://schemas.openxmlformats.org/drawingml/2006/main" noGrp="1"/>
          </p:cNvSpPr>
          <p:nvPr/>
        </p:nvSpPr>
        <p:spPr>
          <a:xfrm xmlns:a="http://schemas.openxmlformats.org/drawingml/2006/main">
            <a:off x="647700" y="15049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76"/>
          </a:bodyPr>
          <a:lstStyle xmlns:a="http://schemas.openxmlformats.org/drawingml/2006/main"/>
          <a:p xmlns:a="http://schemas.openxmlformats.org/drawingml/2006/main">
            <a:pPr algn="ctr">
              <a:lnSpc>
                <a:spcPct val="104000"/>
              </a:lnSpc>
              <a:buNone/>
              <a:defRPr sz="2025" b="1">
                <a:solidFill>
                  <a:srgbClr val="4F46E5"/>
                </a:solidFill>
                <a:latin typeface="Arial"/>
                <a:ea typeface="Arial"/>
                <a:cs typeface="Arial"/>
              </a:defRPr>
            </a:pPr>
            <a:r>
              <a:rPr sz="2025" b="1">
                <a:solidFill>
                  <a:srgbClr val="4F46E5"/>
                </a:solidFill>
                <a:latin typeface="Arial"/>
                <a:ea typeface="Arial"/>
                <a:cs typeface="Arial"/>
              </a:rPr>
              <a:t>Can RNA in a new batch recover all 110 proteins after their measurements are removed?</a:t>
            </a:r>
          </a:p>
        </p:txBody>
      </p:sp>
      <p:sp>
        <p:nvSpPr>
          <p:cNvPr id="6" name="">
            <a:extLst xmlns:a="http://schemas.openxmlformats.org/drawingml/2006/main">
              <a:ext uri="{FF2B5EF4-FFF2-40B4-BE49-F238E27FC236}">
                <a16:creationId xmlns:a16="http://schemas.microsoft.com/office/drawing/2014/main" id="{D27D16C2-5244-4BBB-88BB-BBF0ED54EC31}"/>
              </a:ext>
            </a:extLst>
          </p:cNvPr>
          <p:cNvSpPr>
            <a:spLocks xmlns:a="http://schemas.openxmlformats.org/drawingml/2006/main" noGrp="1"/>
          </p:cNvSpPr>
          <p:nvPr/>
        </p:nvSpPr>
        <p:spPr>
          <a:xfrm xmlns:a="http://schemas.openxmlformats.org/drawingml/2006/main">
            <a:off x="609600" y="2533650"/>
            <a:ext cx="2571750" cy="2324100"/>
          </a:xfrm>
          <a:prstGeom xmlns:a="http://schemas.openxmlformats.org/drawingml/2006/main" prst="roundRect">
            <a:avLst>
              <a:gd name="adj" fmla="val 4918"/>
            </a:avLst>
          </a:prstGeom>
          <a:solidFill xmlns:a="http://schemas.openxmlformats.org/drawingml/2006/main">
            <a:srgbClr val="FFF7E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CA8DCF1-6D93-43A7-8FDB-95DF08198F6C}"/>
              </a:ext>
            </a:extLst>
          </p:cNvPr>
          <p:cNvSpPr>
            <a:spLocks xmlns:a="http://schemas.openxmlformats.org/drawingml/2006/main" noGrp="1"/>
          </p:cNvSpPr>
          <p:nvPr/>
        </p:nvSpPr>
        <p:spPr>
          <a:xfrm xmlns:a="http://schemas.openxmlformats.org/drawingml/2006/main">
            <a:off x="800100" y="2743200"/>
            <a:ext cx="2190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06"/>
          </a:bodyPr>
          <a:lstStyle xmlns:a="http://schemas.openxmlformats.org/drawingml/2006/main"/>
          <a:p xmlns:a="http://schemas.openxmlformats.org/drawingml/2006/main">
            <a:pPr algn="ctr">
              <a:lnSpc>
                <a:spcPct val="104000"/>
              </a:lnSpc>
              <a:buNone/>
              <a:defRPr sz="2850" b="1">
                <a:solidFill>
                  <a:srgbClr val="F97316"/>
                </a:solidFill>
                <a:latin typeface="Arial"/>
                <a:ea typeface="Arial"/>
                <a:cs typeface="Arial"/>
              </a:defRPr>
            </a:pPr>
            <a:r>
              <a:rPr sz="2850" b="1">
                <a:solidFill>
                  <a:srgbClr val="F97316"/>
                </a:solidFill>
                <a:latin typeface="Arial"/>
                <a:ea typeface="Arial"/>
                <a:cs typeface="Arial"/>
              </a:rPr>
              <a:t>CD20</a:t>
            </a:r>
          </a:p>
        </p:txBody>
      </p:sp>
      <p:sp>
        <p:nvSpPr>
          <p:cNvPr id="8" name="">
            <a:extLst xmlns:a="http://schemas.openxmlformats.org/drawingml/2006/main">
              <a:ext uri="{FF2B5EF4-FFF2-40B4-BE49-F238E27FC236}">
                <a16:creationId xmlns:a16="http://schemas.microsoft.com/office/drawing/2014/main" id="{A59FB779-121B-4CBE-9BAF-DDA9E437BF6F}"/>
              </a:ext>
            </a:extLst>
          </p:cNvPr>
          <p:cNvSpPr>
            <a:spLocks xmlns:a="http://schemas.openxmlformats.org/drawingml/2006/main" noGrp="1"/>
          </p:cNvSpPr>
          <p:nvPr/>
        </p:nvSpPr>
        <p:spPr>
          <a:xfrm xmlns:a="http://schemas.openxmlformats.org/drawingml/2006/main">
            <a:off x="781050" y="3409950"/>
            <a:ext cx="2228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1575" b="1">
                <a:solidFill>
                  <a:srgbClr val="172554"/>
                </a:solidFill>
                <a:latin typeface="Arial"/>
                <a:ea typeface="Arial"/>
                <a:cs typeface="Arial"/>
              </a:defRPr>
            </a:pPr>
            <a:r>
              <a:rPr sz="1575" b="1">
                <a:solidFill>
                  <a:srgbClr val="172554"/>
                </a:solidFill>
                <a:latin typeface="Arial"/>
                <a:ea typeface="Arial"/>
                <a:cs typeface="Arial"/>
              </a:rPr>
              <a:t>B-cell identity</a:t>
            </a:r>
          </a:p>
        </p:txBody>
      </p:sp>
      <p:sp>
        <p:nvSpPr>
          <p:cNvPr id="9" name="">
            <a:extLst xmlns:a="http://schemas.openxmlformats.org/drawingml/2006/main">
              <a:ext uri="{FF2B5EF4-FFF2-40B4-BE49-F238E27FC236}">
                <a16:creationId xmlns:a16="http://schemas.microsoft.com/office/drawing/2014/main" id="{2EFAD5DA-F69A-428B-99FC-9ABA36F9F036}"/>
              </a:ext>
            </a:extLst>
          </p:cNvPr>
          <p:cNvSpPr>
            <a:spLocks xmlns:a="http://schemas.openxmlformats.org/drawingml/2006/main" noGrp="1"/>
          </p:cNvSpPr>
          <p:nvPr/>
        </p:nvSpPr>
        <p:spPr>
          <a:xfrm xmlns:a="http://schemas.openxmlformats.org/drawingml/2006/main">
            <a:off x="781050" y="3905250"/>
            <a:ext cx="2228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1275" b="0">
                <a:solidFill>
                  <a:srgbClr val="64748B"/>
                </a:solidFill>
                <a:latin typeface="Arial"/>
                <a:ea typeface="Arial"/>
                <a:cs typeface="Arial"/>
              </a:defRPr>
            </a:pPr>
            <a:r>
              <a:rPr sz="1275" b="0">
                <a:solidFill>
                  <a:srgbClr val="64748B"/>
                </a:solidFill>
                <a:latin typeface="Arial"/>
                <a:ea typeface="Arial"/>
                <a:cs typeface="Arial"/>
              </a:rPr>
              <a:t>therapeutic target</a:t>
            </a:r>
          </a:p>
        </p:txBody>
      </p:sp>
      <p:sp>
        <p:nvSpPr>
          <p:cNvPr id="10" name="">
            <a:extLst xmlns:a="http://schemas.openxmlformats.org/drawingml/2006/main">
              <a:ext uri="{FF2B5EF4-FFF2-40B4-BE49-F238E27FC236}">
                <a16:creationId xmlns:a16="http://schemas.microsoft.com/office/drawing/2014/main" id="{DD1F6C92-6C1E-433A-AA6C-F94CF651D157}"/>
              </a:ext>
            </a:extLst>
          </p:cNvPr>
          <p:cNvSpPr>
            <a:spLocks xmlns:a="http://schemas.openxmlformats.org/drawingml/2006/main" noGrp="1"/>
          </p:cNvSpPr>
          <p:nvPr/>
        </p:nvSpPr>
        <p:spPr>
          <a:xfrm xmlns:a="http://schemas.openxmlformats.org/drawingml/2006/main">
            <a:off x="933450" y="4400550"/>
            <a:ext cx="1924050" cy="342900"/>
          </a:xfrm>
          <a:prstGeom xmlns:a="http://schemas.openxmlformats.org/drawingml/2006/main" prst="roundRect">
            <a:avLst>
              <a:gd name="adj" fmla="val 33333"/>
            </a:avLst>
          </a:prstGeom>
          <a:solidFill xmlns:a="http://schemas.openxmlformats.org/drawingml/2006/main">
            <a:srgbClr val="F9731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A8AC3AB-76F2-419B-97D6-2E1DBB8B77F5}"/>
              </a:ext>
            </a:extLst>
          </p:cNvPr>
          <p:cNvSpPr>
            <a:spLocks xmlns:a="http://schemas.openxmlformats.org/drawingml/2006/main" noGrp="1"/>
          </p:cNvSpPr>
          <p:nvPr/>
        </p:nvSpPr>
        <p:spPr>
          <a:xfrm xmlns:a="http://schemas.openxmlformats.org/drawingml/2006/main">
            <a:off x="1009650" y="4438650"/>
            <a:ext cx="1771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291"/>
          </a:bodyPr>
          <a:lstStyle xmlns:a="http://schemas.openxmlformats.org/drawingml/2006/main"/>
          <a:p xmlns:a="http://schemas.openxmlformats.org/drawingml/2006/main">
            <a:pPr algn="ctr">
              <a:lnSpc>
                <a:spcPct val="104000"/>
              </a:lnSpc>
              <a:buNone/>
              <a:defRPr sz="1125" b="1">
                <a:solidFill>
                  <a:srgbClr val="FFFFFF"/>
                </a:solidFill>
                <a:latin typeface="Arial"/>
                <a:ea typeface="Arial"/>
                <a:cs typeface="Arial"/>
              </a:defRPr>
            </a:pPr>
            <a:r>
              <a:rPr sz="1125" b="1">
                <a:solidFill>
                  <a:srgbClr val="FFFFFF"/>
                </a:solidFill>
                <a:latin typeface="Arial"/>
                <a:ea typeface="Arial"/>
                <a:cs typeface="Arial"/>
              </a:rPr>
              <a:t>example target</a:t>
            </a:r>
          </a:p>
        </p:txBody>
      </p:sp>
      <p:sp>
        <p:nvSpPr>
          <p:cNvPr id="12" name="">
            <a:extLst xmlns:a="http://schemas.openxmlformats.org/drawingml/2006/main">
              <a:ext uri="{FF2B5EF4-FFF2-40B4-BE49-F238E27FC236}">
                <a16:creationId xmlns:a16="http://schemas.microsoft.com/office/drawing/2014/main" id="{F72ED17F-B9D2-425A-BCF0-3DDE02A57580}"/>
              </a:ext>
            </a:extLst>
          </p:cNvPr>
          <p:cNvSpPr>
            <a:spLocks xmlns:a="http://schemas.openxmlformats.org/drawingml/2006/main" noGrp="1"/>
          </p:cNvSpPr>
          <p:nvPr/>
        </p:nvSpPr>
        <p:spPr>
          <a:xfrm xmlns:a="http://schemas.openxmlformats.org/drawingml/2006/main">
            <a:off x="3448050" y="2533650"/>
            <a:ext cx="2571750" cy="2324100"/>
          </a:xfrm>
          <a:prstGeom xmlns:a="http://schemas.openxmlformats.org/drawingml/2006/main" prst="roundRect">
            <a:avLst>
              <a:gd name="adj" fmla="val 4918"/>
            </a:avLst>
          </a:prstGeom>
          <a:solidFill xmlns:a="http://schemas.openxmlformats.org/drawingml/2006/main">
            <a:srgbClr val="E6FFFB"/>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FCCDD82-5BA8-4E55-817F-C8CB3D93FC4B}"/>
              </a:ext>
            </a:extLst>
          </p:cNvPr>
          <p:cNvSpPr>
            <a:spLocks xmlns:a="http://schemas.openxmlformats.org/drawingml/2006/main" noGrp="1"/>
          </p:cNvSpPr>
          <p:nvPr/>
        </p:nvSpPr>
        <p:spPr>
          <a:xfrm xmlns:a="http://schemas.openxmlformats.org/drawingml/2006/main">
            <a:off x="3638550" y="2743200"/>
            <a:ext cx="2190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06"/>
          </a:bodyPr>
          <a:lstStyle xmlns:a="http://schemas.openxmlformats.org/drawingml/2006/main"/>
          <a:p xmlns:a="http://schemas.openxmlformats.org/drawingml/2006/main">
            <a:pPr algn="ctr">
              <a:lnSpc>
                <a:spcPct val="104000"/>
              </a:lnSpc>
              <a:buNone/>
              <a:defRPr sz="2850" b="1">
                <a:solidFill>
                  <a:srgbClr val="0F9F9A"/>
                </a:solidFill>
                <a:latin typeface="Arial"/>
                <a:ea typeface="Arial"/>
                <a:cs typeface="Arial"/>
              </a:defRPr>
            </a:pPr>
            <a:r>
              <a:rPr sz="2850" b="1">
                <a:solidFill>
                  <a:srgbClr val="0F9F9A"/>
                </a:solidFill>
                <a:latin typeface="Arial"/>
                <a:ea typeface="Arial"/>
                <a:cs typeface="Arial"/>
              </a:rPr>
              <a:t>CD28</a:t>
            </a:r>
          </a:p>
        </p:txBody>
      </p:sp>
      <p:sp>
        <p:nvSpPr>
          <p:cNvPr id="14" name="">
            <a:extLst xmlns:a="http://schemas.openxmlformats.org/drawingml/2006/main">
              <a:ext uri="{FF2B5EF4-FFF2-40B4-BE49-F238E27FC236}">
                <a16:creationId xmlns:a16="http://schemas.microsoft.com/office/drawing/2014/main" id="{56DDA92F-F07E-4856-B705-43654F0EEF5E}"/>
              </a:ext>
            </a:extLst>
          </p:cNvPr>
          <p:cNvSpPr>
            <a:spLocks xmlns:a="http://schemas.openxmlformats.org/drawingml/2006/main" noGrp="1"/>
          </p:cNvSpPr>
          <p:nvPr/>
        </p:nvSpPr>
        <p:spPr>
          <a:xfrm xmlns:a="http://schemas.openxmlformats.org/drawingml/2006/main">
            <a:off x="3619500" y="3409950"/>
            <a:ext cx="2228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1575" b="1">
                <a:solidFill>
                  <a:srgbClr val="172554"/>
                </a:solidFill>
                <a:latin typeface="Arial"/>
                <a:ea typeface="Arial"/>
                <a:cs typeface="Arial"/>
              </a:defRPr>
            </a:pPr>
            <a:r>
              <a:rPr sz="1575" b="1">
                <a:solidFill>
                  <a:srgbClr val="172554"/>
                </a:solidFill>
                <a:latin typeface="Arial"/>
                <a:ea typeface="Arial"/>
                <a:cs typeface="Arial"/>
              </a:rPr>
              <a:t>T-cell costimulation</a:t>
            </a:r>
          </a:p>
        </p:txBody>
      </p:sp>
      <p:sp>
        <p:nvSpPr>
          <p:cNvPr id="15" name="">
            <a:extLst xmlns:a="http://schemas.openxmlformats.org/drawingml/2006/main">
              <a:ext uri="{FF2B5EF4-FFF2-40B4-BE49-F238E27FC236}">
                <a16:creationId xmlns:a16="http://schemas.microsoft.com/office/drawing/2014/main" id="{24685452-D5E4-4F36-9250-CBB1D8B339EA}"/>
              </a:ext>
            </a:extLst>
          </p:cNvPr>
          <p:cNvSpPr>
            <a:spLocks xmlns:a="http://schemas.openxmlformats.org/drawingml/2006/main" noGrp="1"/>
          </p:cNvSpPr>
          <p:nvPr/>
        </p:nvSpPr>
        <p:spPr>
          <a:xfrm xmlns:a="http://schemas.openxmlformats.org/drawingml/2006/main">
            <a:off x="3619500" y="3905250"/>
            <a:ext cx="2228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1275" b="0">
                <a:solidFill>
                  <a:srgbClr val="64748B"/>
                </a:solidFill>
                <a:latin typeface="Arial"/>
                <a:ea typeface="Arial"/>
                <a:cs typeface="Arial"/>
              </a:defRPr>
            </a:pPr>
            <a:r>
              <a:rPr sz="1275" b="0">
                <a:solidFill>
                  <a:srgbClr val="64748B"/>
                </a:solidFill>
                <a:latin typeface="Arial"/>
                <a:ea typeface="Arial"/>
                <a:cs typeface="Arial"/>
              </a:rPr>
              <a:t>activation state</a:t>
            </a:r>
          </a:p>
        </p:txBody>
      </p:sp>
      <p:sp>
        <p:nvSpPr>
          <p:cNvPr id="16" name="">
            <a:extLst xmlns:a="http://schemas.openxmlformats.org/drawingml/2006/main">
              <a:ext uri="{FF2B5EF4-FFF2-40B4-BE49-F238E27FC236}">
                <a16:creationId xmlns:a16="http://schemas.microsoft.com/office/drawing/2014/main" id="{88D301A9-3214-4605-8B7A-1F2B67846F6A}"/>
              </a:ext>
            </a:extLst>
          </p:cNvPr>
          <p:cNvSpPr>
            <a:spLocks xmlns:a="http://schemas.openxmlformats.org/drawingml/2006/main" noGrp="1"/>
          </p:cNvSpPr>
          <p:nvPr/>
        </p:nvSpPr>
        <p:spPr>
          <a:xfrm xmlns:a="http://schemas.openxmlformats.org/drawingml/2006/main">
            <a:off x="3771900" y="4400550"/>
            <a:ext cx="1924050" cy="342900"/>
          </a:xfrm>
          <a:prstGeom xmlns:a="http://schemas.openxmlformats.org/drawingml/2006/main" prst="roundRect">
            <a:avLst>
              <a:gd name="adj" fmla="val 33333"/>
            </a:avLst>
          </a:prstGeom>
          <a:solidFill xmlns:a="http://schemas.openxmlformats.org/drawingml/2006/main">
            <a:srgbClr val="0F9F9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1E5414E-E368-4FE4-8B7D-F1407B0EDAED}"/>
              </a:ext>
            </a:extLst>
          </p:cNvPr>
          <p:cNvSpPr>
            <a:spLocks xmlns:a="http://schemas.openxmlformats.org/drawingml/2006/main" noGrp="1"/>
          </p:cNvSpPr>
          <p:nvPr/>
        </p:nvSpPr>
        <p:spPr>
          <a:xfrm xmlns:a="http://schemas.openxmlformats.org/drawingml/2006/main">
            <a:off x="3848100" y="4438650"/>
            <a:ext cx="1771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291"/>
          </a:bodyPr>
          <a:lstStyle xmlns:a="http://schemas.openxmlformats.org/drawingml/2006/main"/>
          <a:p xmlns:a="http://schemas.openxmlformats.org/drawingml/2006/main">
            <a:pPr algn="ctr">
              <a:lnSpc>
                <a:spcPct val="104000"/>
              </a:lnSpc>
              <a:buNone/>
              <a:defRPr sz="1125" b="1">
                <a:solidFill>
                  <a:srgbClr val="FFFFFF"/>
                </a:solidFill>
                <a:latin typeface="Arial"/>
                <a:ea typeface="Arial"/>
                <a:cs typeface="Arial"/>
              </a:defRPr>
            </a:pPr>
            <a:r>
              <a:rPr sz="1125" b="1">
                <a:solidFill>
                  <a:srgbClr val="FFFFFF"/>
                </a:solidFill>
                <a:latin typeface="Arial"/>
                <a:ea typeface="Arial"/>
                <a:cs typeface="Arial"/>
              </a:rPr>
              <a:t>example target</a:t>
            </a:r>
          </a:p>
        </p:txBody>
      </p:sp>
      <p:sp>
        <p:nvSpPr>
          <p:cNvPr id="18" name="">
            <a:extLst xmlns:a="http://schemas.openxmlformats.org/drawingml/2006/main">
              <a:ext uri="{FF2B5EF4-FFF2-40B4-BE49-F238E27FC236}">
                <a16:creationId xmlns:a16="http://schemas.microsoft.com/office/drawing/2014/main" id="{0EAAB1AC-8C99-40FC-AE9D-7C93B1AE37EA}"/>
              </a:ext>
            </a:extLst>
          </p:cNvPr>
          <p:cNvSpPr>
            <a:spLocks xmlns:a="http://schemas.openxmlformats.org/drawingml/2006/main" noGrp="1"/>
          </p:cNvSpPr>
          <p:nvPr/>
        </p:nvSpPr>
        <p:spPr>
          <a:xfrm xmlns:a="http://schemas.openxmlformats.org/drawingml/2006/main">
            <a:off x="6286500" y="2533650"/>
            <a:ext cx="2571750" cy="2324100"/>
          </a:xfrm>
          <a:prstGeom xmlns:a="http://schemas.openxmlformats.org/drawingml/2006/main" prst="roundRect">
            <a:avLst>
              <a:gd name="adj" fmla="val 4918"/>
            </a:avLst>
          </a:prstGeom>
          <a:solidFill xmlns:a="http://schemas.openxmlformats.org/drawingml/2006/main">
            <a:srgbClr val="EEF2F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2DDBC2C-4814-4A1D-A7E4-A3B5D8DFCF85}"/>
              </a:ext>
            </a:extLst>
          </p:cNvPr>
          <p:cNvSpPr>
            <a:spLocks xmlns:a="http://schemas.openxmlformats.org/drawingml/2006/main" noGrp="1"/>
          </p:cNvSpPr>
          <p:nvPr/>
        </p:nvSpPr>
        <p:spPr>
          <a:xfrm xmlns:a="http://schemas.openxmlformats.org/drawingml/2006/main">
            <a:off x="6477000" y="2743200"/>
            <a:ext cx="2190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06"/>
          </a:bodyPr>
          <a:lstStyle xmlns:a="http://schemas.openxmlformats.org/drawingml/2006/main"/>
          <a:p xmlns:a="http://schemas.openxmlformats.org/drawingml/2006/main">
            <a:pPr algn="ctr">
              <a:lnSpc>
                <a:spcPct val="104000"/>
              </a:lnSpc>
              <a:buNone/>
              <a:defRPr sz="2850" b="1">
                <a:solidFill>
                  <a:srgbClr val="4F46E5"/>
                </a:solidFill>
                <a:latin typeface="Arial"/>
                <a:ea typeface="Arial"/>
                <a:cs typeface="Arial"/>
              </a:defRPr>
            </a:pPr>
            <a:r>
              <a:rPr sz="2850" b="1">
                <a:solidFill>
                  <a:srgbClr val="4F46E5"/>
                </a:solidFill>
                <a:latin typeface="Arial"/>
                <a:ea typeface="Arial"/>
                <a:cs typeface="Arial"/>
              </a:rPr>
              <a:t>CD4</a:t>
            </a:r>
          </a:p>
        </p:txBody>
      </p:sp>
      <p:sp>
        <p:nvSpPr>
          <p:cNvPr id="20" name="">
            <a:extLst xmlns:a="http://schemas.openxmlformats.org/drawingml/2006/main">
              <a:ext uri="{FF2B5EF4-FFF2-40B4-BE49-F238E27FC236}">
                <a16:creationId xmlns:a16="http://schemas.microsoft.com/office/drawing/2014/main" id="{0E74148F-DF0B-4A90-A42A-F68DCBC59F9D}"/>
              </a:ext>
            </a:extLst>
          </p:cNvPr>
          <p:cNvSpPr>
            <a:spLocks xmlns:a="http://schemas.openxmlformats.org/drawingml/2006/main" noGrp="1"/>
          </p:cNvSpPr>
          <p:nvPr/>
        </p:nvSpPr>
        <p:spPr>
          <a:xfrm xmlns:a="http://schemas.openxmlformats.org/drawingml/2006/main">
            <a:off x="6457950" y="3409950"/>
            <a:ext cx="2228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1575" b="1">
                <a:solidFill>
                  <a:srgbClr val="172554"/>
                </a:solidFill>
                <a:latin typeface="Arial"/>
                <a:ea typeface="Arial"/>
                <a:cs typeface="Arial"/>
              </a:defRPr>
            </a:pPr>
            <a:r>
              <a:rPr sz="1575" b="1">
                <a:solidFill>
                  <a:srgbClr val="172554"/>
                </a:solidFill>
                <a:latin typeface="Arial"/>
                <a:ea typeface="Arial"/>
                <a:cs typeface="Arial"/>
              </a:rPr>
              <a:t>helper T cells</a:t>
            </a:r>
          </a:p>
        </p:txBody>
      </p:sp>
      <p:sp>
        <p:nvSpPr>
          <p:cNvPr id="21" name="">
            <a:extLst xmlns:a="http://schemas.openxmlformats.org/drawingml/2006/main">
              <a:ext uri="{FF2B5EF4-FFF2-40B4-BE49-F238E27FC236}">
                <a16:creationId xmlns:a16="http://schemas.microsoft.com/office/drawing/2014/main" id="{2AEAA0DB-AC6C-48C6-9BE4-3C2B9B0B02D8}"/>
              </a:ext>
            </a:extLst>
          </p:cNvPr>
          <p:cNvSpPr>
            <a:spLocks xmlns:a="http://schemas.openxmlformats.org/drawingml/2006/main" noGrp="1"/>
          </p:cNvSpPr>
          <p:nvPr/>
        </p:nvSpPr>
        <p:spPr>
          <a:xfrm xmlns:a="http://schemas.openxmlformats.org/drawingml/2006/main">
            <a:off x="6457950" y="3905250"/>
            <a:ext cx="2228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1275" b="0">
                <a:solidFill>
                  <a:srgbClr val="64748B"/>
                </a:solidFill>
                <a:latin typeface="Arial"/>
                <a:ea typeface="Arial"/>
                <a:cs typeface="Arial"/>
              </a:defRPr>
            </a:pPr>
            <a:r>
              <a:rPr sz="1275" b="0">
                <a:solidFill>
                  <a:srgbClr val="64748B"/>
                </a:solidFill>
                <a:latin typeface="Arial"/>
                <a:ea typeface="Arial"/>
                <a:cs typeface="Arial"/>
              </a:rPr>
              <a:t>lineage marker</a:t>
            </a:r>
          </a:p>
        </p:txBody>
      </p:sp>
      <p:sp>
        <p:nvSpPr>
          <p:cNvPr id="22" name="">
            <a:extLst xmlns:a="http://schemas.openxmlformats.org/drawingml/2006/main">
              <a:ext uri="{FF2B5EF4-FFF2-40B4-BE49-F238E27FC236}">
                <a16:creationId xmlns:a16="http://schemas.microsoft.com/office/drawing/2014/main" id="{6855A5AC-B61D-4E1A-B7D7-BDFD47FDED5A}"/>
              </a:ext>
            </a:extLst>
          </p:cNvPr>
          <p:cNvSpPr>
            <a:spLocks xmlns:a="http://schemas.openxmlformats.org/drawingml/2006/main" noGrp="1"/>
          </p:cNvSpPr>
          <p:nvPr/>
        </p:nvSpPr>
        <p:spPr>
          <a:xfrm xmlns:a="http://schemas.openxmlformats.org/drawingml/2006/main">
            <a:off x="6610350" y="4400550"/>
            <a:ext cx="1924050" cy="342900"/>
          </a:xfrm>
          <a:prstGeom xmlns:a="http://schemas.openxmlformats.org/drawingml/2006/main" prst="roundRect">
            <a:avLst>
              <a:gd name="adj" fmla="val 33333"/>
            </a:avLst>
          </a:prstGeom>
          <a:solidFill xmlns:a="http://schemas.openxmlformats.org/drawingml/2006/main">
            <a:srgbClr val="4F46E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046218E1-FD64-4BCD-A39B-948411014D59}"/>
              </a:ext>
            </a:extLst>
          </p:cNvPr>
          <p:cNvSpPr>
            <a:spLocks xmlns:a="http://schemas.openxmlformats.org/drawingml/2006/main" noGrp="1"/>
          </p:cNvSpPr>
          <p:nvPr/>
        </p:nvSpPr>
        <p:spPr>
          <a:xfrm xmlns:a="http://schemas.openxmlformats.org/drawingml/2006/main">
            <a:off x="6686550" y="4438650"/>
            <a:ext cx="1771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291"/>
          </a:bodyPr>
          <a:lstStyle xmlns:a="http://schemas.openxmlformats.org/drawingml/2006/main"/>
          <a:p xmlns:a="http://schemas.openxmlformats.org/drawingml/2006/main">
            <a:pPr algn="ctr">
              <a:lnSpc>
                <a:spcPct val="104000"/>
              </a:lnSpc>
              <a:buNone/>
              <a:defRPr sz="1125" b="1">
                <a:solidFill>
                  <a:srgbClr val="FFFFFF"/>
                </a:solidFill>
                <a:latin typeface="Arial"/>
                <a:ea typeface="Arial"/>
                <a:cs typeface="Arial"/>
              </a:defRPr>
            </a:pPr>
            <a:r>
              <a:rPr sz="1125" b="1">
                <a:solidFill>
                  <a:srgbClr val="FFFFFF"/>
                </a:solidFill>
                <a:latin typeface="Arial"/>
                <a:ea typeface="Arial"/>
                <a:cs typeface="Arial"/>
              </a:rPr>
              <a:t>example target</a:t>
            </a:r>
          </a:p>
        </p:txBody>
      </p:sp>
      <p:sp>
        <p:nvSpPr>
          <p:cNvPr id="24" name="">
            <a:extLst xmlns:a="http://schemas.openxmlformats.org/drawingml/2006/main">
              <a:ext uri="{FF2B5EF4-FFF2-40B4-BE49-F238E27FC236}">
                <a16:creationId xmlns:a16="http://schemas.microsoft.com/office/drawing/2014/main" id="{EE58221D-08A7-4D45-8E17-C11C017E469A}"/>
              </a:ext>
            </a:extLst>
          </p:cNvPr>
          <p:cNvSpPr>
            <a:spLocks xmlns:a="http://schemas.openxmlformats.org/drawingml/2006/main" noGrp="1"/>
          </p:cNvSpPr>
          <p:nvPr/>
        </p:nvSpPr>
        <p:spPr>
          <a:xfrm xmlns:a="http://schemas.openxmlformats.org/drawingml/2006/main">
            <a:off x="9124950" y="2533650"/>
            <a:ext cx="2571750" cy="2324100"/>
          </a:xfrm>
          <a:prstGeom xmlns:a="http://schemas.openxmlformats.org/drawingml/2006/main" prst="roundRect">
            <a:avLst>
              <a:gd name="adj" fmla="val 4918"/>
            </a:avLst>
          </a:prstGeom>
          <a:solidFill xmlns:a="http://schemas.openxmlformats.org/drawingml/2006/main">
            <a:srgbClr val="FFF7ED"/>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F3ADFA2B-5312-468A-993D-DA54FC318080}"/>
              </a:ext>
            </a:extLst>
          </p:cNvPr>
          <p:cNvSpPr>
            <a:spLocks xmlns:a="http://schemas.openxmlformats.org/drawingml/2006/main" noGrp="1"/>
          </p:cNvSpPr>
          <p:nvPr/>
        </p:nvSpPr>
        <p:spPr>
          <a:xfrm xmlns:a="http://schemas.openxmlformats.org/drawingml/2006/main">
            <a:off x="9315450" y="2743200"/>
            <a:ext cx="2190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06"/>
          </a:bodyPr>
          <a:lstStyle xmlns:a="http://schemas.openxmlformats.org/drawingml/2006/main"/>
          <a:p xmlns:a="http://schemas.openxmlformats.org/drawingml/2006/main">
            <a:pPr algn="ctr">
              <a:lnSpc>
                <a:spcPct val="104000"/>
              </a:lnSpc>
              <a:buNone/>
              <a:defRPr sz="2850" b="1">
                <a:solidFill>
                  <a:srgbClr val="F97316"/>
                </a:solidFill>
                <a:latin typeface="Arial"/>
                <a:ea typeface="Arial"/>
                <a:cs typeface="Arial"/>
              </a:defRPr>
            </a:pPr>
            <a:r>
              <a:rPr sz="2850" b="1">
                <a:solidFill>
                  <a:srgbClr val="F97316"/>
                </a:solidFill>
                <a:latin typeface="Arial"/>
                <a:ea typeface="Arial"/>
                <a:cs typeface="Arial"/>
              </a:rPr>
              <a:t>CD8a</a:t>
            </a:r>
          </a:p>
        </p:txBody>
      </p:sp>
      <p:sp>
        <p:nvSpPr>
          <p:cNvPr id="26" name="">
            <a:extLst xmlns:a="http://schemas.openxmlformats.org/drawingml/2006/main">
              <a:ext uri="{FF2B5EF4-FFF2-40B4-BE49-F238E27FC236}">
                <a16:creationId xmlns:a16="http://schemas.microsoft.com/office/drawing/2014/main" id="{F77E4F51-BC58-44D3-BC61-22C632A0E8A5}"/>
              </a:ext>
            </a:extLst>
          </p:cNvPr>
          <p:cNvSpPr>
            <a:spLocks xmlns:a="http://schemas.openxmlformats.org/drawingml/2006/main" noGrp="1"/>
          </p:cNvSpPr>
          <p:nvPr/>
        </p:nvSpPr>
        <p:spPr>
          <a:xfrm xmlns:a="http://schemas.openxmlformats.org/drawingml/2006/main">
            <a:off x="9296400" y="3409950"/>
            <a:ext cx="2228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1575" b="1">
                <a:solidFill>
                  <a:srgbClr val="172554"/>
                </a:solidFill>
                <a:latin typeface="Arial"/>
                <a:ea typeface="Arial"/>
                <a:cs typeface="Arial"/>
              </a:defRPr>
            </a:pPr>
            <a:r>
              <a:rPr sz="1575" b="1">
                <a:solidFill>
                  <a:srgbClr val="172554"/>
                </a:solidFill>
                <a:latin typeface="Arial"/>
                <a:ea typeface="Arial"/>
                <a:cs typeface="Arial"/>
              </a:rPr>
              <a:t>cytotoxic T cells</a:t>
            </a:r>
          </a:p>
        </p:txBody>
      </p:sp>
      <p:sp>
        <p:nvSpPr>
          <p:cNvPr id="27" name="">
            <a:extLst xmlns:a="http://schemas.openxmlformats.org/drawingml/2006/main">
              <a:ext uri="{FF2B5EF4-FFF2-40B4-BE49-F238E27FC236}">
                <a16:creationId xmlns:a16="http://schemas.microsoft.com/office/drawing/2014/main" id="{011543BD-A92D-4055-AD59-2E84139241EF}"/>
              </a:ext>
            </a:extLst>
          </p:cNvPr>
          <p:cNvSpPr>
            <a:spLocks xmlns:a="http://schemas.openxmlformats.org/drawingml/2006/main" noGrp="1"/>
          </p:cNvSpPr>
          <p:nvPr/>
        </p:nvSpPr>
        <p:spPr>
          <a:xfrm xmlns:a="http://schemas.openxmlformats.org/drawingml/2006/main">
            <a:off x="9296400" y="3905250"/>
            <a:ext cx="2228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1275" b="0">
                <a:solidFill>
                  <a:srgbClr val="64748B"/>
                </a:solidFill>
                <a:latin typeface="Arial"/>
                <a:ea typeface="Arial"/>
                <a:cs typeface="Arial"/>
              </a:defRPr>
            </a:pPr>
            <a:r>
              <a:rPr sz="1275" b="0">
                <a:solidFill>
                  <a:srgbClr val="64748B"/>
                </a:solidFill>
                <a:latin typeface="Arial"/>
                <a:ea typeface="Arial"/>
                <a:cs typeface="Arial"/>
              </a:rPr>
              <a:t>lineage marker</a:t>
            </a:r>
          </a:p>
        </p:txBody>
      </p:sp>
      <p:sp>
        <p:nvSpPr>
          <p:cNvPr id="28" name="">
            <a:extLst xmlns:a="http://schemas.openxmlformats.org/drawingml/2006/main">
              <a:ext uri="{FF2B5EF4-FFF2-40B4-BE49-F238E27FC236}">
                <a16:creationId xmlns:a16="http://schemas.microsoft.com/office/drawing/2014/main" id="{4B6B3134-527F-4F41-BBA5-9F356BF0C0E9}"/>
              </a:ext>
            </a:extLst>
          </p:cNvPr>
          <p:cNvSpPr>
            <a:spLocks xmlns:a="http://schemas.openxmlformats.org/drawingml/2006/main" noGrp="1"/>
          </p:cNvSpPr>
          <p:nvPr/>
        </p:nvSpPr>
        <p:spPr>
          <a:xfrm xmlns:a="http://schemas.openxmlformats.org/drawingml/2006/main">
            <a:off x="9448800" y="4400550"/>
            <a:ext cx="1924050" cy="342900"/>
          </a:xfrm>
          <a:prstGeom xmlns:a="http://schemas.openxmlformats.org/drawingml/2006/main" prst="roundRect">
            <a:avLst>
              <a:gd name="adj" fmla="val 33333"/>
            </a:avLst>
          </a:prstGeom>
          <a:solidFill xmlns:a="http://schemas.openxmlformats.org/drawingml/2006/main">
            <a:srgbClr val="F97316"/>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C6BAB793-FBD1-4517-8D96-87DB0FA89500}"/>
              </a:ext>
            </a:extLst>
          </p:cNvPr>
          <p:cNvSpPr>
            <a:spLocks xmlns:a="http://schemas.openxmlformats.org/drawingml/2006/main" noGrp="1"/>
          </p:cNvSpPr>
          <p:nvPr/>
        </p:nvSpPr>
        <p:spPr>
          <a:xfrm xmlns:a="http://schemas.openxmlformats.org/drawingml/2006/main">
            <a:off x="9525000" y="4438650"/>
            <a:ext cx="1771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291"/>
          </a:bodyPr>
          <a:lstStyle xmlns:a="http://schemas.openxmlformats.org/drawingml/2006/main"/>
          <a:p xmlns:a="http://schemas.openxmlformats.org/drawingml/2006/main">
            <a:pPr algn="ctr">
              <a:lnSpc>
                <a:spcPct val="104000"/>
              </a:lnSpc>
              <a:buNone/>
              <a:defRPr sz="1125" b="1">
                <a:solidFill>
                  <a:srgbClr val="FFFFFF"/>
                </a:solidFill>
                <a:latin typeface="Arial"/>
                <a:ea typeface="Arial"/>
                <a:cs typeface="Arial"/>
              </a:defRPr>
            </a:pPr>
            <a:r>
              <a:rPr sz="1125" b="1">
                <a:solidFill>
                  <a:srgbClr val="FFFFFF"/>
                </a:solidFill>
                <a:latin typeface="Arial"/>
                <a:ea typeface="Arial"/>
                <a:cs typeface="Arial"/>
              </a:rPr>
              <a:t>example target</a:t>
            </a:r>
          </a:p>
        </p:txBody>
      </p:sp>
      <p:sp>
        <p:nvSpPr>
          <p:cNvPr id="30" name="">
            <a:extLst xmlns:a="http://schemas.openxmlformats.org/drawingml/2006/main">
              <a:ext uri="{FF2B5EF4-FFF2-40B4-BE49-F238E27FC236}">
                <a16:creationId xmlns:a16="http://schemas.microsoft.com/office/drawing/2014/main" id="{51E12772-64D5-4956-B332-6264746DF58F}"/>
              </a:ext>
            </a:extLst>
          </p:cNvPr>
          <p:cNvSpPr>
            <a:spLocks xmlns:a="http://schemas.openxmlformats.org/drawingml/2006/main" noGrp="1"/>
          </p:cNvSpPr>
          <p:nvPr/>
        </p:nvSpPr>
        <p:spPr>
          <a:xfrm xmlns:a="http://schemas.openxmlformats.org/drawingml/2006/main">
            <a:off x="1352550" y="5314950"/>
            <a:ext cx="9486900" cy="781050"/>
          </a:xfrm>
          <a:prstGeom xmlns:a="http://schemas.openxmlformats.org/drawingml/2006/main" prst="roundRect">
            <a:avLst>
              <a:gd name="adj" fmla="val 14634"/>
            </a:avLst>
          </a:prstGeom>
          <a:solidFill xmlns:a="http://schemas.openxmlformats.org/drawingml/2006/main">
            <a:srgbClr val="F8FAFC"/>
          </a:solidFill>
          <a:ln xmlns:a="http://schemas.openxmlformats.org/drawingml/2006/main" w="9525">
            <a:solidFill>
              <a:srgbClr val="CBD5E1"/>
            </a:solidFill>
          </a:ln>
        </p:spPr>
      </p:sp>
      <p:sp>
        <p:nvSpPr>
          <p:cNvPr id="31" name="">
            <a:extLst xmlns:a="http://schemas.openxmlformats.org/drawingml/2006/main">
              <a:ext uri="{FF2B5EF4-FFF2-40B4-BE49-F238E27FC236}">
                <a16:creationId xmlns:a16="http://schemas.microsoft.com/office/drawing/2014/main" id="{745C8BFD-317C-4663-92C4-AEB5F86BB9AC}"/>
              </a:ext>
            </a:extLst>
          </p:cNvPr>
          <p:cNvSpPr>
            <a:spLocks xmlns:a="http://schemas.openxmlformats.org/drawingml/2006/main" noGrp="1"/>
          </p:cNvSpPr>
          <p:nvPr/>
        </p:nvSpPr>
        <p:spPr>
          <a:xfrm xmlns:a="http://schemas.openxmlformats.org/drawingml/2006/main">
            <a:off x="1619250" y="5486400"/>
            <a:ext cx="895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260"/>
          </a:bodyPr>
          <a:lstStyle xmlns:a="http://schemas.openxmlformats.org/drawingml/2006/main"/>
          <a:p xmlns:a="http://schemas.openxmlformats.org/drawingml/2006/main">
            <a:pPr algn="ctr">
              <a:lnSpc>
                <a:spcPct val="104000"/>
              </a:lnSpc>
              <a:buNone/>
              <a:defRPr sz="1575" b="1">
                <a:solidFill>
                  <a:srgbClr val="172554"/>
                </a:solidFill>
                <a:latin typeface="Arial"/>
                <a:ea typeface="Arial"/>
                <a:cs typeface="Arial"/>
              </a:defRPr>
            </a:pPr>
            <a:r>
              <a:rPr sz="1575" b="1">
                <a:solidFill>
                  <a:srgbClr val="172554"/>
                </a:solidFill>
                <a:latin typeface="Arial"/>
                <a:ea typeface="Arial"/>
                <a:cs typeface="Arial"/>
              </a:rPr>
              <a:t>Therapeutic relevance: recovering surface proteins can rescue immune biomarker profiling when an antibody panel fails or differs between studies.</a:t>
            </a:r>
          </a:p>
        </p:txBody>
      </p:sp>
    </p:spTree>
    <p:extLst>
      <p:ext uri="{BB962C8B-B14F-4D97-AF65-F5344CB8AC3E}">
        <p14:creationId xmlns:p14="http://schemas.microsoft.com/office/powerpoint/2010/main" val="897124473"/>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D278F18B-6DFF-43CA-A192-7E03A8CEF335}"/>
              </a:ext>
            </a:extLst>
          </p:cNvPr>
          <p:cNvSpPr>
            <a:spLocks xmlns:a="http://schemas.openxmlformats.org/drawingml/2006/main" noGrp="1"/>
          </p:cNvSpPr>
          <p:nvPr/>
        </p:nvSpPr>
        <p:spPr>
          <a:xfrm xmlns:a="http://schemas.openxmlformats.org/drawingml/2006/main">
            <a:off x="647700" y="2857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17"/>
          </a:bodyPr>
          <a:lstStyle xmlns:a="http://schemas.openxmlformats.org/drawingml/2006/main"/>
          <a:p xmlns:a="http://schemas.openxmlformats.org/drawingml/2006/main">
            <a:pPr algn="l">
              <a:lnSpc>
                <a:spcPct val="104000"/>
              </a:lnSpc>
              <a:buNone/>
              <a:defRPr sz="1050" b="1">
                <a:solidFill>
                  <a:srgbClr val="0F9F9A"/>
                </a:solidFill>
                <a:latin typeface="Arial"/>
                <a:ea typeface="Arial"/>
                <a:cs typeface="Arial"/>
              </a:defRPr>
            </a:pPr>
            <a:r>
              <a:rPr sz="1050" b="1">
                <a:solidFill>
                  <a:srgbClr val="0F9F9A"/>
                </a:solidFill>
                <a:latin typeface="Arial"/>
                <a:ea typeface="Arial"/>
                <a:cs typeface="Arial"/>
              </a:rPr>
              <a:t>STUDY DESIGN</a:t>
            </a:r>
          </a:p>
        </p:txBody>
      </p:sp>
      <p:sp>
        <p:nvSpPr>
          <p:cNvPr id="2" name="">
            <a:extLst xmlns:a="http://schemas.openxmlformats.org/drawingml/2006/main">
              <a:ext uri="{FF2B5EF4-FFF2-40B4-BE49-F238E27FC236}">
                <a16:creationId xmlns:a16="http://schemas.microsoft.com/office/drawing/2014/main" id="{71D807F4-2D2A-4956-97BA-BFD0972BBB79}"/>
              </a:ext>
            </a:extLst>
          </p:cNvPr>
          <p:cNvSpPr>
            <a:spLocks xmlns:a="http://schemas.openxmlformats.org/drawingml/2006/main" noGrp="1"/>
          </p:cNvSpPr>
          <p:nvPr/>
        </p:nvSpPr>
        <p:spPr>
          <a:xfrm xmlns:a="http://schemas.openxmlformats.org/drawingml/2006/main">
            <a:off x="647700" y="5715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4000"/>
              </a:lnSpc>
              <a:buNone/>
              <a:defRPr sz="2850" b="1">
                <a:solidFill>
                  <a:srgbClr val="172554"/>
                </a:solidFill>
                <a:latin typeface="Arial"/>
                <a:ea typeface="Arial"/>
                <a:cs typeface="Arial"/>
              </a:defRPr>
            </a:pPr>
            <a:r>
              <a:rPr sz="2850" b="1">
                <a:solidFill>
                  <a:srgbClr val="172554"/>
                </a:solidFill>
                <a:latin typeface="Arial"/>
                <a:ea typeface="Arial"/>
                <a:cs typeface="Arial"/>
              </a:rPr>
              <a:t>The paper's two-batch design creates a direct transfer test</a:t>
            </a:r>
          </a:p>
        </p:txBody>
      </p:sp>
      <p:sp>
        <p:nvSpPr>
          <p:cNvPr id="3" name="">
            <a:extLst xmlns:a="http://schemas.openxmlformats.org/drawingml/2006/main">
              <a:ext uri="{FF2B5EF4-FFF2-40B4-BE49-F238E27FC236}">
                <a16:creationId xmlns:a16="http://schemas.microsoft.com/office/drawing/2014/main" id="{16B77C88-0495-4924-8F35-86A4024CD6BF}"/>
              </a:ext>
            </a:extLst>
          </p:cNvPr>
          <p:cNvSpPr>
            <a:spLocks xmlns:a="http://schemas.openxmlformats.org/drawingml/2006/main" noGrp="1"/>
          </p:cNvSpPr>
          <p:nvPr/>
        </p:nvSpPr>
        <p:spPr>
          <a:xfrm xmlns:a="http://schemas.openxmlformats.org/drawingml/2006/main">
            <a:off x="647700" y="1219200"/>
            <a:ext cx="876300" cy="47625"/>
          </a:xfrm>
          <a:prstGeom xmlns:a="http://schemas.openxmlformats.org/drawingml/2006/main" prst="rect">
            <a:avLst/>
          </a:prstGeom>
          <a:solidFill xmlns:a="http://schemas.openxmlformats.org/drawingml/2006/main">
            <a:srgbClr val="F9731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55A671C-0FFB-4FAD-92EF-187F722631EE}"/>
              </a:ext>
            </a:extLst>
          </p:cNvPr>
          <p:cNvSpPr>
            <a:spLocks xmlns:a="http://schemas.openxmlformats.org/drawingml/2006/main" noGrp="1"/>
          </p:cNvSpPr>
          <p:nvPr/>
        </p:nvSpPr>
        <p:spPr>
          <a:xfrm xmlns:a="http://schemas.openxmlformats.org/drawingml/2006/main">
            <a:off x="11239500" y="32385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17"/>
          </a:bodyPr>
          <a:lstStyle xmlns:a="http://schemas.openxmlformats.org/drawingml/2006/main"/>
          <a:p xmlns:a="http://schemas.openxmlformats.org/drawingml/2006/main">
            <a:pPr algn="r">
              <a:lnSpc>
                <a:spcPct val="104000"/>
              </a:lnSpc>
              <a:buNone/>
              <a:defRPr sz="1050" b="1">
                <a:solidFill>
                  <a:srgbClr val="64748B"/>
                </a:solidFill>
                <a:latin typeface="Arial"/>
                <a:ea typeface="Arial"/>
                <a:cs typeface="Arial"/>
              </a:defRPr>
            </a:pPr>
            <a:r>
              <a:rPr sz="1050" b="1">
                <a:solidFill>
                  <a:srgbClr val="64748B"/>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628A53B9-B997-489C-B7BD-5C37ADEF8CD2}"/>
              </a:ext>
            </a:extLst>
          </p:cNvPr>
          <p:cNvSpPr>
            <a:spLocks xmlns:a="http://schemas.openxmlformats.org/drawingml/2006/main" noGrp="1"/>
          </p:cNvSpPr>
          <p:nvPr/>
        </p:nvSpPr>
        <p:spPr>
          <a:xfrm xmlns:a="http://schemas.openxmlformats.org/drawingml/2006/main">
            <a:off x="685800" y="1562100"/>
            <a:ext cx="2095500" cy="1066800"/>
          </a:xfrm>
          <a:prstGeom xmlns:a="http://schemas.openxmlformats.org/drawingml/2006/main" prst="roundRect">
            <a:avLst>
              <a:gd name="adj" fmla="val 10714"/>
            </a:avLst>
          </a:prstGeom>
          <a:solidFill xmlns:a="http://schemas.openxmlformats.org/drawingml/2006/main">
            <a:srgbClr val="FFFF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5D6C0C7-192E-4106-9CAC-CC7F911022A7}"/>
              </a:ext>
            </a:extLst>
          </p:cNvPr>
          <p:cNvSpPr>
            <a:spLocks xmlns:a="http://schemas.openxmlformats.org/drawingml/2006/main" noGrp="1"/>
          </p:cNvSpPr>
          <p:nvPr/>
        </p:nvSpPr>
        <p:spPr>
          <a:xfrm xmlns:a="http://schemas.openxmlformats.org/drawingml/2006/main">
            <a:off x="800100" y="1695450"/>
            <a:ext cx="1866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84"/>
          </a:bodyPr>
          <a:lstStyle xmlns:a="http://schemas.openxmlformats.org/drawingml/2006/main"/>
          <a:p xmlns:a="http://schemas.openxmlformats.org/drawingml/2006/main">
            <a:pPr algn="ctr">
              <a:lnSpc>
                <a:spcPct val="104000"/>
              </a:lnSpc>
              <a:buNone/>
              <a:defRPr sz="2550" b="1">
                <a:solidFill>
                  <a:srgbClr val="0F9F9A"/>
                </a:solidFill>
                <a:latin typeface="Arial"/>
                <a:ea typeface="Arial"/>
                <a:cs typeface="Arial"/>
              </a:defRPr>
            </a:pPr>
            <a:r>
              <a:rPr sz="2550" b="1">
                <a:solidFill>
                  <a:srgbClr val="0F9F9A"/>
                </a:solidFill>
                <a:latin typeface="Arial"/>
                <a:ea typeface="Arial"/>
                <a:cs typeface="Arial"/>
              </a:rPr>
              <a:t>16,828</a:t>
            </a:r>
          </a:p>
        </p:txBody>
      </p:sp>
      <p:sp>
        <p:nvSpPr>
          <p:cNvPr id="7" name="">
            <a:extLst xmlns:a="http://schemas.openxmlformats.org/drawingml/2006/main">
              <a:ext uri="{FF2B5EF4-FFF2-40B4-BE49-F238E27FC236}">
                <a16:creationId xmlns:a16="http://schemas.microsoft.com/office/drawing/2014/main" id="{20E1A12C-BE89-48A0-AAB2-702A55365930}"/>
              </a:ext>
            </a:extLst>
          </p:cNvPr>
          <p:cNvSpPr>
            <a:spLocks xmlns:a="http://schemas.openxmlformats.org/drawingml/2006/main" noGrp="1"/>
          </p:cNvSpPr>
          <p:nvPr/>
        </p:nvSpPr>
        <p:spPr>
          <a:xfrm xmlns:a="http://schemas.openxmlformats.org/drawingml/2006/main">
            <a:off x="800100" y="2181225"/>
            <a:ext cx="1866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1200" b="1">
                <a:solidFill>
                  <a:srgbClr val="64748B"/>
                </a:solidFill>
                <a:latin typeface="Arial"/>
                <a:ea typeface="Arial"/>
                <a:cs typeface="Arial"/>
              </a:defRPr>
            </a:pPr>
            <a:r>
              <a:rPr sz="1200" b="1">
                <a:solidFill>
                  <a:srgbClr val="64748B"/>
                </a:solidFill>
                <a:latin typeface="Arial"/>
                <a:ea typeface="Arial"/>
                <a:cs typeface="Arial"/>
              </a:rPr>
              <a:t>cells</a:t>
            </a:r>
          </a:p>
        </p:txBody>
      </p:sp>
      <p:sp>
        <p:nvSpPr>
          <p:cNvPr id="8" name="">
            <a:extLst xmlns:a="http://schemas.openxmlformats.org/drawingml/2006/main">
              <a:ext uri="{FF2B5EF4-FFF2-40B4-BE49-F238E27FC236}">
                <a16:creationId xmlns:a16="http://schemas.microsoft.com/office/drawing/2014/main" id="{A918FCD4-DA33-463E-9B0C-65E82FD6B597}"/>
              </a:ext>
            </a:extLst>
          </p:cNvPr>
          <p:cNvSpPr>
            <a:spLocks xmlns:a="http://schemas.openxmlformats.org/drawingml/2006/main" noGrp="1"/>
          </p:cNvSpPr>
          <p:nvPr/>
        </p:nvSpPr>
        <p:spPr>
          <a:xfrm xmlns:a="http://schemas.openxmlformats.org/drawingml/2006/main">
            <a:off x="2971800" y="1562100"/>
            <a:ext cx="2095500" cy="1066800"/>
          </a:xfrm>
          <a:prstGeom xmlns:a="http://schemas.openxmlformats.org/drawingml/2006/main" prst="roundRect">
            <a:avLst>
              <a:gd name="adj" fmla="val 10714"/>
            </a:avLst>
          </a:prstGeom>
          <a:solidFill xmlns:a="http://schemas.openxmlformats.org/drawingml/2006/main">
            <a:srgbClr val="FFFF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F681688-B834-44B8-95F7-1E95BD22B2BC}"/>
              </a:ext>
            </a:extLst>
          </p:cNvPr>
          <p:cNvSpPr>
            <a:spLocks xmlns:a="http://schemas.openxmlformats.org/drawingml/2006/main" noGrp="1"/>
          </p:cNvSpPr>
          <p:nvPr/>
        </p:nvSpPr>
        <p:spPr>
          <a:xfrm xmlns:a="http://schemas.openxmlformats.org/drawingml/2006/main">
            <a:off x="3086100" y="1695450"/>
            <a:ext cx="1866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84"/>
          </a:bodyPr>
          <a:lstStyle xmlns:a="http://schemas.openxmlformats.org/drawingml/2006/main"/>
          <a:p xmlns:a="http://schemas.openxmlformats.org/drawingml/2006/main">
            <a:pPr algn="ctr">
              <a:lnSpc>
                <a:spcPct val="104000"/>
              </a:lnSpc>
              <a:buNone/>
              <a:defRPr sz="2550" b="1">
                <a:solidFill>
                  <a:srgbClr val="4F46E5"/>
                </a:solidFill>
                <a:latin typeface="Arial"/>
                <a:ea typeface="Arial"/>
                <a:cs typeface="Arial"/>
              </a:defRPr>
            </a:pPr>
            <a:r>
              <a:rPr sz="2550" b="1">
                <a:solidFill>
                  <a:srgbClr val="4F46E5"/>
                </a:solidFill>
                <a:latin typeface="Arial"/>
                <a:ea typeface="Arial"/>
                <a:cs typeface="Arial"/>
              </a:rPr>
              <a:t>4,005</a:t>
            </a:r>
          </a:p>
        </p:txBody>
      </p:sp>
      <p:sp>
        <p:nvSpPr>
          <p:cNvPr id="10" name="">
            <a:extLst xmlns:a="http://schemas.openxmlformats.org/drawingml/2006/main">
              <a:ext uri="{FF2B5EF4-FFF2-40B4-BE49-F238E27FC236}">
                <a16:creationId xmlns:a16="http://schemas.microsoft.com/office/drawing/2014/main" id="{9A42F196-4210-4FF1-AC1C-7DAABCEBE6D3}"/>
              </a:ext>
            </a:extLst>
          </p:cNvPr>
          <p:cNvSpPr>
            <a:spLocks xmlns:a="http://schemas.openxmlformats.org/drawingml/2006/main" noGrp="1"/>
          </p:cNvSpPr>
          <p:nvPr/>
        </p:nvSpPr>
        <p:spPr>
          <a:xfrm xmlns:a="http://schemas.openxmlformats.org/drawingml/2006/main">
            <a:off x="3086100" y="2181225"/>
            <a:ext cx="1866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1200" b="1">
                <a:solidFill>
                  <a:srgbClr val="64748B"/>
                </a:solidFill>
                <a:latin typeface="Arial"/>
                <a:ea typeface="Arial"/>
                <a:cs typeface="Arial"/>
              </a:defRPr>
            </a:pPr>
            <a:r>
              <a:rPr sz="1200" b="1">
                <a:solidFill>
                  <a:srgbClr val="64748B"/>
                </a:solidFill>
                <a:latin typeface="Arial"/>
                <a:ea typeface="Arial"/>
                <a:cs typeface="Arial"/>
              </a:rPr>
              <a:t>genes</a:t>
            </a:r>
          </a:p>
        </p:txBody>
      </p:sp>
      <p:sp>
        <p:nvSpPr>
          <p:cNvPr id="11" name="">
            <a:extLst xmlns:a="http://schemas.openxmlformats.org/drawingml/2006/main">
              <a:ext uri="{FF2B5EF4-FFF2-40B4-BE49-F238E27FC236}">
                <a16:creationId xmlns:a16="http://schemas.microsoft.com/office/drawing/2014/main" id="{B2067CE6-84EF-43D6-A2FF-4DFEB44302AE}"/>
              </a:ext>
            </a:extLst>
          </p:cNvPr>
          <p:cNvSpPr>
            <a:spLocks xmlns:a="http://schemas.openxmlformats.org/drawingml/2006/main" noGrp="1"/>
          </p:cNvSpPr>
          <p:nvPr/>
        </p:nvSpPr>
        <p:spPr>
          <a:xfrm xmlns:a="http://schemas.openxmlformats.org/drawingml/2006/main">
            <a:off x="5257800" y="1562100"/>
            <a:ext cx="2095500" cy="1066800"/>
          </a:xfrm>
          <a:prstGeom xmlns:a="http://schemas.openxmlformats.org/drawingml/2006/main" prst="roundRect">
            <a:avLst>
              <a:gd name="adj" fmla="val 10714"/>
            </a:avLst>
          </a:prstGeom>
          <a:solidFill xmlns:a="http://schemas.openxmlformats.org/drawingml/2006/main">
            <a:srgbClr val="FFFFF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B642057-BF37-4929-BA58-DECC3674E7A8}"/>
              </a:ext>
            </a:extLst>
          </p:cNvPr>
          <p:cNvSpPr>
            <a:spLocks xmlns:a="http://schemas.openxmlformats.org/drawingml/2006/main" noGrp="1"/>
          </p:cNvSpPr>
          <p:nvPr/>
        </p:nvSpPr>
        <p:spPr>
          <a:xfrm xmlns:a="http://schemas.openxmlformats.org/drawingml/2006/main">
            <a:off x="5372100" y="1695450"/>
            <a:ext cx="1866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84"/>
          </a:bodyPr>
          <a:lstStyle xmlns:a="http://schemas.openxmlformats.org/drawingml/2006/main"/>
          <a:p xmlns:a="http://schemas.openxmlformats.org/drawingml/2006/main">
            <a:pPr algn="ctr">
              <a:lnSpc>
                <a:spcPct val="104000"/>
              </a:lnSpc>
              <a:buNone/>
              <a:defRPr sz="2550" b="1">
                <a:solidFill>
                  <a:srgbClr val="F97316"/>
                </a:solidFill>
                <a:latin typeface="Arial"/>
                <a:ea typeface="Arial"/>
                <a:cs typeface="Arial"/>
              </a:defRPr>
            </a:pPr>
            <a:r>
              <a:rPr sz="2550" b="1">
                <a:solidFill>
                  <a:srgbClr val="F97316"/>
                </a:solidFill>
                <a:latin typeface="Arial"/>
                <a:ea typeface="Arial"/>
                <a:cs typeface="Arial"/>
              </a:rPr>
              <a:t>110</a:t>
            </a:r>
          </a:p>
        </p:txBody>
      </p:sp>
      <p:sp>
        <p:nvSpPr>
          <p:cNvPr id="13" name="">
            <a:extLst xmlns:a="http://schemas.openxmlformats.org/drawingml/2006/main">
              <a:ext uri="{FF2B5EF4-FFF2-40B4-BE49-F238E27FC236}">
                <a16:creationId xmlns:a16="http://schemas.microsoft.com/office/drawing/2014/main" id="{688A6EF8-EDEF-4138-8293-5CE979AC866D}"/>
              </a:ext>
            </a:extLst>
          </p:cNvPr>
          <p:cNvSpPr>
            <a:spLocks xmlns:a="http://schemas.openxmlformats.org/drawingml/2006/main" noGrp="1"/>
          </p:cNvSpPr>
          <p:nvPr/>
        </p:nvSpPr>
        <p:spPr>
          <a:xfrm xmlns:a="http://schemas.openxmlformats.org/drawingml/2006/main">
            <a:off x="5372100" y="2181225"/>
            <a:ext cx="1866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1200" b="1">
                <a:solidFill>
                  <a:srgbClr val="64748B"/>
                </a:solidFill>
                <a:latin typeface="Arial"/>
                <a:ea typeface="Arial"/>
                <a:cs typeface="Arial"/>
              </a:defRPr>
            </a:pPr>
            <a:r>
              <a:rPr sz="1200" b="1">
                <a:solidFill>
                  <a:srgbClr val="64748B"/>
                </a:solidFill>
                <a:latin typeface="Arial"/>
                <a:ea typeface="Arial"/>
                <a:cs typeface="Arial"/>
              </a:rPr>
              <a:t>proteins</a:t>
            </a:r>
          </a:p>
        </p:txBody>
      </p:sp>
      <p:sp>
        <p:nvSpPr>
          <p:cNvPr id="14" name="">
            <a:extLst xmlns:a="http://schemas.openxmlformats.org/drawingml/2006/main">
              <a:ext uri="{FF2B5EF4-FFF2-40B4-BE49-F238E27FC236}">
                <a16:creationId xmlns:a16="http://schemas.microsoft.com/office/drawing/2014/main" id="{9F52F725-8887-422A-98F5-A0C0E058F1D9}"/>
              </a:ext>
            </a:extLst>
          </p:cNvPr>
          <p:cNvSpPr>
            <a:spLocks xmlns:a="http://schemas.openxmlformats.org/drawingml/2006/main" noGrp="1"/>
          </p:cNvSpPr>
          <p:nvPr/>
        </p:nvSpPr>
        <p:spPr>
          <a:xfrm xmlns:a="http://schemas.openxmlformats.org/drawingml/2006/main">
            <a:off x="7543800" y="1562100"/>
            <a:ext cx="2095500" cy="1066800"/>
          </a:xfrm>
          <a:prstGeom xmlns:a="http://schemas.openxmlformats.org/drawingml/2006/main" prst="roundRect">
            <a:avLst>
              <a:gd name="adj" fmla="val 10714"/>
            </a:avLst>
          </a:prstGeom>
          <a:solidFill xmlns:a="http://schemas.openxmlformats.org/drawingml/2006/main">
            <a:srgbClr val="FFFF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47358A2-52F3-46CC-80FB-53A5CB64F495}"/>
              </a:ext>
            </a:extLst>
          </p:cNvPr>
          <p:cNvSpPr>
            <a:spLocks xmlns:a="http://schemas.openxmlformats.org/drawingml/2006/main" noGrp="1"/>
          </p:cNvSpPr>
          <p:nvPr/>
        </p:nvSpPr>
        <p:spPr>
          <a:xfrm xmlns:a="http://schemas.openxmlformats.org/drawingml/2006/main">
            <a:off x="7658100" y="1695450"/>
            <a:ext cx="1866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84"/>
          </a:bodyPr>
          <a:lstStyle xmlns:a="http://schemas.openxmlformats.org/drawingml/2006/main"/>
          <a:p xmlns:a="http://schemas.openxmlformats.org/drawingml/2006/main">
            <a:pPr algn="ctr">
              <a:lnSpc>
                <a:spcPct val="104000"/>
              </a:lnSpc>
              <a:buNone/>
              <a:defRPr sz="2550" b="1">
                <a:solidFill>
                  <a:srgbClr val="0F9F9A"/>
                </a:solidFill>
                <a:latin typeface="Arial"/>
                <a:ea typeface="Arial"/>
                <a:cs typeface="Arial"/>
              </a:defRPr>
            </a:pPr>
            <a:r>
              <a:rPr sz="2550" b="1">
                <a:solidFill>
                  <a:srgbClr val="0F9F9A"/>
                </a:solidFill>
                <a:latin typeface="Arial"/>
                <a:ea typeface="Arial"/>
                <a:cs typeface="Arial"/>
              </a:rPr>
              <a:t>2</a:t>
            </a:r>
          </a:p>
        </p:txBody>
      </p:sp>
      <p:sp>
        <p:nvSpPr>
          <p:cNvPr id="16" name="">
            <a:extLst xmlns:a="http://schemas.openxmlformats.org/drawingml/2006/main">
              <a:ext uri="{FF2B5EF4-FFF2-40B4-BE49-F238E27FC236}">
                <a16:creationId xmlns:a16="http://schemas.microsoft.com/office/drawing/2014/main" id="{13F79C40-681C-4AE7-8F7C-DBC078421750}"/>
              </a:ext>
            </a:extLst>
          </p:cNvPr>
          <p:cNvSpPr>
            <a:spLocks xmlns:a="http://schemas.openxmlformats.org/drawingml/2006/main" noGrp="1"/>
          </p:cNvSpPr>
          <p:nvPr/>
        </p:nvSpPr>
        <p:spPr>
          <a:xfrm xmlns:a="http://schemas.openxmlformats.org/drawingml/2006/main">
            <a:off x="7658100" y="2181225"/>
            <a:ext cx="1866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1200" b="1">
                <a:solidFill>
                  <a:srgbClr val="64748B"/>
                </a:solidFill>
                <a:latin typeface="Arial"/>
                <a:ea typeface="Arial"/>
                <a:cs typeface="Arial"/>
              </a:defRPr>
            </a:pPr>
            <a:r>
              <a:rPr sz="1200" b="1">
                <a:solidFill>
                  <a:srgbClr val="64748B"/>
                </a:solidFill>
                <a:latin typeface="Arial"/>
                <a:ea typeface="Arial"/>
                <a:cs typeface="Arial"/>
              </a:rPr>
              <a:t>batches</a:t>
            </a:r>
          </a:p>
        </p:txBody>
      </p:sp>
      <p:sp>
        <p:nvSpPr>
          <p:cNvPr id="17" name="">
            <a:extLst xmlns:a="http://schemas.openxmlformats.org/drawingml/2006/main">
              <a:ext uri="{FF2B5EF4-FFF2-40B4-BE49-F238E27FC236}">
                <a16:creationId xmlns:a16="http://schemas.microsoft.com/office/drawing/2014/main" id="{0F5CC82E-B1C2-41A2-9848-46D221EA790D}"/>
              </a:ext>
            </a:extLst>
          </p:cNvPr>
          <p:cNvSpPr>
            <a:spLocks xmlns:a="http://schemas.openxmlformats.org/drawingml/2006/main" noGrp="1"/>
          </p:cNvSpPr>
          <p:nvPr/>
        </p:nvSpPr>
        <p:spPr>
          <a:xfrm xmlns:a="http://schemas.openxmlformats.org/drawingml/2006/main">
            <a:off x="9829800" y="1562100"/>
            <a:ext cx="1676400" cy="1066800"/>
          </a:xfrm>
          <a:prstGeom xmlns:a="http://schemas.openxmlformats.org/drawingml/2006/main" prst="roundRect">
            <a:avLst>
              <a:gd name="adj" fmla="val 10714"/>
            </a:avLst>
          </a:prstGeom>
          <a:solidFill xmlns:a="http://schemas.openxmlformats.org/drawingml/2006/main">
            <a:srgbClr val="FFFFF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B9EEA33-95FB-44B0-BF90-8F1E042DC7E0}"/>
              </a:ext>
            </a:extLst>
          </p:cNvPr>
          <p:cNvSpPr>
            <a:spLocks xmlns:a="http://schemas.openxmlformats.org/drawingml/2006/main" noGrp="1"/>
          </p:cNvSpPr>
          <p:nvPr/>
        </p:nvSpPr>
        <p:spPr>
          <a:xfrm xmlns:a="http://schemas.openxmlformats.org/drawingml/2006/main">
            <a:off x="9944100" y="1695450"/>
            <a:ext cx="1447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84"/>
          </a:bodyPr>
          <a:lstStyle xmlns:a="http://schemas.openxmlformats.org/drawingml/2006/main"/>
          <a:p xmlns:a="http://schemas.openxmlformats.org/drawingml/2006/main">
            <a:pPr algn="ctr">
              <a:lnSpc>
                <a:spcPct val="104000"/>
              </a:lnSpc>
              <a:buNone/>
              <a:defRPr sz="2550" b="1">
                <a:solidFill>
                  <a:srgbClr val="4F46E5"/>
                </a:solidFill>
                <a:latin typeface="Arial"/>
                <a:ea typeface="Arial"/>
                <a:cs typeface="Arial"/>
              </a:defRPr>
            </a:pPr>
            <a:r>
              <a:rPr sz="2550" b="1">
                <a:solidFill>
                  <a:srgbClr val="4F46E5"/>
                </a:solidFill>
                <a:latin typeface="Arial"/>
                <a:ea typeface="Arial"/>
                <a:cs typeface="Arial"/>
              </a:rPr>
              <a:t>1</a:t>
            </a:r>
          </a:p>
        </p:txBody>
      </p:sp>
      <p:sp>
        <p:nvSpPr>
          <p:cNvPr id="19" name="">
            <a:extLst xmlns:a="http://schemas.openxmlformats.org/drawingml/2006/main">
              <a:ext uri="{FF2B5EF4-FFF2-40B4-BE49-F238E27FC236}">
                <a16:creationId xmlns:a16="http://schemas.microsoft.com/office/drawing/2014/main" id="{78E7BB4A-9747-4EDD-9115-5C14632E98E6}"/>
              </a:ext>
            </a:extLst>
          </p:cNvPr>
          <p:cNvSpPr>
            <a:spLocks xmlns:a="http://schemas.openxmlformats.org/drawingml/2006/main" noGrp="1"/>
          </p:cNvSpPr>
          <p:nvPr/>
        </p:nvSpPr>
        <p:spPr>
          <a:xfrm xmlns:a="http://schemas.openxmlformats.org/drawingml/2006/main">
            <a:off x="9944100" y="2181225"/>
            <a:ext cx="1447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1200" b="1">
                <a:solidFill>
                  <a:srgbClr val="64748B"/>
                </a:solidFill>
                <a:latin typeface="Arial"/>
                <a:ea typeface="Arial"/>
                <a:cs typeface="Arial"/>
              </a:defRPr>
            </a:pPr>
            <a:r>
              <a:rPr sz="1200" b="1">
                <a:solidFill>
                  <a:srgbClr val="64748B"/>
                </a:solidFill>
                <a:latin typeface="Arial"/>
                <a:ea typeface="Arial"/>
                <a:cs typeface="Arial"/>
              </a:rPr>
              <a:t>transfer task</a:t>
            </a:r>
          </a:p>
        </p:txBody>
      </p:sp>
      <p:sp>
        <p:nvSpPr>
          <p:cNvPr id="20" name="">
            <a:extLst xmlns:a="http://schemas.openxmlformats.org/drawingml/2006/main">
              <a:ext uri="{FF2B5EF4-FFF2-40B4-BE49-F238E27FC236}">
                <a16:creationId xmlns:a16="http://schemas.microsoft.com/office/drawing/2014/main" id="{841C1085-18C9-46BF-AA11-139414E0A32D}"/>
              </a:ext>
            </a:extLst>
          </p:cNvPr>
          <p:cNvSpPr>
            <a:spLocks xmlns:a="http://schemas.openxmlformats.org/drawingml/2006/main" noGrp="1"/>
          </p:cNvSpPr>
          <p:nvPr/>
        </p:nvSpPr>
        <p:spPr>
          <a:xfrm xmlns:a="http://schemas.openxmlformats.org/drawingml/2006/main">
            <a:off x="800100" y="3162300"/>
            <a:ext cx="4648200" cy="2133600"/>
          </a:xfrm>
          <a:prstGeom xmlns:a="http://schemas.openxmlformats.org/drawingml/2006/main" prst="roundRect">
            <a:avLst>
              <a:gd name="adj" fmla="val 5357"/>
            </a:avLst>
          </a:prstGeom>
          <a:solidFill xmlns:a="http://schemas.openxmlformats.org/drawingml/2006/main">
            <a:srgbClr val="FFFFFF"/>
          </a:solidFill>
          <a:ln xmlns:a="http://schemas.openxmlformats.org/drawingml/2006/main" w="9525">
            <a:solidFill>
              <a:srgbClr val="CBD5E1"/>
            </a:solidFill>
          </a:ln>
        </p:spPr>
      </p:sp>
      <p:sp>
        <p:nvSpPr>
          <p:cNvPr id="21" name="">
            <a:extLst xmlns:a="http://schemas.openxmlformats.org/drawingml/2006/main">
              <a:ext uri="{FF2B5EF4-FFF2-40B4-BE49-F238E27FC236}">
                <a16:creationId xmlns:a16="http://schemas.microsoft.com/office/drawing/2014/main" id="{2CE3BE9D-44D3-46CA-9130-00FDE5D537F9}"/>
              </a:ext>
            </a:extLst>
          </p:cNvPr>
          <p:cNvSpPr>
            <a:spLocks xmlns:a="http://schemas.openxmlformats.org/drawingml/2006/main" noGrp="1"/>
          </p:cNvSpPr>
          <p:nvPr/>
        </p:nvSpPr>
        <p:spPr>
          <a:xfrm xmlns:a="http://schemas.openxmlformats.org/drawingml/2006/main">
            <a:off x="1028700" y="3352800"/>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283"/>
          </a:bodyPr>
          <a:lstStyle xmlns:a="http://schemas.openxmlformats.org/drawingml/2006/main"/>
          <a:p xmlns:a="http://schemas.openxmlformats.org/drawingml/2006/main">
            <a:pPr algn="l">
              <a:lnSpc>
                <a:spcPct val="104000"/>
              </a:lnSpc>
              <a:buNone/>
              <a:defRPr sz="2025" b="1">
                <a:solidFill>
                  <a:srgbClr val="4F46E5"/>
                </a:solidFill>
                <a:latin typeface="Arial"/>
                <a:ea typeface="Arial"/>
                <a:cs typeface="Arial"/>
              </a:defRPr>
            </a:pPr>
            <a:r>
              <a:rPr sz="2025" b="1">
                <a:solidFill>
                  <a:srgbClr val="4F46E5"/>
                </a:solidFill>
                <a:latin typeface="Arial"/>
                <a:ea typeface="Arial"/>
                <a:cs typeface="Arial"/>
              </a:rPr>
              <a:t>SLN111-D1</a:t>
            </a:r>
          </a:p>
        </p:txBody>
      </p:sp>
      <p:sp>
        <p:nvSpPr>
          <p:cNvPr id="22" name="">
            <a:extLst xmlns:a="http://schemas.openxmlformats.org/drawingml/2006/main">
              <a:ext uri="{FF2B5EF4-FFF2-40B4-BE49-F238E27FC236}">
                <a16:creationId xmlns:a16="http://schemas.microsoft.com/office/drawing/2014/main" id="{51A53A41-4C7F-4C65-84E0-F1B02AA6B95A}"/>
              </a:ext>
            </a:extLst>
          </p:cNvPr>
          <p:cNvSpPr>
            <a:spLocks xmlns:a="http://schemas.openxmlformats.org/drawingml/2006/main" noGrp="1"/>
          </p:cNvSpPr>
          <p:nvPr/>
        </p:nvSpPr>
        <p:spPr>
          <a:xfrm xmlns:a="http://schemas.openxmlformats.org/drawingml/2006/main">
            <a:off x="1028700" y="37909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470"/>
          </a:bodyPr>
          <a:lstStyle xmlns:a="http://schemas.openxmlformats.org/drawingml/2006/main"/>
          <a:p xmlns:a="http://schemas.openxmlformats.org/drawingml/2006/main">
            <a:pPr algn="l">
              <a:lnSpc>
                <a:spcPct val="104000"/>
              </a:lnSpc>
              <a:buNone/>
              <a:defRPr sz="1575" b="1">
                <a:solidFill>
                  <a:srgbClr val="172554"/>
                </a:solidFill>
                <a:latin typeface="Arial"/>
                <a:ea typeface="Arial"/>
                <a:cs typeface="Arial"/>
              </a:defRPr>
            </a:pPr>
            <a:r>
              <a:rPr sz="1575" b="1">
                <a:solidFill>
                  <a:srgbClr val="172554"/>
                </a:solidFill>
                <a:latin typeface="Arial"/>
                <a:ea typeface="Arial"/>
                <a:cs typeface="Arial"/>
              </a:rPr>
              <a:t>9,264 cells</a:t>
            </a:r>
          </a:p>
        </p:txBody>
      </p:sp>
      <p:sp>
        <p:nvSpPr>
          <p:cNvPr id="23" name="">
            <a:extLst xmlns:a="http://schemas.openxmlformats.org/drawingml/2006/main">
              <a:ext uri="{FF2B5EF4-FFF2-40B4-BE49-F238E27FC236}">
                <a16:creationId xmlns:a16="http://schemas.microsoft.com/office/drawing/2014/main" id="{567F4151-9A27-4A13-8C7B-C09257FCA3FB}"/>
              </a:ext>
            </a:extLst>
          </p:cNvPr>
          <p:cNvSpPr>
            <a:spLocks xmlns:a="http://schemas.openxmlformats.org/drawingml/2006/main" noGrp="1"/>
          </p:cNvSpPr>
          <p:nvPr/>
        </p:nvSpPr>
        <p:spPr>
          <a:xfrm xmlns:a="http://schemas.openxmlformats.org/drawingml/2006/main">
            <a:off x="1028700" y="421005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715"/>
          </a:bodyPr>
          <a:lstStyle xmlns:a="http://schemas.openxmlformats.org/drawingml/2006/main"/>
          <a:p xmlns:a="http://schemas.openxmlformats.org/drawingml/2006/main">
            <a:pPr algn="l">
              <a:lnSpc>
                <a:spcPct val="104000"/>
              </a:lnSpc>
              <a:buNone/>
              <a:defRPr sz="1350" b="0">
                <a:solidFill>
                  <a:srgbClr val="64748B"/>
                </a:solidFill>
                <a:latin typeface="Arial"/>
                <a:ea typeface="Arial"/>
                <a:cs typeface="Arial"/>
              </a:defRPr>
            </a:pPr>
            <a:r>
              <a:rPr sz="1350" b="0">
                <a:solidFill>
                  <a:srgbClr val="64748B"/>
                </a:solidFill>
                <a:latin typeface="Arial"/>
                <a:ea typeface="Arial"/>
                <a:cs typeface="Arial"/>
              </a:rPr>
              <a:t>RNA + 110 proteins</a:t>
            </a:r>
          </a:p>
        </p:txBody>
      </p:sp>
      <p:sp>
        <p:nvSpPr>
          <p:cNvPr id="24" name="">
            <a:extLst xmlns:a="http://schemas.openxmlformats.org/drawingml/2006/main">
              <a:ext uri="{FF2B5EF4-FFF2-40B4-BE49-F238E27FC236}">
                <a16:creationId xmlns:a16="http://schemas.microsoft.com/office/drawing/2014/main" id="{D20C443B-22E9-423B-857B-24B16F68671B}"/>
              </a:ext>
            </a:extLst>
          </p:cNvPr>
          <p:cNvSpPr>
            <a:spLocks xmlns:a="http://schemas.openxmlformats.org/drawingml/2006/main" noGrp="1"/>
          </p:cNvSpPr>
          <p:nvPr/>
        </p:nvSpPr>
        <p:spPr>
          <a:xfrm xmlns:a="http://schemas.openxmlformats.org/drawingml/2006/main">
            <a:off x="3562350" y="3619500"/>
            <a:ext cx="1562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1350" b="1">
                <a:solidFill>
                  <a:srgbClr val="F97316"/>
                </a:solidFill>
                <a:latin typeface="Arial"/>
                <a:ea typeface="Arial"/>
                <a:cs typeface="Arial"/>
              </a:defRPr>
            </a:pPr>
            <a:r>
              <a:rPr sz="1350" b="1">
                <a:solidFill>
                  <a:srgbClr val="F97316"/>
                </a:solidFill>
                <a:latin typeface="Arial"/>
                <a:ea typeface="Arial"/>
                <a:cs typeface="Arial"/>
              </a:rPr>
              <a:t>REFERENCE</a:t>
            </a:r>
          </a:p>
          <a:p xmlns:a="http://schemas.openxmlformats.org/drawingml/2006/main">
            <a:pPr algn="ctr">
              <a:lnSpc>
                <a:spcPct val="104000"/>
              </a:lnSpc>
              <a:buNone/>
              <a:defRPr sz="1350" b="1">
                <a:solidFill>
                  <a:srgbClr val="F97316"/>
                </a:solidFill>
                <a:latin typeface="Arial"/>
                <a:ea typeface="Arial"/>
                <a:cs typeface="Arial"/>
              </a:defRPr>
            </a:pPr>
            <a:r>
              <a:rPr sz="1350" b="1">
                <a:solidFill>
                  <a:srgbClr val="F97316"/>
                </a:solidFill>
                <a:latin typeface="Arial"/>
                <a:ea typeface="Arial"/>
                <a:cs typeface="Arial"/>
              </a:rPr>
              <a:t>BATCH</a:t>
            </a:r>
          </a:p>
        </p:txBody>
      </p:sp>
      <p:sp>
        <p:nvSpPr>
          <p:cNvPr id="25" name="">
            <a:extLst xmlns:a="http://schemas.openxmlformats.org/drawingml/2006/main">
              <a:ext uri="{FF2B5EF4-FFF2-40B4-BE49-F238E27FC236}">
                <a16:creationId xmlns:a16="http://schemas.microsoft.com/office/drawing/2014/main" id="{C95589F5-DCA6-46D8-9A13-BB6CE8B764DE}"/>
              </a:ext>
            </a:extLst>
          </p:cNvPr>
          <p:cNvSpPr>
            <a:spLocks xmlns:a="http://schemas.openxmlformats.org/drawingml/2006/main" noGrp="1"/>
          </p:cNvSpPr>
          <p:nvPr/>
        </p:nvSpPr>
        <p:spPr>
          <a:xfrm xmlns:a="http://schemas.openxmlformats.org/drawingml/2006/main">
            <a:off x="6743700" y="3162300"/>
            <a:ext cx="4648200" cy="2133600"/>
          </a:xfrm>
          <a:prstGeom xmlns:a="http://schemas.openxmlformats.org/drawingml/2006/main" prst="roundRect">
            <a:avLst>
              <a:gd name="adj" fmla="val 5357"/>
            </a:avLst>
          </a:prstGeom>
          <a:solidFill xmlns:a="http://schemas.openxmlformats.org/drawingml/2006/main">
            <a:srgbClr val="FFFFFF"/>
          </a:solidFill>
          <a:ln xmlns:a="http://schemas.openxmlformats.org/drawingml/2006/main" w="9525">
            <a:solidFill>
              <a:srgbClr val="CBD5E1"/>
            </a:solidFill>
          </a:ln>
        </p:spPr>
      </p:sp>
      <p:sp>
        <p:nvSpPr>
          <p:cNvPr id="26" name="">
            <a:extLst xmlns:a="http://schemas.openxmlformats.org/drawingml/2006/main">
              <a:ext uri="{FF2B5EF4-FFF2-40B4-BE49-F238E27FC236}">
                <a16:creationId xmlns:a16="http://schemas.microsoft.com/office/drawing/2014/main" id="{992C2E78-CFE1-4C57-8232-9E89B175A70B}"/>
              </a:ext>
            </a:extLst>
          </p:cNvPr>
          <p:cNvSpPr>
            <a:spLocks xmlns:a="http://schemas.openxmlformats.org/drawingml/2006/main" noGrp="1"/>
          </p:cNvSpPr>
          <p:nvPr/>
        </p:nvSpPr>
        <p:spPr>
          <a:xfrm xmlns:a="http://schemas.openxmlformats.org/drawingml/2006/main">
            <a:off x="6972300" y="3352800"/>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283"/>
          </a:bodyPr>
          <a:lstStyle xmlns:a="http://schemas.openxmlformats.org/drawingml/2006/main"/>
          <a:p xmlns:a="http://schemas.openxmlformats.org/drawingml/2006/main">
            <a:pPr algn="l">
              <a:lnSpc>
                <a:spcPct val="104000"/>
              </a:lnSpc>
              <a:buNone/>
              <a:defRPr sz="2025" b="1">
                <a:solidFill>
                  <a:srgbClr val="4F46E5"/>
                </a:solidFill>
                <a:latin typeface="Arial"/>
                <a:ea typeface="Arial"/>
                <a:cs typeface="Arial"/>
              </a:defRPr>
            </a:pPr>
            <a:r>
              <a:rPr sz="2025" b="1">
                <a:solidFill>
                  <a:srgbClr val="4F46E5"/>
                </a:solidFill>
                <a:latin typeface="Arial"/>
                <a:ea typeface="Arial"/>
                <a:cs typeface="Arial"/>
              </a:rPr>
              <a:t>SLN111-D2</a:t>
            </a:r>
          </a:p>
        </p:txBody>
      </p:sp>
      <p:sp>
        <p:nvSpPr>
          <p:cNvPr id="27" name="">
            <a:extLst xmlns:a="http://schemas.openxmlformats.org/drawingml/2006/main">
              <a:ext uri="{FF2B5EF4-FFF2-40B4-BE49-F238E27FC236}">
                <a16:creationId xmlns:a16="http://schemas.microsoft.com/office/drawing/2014/main" id="{3AAC4442-ECA2-42E9-B0EA-8EBD3B223732}"/>
              </a:ext>
            </a:extLst>
          </p:cNvPr>
          <p:cNvSpPr>
            <a:spLocks xmlns:a="http://schemas.openxmlformats.org/drawingml/2006/main" noGrp="1"/>
          </p:cNvSpPr>
          <p:nvPr/>
        </p:nvSpPr>
        <p:spPr>
          <a:xfrm xmlns:a="http://schemas.openxmlformats.org/drawingml/2006/main">
            <a:off x="6972300" y="37909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470"/>
          </a:bodyPr>
          <a:lstStyle xmlns:a="http://schemas.openxmlformats.org/drawingml/2006/main"/>
          <a:p xmlns:a="http://schemas.openxmlformats.org/drawingml/2006/main">
            <a:pPr algn="l">
              <a:lnSpc>
                <a:spcPct val="104000"/>
              </a:lnSpc>
              <a:buNone/>
              <a:defRPr sz="1575" b="1">
                <a:solidFill>
                  <a:srgbClr val="172554"/>
                </a:solidFill>
                <a:latin typeface="Arial"/>
                <a:ea typeface="Arial"/>
                <a:cs typeface="Arial"/>
              </a:defRPr>
            </a:pPr>
            <a:r>
              <a:rPr sz="1575" b="1">
                <a:solidFill>
                  <a:srgbClr val="172554"/>
                </a:solidFill>
                <a:latin typeface="Arial"/>
                <a:ea typeface="Arial"/>
                <a:cs typeface="Arial"/>
              </a:rPr>
              <a:t>7,564 cells</a:t>
            </a:r>
          </a:p>
        </p:txBody>
      </p:sp>
      <p:sp>
        <p:nvSpPr>
          <p:cNvPr id="28" name="">
            <a:extLst xmlns:a="http://schemas.openxmlformats.org/drawingml/2006/main">
              <a:ext uri="{FF2B5EF4-FFF2-40B4-BE49-F238E27FC236}">
                <a16:creationId xmlns:a16="http://schemas.microsoft.com/office/drawing/2014/main" id="{BF0ABCDC-6958-4F83-AEB7-CE977BB78930}"/>
              </a:ext>
            </a:extLst>
          </p:cNvPr>
          <p:cNvSpPr>
            <a:spLocks xmlns:a="http://schemas.openxmlformats.org/drawingml/2006/main" noGrp="1"/>
          </p:cNvSpPr>
          <p:nvPr/>
        </p:nvSpPr>
        <p:spPr>
          <a:xfrm xmlns:a="http://schemas.openxmlformats.org/drawingml/2006/main">
            <a:off x="6972300" y="421005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715"/>
          </a:bodyPr>
          <a:lstStyle xmlns:a="http://schemas.openxmlformats.org/drawingml/2006/main"/>
          <a:p xmlns:a="http://schemas.openxmlformats.org/drawingml/2006/main">
            <a:pPr algn="l">
              <a:lnSpc>
                <a:spcPct val="104000"/>
              </a:lnSpc>
              <a:buNone/>
              <a:defRPr sz="1350" b="0">
                <a:solidFill>
                  <a:srgbClr val="64748B"/>
                </a:solidFill>
                <a:latin typeface="Arial"/>
                <a:ea typeface="Arial"/>
                <a:cs typeface="Arial"/>
              </a:defRPr>
            </a:pPr>
            <a:r>
              <a:rPr sz="1350" b="0">
                <a:solidFill>
                  <a:srgbClr val="64748B"/>
                </a:solidFill>
                <a:latin typeface="Arial"/>
                <a:ea typeface="Arial"/>
                <a:cs typeface="Arial"/>
              </a:rPr>
              <a:t>RNA only for training</a:t>
            </a:r>
          </a:p>
        </p:txBody>
      </p:sp>
      <p:sp>
        <p:nvSpPr>
          <p:cNvPr id="29" name="">
            <a:extLst xmlns:a="http://schemas.openxmlformats.org/drawingml/2006/main">
              <a:ext uri="{FF2B5EF4-FFF2-40B4-BE49-F238E27FC236}">
                <a16:creationId xmlns:a16="http://schemas.microsoft.com/office/drawing/2014/main" id="{2415A3DB-0D12-493A-95F3-0B00536DD194}"/>
              </a:ext>
            </a:extLst>
          </p:cNvPr>
          <p:cNvSpPr>
            <a:spLocks xmlns:a="http://schemas.openxmlformats.org/drawingml/2006/main" noGrp="1"/>
          </p:cNvSpPr>
          <p:nvPr/>
        </p:nvSpPr>
        <p:spPr>
          <a:xfrm xmlns:a="http://schemas.openxmlformats.org/drawingml/2006/main">
            <a:off x="9505950" y="3619500"/>
            <a:ext cx="1562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1350" b="1">
                <a:solidFill>
                  <a:srgbClr val="0F9F9A"/>
                </a:solidFill>
                <a:latin typeface="Arial"/>
                <a:ea typeface="Arial"/>
                <a:cs typeface="Arial"/>
              </a:defRPr>
            </a:pPr>
            <a:r>
              <a:rPr sz="1350" b="1">
                <a:solidFill>
                  <a:srgbClr val="0F9F9A"/>
                </a:solidFill>
                <a:latin typeface="Arial"/>
                <a:ea typeface="Arial"/>
                <a:cs typeface="Arial"/>
              </a:rPr>
              <a:t>ALL PROTEINS</a:t>
            </a:r>
          </a:p>
          <a:p xmlns:a="http://schemas.openxmlformats.org/drawingml/2006/main">
            <a:pPr algn="ctr">
              <a:lnSpc>
                <a:spcPct val="104000"/>
              </a:lnSpc>
              <a:buNone/>
              <a:defRPr sz="1350" b="1">
                <a:solidFill>
                  <a:srgbClr val="0F9F9A"/>
                </a:solidFill>
                <a:latin typeface="Arial"/>
                <a:ea typeface="Arial"/>
                <a:cs typeface="Arial"/>
              </a:defRPr>
            </a:pPr>
            <a:r>
              <a:rPr sz="1350" b="1">
                <a:solidFill>
                  <a:srgbClr val="0F9F9A"/>
                </a:solidFill>
                <a:latin typeface="Arial"/>
                <a:ea typeface="Arial"/>
                <a:cs typeface="Arial"/>
              </a:rPr>
              <a:t>HIDDEN</a:t>
            </a:r>
          </a:p>
        </p:txBody>
      </p:sp>
      <p:sp>
        <p:nvSpPr>
          <p:cNvPr id="30" name="">
            <a:extLst xmlns:a="http://schemas.openxmlformats.org/drawingml/2006/main">
              <a:ext uri="{FF2B5EF4-FFF2-40B4-BE49-F238E27FC236}">
                <a16:creationId xmlns:a16="http://schemas.microsoft.com/office/drawing/2014/main" id="{5D560BEC-9734-4F13-A024-A4A39C604C58}"/>
              </a:ext>
            </a:extLst>
          </p:cNvPr>
          <p:cNvSpPr>
            <a:spLocks xmlns:a="http://schemas.openxmlformats.org/drawingml/2006/main" noGrp="1"/>
          </p:cNvSpPr>
          <p:nvPr/>
        </p:nvSpPr>
        <p:spPr>
          <a:xfrm xmlns:a="http://schemas.openxmlformats.org/drawingml/2006/main">
            <a:off x="1676400" y="5715000"/>
            <a:ext cx="8839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1650" b="1">
                <a:solidFill>
                  <a:srgbClr val="172554"/>
                </a:solidFill>
                <a:latin typeface="Arial"/>
                <a:ea typeface="Arial"/>
                <a:cs typeface="Arial"/>
              </a:defRPr>
            </a:pPr>
            <a:r>
              <a:rPr sz="1650" b="1">
                <a:solidFill>
                  <a:srgbClr val="172554"/>
                </a:solidFill>
                <a:latin typeface="Arial"/>
                <a:ea typeface="Arial"/>
                <a:cs typeface="Arial"/>
              </a:rPr>
              <a:t>D2 proteins never enter training and are revealed only for scoring</a:t>
            </a:r>
          </a:p>
        </p:txBody>
      </p:sp>
      <p:sp>
        <p:nvSpPr>
          <p:cNvPr id="31" name="">
            <a:extLst xmlns:a="http://schemas.openxmlformats.org/drawingml/2006/main">
              <a:ext uri="{FF2B5EF4-FFF2-40B4-BE49-F238E27FC236}">
                <a16:creationId xmlns:a16="http://schemas.microsoft.com/office/drawing/2014/main" id="{44A73434-E8A8-4972-A141-D3ED179ABFE8}"/>
              </a:ext>
            </a:extLst>
          </p:cNvPr>
          <p:cNvSpPr>
            <a:spLocks xmlns:a="http://schemas.openxmlformats.org/drawingml/2006/main" noGrp="1"/>
          </p:cNvSpPr>
          <p:nvPr/>
        </p:nvSpPr>
        <p:spPr>
          <a:xfrm xmlns:a="http://schemas.openxmlformats.org/drawingml/2006/main">
            <a:off x="1714500" y="6191250"/>
            <a:ext cx="876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0971"/>
          </a:bodyPr>
          <a:lstStyle xmlns:a="http://schemas.openxmlformats.org/drawingml/2006/main"/>
          <a:p xmlns:a="http://schemas.openxmlformats.org/drawingml/2006/main">
            <a:pPr algn="ctr">
              <a:lnSpc>
                <a:spcPct val="104000"/>
              </a:lnSpc>
              <a:buNone/>
              <a:defRPr sz="1050" b="0">
                <a:solidFill>
                  <a:srgbClr val="64748B"/>
                </a:solidFill>
                <a:latin typeface="Arial"/>
                <a:ea typeface="Arial"/>
                <a:cs typeface="Arial"/>
              </a:defRPr>
            </a:pPr>
            <a:r>
              <a:rPr sz="1050" b="0">
                <a:solidFill>
                  <a:srgbClr val="64748B"/>
                </a:solidFill>
                <a:latin typeface="Arial"/>
                <a:ea typeface="Arial"/>
                <a:cs typeface="Arial"/>
              </a:rPr>
              <a:t>Source: Gayoso et al., Nature Methods 2021; GSE150599; official reproducibility object</a:t>
            </a:r>
          </a:p>
        </p:txBody>
      </p:sp>
    </p:spTree>
    <p:extLst>
      <p:ext uri="{BB962C8B-B14F-4D97-AF65-F5344CB8AC3E}">
        <p14:creationId xmlns:p14="http://schemas.microsoft.com/office/powerpoint/2010/main" val="201196974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24E0BD8F-20D7-43EC-95A5-FF617D79A945}"/>
              </a:ext>
            </a:extLst>
          </p:cNvPr>
          <p:cNvSpPr>
            <a:spLocks xmlns:a="http://schemas.openxmlformats.org/drawingml/2006/main" noGrp="1"/>
          </p:cNvSpPr>
          <p:nvPr/>
        </p:nvSpPr>
        <p:spPr>
          <a:xfrm xmlns:a="http://schemas.openxmlformats.org/drawingml/2006/main">
            <a:off x="647700" y="2857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17"/>
          </a:bodyPr>
          <a:lstStyle xmlns:a="http://schemas.openxmlformats.org/drawingml/2006/main"/>
          <a:p xmlns:a="http://schemas.openxmlformats.org/drawingml/2006/main">
            <a:pPr algn="l">
              <a:lnSpc>
                <a:spcPct val="104000"/>
              </a:lnSpc>
              <a:buNone/>
              <a:defRPr sz="1050" b="1">
                <a:solidFill>
                  <a:srgbClr val="0F9F9A"/>
                </a:solidFill>
                <a:latin typeface="Arial"/>
                <a:ea typeface="Arial"/>
                <a:cs typeface="Arial"/>
              </a:defRPr>
            </a:pPr>
            <a:r>
              <a:rPr sz="1050" b="1">
                <a:solidFill>
                  <a:srgbClr val="0F9F9A"/>
                </a:solidFill>
                <a:latin typeface="Arial"/>
                <a:ea typeface="Arial"/>
                <a:cs typeface="Arial"/>
              </a:rPr>
              <a:t>METHODS</a:t>
            </a:r>
          </a:p>
        </p:txBody>
      </p:sp>
      <p:sp>
        <p:nvSpPr>
          <p:cNvPr id="2" name="">
            <a:extLst xmlns:a="http://schemas.openxmlformats.org/drawingml/2006/main">
              <a:ext uri="{FF2B5EF4-FFF2-40B4-BE49-F238E27FC236}">
                <a16:creationId xmlns:a16="http://schemas.microsoft.com/office/drawing/2014/main" id="{B29AC7BD-8F9E-46AC-846D-AB198DF20DB6}"/>
              </a:ext>
            </a:extLst>
          </p:cNvPr>
          <p:cNvSpPr>
            <a:spLocks xmlns:a="http://schemas.openxmlformats.org/drawingml/2006/main" noGrp="1"/>
          </p:cNvSpPr>
          <p:nvPr/>
        </p:nvSpPr>
        <p:spPr>
          <a:xfrm xmlns:a="http://schemas.openxmlformats.org/drawingml/2006/main">
            <a:off x="647700" y="5715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4000"/>
              </a:lnSpc>
              <a:buNone/>
              <a:defRPr sz="2850" b="1">
                <a:solidFill>
                  <a:srgbClr val="172554"/>
                </a:solidFill>
                <a:latin typeface="Arial"/>
                <a:ea typeface="Arial"/>
                <a:cs typeface="Arial"/>
              </a:defRPr>
            </a:pPr>
            <a:r>
              <a:rPr sz="2850" b="1">
                <a:solidFill>
                  <a:srgbClr val="172554"/>
                </a:solidFill>
                <a:latin typeface="Arial"/>
                <a:ea typeface="Arial"/>
                <a:cs typeface="Arial"/>
              </a:rPr>
              <a:t>One controlled architectural change</a:t>
            </a:r>
          </a:p>
        </p:txBody>
      </p:sp>
      <p:sp>
        <p:nvSpPr>
          <p:cNvPr id="3" name="">
            <a:extLst xmlns:a="http://schemas.openxmlformats.org/drawingml/2006/main">
              <a:ext uri="{FF2B5EF4-FFF2-40B4-BE49-F238E27FC236}">
                <a16:creationId xmlns:a16="http://schemas.microsoft.com/office/drawing/2014/main" id="{AACB2801-1FD2-4B2C-8835-23D6E643FC3D}"/>
              </a:ext>
            </a:extLst>
          </p:cNvPr>
          <p:cNvSpPr>
            <a:spLocks xmlns:a="http://schemas.openxmlformats.org/drawingml/2006/main" noGrp="1"/>
          </p:cNvSpPr>
          <p:nvPr/>
        </p:nvSpPr>
        <p:spPr>
          <a:xfrm xmlns:a="http://schemas.openxmlformats.org/drawingml/2006/main">
            <a:off x="647700" y="1219200"/>
            <a:ext cx="876300" cy="47625"/>
          </a:xfrm>
          <a:prstGeom xmlns:a="http://schemas.openxmlformats.org/drawingml/2006/main" prst="rect">
            <a:avLst/>
          </a:prstGeom>
          <a:solidFill xmlns:a="http://schemas.openxmlformats.org/drawingml/2006/main">
            <a:srgbClr val="F9731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571DF71-CFD0-4001-8137-EFA58BFF7106}"/>
              </a:ext>
            </a:extLst>
          </p:cNvPr>
          <p:cNvSpPr>
            <a:spLocks xmlns:a="http://schemas.openxmlformats.org/drawingml/2006/main" noGrp="1"/>
          </p:cNvSpPr>
          <p:nvPr/>
        </p:nvSpPr>
        <p:spPr>
          <a:xfrm xmlns:a="http://schemas.openxmlformats.org/drawingml/2006/main">
            <a:off x="11239500" y="32385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17"/>
          </a:bodyPr>
          <a:lstStyle xmlns:a="http://schemas.openxmlformats.org/drawingml/2006/main"/>
          <a:p xmlns:a="http://schemas.openxmlformats.org/drawingml/2006/main">
            <a:pPr algn="r">
              <a:lnSpc>
                <a:spcPct val="104000"/>
              </a:lnSpc>
              <a:buNone/>
              <a:defRPr sz="1050" b="1">
                <a:solidFill>
                  <a:srgbClr val="64748B"/>
                </a:solidFill>
                <a:latin typeface="Arial"/>
                <a:ea typeface="Arial"/>
                <a:cs typeface="Arial"/>
              </a:defRPr>
            </a:pPr>
            <a:r>
              <a:rPr sz="1050" b="1">
                <a:solidFill>
                  <a:srgbClr val="64748B"/>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68704B8F-771F-4D7D-81DF-94E0D09D1EF3}"/>
              </a:ext>
            </a:extLst>
          </p:cNvPr>
          <p:cNvSpPr>
            <a:spLocks xmlns:a="http://schemas.openxmlformats.org/drawingml/2006/main" noGrp="1"/>
          </p:cNvSpPr>
          <p:nvPr/>
        </p:nvSpPr>
        <p:spPr>
          <a:xfrm xmlns:a="http://schemas.openxmlformats.org/drawingml/2006/main">
            <a:off x="609600" y="1504950"/>
            <a:ext cx="5219700" cy="4362450"/>
          </a:xfrm>
          <a:prstGeom xmlns:a="http://schemas.openxmlformats.org/drawingml/2006/main" prst="roundRect">
            <a:avLst>
              <a:gd name="adj" fmla="val 2620"/>
            </a:avLst>
          </a:prstGeom>
          <a:solidFill xmlns:a="http://schemas.openxmlformats.org/drawingml/2006/main">
            <a:srgbClr val="F8FAFC"/>
          </a:solidFill>
          <a:ln xmlns:a="http://schemas.openxmlformats.org/drawingml/2006/main" w="9525">
            <a:solidFill>
              <a:srgbClr val="CBD5E1"/>
            </a:solidFill>
          </a:ln>
        </p:spPr>
      </p:sp>
      <p:sp>
        <p:nvSpPr>
          <p:cNvPr id="6" name="">
            <a:extLst xmlns:a="http://schemas.openxmlformats.org/drawingml/2006/main">
              <a:ext uri="{FF2B5EF4-FFF2-40B4-BE49-F238E27FC236}">
                <a16:creationId xmlns:a16="http://schemas.microsoft.com/office/drawing/2014/main" id="{8BDF019D-32D9-438C-992F-1ECA4DA96A13}"/>
              </a:ext>
            </a:extLst>
          </p:cNvPr>
          <p:cNvSpPr>
            <a:spLocks xmlns:a="http://schemas.openxmlformats.org/drawingml/2006/main" noGrp="1"/>
          </p:cNvSpPr>
          <p:nvPr/>
        </p:nvSpPr>
        <p:spPr>
          <a:xfrm xmlns:a="http://schemas.openxmlformats.org/drawingml/2006/main">
            <a:off x="857250" y="169545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154"/>
          </a:bodyPr>
          <a:lstStyle xmlns:a="http://schemas.openxmlformats.org/drawingml/2006/main"/>
          <a:p xmlns:a="http://schemas.openxmlformats.org/drawingml/2006/main">
            <a:pPr algn="l">
              <a:lnSpc>
                <a:spcPct val="104000"/>
              </a:lnSpc>
              <a:buNone/>
              <a:defRPr sz="2400" b="1">
                <a:solidFill>
                  <a:srgbClr val="4F46E5"/>
                </a:solidFill>
                <a:latin typeface="Arial"/>
                <a:ea typeface="Arial"/>
                <a:cs typeface="Arial"/>
              </a:defRPr>
            </a:pPr>
            <a:r>
              <a:rPr sz="2400" b="1">
                <a:solidFill>
                  <a:srgbClr val="4F46E5"/>
                </a:solidFill>
                <a:latin typeface="Arial"/>
                <a:ea typeface="Arial"/>
                <a:cs typeface="Arial"/>
              </a:rPr>
              <a:t>totalVI</a:t>
            </a:r>
          </a:p>
        </p:txBody>
      </p:sp>
      <p:sp>
        <p:nvSpPr>
          <p:cNvPr id="7" name="">
            <a:extLst xmlns:a="http://schemas.openxmlformats.org/drawingml/2006/main">
              <a:ext uri="{FF2B5EF4-FFF2-40B4-BE49-F238E27FC236}">
                <a16:creationId xmlns:a16="http://schemas.microsoft.com/office/drawing/2014/main" id="{828BC3FA-2C77-49AA-8674-8E94F571C3B0}"/>
              </a:ext>
            </a:extLst>
          </p:cNvPr>
          <p:cNvSpPr>
            <a:spLocks xmlns:a="http://schemas.openxmlformats.org/drawingml/2006/main" noGrp="1"/>
          </p:cNvSpPr>
          <p:nvPr/>
        </p:nvSpPr>
        <p:spPr>
          <a:xfrm xmlns:a="http://schemas.openxmlformats.org/drawingml/2006/main">
            <a:off x="3371850" y="1790700"/>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131"/>
          </a:bodyPr>
          <a:lstStyle xmlns:a="http://schemas.openxmlformats.org/drawingml/2006/main"/>
          <a:p xmlns:a="http://schemas.openxmlformats.org/drawingml/2006/main">
            <a:pPr algn="r">
              <a:lnSpc>
                <a:spcPct val="104000"/>
              </a:lnSpc>
              <a:buNone/>
              <a:defRPr sz="1200" b="1">
                <a:solidFill>
                  <a:srgbClr val="64748B"/>
                </a:solidFill>
                <a:latin typeface="Arial"/>
                <a:ea typeface="Arial"/>
                <a:cs typeface="Arial"/>
              </a:defRPr>
            </a:pPr>
            <a:r>
              <a:rPr sz="1200" b="1">
                <a:solidFill>
                  <a:srgbClr val="64748B"/>
                </a:solidFill>
                <a:latin typeface="Arial"/>
                <a:ea typeface="Arial"/>
                <a:cs typeface="Arial"/>
              </a:rPr>
              <a:t>Paper baseline</a:t>
            </a:r>
          </a:p>
        </p:txBody>
      </p:sp>
      <p:sp>
        <p:nvSpPr>
          <p:cNvPr id="8" name="">
            <a:extLst xmlns:a="http://schemas.openxmlformats.org/drawingml/2006/main">
              <a:ext uri="{FF2B5EF4-FFF2-40B4-BE49-F238E27FC236}">
                <a16:creationId xmlns:a16="http://schemas.microsoft.com/office/drawing/2014/main" id="{367E492C-4F68-49C3-80E8-EF954324F9B1}"/>
              </a:ext>
            </a:extLst>
          </p:cNvPr>
          <p:cNvSpPr>
            <a:spLocks xmlns:a="http://schemas.openxmlformats.org/drawingml/2006/main" noGrp="1"/>
          </p:cNvSpPr>
          <p:nvPr/>
        </p:nvSpPr>
        <p:spPr>
          <a:xfrm xmlns:a="http://schemas.openxmlformats.org/drawingml/2006/main">
            <a:off x="895350" y="2400300"/>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1575" b="1">
                <a:solidFill>
                  <a:srgbClr val="172554"/>
                </a:solidFill>
                <a:latin typeface="Arial"/>
                <a:ea typeface="Arial"/>
                <a:cs typeface="Arial"/>
              </a:defRPr>
            </a:pPr>
            <a:r>
              <a:rPr sz="1575" b="1">
                <a:solidFill>
                  <a:srgbClr val="172554"/>
                </a:solidFill>
                <a:latin typeface="Arial"/>
                <a:ea typeface="Arial"/>
                <a:cs typeface="Arial"/>
              </a:rPr>
              <a:t>RNA + available proteins</a:t>
            </a:r>
          </a:p>
        </p:txBody>
      </p:sp>
      <p:sp>
        <p:nvSpPr>
          <p:cNvPr id="9" name="">
            <a:extLst xmlns:a="http://schemas.openxmlformats.org/drawingml/2006/main">
              <a:ext uri="{FF2B5EF4-FFF2-40B4-BE49-F238E27FC236}">
                <a16:creationId xmlns:a16="http://schemas.microsoft.com/office/drawing/2014/main" id="{2645F834-1F71-447A-B9FB-C17A798A795F}"/>
              </a:ext>
            </a:extLst>
          </p:cNvPr>
          <p:cNvSpPr>
            <a:spLocks xmlns:a="http://schemas.openxmlformats.org/drawingml/2006/main" noGrp="1"/>
          </p:cNvSpPr>
          <p:nvPr/>
        </p:nvSpPr>
        <p:spPr>
          <a:xfrm xmlns:a="http://schemas.openxmlformats.org/drawingml/2006/main">
            <a:off x="2762250" y="2781300"/>
            <a:ext cx="85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361"/>
          </a:bodyPr>
          <a:lstStyle xmlns:a="http://schemas.openxmlformats.org/drawingml/2006/main"/>
          <a:p xmlns:a="http://schemas.openxmlformats.org/drawingml/2006/main">
            <a:pPr algn="ctr">
              <a:lnSpc>
                <a:spcPct val="104000"/>
              </a:lnSpc>
              <a:buNone/>
              <a:defRPr sz="1950" b="1">
                <a:solidFill>
                  <a:srgbClr val="64748B"/>
                </a:solidFill>
                <a:latin typeface="Arial"/>
                <a:ea typeface="Arial"/>
                <a:cs typeface="Arial"/>
              </a:defRPr>
            </a:pPr>
            <a:r>
              <a:rPr sz="1950" b="1">
                <a:solidFill>
                  <a:srgbClr val="64748B"/>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032DC00F-9B05-43BD-B2AA-C3E752760937}"/>
              </a:ext>
            </a:extLst>
          </p:cNvPr>
          <p:cNvSpPr>
            <a:spLocks xmlns:a="http://schemas.openxmlformats.org/drawingml/2006/main" noGrp="1"/>
          </p:cNvSpPr>
          <p:nvPr/>
        </p:nvSpPr>
        <p:spPr>
          <a:xfrm xmlns:a="http://schemas.openxmlformats.org/drawingml/2006/main">
            <a:off x="1485900" y="3162300"/>
            <a:ext cx="3467100" cy="685800"/>
          </a:xfrm>
          <a:prstGeom xmlns:a="http://schemas.openxmlformats.org/drawingml/2006/main" prst="roundRect">
            <a:avLst>
              <a:gd name="adj" fmla="val 16667"/>
            </a:avLst>
          </a:prstGeom>
          <a:solidFill xmlns:a="http://schemas.openxmlformats.org/drawingml/2006/main">
            <a:srgbClr val="EEF2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09BA48C-F44C-4082-A087-25ABE63E6027}"/>
              </a:ext>
            </a:extLst>
          </p:cNvPr>
          <p:cNvSpPr>
            <a:spLocks xmlns:a="http://schemas.openxmlformats.org/drawingml/2006/main" noGrp="1"/>
          </p:cNvSpPr>
          <p:nvPr/>
        </p:nvSpPr>
        <p:spPr>
          <a:xfrm xmlns:a="http://schemas.openxmlformats.org/drawingml/2006/main">
            <a:off x="1676400" y="3333750"/>
            <a:ext cx="3086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6"/>
          </a:bodyPr>
          <a:lstStyle xmlns:a="http://schemas.openxmlformats.org/drawingml/2006/main"/>
          <a:p xmlns:a="http://schemas.openxmlformats.org/drawingml/2006/main">
            <a:pPr algn="ctr">
              <a:lnSpc>
                <a:spcPct val="104000"/>
              </a:lnSpc>
              <a:buNone/>
              <a:defRPr sz="1725" b="1">
                <a:solidFill>
                  <a:srgbClr val="4F46E5"/>
                </a:solidFill>
                <a:latin typeface="Arial"/>
                <a:ea typeface="Arial"/>
                <a:cs typeface="Arial"/>
              </a:defRPr>
            </a:pPr>
            <a:r>
              <a:rPr sz="1725" b="1">
                <a:solidFill>
                  <a:srgbClr val="4F46E5"/>
                </a:solidFill>
                <a:latin typeface="Arial"/>
                <a:ea typeface="Arial"/>
                <a:cs typeface="Arial"/>
              </a:rPr>
              <a:t>joint RNA-protein encoder</a:t>
            </a:r>
          </a:p>
        </p:txBody>
      </p:sp>
      <p:sp>
        <p:nvSpPr>
          <p:cNvPr id="12" name="">
            <a:extLst xmlns:a="http://schemas.openxmlformats.org/drawingml/2006/main">
              <a:ext uri="{FF2B5EF4-FFF2-40B4-BE49-F238E27FC236}">
                <a16:creationId xmlns:a16="http://schemas.microsoft.com/office/drawing/2014/main" id="{628647E2-B5BE-46C4-938D-8EB3EFB0D739}"/>
              </a:ext>
            </a:extLst>
          </p:cNvPr>
          <p:cNvSpPr>
            <a:spLocks xmlns:a="http://schemas.openxmlformats.org/drawingml/2006/main" noGrp="1"/>
          </p:cNvSpPr>
          <p:nvPr/>
        </p:nvSpPr>
        <p:spPr>
          <a:xfrm xmlns:a="http://schemas.openxmlformats.org/drawingml/2006/main">
            <a:off x="1485900" y="4038600"/>
            <a:ext cx="3467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lnSpc>
                <a:spcPct val="104000"/>
              </a:lnSpc>
              <a:buNone/>
              <a:defRPr sz="1425" b="1">
                <a:solidFill>
                  <a:srgbClr val="64748B"/>
                </a:solidFill>
                <a:latin typeface="Arial"/>
                <a:ea typeface="Arial"/>
                <a:cs typeface="Arial"/>
              </a:defRPr>
            </a:pPr>
            <a:r>
              <a:rPr sz="1425" b="1">
                <a:solidFill>
                  <a:srgbClr val="64748B"/>
                </a:solidFill>
                <a:latin typeface="Arial"/>
                <a:ea typeface="Arial"/>
                <a:cs typeface="Arial"/>
              </a:rPr>
              <a:t>↓  20-dimensional latent state  ↓</a:t>
            </a:r>
          </a:p>
        </p:txBody>
      </p:sp>
      <p:sp>
        <p:nvSpPr>
          <p:cNvPr id="13" name="">
            <a:extLst xmlns:a="http://schemas.openxmlformats.org/drawingml/2006/main">
              <a:ext uri="{FF2B5EF4-FFF2-40B4-BE49-F238E27FC236}">
                <a16:creationId xmlns:a16="http://schemas.microsoft.com/office/drawing/2014/main" id="{38078183-CEF1-4A6E-90A5-EA6651897927}"/>
              </a:ext>
            </a:extLst>
          </p:cNvPr>
          <p:cNvSpPr>
            <a:spLocks xmlns:a="http://schemas.openxmlformats.org/drawingml/2006/main" noGrp="1"/>
          </p:cNvSpPr>
          <p:nvPr/>
        </p:nvSpPr>
        <p:spPr>
          <a:xfrm xmlns:a="http://schemas.openxmlformats.org/drawingml/2006/main">
            <a:off x="1485900" y="4552950"/>
            <a:ext cx="346710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4F46E5"/>
            </a:solidFill>
          </a:ln>
        </p:spPr>
      </p:sp>
      <p:sp>
        <p:nvSpPr>
          <p:cNvPr id="14" name="">
            <a:extLst xmlns:a="http://schemas.openxmlformats.org/drawingml/2006/main">
              <a:ext uri="{FF2B5EF4-FFF2-40B4-BE49-F238E27FC236}">
                <a16:creationId xmlns:a16="http://schemas.microsoft.com/office/drawing/2014/main" id="{6EEE87F8-C96F-47EF-A005-442AF5F4944A}"/>
              </a:ext>
            </a:extLst>
          </p:cNvPr>
          <p:cNvSpPr>
            <a:spLocks xmlns:a="http://schemas.openxmlformats.org/drawingml/2006/main" noGrp="1"/>
          </p:cNvSpPr>
          <p:nvPr/>
        </p:nvSpPr>
        <p:spPr>
          <a:xfrm xmlns:a="http://schemas.openxmlformats.org/drawingml/2006/main">
            <a:off x="1676400" y="4724400"/>
            <a:ext cx="3086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69"/>
          </a:bodyPr>
          <a:lstStyle xmlns:a="http://schemas.openxmlformats.org/drawingml/2006/main"/>
          <a:p xmlns:a="http://schemas.openxmlformats.org/drawingml/2006/main">
            <a:pPr algn="ctr">
              <a:lnSpc>
                <a:spcPct val="104000"/>
              </a:lnSpc>
              <a:buNone/>
              <a:defRPr sz="1650" b="1">
                <a:solidFill>
                  <a:srgbClr val="172554"/>
                </a:solidFill>
                <a:latin typeface="Arial"/>
                <a:ea typeface="Arial"/>
                <a:cs typeface="Arial"/>
              </a:defRPr>
            </a:pPr>
            <a:r>
              <a:rPr sz="1650" b="1">
                <a:solidFill>
                  <a:srgbClr val="172554"/>
                </a:solidFill>
                <a:latin typeface="Arial"/>
                <a:ea typeface="Arial"/>
                <a:cs typeface="Arial"/>
              </a:rPr>
              <a:t>native protein decoder</a:t>
            </a:r>
          </a:p>
        </p:txBody>
      </p:sp>
      <p:sp>
        <p:nvSpPr>
          <p:cNvPr id="15" name="">
            <a:extLst xmlns:a="http://schemas.openxmlformats.org/drawingml/2006/main">
              <a:ext uri="{FF2B5EF4-FFF2-40B4-BE49-F238E27FC236}">
                <a16:creationId xmlns:a16="http://schemas.microsoft.com/office/drawing/2014/main" id="{322A2E8D-CEB5-4972-BD0D-34435947DC52}"/>
              </a:ext>
            </a:extLst>
          </p:cNvPr>
          <p:cNvSpPr>
            <a:spLocks xmlns:a="http://schemas.openxmlformats.org/drawingml/2006/main" noGrp="1"/>
          </p:cNvSpPr>
          <p:nvPr/>
        </p:nvSpPr>
        <p:spPr>
          <a:xfrm xmlns:a="http://schemas.openxmlformats.org/drawingml/2006/main">
            <a:off x="1485900" y="5429250"/>
            <a:ext cx="3467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115"/>
          </a:bodyPr>
          <a:lstStyle xmlns:a="http://schemas.openxmlformats.org/drawingml/2006/main"/>
          <a:p xmlns:a="http://schemas.openxmlformats.org/drawingml/2006/main">
            <a:pPr algn="ctr">
              <a:lnSpc>
                <a:spcPct val="104000"/>
              </a:lnSpc>
              <a:buNone/>
              <a:defRPr sz="1200" b="0">
                <a:solidFill>
                  <a:srgbClr val="64748B"/>
                </a:solidFill>
                <a:latin typeface="Arial"/>
                <a:ea typeface="Arial"/>
                <a:cs typeface="Arial"/>
              </a:defRPr>
            </a:pPr>
            <a:r>
              <a:rPr sz="1200" b="0">
                <a:solidFill>
                  <a:srgbClr val="64748B"/>
                </a:solidFill>
                <a:latin typeface="Arial"/>
                <a:ea typeface="Arial"/>
                <a:cs typeface="Arial"/>
              </a:rPr>
              <a:t>110 protein estimates</a:t>
            </a:r>
          </a:p>
        </p:txBody>
      </p:sp>
      <p:sp>
        <p:nvSpPr>
          <p:cNvPr id="16" name="">
            <a:extLst xmlns:a="http://schemas.openxmlformats.org/drawingml/2006/main">
              <a:ext uri="{FF2B5EF4-FFF2-40B4-BE49-F238E27FC236}">
                <a16:creationId xmlns:a16="http://schemas.microsoft.com/office/drawing/2014/main" id="{7EAF77FE-5D12-46DD-AE00-ACFA79AB8548}"/>
              </a:ext>
            </a:extLst>
          </p:cNvPr>
          <p:cNvSpPr>
            <a:spLocks xmlns:a="http://schemas.openxmlformats.org/drawingml/2006/main" noGrp="1"/>
          </p:cNvSpPr>
          <p:nvPr/>
        </p:nvSpPr>
        <p:spPr>
          <a:xfrm xmlns:a="http://schemas.openxmlformats.org/drawingml/2006/main">
            <a:off x="6362700" y="1504950"/>
            <a:ext cx="5219700" cy="4362450"/>
          </a:xfrm>
          <a:prstGeom xmlns:a="http://schemas.openxmlformats.org/drawingml/2006/main" prst="roundRect">
            <a:avLst>
              <a:gd name="adj" fmla="val 2620"/>
            </a:avLst>
          </a:prstGeom>
          <a:solidFill xmlns:a="http://schemas.openxmlformats.org/drawingml/2006/main">
            <a:srgbClr val="FFF7ED"/>
          </a:solidFill>
          <a:ln xmlns:a="http://schemas.openxmlformats.org/drawingml/2006/main" w="9525">
            <a:solidFill>
              <a:srgbClr val="FDBA74"/>
            </a:solidFill>
          </a:ln>
        </p:spPr>
      </p:sp>
      <p:sp>
        <p:nvSpPr>
          <p:cNvPr id="17" name="">
            <a:extLst xmlns:a="http://schemas.openxmlformats.org/drawingml/2006/main">
              <a:ext uri="{FF2B5EF4-FFF2-40B4-BE49-F238E27FC236}">
                <a16:creationId xmlns:a16="http://schemas.microsoft.com/office/drawing/2014/main" id="{322CAEC6-F851-4EF3-9178-BA87BE0E4DE2}"/>
              </a:ext>
            </a:extLst>
          </p:cNvPr>
          <p:cNvSpPr>
            <a:spLocks xmlns:a="http://schemas.openxmlformats.org/drawingml/2006/main" noGrp="1"/>
          </p:cNvSpPr>
          <p:nvPr/>
        </p:nvSpPr>
        <p:spPr>
          <a:xfrm xmlns:a="http://schemas.openxmlformats.org/drawingml/2006/main">
            <a:off x="6610350" y="169545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154"/>
          </a:bodyPr>
          <a:lstStyle xmlns:a="http://schemas.openxmlformats.org/drawingml/2006/main"/>
          <a:p xmlns:a="http://schemas.openxmlformats.org/drawingml/2006/main">
            <a:pPr algn="l">
              <a:lnSpc>
                <a:spcPct val="104000"/>
              </a:lnSpc>
              <a:buNone/>
              <a:defRPr sz="2400" b="1">
                <a:solidFill>
                  <a:srgbClr val="F97316"/>
                </a:solidFill>
                <a:latin typeface="Arial"/>
                <a:ea typeface="Arial"/>
                <a:cs typeface="Arial"/>
              </a:defRPr>
            </a:pPr>
            <a:r>
              <a:rPr sz="2400" b="1">
                <a:solidFill>
                  <a:srgbClr val="F97316"/>
                </a:solidFill>
                <a:latin typeface="Arial"/>
                <a:ea typeface="Arial"/>
                <a:cs typeface="Arial"/>
              </a:rPr>
              <a:t>FusionVI</a:t>
            </a:r>
          </a:p>
        </p:txBody>
      </p:sp>
      <p:sp>
        <p:nvSpPr>
          <p:cNvPr id="18" name="">
            <a:extLst xmlns:a="http://schemas.openxmlformats.org/drawingml/2006/main">
              <a:ext uri="{FF2B5EF4-FFF2-40B4-BE49-F238E27FC236}">
                <a16:creationId xmlns:a16="http://schemas.microsoft.com/office/drawing/2014/main" id="{424B0F85-EA20-4B61-919A-B09CBDB93092}"/>
              </a:ext>
            </a:extLst>
          </p:cNvPr>
          <p:cNvSpPr>
            <a:spLocks xmlns:a="http://schemas.openxmlformats.org/drawingml/2006/main" noGrp="1"/>
          </p:cNvSpPr>
          <p:nvPr/>
        </p:nvSpPr>
        <p:spPr>
          <a:xfrm xmlns:a="http://schemas.openxmlformats.org/drawingml/2006/main">
            <a:off x="9124950" y="1790700"/>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131"/>
          </a:bodyPr>
          <a:lstStyle xmlns:a="http://schemas.openxmlformats.org/drawingml/2006/main"/>
          <a:p xmlns:a="http://schemas.openxmlformats.org/drawingml/2006/main">
            <a:pPr algn="r">
              <a:lnSpc>
                <a:spcPct val="104000"/>
              </a:lnSpc>
              <a:buNone/>
              <a:defRPr sz="1200" b="1">
                <a:solidFill>
                  <a:srgbClr val="64748B"/>
                </a:solidFill>
                <a:latin typeface="Arial"/>
                <a:ea typeface="Arial"/>
                <a:cs typeface="Arial"/>
              </a:defRPr>
            </a:pPr>
            <a:r>
              <a:rPr sz="1200" b="1">
                <a:solidFill>
                  <a:srgbClr val="64748B"/>
                </a:solidFill>
                <a:latin typeface="Arial"/>
                <a:ea typeface="Arial"/>
                <a:cs typeface="Arial"/>
              </a:rPr>
              <a:t>Our final model</a:t>
            </a:r>
          </a:p>
        </p:txBody>
      </p:sp>
      <p:sp>
        <p:nvSpPr>
          <p:cNvPr id="19" name="">
            <a:extLst xmlns:a="http://schemas.openxmlformats.org/drawingml/2006/main">
              <a:ext uri="{FF2B5EF4-FFF2-40B4-BE49-F238E27FC236}">
                <a16:creationId xmlns:a16="http://schemas.microsoft.com/office/drawing/2014/main" id="{CB0D196C-65A2-4422-B9DC-37CBD84CAD51}"/>
              </a:ext>
            </a:extLst>
          </p:cNvPr>
          <p:cNvSpPr>
            <a:spLocks xmlns:a="http://schemas.openxmlformats.org/drawingml/2006/main" noGrp="1"/>
          </p:cNvSpPr>
          <p:nvPr/>
        </p:nvSpPr>
        <p:spPr>
          <a:xfrm xmlns:a="http://schemas.openxmlformats.org/drawingml/2006/main">
            <a:off x="6762750" y="2381250"/>
            <a:ext cx="2000250" cy="685800"/>
          </a:xfrm>
          <a:prstGeom xmlns:a="http://schemas.openxmlformats.org/drawingml/2006/main" prst="roundRect">
            <a:avLst>
              <a:gd name="adj" fmla="val 16667"/>
            </a:avLst>
          </a:prstGeom>
          <a:solidFill xmlns:a="http://schemas.openxmlformats.org/drawingml/2006/main">
            <a:srgbClr val="E6FFFB"/>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805AFA3-1048-4984-9304-58EA73108FFB}"/>
              </a:ext>
            </a:extLst>
          </p:cNvPr>
          <p:cNvSpPr>
            <a:spLocks xmlns:a="http://schemas.openxmlformats.org/drawingml/2006/main" noGrp="1"/>
          </p:cNvSpPr>
          <p:nvPr/>
        </p:nvSpPr>
        <p:spPr>
          <a:xfrm xmlns:a="http://schemas.openxmlformats.org/drawingml/2006/main">
            <a:off x="9182100" y="2381250"/>
            <a:ext cx="2000250" cy="685800"/>
          </a:xfrm>
          <a:prstGeom xmlns:a="http://schemas.openxmlformats.org/drawingml/2006/main" prst="roundRect">
            <a:avLst>
              <a:gd name="adj" fmla="val 16667"/>
            </a:avLst>
          </a:prstGeom>
          <a:solidFill xmlns:a="http://schemas.openxmlformats.org/drawingml/2006/main">
            <a:srgbClr val="EEF2F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9A642405-EFAF-4A06-AAF0-23776420E1EB}"/>
              </a:ext>
            </a:extLst>
          </p:cNvPr>
          <p:cNvSpPr>
            <a:spLocks xmlns:a="http://schemas.openxmlformats.org/drawingml/2006/main" noGrp="1"/>
          </p:cNvSpPr>
          <p:nvPr/>
        </p:nvSpPr>
        <p:spPr>
          <a:xfrm xmlns:a="http://schemas.openxmlformats.org/drawingml/2006/main">
            <a:off x="6953250" y="255270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101"/>
          </a:bodyPr>
          <a:lstStyle xmlns:a="http://schemas.openxmlformats.org/drawingml/2006/main"/>
          <a:p xmlns:a="http://schemas.openxmlformats.org/drawingml/2006/main">
            <a:pPr algn="ctr">
              <a:lnSpc>
                <a:spcPct val="104000"/>
              </a:lnSpc>
              <a:buNone/>
              <a:defRPr sz="1575" b="1">
                <a:solidFill>
                  <a:srgbClr val="0F9F9A"/>
                </a:solidFill>
                <a:latin typeface="Arial"/>
                <a:ea typeface="Arial"/>
                <a:cs typeface="Arial"/>
              </a:defRPr>
            </a:pPr>
            <a:r>
              <a:rPr sz="1575" b="1">
                <a:solidFill>
                  <a:srgbClr val="0F9F9A"/>
                </a:solidFill>
                <a:latin typeface="Arial"/>
                <a:ea typeface="Arial"/>
                <a:cs typeface="Arial"/>
              </a:rPr>
              <a:t>RNA branch</a:t>
            </a:r>
          </a:p>
        </p:txBody>
      </p:sp>
      <p:sp>
        <p:nvSpPr>
          <p:cNvPr id="22" name="">
            <a:extLst xmlns:a="http://schemas.openxmlformats.org/drawingml/2006/main">
              <a:ext uri="{FF2B5EF4-FFF2-40B4-BE49-F238E27FC236}">
                <a16:creationId xmlns:a16="http://schemas.microsoft.com/office/drawing/2014/main" id="{A0BFA83F-80A0-4C66-9671-BB93BA74D640}"/>
              </a:ext>
            </a:extLst>
          </p:cNvPr>
          <p:cNvSpPr>
            <a:spLocks xmlns:a="http://schemas.openxmlformats.org/drawingml/2006/main" noGrp="1"/>
          </p:cNvSpPr>
          <p:nvPr/>
        </p:nvSpPr>
        <p:spPr>
          <a:xfrm xmlns:a="http://schemas.openxmlformats.org/drawingml/2006/main">
            <a:off x="9372600" y="255270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101"/>
          </a:bodyPr>
          <a:lstStyle xmlns:a="http://schemas.openxmlformats.org/drawingml/2006/main"/>
          <a:p xmlns:a="http://schemas.openxmlformats.org/drawingml/2006/main">
            <a:pPr algn="ctr">
              <a:lnSpc>
                <a:spcPct val="104000"/>
              </a:lnSpc>
              <a:buNone/>
              <a:defRPr sz="1575" b="1">
                <a:solidFill>
                  <a:srgbClr val="4F46E5"/>
                </a:solidFill>
                <a:latin typeface="Arial"/>
                <a:ea typeface="Arial"/>
                <a:cs typeface="Arial"/>
              </a:defRPr>
            </a:pPr>
            <a:r>
              <a:rPr sz="1575" b="1">
                <a:solidFill>
                  <a:srgbClr val="4F46E5"/>
                </a:solidFill>
                <a:latin typeface="Arial"/>
                <a:ea typeface="Arial"/>
                <a:cs typeface="Arial"/>
              </a:rPr>
              <a:t>protein branch</a:t>
            </a:r>
          </a:p>
        </p:txBody>
      </p:sp>
      <p:sp>
        <p:nvSpPr>
          <p:cNvPr id="23" name="">
            <a:extLst xmlns:a="http://schemas.openxmlformats.org/drawingml/2006/main">
              <a:ext uri="{FF2B5EF4-FFF2-40B4-BE49-F238E27FC236}">
                <a16:creationId xmlns:a16="http://schemas.microsoft.com/office/drawing/2014/main" id="{4A746520-4618-4B96-AFF6-BBA4067FEE4A}"/>
              </a:ext>
            </a:extLst>
          </p:cNvPr>
          <p:cNvSpPr>
            <a:spLocks xmlns:a="http://schemas.openxmlformats.org/drawingml/2006/main" noGrp="1"/>
          </p:cNvSpPr>
          <p:nvPr/>
        </p:nvSpPr>
        <p:spPr>
          <a:xfrm xmlns:a="http://schemas.openxmlformats.org/drawingml/2006/main">
            <a:off x="7467600" y="3276600"/>
            <a:ext cx="3009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756"/>
          </a:bodyPr>
          <a:lstStyle xmlns:a="http://schemas.openxmlformats.org/drawingml/2006/main"/>
          <a:p xmlns:a="http://schemas.openxmlformats.org/drawingml/2006/main">
            <a:pPr algn="ctr">
              <a:lnSpc>
                <a:spcPct val="104000"/>
              </a:lnSpc>
              <a:buNone/>
              <a:defRPr sz="1500" b="1">
                <a:solidFill>
                  <a:srgbClr val="F97316"/>
                </a:solidFill>
                <a:latin typeface="Arial"/>
                <a:ea typeface="Arial"/>
                <a:cs typeface="Arial"/>
              </a:defRPr>
            </a:pPr>
            <a:r>
              <a:rPr sz="1500" b="1">
                <a:solidFill>
                  <a:srgbClr val="F97316"/>
                </a:solidFill>
                <a:latin typeface="Arial"/>
                <a:ea typeface="Arial"/>
                <a:cs typeface="Arial"/>
              </a:rPr>
              <a:t>availability-aware gate</a:t>
            </a:r>
          </a:p>
        </p:txBody>
      </p:sp>
      <p:sp>
        <p:nvSpPr>
          <p:cNvPr id="24" name="">
            <a:extLst xmlns:a="http://schemas.openxmlformats.org/drawingml/2006/main">
              <a:ext uri="{FF2B5EF4-FFF2-40B4-BE49-F238E27FC236}">
                <a16:creationId xmlns:a16="http://schemas.microsoft.com/office/drawing/2014/main" id="{F4A9B1C5-E322-427C-B96A-2A5293832A6F}"/>
              </a:ext>
            </a:extLst>
          </p:cNvPr>
          <p:cNvSpPr>
            <a:spLocks xmlns:a="http://schemas.openxmlformats.org/drawingml/2006/main" noGrp="1"/>
          </p:cNvSpPr>
          <p:nvPr/>
        </p:nvSpPr>
        <p:spPr>
          <a:xfrm xmlns:a="http://schemas.openxmlformats.org/drawingml/2006/main">
            <a:off x="7239000" y="3733800"/>
            <a:ext cx="3467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lnSpc>
                <a:spcPct val="104000"/>
              </a:lnSpc>
              <a:buNone/>
              <a:defRPr sz="1425" b="1">
                <a:solidFill>
                  <a:srgbClr val="64748B"/>
                </a:solidFill>
                <a:latin typeface="Arial"/>
                <a:ea typeface="Arial"/>
                <a:cs typeface="Arial"/>
              </a:defRPr>
            </a:pPr>
            <a:r>
              <a:rPr sz="1425" b="1">
                <a:solidFill>
                  <a:srgbClr val="64748B"/>
                </a:solidFill>
                <a:latin typeface="Arial"/>
                <a:ea typeface="Arial"/>
                <a:cs typeface="Arial"/>
              </a:rPr>
              <a:t>↓  20-dimensional latent state  ↓</a:t>
            </a:r>
          </a:p>
        </p:txBody>
      </p:sp>
      <p:sp>
        <p:nvSpPr>
          <p:cNvPr id="25" name="">
            <a:extLst xmlns:a="http://schemas.openxmlformats.org/drawingml/2006/main">
              <a:ext uri="{FF2B5EF4-FFF2-40B4-BE49-F238E27FC236}">
                <a16:creationId xmlns:a16="http://schemas.microsoft.com/office/drawing/2014/main" id="{EC4B0DA9-DA86-42BA-B3DE-8C0650C63154}"/>
              </a:ext>
            </a:extLst>
          </p:cNvPr>
          <p:cNvSpPr>
            <a:spLocks xmlns:a="http://schemas.openxmlformats.org/drawingml/2006/main" noGrp="1"/>
          </p:cNvSpPr>
          <p:nvPr/>
        </p:nvSpPr>
        <p:spPr>
          <a:xfrm xmlns:a="http://schemas.openxmlformats.org/drawingml/2006/main">
            <a:off x="6991350" y="4267200"/>
            <a:ext cx="3962400" cy="97155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F97316"/>
            </a:solidFill>
          </a:ln>
        </p:spPr>
      </p:sp>
      <p:sp>
        <p:nvSpPr>
          <p:cNvPr id="26" name="">
            <a:extLst xmlns:a="http://schemas.openxmlformats.org/drawingml/2006/main">
              <a:ext uri="{FF2B5EF4-FFF2-40B4-BE49-F238E27FC236}">
                <a16:creationId xmlns:a16="http://schemas.microsoft.com/office/drawing/2014/main" id="{6035D0EE-CF48-48F5-A4B0-C468F3924DE6}"/>
              </a:ext>
            </a:extLst>
          </p:cNvPr>
          <p:cNvSpPr>
            <a:spLocks xmlns:a="http://schemas.openxmlformats.org/drawingml/2006/main" noGrp="1"/>
          </p:cNvSpPr>
          <p:nvPr/>
        </p:nvSpPr>
        <p:spPr>
          <a:xfrm xmlns:a="http://schemas.openxmlformats.org/drawingml/2006/main">
            <a:off x="7181850" y="4400550"/>
            <a:ext cx="3581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4301"/>
          </a:bodyPr>
          <a:lstStyle xmlns:a="http://schemas.openxmlformats.org/drawingml/2006/main"/>
          <a:p xmlns:a="http://schemas.openxmlformats.org/drawingml/2006/main">
            <a:pPr algn="ctr">
              <a:lnSpc>
                <a:spcPct val="104000"/>
              </a:lnSpc>
              <a:buNone/>
              <a:defRPr sz="1650" b="1">
                <a:solidFill>
                  <a:srgbClr val="F97316"/>
                </a:solidFill>
                <a:latin typeface="Arial"/>
                <a:ea typeface="Arial"/>
                <a:cs typeface="Arial"/>
              </a:defRPr>
            </a:pPr>
            <a:r>
              <a:rPr sz="1650" b="1">
                <a:solidFill>
                  <a:srgbClr val="F97316"/>
                </a:solidFill>
                <a:latin typeface="Arial"/>
                <a:ea typeface="Arial"/>
                <a:cs typeface="Arial"/>
              </a:rPr>
              <a:t>native totalVI decoder</a:t>
            </a:r>
          </a:p>
        </p:txBody>
      </p:sp>
      <p:sp>
        <p:nvSpPr>
          <p:cNvPr id="27" name="">
            <a:extLst xmlns:a="http://schemas.openxmlformats.org/drawingml/2006/main">
              <a:ext uri="{FF2B5EF4-FFF2-40B4-BE49-F238E27FC236}">
                <a16:creationId xmlns:a16="http://schemas.microsoft.com/office/drawing/2014/main" id="{515FBD2F-A731-45A2-A1DF-DE139FCB3EBD}"/>
              </a:ext>
            </a:extLst>
          </p:cNvPr>
          <p:cNvSpPr>
            <a:spLocks xmlns:a="http://schemas.openxmlformats.org/drawingml/2006/main" noGrp="1"/>
          </p:cNvSpPr>
          <p:nvPr/>
        </p:nvSpPr>
        <p:spPr>
          <a:xfrm xmlns:a="http://schemas.openxmlformats.org/drawingml/2006/main">
            <a:off x="7181850" y="4819650"/>
            <a:ext cx="3581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2131"/>
          </a:bodyPr>
          <a:lstStyle xmlns:a="http://schemas.openxmlformats.org/drawingml/2006/main"/>
          <a:p xmlns:a="http://schemas.openxmlformats.org/drawingml/2006/main">
            <a:pPr algn="ctr">
              <a:lnSpc>
                <a:spcPct val="104000"/>
              </a:lnSpc>
              <a:buNone/>
              <a:defRPr sz="1200" b="0">
                <a:solidFill>
                  <a:srgbClr val="64748B"/>
                </a:solidFill>
                <a:latin typeface="Arial"/>
                <a:ea typeface="Arial"/>
                <a:cs typeface="Arial"/>
              </a:defRPr>
            </a:pPr>
            <a:r>
              <a:rPr sz="1200" b="0">
                <a:solidFill>
                  <a:srgbClr val="64748B"/>
                </a:solidFill>
                <a:latin typeface="Arial"/>
                <a:ea typeface="Arial"/>
                <a:cs typeface="Arial"/>
              </a:rPr>
              <a:t>same RNA and protein likelihoods</a:t>
            </a:r>
          </a:p>
        </p:txBody>
      </p:sp>
      <p:sp>
        <p:nvSpPr>
          <p:cNvPr id="28" name="">
            <a:extLst xmlns:a="http://schemas.openxmlformats.org/drawingml/2006/main">
              <a:ext uri="{FF2B5EF4-FFF2-40B4-BE49-F238E27FC236}">
                <a16:creationId xmlns:a16="http://schemas.microsoft.com/office/drawing/2014/main" id="{78BDDEA3-8371-44E1-BA81-2C23BA235D82}"/>
              </a:ext>
            </a:extLst>
          </p:cNvPr>
          <p:cNvSpPr>
            <a:spLocks xmlns:a="http://schemas.openxmlformats.org/drawingml/2006/main" noGrp="1"/>
          </p:cNvSpPr>
          <p:nvPr/>
        </p:nvSpPr>
        <p:spPr>
          <a:xfrm xmlns:a="http://schemas.openxmlformats.org/drawingml/2006/main">
            <a:off x="7239000" y="5429250"/>
            <a:ext cx="3467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115"/>
          </a:bodyPr>
          <a:lstStyle xmlns:a="http://schemas.openxmlformats.org/drawingml/2006/main"/>
          <a:p xmlns:a="http://schemas.openxmlformats.org/drawingml/2006/main">
            <a:pPr algn="ctr">
              <a:lnSpc>
                <a:spcPct val="104000"/>
              </a:lnSpc>
              <a:buNone/>
              <a:defRPr sz="1200" b="0">
                <a:solidFill>
                  <a:srgbClr val="64748B"/>
                </a:solidFill>
                <a:latin typeface="Arial"/>
                <a:ea typeface="Arial"/>
                <a:cs typeface="Arial"/>
              </a:defRPr>
            </a:pPr>
            <a:r>
              <a:rPr sz="1200" b="0">
                <a:solidFill>
                  <a:srgbClr val="64748B"/>
                </a:solidFill>
                <a:latin typeface="Arial"/>
                <a:ea typeface="Arial"/>
                <a:cs typeface="Arial"/>
              </a:rPr>
              <a:t>110 protein estimates</a:t>
            </a:r>
          </a:p>
        </p:txBody>
      </p:sp>
      <p:sp>
        <p:nvSpPr>
          <p:cNvPr id="29" name="">
            <a:extLst xmlns:a="http://schemas.openxmlformats.org/drawingml/2006/main">
              <a:ext uri="{FF2B5EF4-FFF2-40B4-BE49-F238E27FC236}">
                <a16:creationId xmlns:a16="http://schemas.microsoft.com/office/drawing/2014/main" id="{89104298-A569-4AE5-83D5-0DC4F49F178F}"/>
              </a:ext>
            </a:extLst>
          </p:cNvPr>
          <p:cNvSpPr>
            <a:spLocks xmlns:a="http://schemas.openxmlformats.org/drawingml/2006/main" noGrp="1"/>
          </p:cNvSpPr>
          <p:nvPr/>
        </p:nvSpPr>
        <p:spPr>
          <a:xfrm xmlns:a="http://schemas.openxmlformats.org/drawingml/2006/main">
            <a:off x="2857500" y="6153150"/>
            <a:ext cx="647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909"/>
          </a:bodyPr>
          <a:lstStyle xmlns:a="http://schemas.openxmlformats.org/drawingml/2006/main"/>
          <a:p xmlns:a="http://schemas.openxmlformats.org/drawingml/2006/main">
            <a:pPr algn="ctr">
              <a:lnSpc>
                <a:spcPct val="104000"/>
              </a:lnSpc>
              <a:buNone/>
              <a:defRPr sz="1350" b="1">
                <a:solidFill>
                  <a:srgbClr val="172554"/>
                </a:solidFill>
                <a:latin typeface="Arial"/>
                <a:ea typeface="Arial"/>
                <a:cs typeface="Arial"/>
              </a:defRPr>
            </a:pPr>
            <a:r>
              <a:rPr sz="1350" b="1">
                <a:solidFill>
                  <a:srgbClr val="172554"/>
                </a:solidFill>
                <a:latin typeface="Arial"/>
                <a:ea typeface="Arial"/>
                <a:cs typeface="Arial"/>
              </a:rPr>
              <a:t>Only the encoder changes; missing panel routes to RNA only</a:t>
            </a:r>
          </a:p>
        </p:txBody>
      </p:sp>
    </p:spTree>
    <p:extLst>
      <p:ext uri="{BB962C8B-B14F-4D97-AF65-F5344CB8AC3E}">
        <p14:creationId xmlns:p14="http://schemas.microsoft.com/office/powerpoint/2010/main" val="853211616"/>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A988EEA2-A903-46C9-B493-B02D2C7A680C}"/>
              </a:ext>
            </a:extLst>
          </p:cNvPr>
          <p:cNvSpPr>
            <a:spLocks xmlns:a="http://schemas.openxmlformats.org/drawingml/2006/main" noGrp="1"/>
          </p:cNvSpPr>
          <p:nvPr/>
        </p:nvSpPr>
        <p:spPr>
          <a:xfrm xmlns:a="http://schemas.openxmlformats.org/drawingml/2006/main">
            <a:off x="647700" y="2857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17"/>
          </a:bodyPr>
          <a:lstStyle xmlns:a="http://schemas.openxmlformats.org/drawingml/2006/main"/>
          <a:p xmlns:a="http://schemas.openxmlformats.org/drawingml/2006/main">
            <a:pPr algn="l">
              <a:lnSpc>
                <a:spcPct val="104000"/>
              </a:lnSpc>
              <a:buNone/>
              <a:defRPr sz="1050" b="1">
                <a:solidFill>
                  <a:srgbClr val="0F9F9A"/>
                </a:solidFill>
                <a:latin typeface="Arial"/>
                <a:ea typeface="Arial"/>
                <a:cs typeface="Arial"/>
              </a:defRPr>
            </a:pPr>
            <a:r>
              <a:rPr sz="1050" b="1">
                <a:solidFill>
                  <a:srgbClr val="0F9F9A"/>
                </a:solidFill>
                <a:latin typeface="Arial"/>
                <a:ea typeface="Arial"/>
                <a:cs typeface="Arial"/>
              </a:rPr>
              <a:t>VALIDATION</a:t>
            </a:r>
          </a:p>
        </p:txBody>
      </p:sp>
      <p:sp>
        <p:nvSpPr>
          <p:cNvPr id="2" name="">
            <a:extLst xmlns:a="http://schemas.openxmlformats.org/drawingml/2006/main">
              <a:ext uri="{FF2B5EF4-FFF2-40B4-BE49-F238E27FC236}">
                <a16:creationId xmlns:a16="http://schemas.microsoft.com/office/drawing/2014/main" id="{3CD3E8DE-F1D4-440F-8934-932F00175CAA}"/>
              </a:ext>
            </a:extLst>
          </p:cNvPr>
          <p:cNvSpPr>
            <a:spLocks xmlns:a="http://schemas.openxmlformats.org/drawingml/2006/main" noGrp="1"/>
          </p:cNvSpPr>
          <p:nvPr/>
        </p:nvSpPr>
        <p:spPr>
          <a:xfrm xmlns:a="http://schemas.openxmlformats.org/drawingml/2006/main">
            <a:off x="647700" y="5715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4000"/>
              </a:lnSpc>
              <a:buNone/>
              <a:defRPr sz="2850" b="1">
                <a:solidFill>
                  <a:srgbClr val="172554"/>
                </a:solidFill>
                <a:latin typeface="Arial"/>
                <a:ea typeface="Arial"/>
                <a:cs typeface="Arial"/>
              </a:defRPr>
            </a:pPr>
            <a:r>
              <a:rPr sz="2850" b="1">
                <a:solidFill>
                  <a:srgbClr val="172554"/>
                </a:solidFill>
                <a:latin typeface="Arial"/>
                <a:ea typeface="Arial"/>
                <a:cs typeface="Arial"/>
              </a:rPr>
              <a:t>Paired training controls the comparison</a:t>
            </a:r>
          </a:p>
        </p:txBody>
      </p:sp>
      <p:sp>
        <p:nvSpPr>
          <p:cNvPr id="3" name="">
            <a:extLst xmlns:a="http://schemas.openxmlformats.org/drawingml/2006/main">
              <a:ext uri="{FF2B5EF4-FFF2-40B4-BE49-F238E27FC236}">
                <a16:creationId xmlns:a16="http://schemas.microsoft.com/office/drawing/2014/main" id="{5749D150-2EFD-465D-996A-2871563D4AF5}"/>
              </a:ext>
            </a:extLst>
          </p:cNvPr>
          <p:cNvSpPr>
            <a:spLocks xmlns:a="http://schemas.openxmlformats.org/drawingml/2006/main" noGrp="1"/>
          </p:cNvSpPr>
          <p:nvPr/>
        </p:nvSpPr>
        <p:spPr>
          <a:xfrm xmlns:a="http://schemas.openxmlformats.org/drawingml/2006/main">
            <a:off x="647700" y="1219200"/>
            <a:ext cx="876300" cy="47625"/>
          </a:xfrm>
          <a:prstGeom xmlns:a="http://schemas.openxmlformats.org/drawingml/2006/main" prst="rect">
            <a:avLst/>
          </a:prstGeom>
          <a:solidFill xmlns:a="http://schemas.openxmlformats.org/drawingml/2006/main">
            <a:srgbClr val="F9731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46A0C2E-3B78-46F4-9357-E6AF5F3D7306}"/>
              </a:ext>
            </a:extLst>
          </p:cNvPr>
          <p:cNvSpPr>
            <a:spLocks xmlns:a="http://schemas.openxmlformats.org/drawingml/2006/main" noGrp="1"/>
          </p:cNvSpPr>
          <p:nvPr/>
        </p:nvSpPr>
        <p:spPr>
          <a:xfrm xmlns:a="http://schemas.openxmlformats.org/drawingml/2006/main">
            <a:off x="11239500" y="32385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17"/>
          </a:bodyPr>
          <a:lstStyle xmlns:a="http://schemas.openxmlformats.org/drawingml/2006/main"/>
          <a:p xmlns:a="http://schemas.openxmlformats.org/drawingml/2006/main">
            <a:pPr algn="r">
              <a:lnSpc>
                <a:spcPct val="104000"/>
              </a:lnSpc>
              <a:buNone/>
              <a:defRPr sz="1050" b="1">
                <a:solidFill>
                  <a:srgbClr val="64748B"/>
                </a:solidFill>
                <a:latin typeface="Arial"/>
                <a:ea typeface="Arial"/>
                <a:cs typeface="Arial"/>
              </a:defRPr>
            </a:pPr>
            <a:r>
              <a:rPr sz="1050" b="1">
                <a:solidFill>
                  <a:srgbClr val="64748B"/>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8B0E4135-44E7-4DFF-B9F8-DEA08DBC7EAA}"/>
              </a:ext>
            </a:extLst>
          </p:cNvPr>
          <p:cNvSpPr>
            <a:spLocks xmlns:a="http://schemas.openxmlformats.org/drawingml/2006/main" noGrp="1"/>
          </p:cNvSpPr>
          <p:nvPr/>
        </p:nvSpPr>
        <p:spPr>
          <a:xfrm xmlns:a="http://schemas.openxmlformats.org/drawingml/2006/main">
            <a:off x="742950" y="1619250"/>
            <a:ext cx="4953000" cy="3067050"/>
          </a:xfrm>
          <a:prstGeom xmlns:a="http://schemas.openxmlformats.org/drawingml/2006/main" prst="roundRect">
            <a:avLst>
              <a:gd name="adj" fmla="val 3727"/>
            </a:avLst>
          </a:prstGeom>
          <a:solidFill xmlns:a="http://schemas.openxmlformats.org/drawingml/2006/main">
            <a:srgbClr val="FFFFFF"/>
          </a:solidFill>
          <a:ln xmlns:a="http://schemas.openxmlformats.org/drawingml/2006/main" w="9525">
            <a:solidFill>
              <a:srgbClr val="CBD5E1"/>
            </a:solidFill>
          </a:ln>
        </p:spPr>
      </p:sp>
      <p:sp>
        <p:nvSpPr>
          <p:cNvPr id="6" name="">
            <a:extLst xmlns:a="http://schemas.openxmlformats.org/drawingml/2006/main">
              <a:ext uri="{FF2B5EF4-FFF2-40B4-BE49-F238E27FC236}">
                <a16:creationId xmlns:a16="http://schemas.microsoft.com/office/drawing/2014/main" id="{B49E7D29-E18E-465E-8951-01548BD58364}"/>
              </a:ext>
            </a:extLst>
          </p:cNvPr>
          <p:cNvSpPr>
            <a:spLocks xmlns:a="http://schemas.openxmlformats.org/drawingml/2006/main" noGrp="1"/>
          </p:cNvSpPr>
          <p:nvPr/>
        </p:nvSpPr>
        <p:spPr>
          <a:xfrm xmlns:a="http://schemas.openxmlformats.org/drawingml/2006/main">
            <a:off x="971550" y="180975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205"/>
          </a:bodyPr>
          <a:lstStyle xmlns:a="http://schemas.openxmlformats.org/drawingml/2006/main"/>
          <a:p xmlns:a="http://schemas.openxmlformats.org/drawingml/2006/main">
            <a:pPr algn="l">
              <a:lnSpc>
                <a:spcPct val="104000"/>
              </a:lnSpc>
              <a:buNone/>
              <a:defRPr sz="1875" b="1">
                <a:solidFill>
                  <a:srgbClr val="4F46E5"/>
                </a:solidFill>
                <a:latin typeface="Arial"/>
                <a:ea typeface="Arial"/>
                <a:cs typeface="Arial"/>
              </a:defRPr>
            </a:pPr>
            <a:r>
              <a:rPr sz="1875" b="1">
                <a:solidFill>
                  <a:srgbClr val="4F46E5"/>
                </a:solidFill>
                <a:latin typeface="Arial"/>
                <a:ea typeface="Arial"/>
                <a:cs typeface="Arial"/>
              </a:rPr>
              <a:t>totalVI</a:t>
            </a:r>
          </a:p>
        </p:txBody>
      </p:sp>
      <p:sp>
        <p:nvSpPr>
          <p:cNvPr id="7" name="">
            <a:extLst xmlns:a="http://schemas.openxmlformats.org/drawingml/2006/main">
              <a:ext uri="{FF2B5EF4-FFF2-40B4-BE49-F238E27FC236}">
                <a16:creationId xmlns:a16="http://schemas.microsoft.com/office/drawing/2014/main" id="{A27791D7-DA02-4D1E-95C5-81BDCF04EF5E}"/>
              </a:ext>
            </a:extLst>
          </p:cNvPr>
          <p:cNvSpPr>
            <a:spLocks xmlns:a="http://schemas.openxmlformats.org/drawingml/2006/main" noGrp="1"/>
          </p:cNvSpPr>
          <p:nvPr/>
        </p:nvSpPr>
        <p:spPr>
          <a:xfrm xmlns:a="http://schemas.openxmlformats.org/drawingml/2006/main">
            <a:off x="1123950" y="2495550"/>
            <a:ext cx="142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038"/>
          </a:bodyPr>
          <a:lstStyle xmlns:a="http://schemas.openxmlformats.org/drawingml/2006/main"/>
          <a:p xmlns:a="http://schemas.openxmlformats.org/drawingml/2006/main">
            <a:pPr algn="ctr">
              <a:lnSpc>
                <a:spcPct val="104000"/>
              </a:lnSpc>
              <a:buNone/>
              <a:defRPr sz="1725" b="1">
                <a:solidFill>
                  <a:srgbClr val="0F9F9A"/>
                </a:solidFill>
                <a:latin typeface="Arial"/>
                <a:ea typeface="Arial"/>
                <a:cs typeface="Arial"/>
              </a:defRPr>
            </a:pPr>
            <a:r>
              <a:rPr sz="1725" b="1">
                <a:solidFill>
                  <a:srgbClr val="0F9F9A"/>
                </a:solidFill>
                <a:latin typeface="Arial"/>
                <a:ea typeface="Arial"/>
                <a:cs typeface="Arial"/>
              </a:rPr>
              <a:t>D1 complete</a:t>
            </a:r>
          </a:p>
        </p:txBody>
      </p:sp>
      <p:sp>
        <p:nvSpPr>
          <p:cNvPr id="8" name="">
            <a:extLst xmlns:a="http://schemas.openxmlformats.org/drawingml/2006/main">
              <a:ext uri="{FF2B5EF4-FFF2-40B4-BE49-F238E27FC236}">
                <a16:creationId xmlns:a16="http://schemas.microsoft.com/office/drawing/2014/main" id="{64166189-089C-4081-AEAB-5CE94DC48E9D}"/>
              </a:ext>
            </a:extLst>
          </p:cNvPr>
          <p:cNvSpPr>
            <a:spLocks xmlns:a="http://schemas.openxmlformats.org/drawingml/2006/main" noGrp="1"/>
          </p:cNvSpPr>
          <p:nvPr/>
        </p:nvSpPr>
        <p:spPr>
          <a:xfrm xmlns:a="http://schemas.openxmlformats.org/drawingml/2006/main">
            <a:off x="1123950" y="289560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147"/>
          </a:bodyPr>
          <a:lstStyle xmlns:a="http://schemas.openxmlformats.org/drawingml/2006/main"/>
          <a:p xmlns:a="http://schemas.openxmlformats.org/drawingml/2006/main">
            <a:pPr algn="ctr">
              <a:lnSpc>
                <a:spcPct val="104000"/>
              </a:lnSpc>
              <a:buNone/>
              <a:defRPr sz="1200" b="1">
                <a:solidFill>
                  <a:srgbClr val="64748B"/>
                </a:solidFill>
                <a:latin typeface="Arial"/>
                <a:ea typeface="Arial"/>
                <a:cs typeface="Arial"/>
              </a:defRPr>
            </a:pPr>
            <a:r>
              <a:rPr sz="1200" b="1">
                <a:solidFill>
                  <a:srgbClr val="64748B"/>
                </a:solidFill>
                <a:latin typeface="Arial"/>
                <a:ea typeface="Arial"/>
                <a:cs typeface="Arial"/>
              </a:rPr>
              <a:t>TRAIN</a:t>
            </a:r>
          </a:p>
        </p:txBody>
      </p:sp>
      <p:sp>
        <p:nvSpPr>
          <p:cNvPr id="9" name="">
            <a:extLst xmlns:a="http://schemas.openxmlformats.org/drawingml/2006/main">
              <a:ext uri="{FF2B5EF4-FFF2-40B4-BE49-F238E27FC236}">
                <a16:creationId xmlns:a16="http://schemas.microsoft.com/office/drawing/2014/main" id="{82E4C9EF-F466-47FD-BBC3-6EC83FD1E8D2}"/>
              </a:ext>
            </a:extLst>
          </p:cNvPr>
          <p:cNvSpPr>
            <a:spLocks xmlns:a="http://schemas.openxmlformats.org/drawingml/2006/main" noGrp="1"/>
          </p:cNvSpPr>
          <p:nvPr/>
        </p:nvSpPr>
        <p:spPr>
          <a:xfrm xmlns:a="http://schemas.openxmlformats.org/drawingml/2006/main">
            <a:off x="2667000" y="2609850"/>
            <a:ext cx="85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211"/>
          </a:bodyPr>
          <a:lstStyle xmlns:a="http://schemas.openxmlformats.org/drawingml/2006/main"/>
          <a:p xmlns:a="http://schemas.openxmlformats.org/drawingml/2006/main">
            <a:pPr algn="ctr">
              <a:lnSpc>
                <a:spcPct val="104000"/>
              </a:lnSpc>
              <a:buNone/>
              <a:defRPr sz="2550" b="1">
                <a:solidFill>
                  <a:srgbClr val="F97316"/>
                </a:solidFill>
                <a:latin typeface="Arial"/>
                <a:ea typeface="Arial"/>
                <a:cs typeface="Arial"/>
              </a:defRPr>
            </a:pPr>
            <a:r>
              <a:rPr sz="2550" b="1">
                <a:solidFill>
                  <a:srgbClr val="F97316"/>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099609CE-29C0-4479-AE99-E34356059AFB}"/>
              </a:ext>
            </a:extLst>
          </p:cNvPr>
          <p:cNvSpPr>
            <a:spLocks xmlns:a="http://schemas.openxmlformats.org/drawingml/2006/main" noGrp="1"/>
          </p:cNvSpPr>
          <p:nvPr/>
        </p:nvSpPr>
        <p:spPr>
          <a:xfrm xmlns:a="http://schemas.openxmlformats.org/drawingml/2006/main">
            <a:off x="3695700" y="2495550"/>
            <a:ext cx="142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038"/>
          </a:bodyPr>
          <a:lstStyle xmlns:a="http://schemas.openxmlformats.org/drawingml/2006/main"/>
          <a:p xmlns:a="http://schemas.openxmlformats.org/drawingml/2006/main">
            <a:pPr algn="ctr">
              <a:lnSpc>
                <a:spcPct val="104000"/>
              </a:lnSpc>
              <a:buNone/>
              <a:defRPr sz="1725" b="1">
                <a:solidFill>
                  <a:srgbClr val="F97316"/>
                </a:solidFill>
                <a:latin typeface="Arial"/>
                <a:ea typeface="Arial"/>
                <a:cs typeface="Arial"/>
              </a:defRPr>
            </a:pPr>
            <a:r>
              <a:rPr sz="1725" b="1">
                <a:solidFill>
                  <a:srgbClr val="F97316"/>
                </a:solidFill>
                <a:latin typeface="Arial"/>
                <a:ea typeface="Arial"/>
                <a:cs typeface="Arial"/>
              </a:rPr>
              <a:t>D2 RNA</a:t>
            </a:r>
          </a:p>
        </p:txBody>
      </p:sp>
      <p:sp>
        <p:nvSpPr>
          <p:cNvPr id="11" name="">
            <a:extLst xmlns:a="http://schemas.openxmlformats.org/drawingml/2006/main">
              <a:ext uri="{FF2B5EF4-FFF2-40B4-BE49-F238E27FC236}">
                <a16:creationId xmlns:a16="http://schemas.microsoft.com/office/drawing/2014/main" id="{C428BCF1-50BC-4F00-94AA-C4840AD9DFD2}"/>
              </a:ext>
            </a:extLst>
          </p:cNvPr>
          <p:cNvSpPr>
            <a:spLocks xmlns:a="http://schemas.openxmlformats.org/drawingml/2006/main" noGrp="1"/>
          </p:cNvSpPr>
          <p:nvPr/>
        </p:nvSpPr>
        <p:spPr>
          <a:xfrm xmlns:a="http://schemas.openxmlformats.org/drawingml/2006/main">
            <a:off x="3695700" y="289560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147"/>
          </a:bodyPr>
          <a:lstStyle xmlns:a="http://schemas.openxmlformats.org/drawingml/2006/main"/>
          <a:p xmlns:a="http://schemas.openxmlformats.org/drawingml/2006/main">
            <a:pPr algn="ctr">
              <a:lnSpc>
                <a:spcPct val="104000"/>
              </a:lnSpc>
              <a:buNone/>
              <a:defRPr sz="1200" b="1">
                <a:solidFill>
                  <a:srgbClr val="64748B"/>
                </a:solidFill>
                <a:latin typeface="Arial"/>
                <a:ea typeface="Arial"/>
                <a:cs typeface="Arial"/>
              </a:defRPr>
            </a:pPr>
            <a:r>
              <a:rPr sz="1200" b="1">
                <a:solidFill>
                  <a:srgbClr val="64748B"/>
                </a:solidFill>
                <a:latin typeface="Arial"/>
                <a:ea typeface="Arial"/>
                <a:cs typeface="Arial"/>
              </a:rPr>
              <a:t>PREDICT</a:t>
            </a:r>
          </a:p>
        </p:txBody>
      </p:sp>
      <p:sp>
        <p:nvSpPr>
          <p:cNvPr id="12" name="">
            <a:extLst xmlns:a="http://schemas.openxmlformats.org/drawingml/2006/main">
              <a:ext uri="{FF2B5EF4-FFF2-40B4-BE49-F238E27FC236}">
                <a16:creationId xmlns:a16="http://schemas.microsoft.com/office/drawing/2014/main" id="{1ED40EEE-A97B-4D55-9088-8A0F6680D7A8}"/>
              </a:ext>
            </a:extLst>
          </p:cNvPr>
          <p:cNvSpPr>
            <a:spLocks xmlns:a="http://schemas.openxmlformats.org/drawingml/2006/main" noGrp="1"/>
          </p:cNvSpPr>
          <p:nvPr/>
        </p:nvSpPr>
        <p:spPr>
          <a:xfrm xmlns:a="http://schemas.openxmlformats.org/drawingml/2006/main">
            <a:off x="1562100" y="3790950"/>
            <a:ext cx="3295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lnSpc>
                <a:spcPct val="104000"/>
              </a:lnSpc>
              <a:buNone/>
              <a:defRPr sz="1425" b="1">
                <a:solidFill>
                  <a:srgbClr val="172554"/>
                </a:solidFill>
                <a:latin typeface="Arial"/>
                <a:ea typeface="Arial"/>
                <a:cs typeface="Arial"/>
              </a:defRPr>
            </a:pPr>
            <a:r>
              <a:rPr sz="1425" b="1">
                <a:solidFill>
                  <a:srgbClr val="172554"/>
                </a:solidFill>
                <a:latin typeface="Arial"/>
                <a:ea typeface="Arial"/>
                <a:cs typeface="Arial"/>
              </a:rPr>
              <a:t>110 D2 proteins scored</a:t>
            </a:r>
          </a:p>
        </p:txBody>
      </p:sp>
      <p:sp>
        <p:nvSpPr>
          <p:cNvPr id="13" name="">
            <a:extLst xmlns:a="http://schemas.openxmlformats.org/drawingml/2006/main">
              <a:ext uri="{FF2B5EF4-FFF2-40B4-BE49-F238E27FC236}">
                <a16:creationId xmlns:a16="http://schemas.microsoft.com/office/drawing/2014/main" id="{A4F82748-807A-46F6-B8BC-56BD4D937FC7}"/>
              </a:ext>
            </a:extLst>
          </p:cNvPr>
          <p:cNvSpPr>
            <a:spLocks xmlns:a="http://schemas.openxmlformats.org/drawingml/2006/main" noGrp="1"/>
          </p:cNvSpPr>
          <p:nvPr/>
        </p:nvSpPr>
        <p:spPr>
          <a:xfrm xmlns:a="http://schemas.openxmlformats.org/drawingml/2006/main">
            <a:off x="6496050" y="1619250"/>
            <a:ext cx="4953000" cy="3067050"/>
          </a:xfrm>
          <a:prstGeom xmlns:a="http://schemas.openxmlformats.org/drawingml/2006/main" prst="roundRect">
            <a:avLst>
              <a:gd name="adj" fmla="val 3727"/>
            </a:avLst>
          </a:prstGeom>
          <a:solidFill xmlns:a="http://schemas.openxmlformats.org/drawingml/2006/main">
            <a:srgbClr val="FFFFFF"/>
          </a:solidFill>
          <a:ln xmlns:a="http://schemas.openxmlformats.org/drawingml/2006/main" w="9525">
            <a:solidFill>
              <a:srgbClr val="CBD5E1"/>
            </a:solidFill>
          </a:ln>
        </p:spPr>
      </p:sp>
      <p:sp>
        <p:nvSpPr>
          <p:cNvPr id="14" name="">
            <a:extLst xmlns:a="http://schemas.openxmlformats.org/drawingml/2006/main">
              <a:ext uri="{FF2B5EF4-FFF2-40B4-BE49-F238E27FC236}">
                <a16:creationId xmlns:a16="http://schemas.microsoft.com/office/drawing/2014/main" id="{8CA1277F-E3E3-44AB-AFE0-18AAB4FDEE9B}"/>
              </a:ext>
            </a:extLst>
          </p:cNvPr>
          <p:cNvSpPr>
            <a:spLocks xmlns:a="http://schemas.openxmlformats.org/drawingml/2006/main" noGrp="1"/>
          </p:cNvSpPr>
          <p:nvPr/>
        </p:nvSpPr>
        <p:spPr>
          <a:xfrm xmlns:a="http://schemas.openxmlformats.org/drawingml/2006/main">
            <a:off x="6724650" y="180975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205"/>
          </a:bodyPr>
          <a:lstStyle xmlns:a="http://schemas.openxmlformats.org/drawingml/2006/main"/>
          <a:p xmlns:a="http://schemas.openxmlformats.org/drawingml/2006/main">
            <a:pPr algn="l">
              <a:lnSpc>
                <a:spcPct val="104000"/>
              </a:lnSpc>
              <a:buNone/>
              <a:defRPr sz="1875" b="1">
                <a:solidFill>
                  <a:srgbClr val="4F46E5"/>
                </a:solidFill>
                <a:latin typeface="Arial"/>
                <a:ea typeface="Arial"/>
                <a:cs typeface="Arial"/>
              </a:defRPr>
            </a:pPr>
            <a:r>
              <a:rPr sz="1875" b="1">
                <a:solidFill>
                  <a:srgbClr val="4F46E5"/>
                </a:solidFill>
                <a:latin typeface="Arial"/>
                <a:ea typeface="Arial"/>
                <a:cs typeface="Arial"/>
              </a:rPr>
              <a:t>FusionVI</a:t>
            </a:r>
          </a:p>
        </p:txBody>
      </p:sp>
      <p:sp>
        <p:nvSpPr>
          <p:cNvPr id="15" name="">
            <a:extLst xmlns:a="http://schemas.openxmlformats.org/drawingml/2006/main">
              <a:ext uri="{FF2B5EF4-FFF2-40B4-BE49-F238E27FC236}">
                <a16:creationId xmlns:a16="http://schemas.microsoft.com/office/drawing/2014/main" id="{4B56887A-9E03-4EBB-B59F-2D111E5E51B2}"/>
              </a:ext>
            </a:extLst>
          </p:cNvPr>
          <p:cNvSpPr>
            <a:spLocks xmlns:a="http://schemas.openxmlformats.org/drawingml/2006/main" noGrp="1"/>
          </p:cNvSpPr>
          <p:nvPr/>
        </p:nvSpPr>
        <p:spPr>
          <a:xfrm xmlns:a="http://schemas.openxmlformats.org/drawingml/2006/main">
            <a:off x="6877050" y="2495550"/>
            <a:ext cx="142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038"/>
          </a:bodyPr>
          <a:lstStyle xmlns:a="http://schemas.openxmlformats.org/drawingml/2006/main"/>
          <a:p xmlns:a="http://schemas.openxmlformats.org/drawingml/2006/main">
            <a:pPr algn="ctr">
              <a:lnSpc>
                <a:spcPct val="104000"/>
              </a:lnSpc>
              <a:buNone/>
              <a:defRPr sz="1725" b="1">
                <a:solidFill>
                  <a:srgbClr val="0F9F9A"/>
                </a:solidFill>
                <a:latin typeface="Arial"/>
                <a:ea typeface="Arial"/>
                <a:cs typeface="Arial"/>
              </a:defRPr>
            </a:pPr>
            <a:r>
              <a:rPr sz="1725" b="1">
                <a:solidFill>
                  <a:srgbClr val="0F9F9A"/>
                </a:solidFill>
                <a:latin typeface="Arial"/>
                <a:ea typeface="Arial"/>
                <a:cs typeface="Arial"/>
              </a:rPr>
              <a:t>D1 complete</a:t>
            </a:r>
          </a:p>
        </p:txBody>
      </p:sp>
      <p:sp>
        <p:nvSpPr>
          <p:cNvPr id="16" name="">
            <a:extLst xmlns:a="http://schemas.openxmlformats.org/drawingml/2006/main">
              <a:ext uri="{FF2B5EF4-FFF2-40B4-BE49-F238E27FC236}">
                <a16:creationId xmlns:a16="http://schemas.microsoft.com/office/drawing/2014/main" id="{4A761EF1-B1E9-4BF6-8D17-FAAB329C4A93}"/>
              </a:ext>
            </a:extLst>
          </p:cNvPr>
          <p:cNvSpPr>
            <a:spLocks xmlns:a="http://schemas.openxmlformats.org/drawingml/2006/main" noGrp="1"/>
          </p:cNvSpPr>
          <p:nvPr/>
        </p:nvSpPr>
        <p:spPr>
          <a:xfrm xmlns:a="http://schemas.openxmlformats.org/drawingml/2006/main">
            <a:off x="6877050" y="289560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147"/>
          </a:bodyPr>
          <a:lstStyle xmlns:a="http://schemas.openxmlformats.org/drawingml/2006/main"/>
          <a:p xmlns:a="http://schemas.openxmlformats.org/drawingml/2006/main">
            <a:pPr algn="ctr">
              <a:lnSpc>
                <a:spcPct val="104000"/>
              </a:lnSpc>
              <a:buNone/>
              <a:defRPr sz="1200" b="1">
                <a:solidFill>
                  <a:srgbClr val="64748B"/>
                </a:solidFill>
                <a:latin typeface="Arial"/>
                <a:ea typeface="Arial"/>
                <a:cs typeface="Arial"/>
              </a:defRPr>
            </a:pPr>
            <a:r>
              <a:rPr sz="1200" b="1">
                <a:solidFill>
                  <a:srgbClr val="64748B"/>
                </a:solidFill>
                <a:latin typeface="Arial"/>
                <a:ea typeface="Arial"/>
                <a:cs typeface="Arial"/>
              </a:rPr>
              <a:t>TRAIN</a:t>
            </a:r>
          </a:p>
        </p:txBody>
      </p:sp>
      <p:sp>
        <p:nvSpPr>
          <p:cNvPr id="17" name="">
            <a:extLst xmlns:a="http://schemas.openxmlformats.org/drawingml/2006/main">
              <a:ext uri="{FF2B5EF4-FFF2-40B4-BE49-F238E27FC236}">
                <a16:creationId xmlns:a16="http://schemas.microsoft.com/office/drawing/2014/main" id="{C2E000B1-2B54-4F7D-918D-5CA08D41A6A7}"/>
              </a:ext>
            </a:extLst>
          </p:cNvPr>
          <p:cNvSpPr>
            <a:spLocks xmlns:a="http://schemas.openxmlformats.org/drawingml/2006/main" noGrp="1"/>
          </p:cNvSpPr>
          <p:nvPr/>
        </p:nvSpPr>
        <p:spPr>
          <a:xfrm xmlns:a="http://schemas.openxmlformats.org/drawingml/2006/main">
            <a:off x="8420100" y="2609850"/>
            <a:ext cx="85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211"/>
          </a:bodyPr>
          <a:lstStyle xmlns:a="http://schemas.openxmlformats.org/drawingml/2006/main"/>
          <a:p xmlns:a="http://schemas.openxmlformats.org/drawingml/2006/main">
            <a:pPr algn="ctr">
              <a:lnSpc>
                <a:spcPct val="104000"/>
              </a:lnSpc>
              <a:buNone/>
              <a:defRPr sz="2550" b="1">
                <a:solidFill>
                  <a:srgbClr val="F97316"/>
                </a:solidFill>
                <a:latin typeface="Arial"/>
                <a:ea typeface="Arial"/>
                <a:cs typeface="Arial"/>
              </a:defRPr>
            </a:pPr>
            <a:r>
              <a:rPr sz="2550" b="1">
                <a:solidFill>
                  <a:srgbClr val="F97316"/>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0FE97C88-2A14-4AEA-8189-1A917510A8C3}"/>
              </a:ext>
            </a:extLst>
          </p:cNvPr>
          <p:cNvSpPr>
            <a:spLocks xmlns:a="http://schemas.openxmlformats.org/drawingml/2006/main" noGrp="1"/>
          </p:cNvSpPr>
          <p:nvPr/>
        </p:nvSpPr>
        <p:spPr>
          <a:xfrm xmlns:a="http://schemas.openxmlformats.org/drawingml/2006/main">
            <a:off x="9448800" y="2495550"/>
            <a:ext cx="142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038"/>
          </a:bodyPr>
          <a:lstStyle xmlns:a="http://schemas.openxmlformats.org/drawingml/2006/main"/>
          <a:p xmlns:a="http://schemas.openxmlformats.org/drawingml/2006/main">
            <a:pPr algn="ctr">
              <a:lnSpc>
                <a:spcPct val="104000"/>
              </a:lnSpc>
              <a:buNone/>
              <a:defRPr sz="1725" b="1">
                <a:solidFill>
                  <a:srgbClr val="F97316"/>
                </a:solidFill>
                <a:latin typeface="Arial"/>
                <a:ea typeface="Arial"/>
                <a:cs typeface="Arial"/>
              </a:defRPr>
            </a:pPr>
            <a:r>
              <a:rPr sz="1725" b="1">
                <a:solidFill>
                  <a:srgbClr val="F97316"/>
                </a:solidFill>
                <a:latin typeface="Arial"/>
                <a:ea typeface="Arial"/>
                <a:cs typeface="Arial"/>
              </a:rPr>
              <a:t>D2 RNA</a:t>
            </a:r>
          </a:p>
        </p:txBody>
      </p:sp>
      <p:sp>
        <p:nvSpPr>
          <p:cNvPr id="19" name="">
            <a:extLst xmlns:a="http://schemas.openxmlformats.org/drawingml/2006/main">
              <a:ext uri="{FF2B5EF4-FFF2-40B4-BE49-F238E27FC236}">
                <a16:creationId xmlns:a16="http://schemas.microsoft.com/office/drawing/2014/main" id="{9F6EEE3A-D21F-4483-9E97-0F3DA701407B}"/>
              </a:ext>
            </a:extLst>
          </p:cNvPr>
          <p:cNvSpPr>
            <a:spLocks xmlns:a="http://schemas.openxmlformats.org/drawingml/2006/main" noGrp="1"/>
          </p:cNvSpPr>
          <p:nvPr/>
        </p:nvSpPr>
        <p:spPr>
          <a:xfrm xmlns:a="http://schemas.openxmlformats.org/drawingml/2006/main">
            <a:off x="9448800" y="289560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147"/>
          </a:bodyPr>
          <a:lstStyle xmlns:a="http://schemas.openxmlformats.org/drawingml/2006/main"/>
          <a:p xmlns:a="http://schemas.openxmlformats.org/drawingml/2006/main">
            <a:pPr algn="ctr">
              <a:lnSpc>
                <a:spcPct val="104000"/>
              </a:lnSpc>
              <a:buNone/>
              <a:defRPr sz="1200" b="1">
                <a:solidFill>
                  <a:srgbClr val="64748B"/>
                </a:solidFill>
                <a:latin typeface="Arial"/>
                <a:ea typeface="Arial"/>
                <a:cs typeface="Arial"/>
              </a:defRPr>
            </a:pPr>
            <a:r>
              <a:rPr sz="1200" b="1">
                <a:solidFill>
                  <a:srgbClr val="64748B"/>
                </a:solidFill>
                <a:latin typeface="Arial"/>
                <a:ea typeface="Arial"/>
                <a:cs typeface="Arial"/>
              </a:rPr>
              <a:t>PREDICT</a:t>
            </a:r>
          </a:p>
        </p:txBody>
      </p:sp>
      <p:sp>
        <p:nvSpPr>
          <p:cNvPr id="20" name="">
            <a:extLst xmlns:a="http://schemas.openxmlformats.org/drawingml/2006/main">
              <a:ext uri="{FF2B5EF4-FFF2-40B4-BE49-F238E27FC236}">
                <a16:creationId xmlns:a16="http://schemas.microsoft.com/office/drawing/2014/main" id="{AD37BE54-6AEB-4F4D-8412-AD8A396884EE}"/>
              </a:ext>
            </a:extLst>
          </p:cNvPr>
          <p:cNvSpPr>
            <a:spLocks xmlns:a="http://schemas.openxmlformats.org/drawingml/2006/main" noGrp="1"/>
          </p:cNvSpPr>
          <p:nvPr/>
        </p:nvSpPr>
        <p:spPr>
          <a:xfrm xmlns:a="http://schemas.openxmlformats.org/drawingml/2006/main">
            <a:off x="7315200" y="3790950"/>
            <a:ext cx="3295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lnSpc>
                <a:spcPct val="104000"/>
              </a:lnSpc>
              <a:buNone/>
              <a:defRPr sz="1425" b="1">
                <a:solidFill>
                  <a:srgbClr val="172554"/>
                </a:solidFill>
                <a:latin typeface="Arial"/>
                <a:ea typeface="Arial"/>
                <a:cs typeface="Arial"/>
              </a:defRPr>
            </a:pPr>
            <a:r>
              <a:rPr sz="1425" b="1">
                <a:solidFill>
                  <a:srgbClr val="172554"/>
                </a:solidFill>
                <a:latin typeface="Arial"/>
                <a:ea typeface="Arial"/>
                <a:cs typeface="Arial"/>
              </a:rPr>
              <a:t>same 110 proteins scored</a:t>
            </a:r>
          </a:p>
        </p:txBody>
      </p:sp>
      <p:sp>
        <p:nvSpPr>
          <p:cNvPr id="21" name="">
            <a:extLst xmlns:a="http://schemas.openxmlformats.org/drawingml/2006/main">
              <a:ext uri="{FF2B5EF4-FFF2-40B4-BE49-F238E27FC236}">
                <a16:creationId xmlns:a16="http://schemas.microsoft.com/office/drawing/2014/main" id="{8704E548-98FA-45A0-9F57-D019CDF86F24}"/>
              </a:ext>
            </a:extLst>
          </p:cNvPr>
          <p:cNvSpPr>
            <a:spLocks xmlns:a="http://schemas.openxmlformats.org/drawingml/2006/main" noGrp="1"/>
          </p:cNvSpPr>
          <p:nvPr/>
        </p:nvSpPr>
        <p:spPr>
          <a:xfrm xmlns:a="http://schemas.openxmlformats.org/drawingml/2006/main">
            <a:off x="933450" y="5162550"/>
            <a:ext cx="2781300" cy="1066800"/>
          </a:xfrm>
          <a:prstGeom xmlns:a="http://schemas.openxmlformats.org/drawingml/2006/main" prst="roundRect">
            <a:avLst>
              <a:gd name="adj" fmla="val 10714"/>
            </a:avLst>
          </a:prstGeom>
          <a:solidFill xmlns:a="http://schemas.openxmlformats.org/drawingml/2006/main">
            <a:srgbClr val="EEF2FF"/>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80824978-B9CA-44A9-8CB8-3707885C19BC}"/>
              </a:ext>
            </a:extLst>
          </p:cNvPr>
          <p:cNvSpPr>
            <a:spLocks xmlns:a="http://schemas.openxmlformats.org/drawingml/2006/main" noGrp="1"/>
          </p:cNvSpPr>
          <p:nvPr/>
        </p:nvSpPr>
        <p:spPr>
          <a:xfrm xmlns:a="http://schemas.openxmlformats.org/drawingml/2006/main">
            <a:off x="1047750" y="5295900"/>
            <a:ext cx="2552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84"/>
          </a:bodyPr>
          <a:lstStyle xmlns:a="http://schemas.openxmlformats.org/drawingml/2006/main"/>
          <a:p xmlns:a="http://schemas.openxmlformats.org/drawingml/2006/main">
            <a:pPr algn="ctr">
              <a:lnSpc>
                <a:spcPct val="104000"/>
              </a:lnSpc>
              <a:buNone/>
              <a:defRPr sz="2550" b="1">
                <a:solidFill>
                  <a:srgbClr val="4F46E5"/>
                </a:solidFill>
                <a:latin typeface="Arial"/>
                <a:ea typeface="Arial"/>
                <a:cs typeface="Arial"/>
              </a:defRPr>
            </a:pPr>
            <a:r>
              <a:rPr sz="2550" b="1">
                <a:solidFill>
                  <a:srgbClr val="4F46E5"/>
                </a:solidFill>
                <a:latin typeface="Arial"/>
                <a:ea typeface="Arial"/>
                <a:cs typeface="Arial"/>
              </a:rPr>
              <a:t>500</a:t>
            </a:r>
          </a:p>
        </p:txBody>
      </p:sp>
      <p:sp>
        <p:nvSpPr>
          <p:cNvPr id="23" name="">
            <a:extLst xmlns:a="http://schemas.openxmlformats.org/drawingml/2006/main">
              <a:ext uri="{FF2B5EF4-FFF2-40B4-BE49-F238E27FC236}">
                <a16:creationId xmlns:a16="http://schemas.microsoft.com/office/drawing/2014/main" id="{505FAB24-A4DB-4F18-8739-940738E73FE9}"/>
              </a:ext>
            </a:extLst>
          </p:cNvPr>
          <p:cNvSpPr>
            <a:spLocks xmlns:a="http://schemas.openxmlformats.org/drawingml/2006/main" noGrp="1"/>
          </p:cNvSpPr>
          <p:nvPr/>
        </p:nvSpPr>
        <p:spPr>
          <a:xfrm xmlns:a="http://schemas.openxmlformats.org/drawingml/2006/main">
            <a:off x="1047750" y="5781675"/>
            <a:ext cx="2552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609"/>
          </a:bodyPr>
          <a:lstStyle xmlns:a="http://schemas.openxmlformats.org/drawingml/2006/main"/>
          <a:p xmlns:a="http://schemas.openxmlformats.org/drawingml/2006/main">
            <a:pPr algn="ctr">
              <a:lnSpc>
                <a:spcPct val="104000"/>
              </a:lnSpc>
              <a:buNone/>
              <a:defRPr sz="1200" b="1">
                <a:solidFill>
                  <a:srgbClr val="64748B"/>
                </a:solidFill>
                <a:latin typeface="Arial"/>
                <a:ea typeface="Arial"/>
                <a:cs typeface="Arial"/>
              </a:defRPr>
            </a:pPr>
            <a:r>
              <a:rPr sz="1200" b="1">
                <a:solidFill>
                  <a:srgbClr val="64748B"/>
                </a:solidFill>
                <a:latin typeface="Arial"/>
                <a:ea typeface="Arial"/>
                <a:cs typeface="Arial"/>
              </a:rPr>
              <a:t>maximum epochs + early stopping</a:t>
            </a:r>
          </a:p>
        </p:txBody>
      </p:sp>
      <p:sp>
        <p:nvSpPr>
          <p:cNvPr id="24" name="">
            <a:extLst xmlns:a="http://schemas.openxmlformats.org/drawingml/2006/main">
              <a:ext uri="{FF2B5EF4-FFF2-40B4-BE49-F238E27FC236}">
                <a16:creationId xmlns:a16="http://schemas.microsoft.com/office/drawing/2014/main" id="{D185B1C3-93D5-4404-B109-1BAA73FA234C}"/>
              </a:ext>
            </a:extLst>
          </p:cNvPr>
          <p:cNvSpPr>
            <a:spLocks xmlns:a="http://schemas.openxmlformats.org/drawingml/2006/main" noGrp="1"/>
          </p:cNvSpPr>
          <p:nvPr/>
        </p:nvSpPr>
        <p:spPr>
          <a:xfrm xmlns:a="http://schemas.openxmlformats.org/drawingml/2006/main">
            <a:off x="4705350" y="5162550"/>
            <a:ext cx="2781300" cy="1066800"/>
          </a:xfrm>
          <a:prstGeom xmlns:a="http://schemas.openxmlformats.org/drawingml/2006/main" prst="roundRect">
            <a:avLst>
              <a:gd name="adj" fmla="val 10714"/>
            </a:avLst>
          </a:prstGeom>
          <a:solidFill xmlns:a="http://schemas.openxmlformats.org/drawingml/2006/main">
            <a:srgbClr val="FFF7ED"/>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4BB49375-F1D9-47E6-8EF5-D1F94B870DEC}"/>
              </a:ext>
            </a:extLst>
          </p:cNvPr>
          <p:cNvSpPr>
            <a:spLocks xmlns:a="http://schemas.openxmlformats.org/drawingml/2006/main" noGrp="1"/>
          </p:cNvSpPr>
          <p:nvPr/>
        </p:nvSpPr>
        <p:spPr>
          <a:xfrm xmlns:a="http://schemas.openxmlformats.org/drawingml/2006/main">
            <a:off x="4819650" y="5295900"/>
            <a:ext cx="2552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84"/>
          </a:bodyPr>
          <a:lstStyle xmlns:a="http://schemas.openxmlformats.org/drawingml/2006/main"/>
          <a:p xmlns:a="http://schemas.openxmlformats.org/drawingml/2006/main">
            <a:pPr algn="ctr">
              <a:lnSpc>
                <a:spcPct val="104000"/>
              </a:lnSpc>
              <a:buNone/>
              <a:defRPr sz="2550" b="1">
                <a:solidFill>
                  <a:srgbClr val="F97316"/>
                </a:solidFill>
                <a:latin typeface="Arial"/>
                <a:ea typeface="Arial"/>
                <a:cs typeface="Arial"/>
              </a:defRPr>
            </a:pPr>
            <a:r>
              <a:rPr sz="2550" b="1">
                <a:solidFill>
                  <a:srgbClr val="F97316"/>
                </a:solidFill>
                <a:latin typeface="Arial"/>
                <a:ea typeface="Arial"/>
                <a:cs typeface="Arial"/>
              </a:rPr>
              <a:t>25</a:t>
            </a:r>
          </a:p>
        </p:txBody>
      </p:sp>
      <p:sp>
        <p:nvSpPr>
          <p:cNvPr id="26" name="">
            <a:extLst xmlns:a="http://schemas.openxmlformats.org/drawingml/2006/main">
              <a:ext uri="{FF2B5EF4-FFF2-40B4-BE49-F238E27FC236}">
                <a16:creationId xmlns:a16="http://schemas.microsoft.com/office/drawing/2014/main" id="{FF1FF08D-9F33-4338-AB0C-1865A473A7D8}"/>
              </a:ext>
            </a:extLst>
          </p:cNvPr>
          <p:cNvSpPr>
            <a:spLocks xmlns:a="http://schemas.openxmlformats.org/drawingml/2006/main" noGrp="1"/>
          </p:cNvSpPr>
          <p:nvPr/>
        </p:nvSpPr>
        <p:spPr>
          <a:xfrm xmlns:a="http://schemas.openxmlformats.org/drawingml/2006/main">
            <a:off x="4819650" y="5781675"/>
            <a:ext cx="2552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1200" b="1">
                <a:solidFill>
                  <a:srgbClr val="64748B"/>
                </a:solidFill>
                <a:latin typeface="Arial"/>
                <a:ea typeface="Arial"/>
                <a:cs typeface="Arial"/>
              </a:defRPr>
            </a:pPr>
            <a:r>
              <a:rPr sz="1200" b="1">
                <a:solidFill>
                  <a:srgbClr val="64748B"/>
                </a:solidFill>
                <a:latin typeface="Arial"/>
                <a:ea typeface="Arial"/>
                <a:cs typeface="Arial"/>
              </a:rPr>
              <a:t>posterior samples averaged</a:t>
            </a:r>
          </a:p>
        </p:txBody>
      </p:sp>
      <p:sp>
        <p:nvSpPr>
          <p:cNvPr id="27" name="">
            <a:extLst xmlns:a="http://schemas.openxmlformats.org/drawingml/2006/main">
              <a:ext uri="{FF2B5EF4-FFF2-40B4-BE49-F238E27FC236}">
                <a16:creationId xmlns:a16="http://schemas.microsoft.com/office/drawing/2014/main" id="{3032DB19-CA25-4276-ACF4-430E5B32C084}"/>
              </a:ext>
            </a:extLst>
          </p:cNvPr>
          <p:cNvSpPr>
            <a:spLocks xmlns:a="http://schemas.openxmlformats.org/drawingml/2006/main" noGrp="1"/>
          </p:cNvSpPr>
          <p:nvPr/>
        </p:nvSpPr>
        <p:spPr>
          <a:xfrm xmlns:a="http://schemas.openxmlformats.org/drawingml/2006/main">
            <a:off x="8477250" y="5162550"/>
            <a:ext cx="2781300" cy="1066800"/>
          </a:xfrm>
          <a:prstGeom xmlns:a="http://schemas.openxmlformats.org/drawingml/2006/main" prst="roundRect">
            <a:avLst>
              <a:gd name="adj" fmla="val 10714"/>
            </a:avLst>
          </a:prstGeom>
          <a:solidFill xmlns:a="http://schemas.openxmlformats.org/drawingml/2006/main">
            <a:srgbClr val="E6FFFB"/>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A649DC7B-4E35-4336-A26D-8B777E77BCD1}"/>
              </a:ext>
            </a:extLst>
          </p:cNvPr>
          <p:cNvSpPr>
            <a:spLocks xmlns:a="http://schemas.openxmlformats.org/drawingml/2006/main" noGrp="1"/>
          </p:cNvSpPr>
          <p:nvPr/>
        </p:nvSpPr>
        <p:spPr>
          <a:xfrm xmlns:a="http://schemas.openxmlformats.org/drawingml/2006/main">
            <a:off x="8591550" y="5295900"/>
            <a:ext cx="2552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84"/>
          </a:bodyPr>
          <a:lstStyle xmlns:a="http://schemas.openxmlformats.org/drawingml/2006/main"/>
          <a:p xmlns:a="http://schemas.openxmlformats.org/drawingml/2006/main">
            <a:pPr algn="ctr">
              <a:lnSpc>
                <a:spcPct val="104000"/>
              </a:lnSpc>
              <a:buNone/>
              <a:defRPr sz="2550" b="1">
                <a:solidFill>
                  <a:srgbClr val="0F9F9A"/>
                </a:solidFill>
                <a:latin typeface="Arial"/>
                <a:ea typeface="Arial"/>
                <a:cs typeface="Arial"/>
              </a:defRPr>
            </a:pPr>
            <a:r>
              <a:rPr sz="2550" b="1">
                <a:solidFill>
                  <a:srgbClr val="0F9F9A"/>
                </a:solidFill>
                <a:latin typeface="Arial"/>
                <a:ea typeface="Arial"/>
                <a:cs typeface="Arial"/>
              </a:rPr>
              <a:t>RMSLE</a:t>
            </a:r>
          </a:p>
        </p:txBody>
      </p:sp>
      <p:sp>
        <p:nvSpPr>
          <p:cNvPr id="29" name="">
            <a:extLst xmlns:a="http://schemas.openxmlformats.org/drawingml/2006/main">
              <a:ext uri="{FF2B5EF4-FFF2-40B4-BE49-F238E27FC236}">
                <a16:creationId xmlns:a16="http://schemas.microsoft.com/office/drawing/2014/main" id="{FEE829AA-FE8E-447E-9E64-2405BE10B0A2}"/>
              </a:ext>
            </a:extLst>
          </p:cNvPr>
          <p:cNvSpPr>
            <a:spLocks xmlns:a="http://schemas.openxmlformats.org/drawingml/2006/main" noGrp="1"/>
          </p:cNvSpPr>
          <p:nvPr/>
        </p:nvSpPr>
        <p:spPr>
          <a:xfrm xmlns:a="http://schemas.openxmlformats.org/drawingml/2006/main">
            <a:off x="8591550" y="5781675"/>
            <a:ext cx="2552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1200" b="1">
                <a:solidFill>
                  <a:srgbClr val="64748B"/>
                </a:solidFill>
                <a:latin typeface="Arial"/>
                <a:ea typeface="Arial"/>
                <a:cs typeface="Arial"/>
              </a:defRPr>
            </a:pPr>
            <a:r>
              <a:rPr sz="1200" b="1">
                <a:solidFill>
                  <a:srgbClr val="64748B"/>
                </a:solidFill>
                <a:latin typeface="Arial"/>
                <a:ea typeface="Arial"/>
                <a:cs typeface="Arial"/>
              </a:rPr>
              <a:t>primary metric • lower is better</a:t>
            </a:r>
          </a:p>
        </p:txBody>
      </p:sp>
    </p:spTree>
    <p:extLst>
      <p:ext uri="{BB962C8B-B14F-4D97-AF65-F5344CB8AC3E}">
        <p14:creationId xmlns:p14="http://schemas.microsoft.com/office/powerpoint/2010/main" val="122942978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B2BB647-F12E-423E-A9AC-F3FE348269D8}"/>
              </a:ext>
            </a:extLst>
          </p:cNvPr>
          <p:cNvSpPr>
            <a:spLocks xmlns:a="http://schemas.openxmlformats.org/drawingml/2006/main" noGrp="1"/>
          </p:cNvSpPr>
          <p:nvPr/>
        </p:nvSpPr>
        <p:spPr>
          <a:xfrm xmlns:a="http://schemas.openxmlformats.org/drawingml/2006/main">
            <a:off x="647700" y="2857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17"/>
          </a:bodyPr>
          <a:lstStyle xmlns:a="http://schemas.openxmlformats.org/drawingml/2006/main"/>
          <a:p xmlns:a="http://schemas.openxmlformats.org/drawingml/2006/main">
            <a:pPr algn="l">
              <a:lnSpc>
                <a:spcPct val="104000"/>
              </a:lnSpc>
              <a:buNone/>
              <a:defRPr sz="1050" b="1">
                <a:solidFill>
                  <a:srgbClr val="0F9F9A"/>
                </a:solidFill>
                <a:latin typeface="Arial"/>
                <a:ea typeface="Arial"/>
                <a:cs typeface="Arial"/>
              </a:defRPr>
            </a:pPr>
            <a:r>
              <a:rPr sz="1050" b="1">
                <a:solidFill>
                  <a:srgbClr val="0F9F9A"/>
                </a:solidFill>
                <a:latin typeface="Arial"/>
                <a:ea typeface="Arial"/>
                <a:cs typeface="Arial"/>
              </a:rPr>
              <a:t>RESULTS</a:t>
            </a:r>
          </a:p>
        </p:txBody>
      </p:sp>
      <p:sp>
        <p:nvSpPr>
          <p:cNvPr id="2" name="">
            <a:extLst xmlns:a="http://schemas.openxmlformats.org/drawingml/2006/main">
              <a:ext uri="{FF2B5EF4-FFF2-40B4-BE49-F238E27FC236}">
                <a16:creationId xmlns:a16="http://schemas.microsoft.com/office/drawing/2014/main" id="{18B43848-0EFB-4099-80D2-1A1C44EBF252}"/>
              </a:ext>
            </a:extLst>
          </p:cNvPr>
          <p:cNvSpPr>
            <a:spLocks xmlns:a="http://schemas.openxmlformats.org/drawingml/2006/main" noGrp="1"/>
          </p:cNvSpPr>
          <p:nvPr/>
        </p:nvSpPr>
        <p:spPr>
          <a:xfrm xmlns:a="http://schemas.openxmlformats.org/drawingml/2006/main">
            <a:off x="647700" y="5715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4000"/>
              </a:lnSpc>
              <a:buNone/>
              <a:defRPr sz="2850" b="1">
                <a:solidFill>
                  <a:srgbClr val="172554"/>
                </a:solidFill>
                <a:latin typeface="Arial"/>
                <a:ea typeface="Arial"/>
                <a:cs typeface="Arial"/>
              </a:defRPr>
            </a:pPr>
            <a:r>
              <a:rPr sz="2850" b="1">
                <a:solidFill>
                  <a:srgbClr val="172554"/>
                </a:solidFill>
                <a:latin typeface="Arial"/>
                <a:ea typeface="Arial"/>
                <a:cs typeface="Arial"/>
              </a:rPr>
              <a:t>Scale matching changes the conclusion</a:t>
            </a:r>
          </a:p>
        </p:txBody>
      </p:sp>
      <p:sp>
        <p:nvSpPr>
          <p:cNvPr id="3" name="">
            <a:extLst xmlns:a="http://schemas.openxmlformats.org/drawingml/2006/main">
              <a:ext uri="{FF2B5EF4-FFF2-40B4-BE49-F238E27FC236}">
                <a16:creationId xmlns:a16="http://schemas.microsoft.com/office/drawing/2014/main" id="{CDD24C77-798A-4EB5-BE14-905ABA1BE9D6}"/>
              </a:ext>
            </a:extLst>
          </p:cNvPr>
          <p:cNvSpPr>
            <a:spLocks xmlns:a="http://schemas.openxmlformats.org/drawingml/2006/main" noGrp="1"/>
          </p:cNvSpPr>
          <p:nvPr/>
        </p:nvSpPr>
        <p:spPr>
          <a:xfrm xmlns:a="http://schemas.openxmlformats.org/drawingml/2006/main">
            <a:off x="647700" y="1219200"/>
            <a:ext cx="876300" cy="47625"/>
          </a:xfrm>
          <a:prstGeom xmlns:a="http://schemas.openxmlformats.org/drawingml/2006/main" prst="rect">
            <a:avLst/>
          </a:prstGeom>
          <a:solidFill xmlns:a="http://schemas.openxmlformats.org/drawingml/2006/main">
            <a:srgbClr val="F9731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3637E17-4CA3-44BA-A91F-2117BE265B97}"/>
              </a:ext>
            </a:extLst>
          </p:cNvPr>
          <p:cNvSpPr>
            <a:spLocks xmlns:a="http://schemas.openxmlformats.org/drawingml/2006/main" noGrp="1"/>
          </p:cNvSpPr>
          <p:nvPr/>
        </p:nvSpPr>
        <p:spPr>
          <a:xfrm xmlns:a="http://schemas.openxmlformats.org/drawingml/2006/main">
            <a:off x="11239500" y="32385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17"/>
          </a:bodyPr>
          <a:lstStyle xmlns:a="http://schemas.openxmlformats.org/drawingml/2006/main"/>
          <a:p xmlns:a="http://schemas.openxmlformats.org/drawingml/2006/main">
            <a:pPr algn="r">
              <a:lnSpc>
                <a:spcPct val="104000"/>
              </a:lnSpc>
              <a:buNone/>
              <a:defRPr sz="1050" b="1">
                <a:solidFill>
                  <a:srgbClr val="64748B"/>
                </a:solidFill>
                <a:latin typeface="Arial"/>
                <a:ea typeface="Arial"/>
                <a:cs typeface="Arial"/>
              </a:defRPr>
            </a:pPr>
            <a:r>
              <a:rPr sz="1050" b="1">
                <a:solidFill>
                  <a:srgbClr val="64748B"/>
                </a:solidFill>
                <a:latin typeface="Arial"/>
                <a:ea typeface="Arial"/>
                <a:cs typeface="Arial"/>
              </a:rPr>
              <a:t>06</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da85e4ac152340a7"/>
          <a:stretch xmlns:a="http://schemas.openxmlformats.org/drawingml/2006/main"/>
        </p:blipFill>
        <p:spPr>
          <a:xfrm xmlns:a="http://schemas.openxmlformats.org/drawingml/2006/main">
            <a:off x="400050" y="2362733"/>
            <a:ext cx="8382000" cy="281833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F27C360-D9C1-450E-B070-81764F6EA2FF}"/>
              </a:ext>
            </a:extLst>
          </p:cNvPr>
          <p:cNvSpPr>
            <a:spLocks xmlns:a="http://schemas.openxmlformats.org/drawingml/2006/main" noGrp="1"/>
          </p:cNvSpPr>
          <p:nvPr/>
        </p:nvSpPr>
        <p:spPr>
          <a:xfrm xmlns:a="http://schemas.openxmlformats.org/drawingml/2006/main">
            <a:off x="8896350" y="1581150"/>
            <a:ext cx="2705100" cy="1562100"/>
          </a:xfrm>
          <a:prstGeom xmlns:a="http://schemas.openxmlformats.org/drawingml/2006/main" prst="roundRect">
            <a:avLst>
              <a:gd name="adj" fmla="val 7317"/>
            </a:avLst>
          </a:prstGeom>
          <a:solidFill xmlns:a="http://schemas.openxmlformats.org/drawingml/2006/main">
            <a:srgbClr val="FFF7ED"/>
          </a:solidFill>
          <a:ln xmlns:a="http://schemas.openxmlformats.org/drawingml/2006/main" w="9525">
            <a:solidFill>
              <a:srgbClr val="FDBA74"/>
            </a:solidFill>
          </a:ln>
        </p:spPr>
      </p:sp>
      <p:sp>
        <p:nvSpPr>
          <p:cNvPr id="7" name="">
            <a:extLst xmlns:a="http://schemas.openxmlformats.org/drawingml/2006/main">
              <a:ext uri="{FF2B5EF4-FFF2-40B4-BE49-F238E27FC236}">
                <a16:creationId xmlns:a16="http://schemas.microsoft.com/office/drawing/2014/main" id="{09147184-E5A2-4DA5-9954-A6AE8A049169}"/>
              </a:ext>
            </a:extLst>
          </p:cNvPr>
          <p:cNvSpPr>
            <a:spLocks xmlns:a="http://schemas.openxmlformats.org/drawingml/2006/main" noGrp="1"/>
          </p:cNvSpPr>
          <p:nvPr/>
        </p:nvSpPr>
        <p:spPr>
          <a:xfrm xmlns:a="http://schemas.openxmlformats.org/drawingml/2006/main">
            <a:off x="9086850" y="1752600"/>
            <a:ext cx="232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841"/>
          </a:bodyPr>
          <a:lstStyle xmlns:a="http://schemas.openxmlformats.org/drawingml/2006/main"/>
          <a:p xmlns:a="http://schemas.openxmlformats.org/drawingml/2006/main">
            <a:pPr algn="ctr">
              <a:lnSpc>
                <a:spcPct val="104000"/>
              </a:lnSpc>
              <a:buNone/>
              <a:defRPr sz="2850" b="1">
                <a:solidFill>
                  <a:srgbClr val="F97316"/>
                </a:solidFill>
                <a:latin typeface="Arial"/>
                <a:ea typeface="Arial"/>
                <a:cs typeface="Arial"/>
              </a:defRPr>
            </a:pPr>
            <a:r>
              <a:rPr sz="2850" b="1">
                <a:solidFill>
                  <a:srgbClr val="F97316"/>
                </a:solidFill>
                <a:latin typeface="Arial"/>
                <a:ea typeface="Arial"/>
                <a:cs typeface="Arial"/>
              </a:rPr>
              <a:t>+0.0085</a:t>
            </a:r>
          </a:p>
        </p:txBody>
      </p:sp>
      <p:sp>
        <p:nvSpPr>
          <p:cNvPr id="8" name="">
            <a:extLst xmlns:a="http://schemas.openxmlformats.org/drawingml/2006/main">
              <a:ext uri="{FF2B5EF4-FFF2-40B4-BE49-F238E27FC236}">
                <a16:creationId xmlns:a16="http://schemas.microsoft.com/office/drawing/2014/main" id="{3962E079-F5EA-4FC2-B059-EFD2146CE356}"/>
              </a:ext>
            </a:extLst>
          </p:cNvPr>
          <p:cNvSpPr>
            <a:spLocks xmlns:a="http://schemas.openxmlformats.org/drawingml/2006/main" noGrp="1"/>
          </p:cNvSpPr>
          <p:nvPr/>
        </p:nvSpPr>
        <p:spPr>
          <a:xfrm xmlns:a="http://schemas.openxmlformats.org/drawingml/2006/main">
            <a:off x="9086850" y="2343150"/>
            <a:ext cx="2324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154"/>
          </a:bodyPr>
          <a:lstStyle xmlns:a="http://schemas.openxmlformats.org/drawingml/2006/main"/>
          <a:p xmlns:a="http://schemas.openxmlformats.org/drawingml/2006/main">
            <a:pPr algn="ctr">
              <a:lnSpc>
                <a:spcPct val="104000"/>
              </a:lnSpc>
              <a:buNone/>
              <a:defRPr sz="1275" b="1">
                <a:solidFill>
                  <a:srgbClr val="64748B"/>
                </a:solidFill>
                <a:latin typeface="Arial"/>
                <a:ea typeface="Arial"/>
                <a:cs typeface="Arial"/>
              </a:defRPr>
            </a:pPr>
            <a:r>
              <a:rPr sz="1275" b="1">
                <a:solidFill>
                  <a:srgbClr val="64748B"/>
                </a:solidFill>
                <a:latin typeface="Arial"/>
                <a:ea typeface="Arial"/>
                <a:cs typeface="Arial"/>
              </a:rPr>
              <a:t>calibrated RMSLE difference</a:t>
            </a:r>
          </a:p>
        </p:txBody>
      </p:sp>
      <p:sp>
        <p:nvSpPr>
          <p:cNvPr id="9" name="">
            <a:extLst xmlns:a="http://schemas.openxmlformats.org/drawingml/2006/main">
              <a:ext uri="{FF2B5EF4-FFF2-40B4-BE49-F238E27FC236}">
                <a16:creationId xmlns:a16="http://schemas.microsoft.com/office/drawing/2014/main" id="{A9891CE3-D8DF-42EF-8F32-A439DA51ECCD}"/>
              </a:ext>
            </a:extLst>
          </p:cNvPr>
          <p:cNvSpPr>
            <a:spLocks xmlns:a="http://schemas.openxmlformats.org/drawingml/2006/main" noGrp="1"/>
          </p:cNvSpPr>
          <p:nvPr/>
        </p:nvSpPr>
        <p:spPr>
          <a:xfrm xmlns:a="http://schemas.openxmlformats.org/drawingml/2006/main">
            <a:off x="9086850" y="2743200"/>
            <a:ext cx="2324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718"/>
          </a:bodyPr>
          <a:lstStyle xmlns:a="http://schemas.openxmlformats.org/drawingml/2006/main"/>
          <a:p xmlns:a="http://schemas.openxmlformats.org/drawingml/2006/main">
            <a:pPr algn="ctr">
              <a:lnSpc>
                <a:spcPct val="104000"/>
              </a:lnSpc>
              <a:buNone/>
              <a:defRPr sz="1500" b="1">
                <a:solidFill>
                  <a:srgbClr val="172554"/>
                </a:solidFill>
                <a:latin typeface="Arial"/>
                <a:ea typeface="Arial"/>
                <a:cs typeface="Arial"/>
              </a:defRPr>
            </a:pPr>
            <a:r>
              <a:rPr sz="1500" b="1">
                <a:solidFill>
                  <a:srgbClr val="172554"/>
                </a:solidFill>
                <a:latin typeface="Arial"/>
                <a:ea typeface="Arial"/>
                <a:cs typeface="Arial"/>
              </a:rPr>
              <a:t>0.5745  |  0.5831</a:t>
            </a:r>
          </a:p>
        </p:txBody>
      </p:sp>
      <p:sp>
        <p:nvSpPr>
          <p:cNvPr id="10" name="">
            <a:extLst xmlns:a="http://schemas.openxmlformats.org/drawingml/2006/main">
              <a:ext uri="{FF2B5EF4-FFF2-40B4-BE49-F238E27FC236}">
                <a16:creationId xmlns:a16="http://schemas.microsoft.com/office/drawing/2014/main" id="{F93A9BB5-67E1-4FDE-BC03-81840979CD6F}"/>
              </a:ext>
            </a:extLst>
          </p:cNvPr>
          <p:cNvSpPr>
            <a:spLocks xmlns:a="http://schemas.openxmlformats.org/drawingml/2006/main" noGrp="1"/>
          </p:cNvSpPr>
          <p:nvPr/>
        </p:nvSpPr>
        <p:spPr>
          <a:xfrm xmlns:a="http://schemas.openxmlformats.org/drawingml/2006/main">
            <a:off x="8896350" y="3371850"/>
            <a:ext cx="2705100" cy="2343150"/>
          </a:xfrm>
          <a:prstGeom xmlns:a="http://schemas.openxmlformats.org/drawingml/2006/main" prst="roundRect">
            <a:avLst>
              <a:gd name="adj" fmla="val 4878"/>
            </a:avLst>
          </a:prstGeom>
          <a:solidFill xmlns:a="http://schemas.openxmlformats.org/drawingml/2006/main">
            <a:srgbClr val="F8FAFC"/>
          </a:solidFill>
          <a:ln xmlns:a="http://schemas.openxmlformats.org/drawingml/2006/main" w="9525">
            <a:solidFill>
              <a:srgbClr val="CBD5E1"/>
            </a:solidFill>
          </a:ln>
        </p:spPr>
      </p:sp>
      <p:sp>
        <p:nvSpPr>
          <p:cNvPr id="11" name="">
            <a:extLst xmlns:a="http://schemas.openxmlformats.org/drawingml/2006/main">
              <a:ext uri="{FF2B5EF4-FFF2-40B4-BE49-F238E27FC236}">
                <a16:creationId xmlns:a16="http://schemas.microsoft.com/office/drawing/2014/main" id="{0A646E25-AB48-467E-93AA-98DA35C14B7D}"/>
              </a:ext>
            </a:extLst>
          </p:cNvPr>
          <p:cNvSpPr>
            <a:spLocks xmlns:a="http://schemas.openxmlformats.org/drawingml/2006/main" noGrp="1"/>
          </p:cNvSpPr>
          <p:nvPr/>
        </p:nvSpPr>
        <p:spPr>
          <a:xfrm xmlns:a="http://schemas.openxmlformats.org/drawingml/2006/main">
            <a:off x="9086850" y="3562350"/>
            <a:ext cx="2324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6032"/>
          </a:bodyPr>
          <a:lstStyle xmlns:a="http://schemas.openxmlformats.org/drawingml/2006/main"/>
          <a:p xmlns:a="http://schemas.openxmlformats.org/drawingml/2006/main">
            <a:pPr algn="ctr">
              <a:lnSpc>
                <a:spcPct val="104000"/>
              </a:lnSpc>
              <a:buNone/>
              <a:defRPr sz="1425" b="1">
                <a:solidFill>
                  <a:srgbClr val="4F46E5"/>
                </a:solidFill>
                <a:latin typeface="Arial"/>
                <a:ea typeface="Arial"/>
                <a:cs typeface="Arial"/>
              </a:defRPr>
            </a:pPr>
            <a:r>
              <a:rPr sz="1425" b="1">
                <a:solidFill>
                  <a:srgbClr val="4F46E5"/>
                </a:solidFill>
                <a:latin typeface="Arial"/>
                <a:ea typeface="Arial"/>
                <a:cs typeface="Arial"/>
              </a:rPr>
              <a:t>FusionVI − totalVI</a:t>
            </a:r>
          </a:p>
        </p:txBody>
      </p:sp>
      <p:sp>
        <p:nvSpPr>
          <p:cNvPr id="12" name="">
            <a:extLst xmlns:a="http://schemas.openxmlformats.org/drawingml/2006/main">
              <a:ext uri="{FF2B5EF4-FFF2-40B4-BE49-F238E27FC236}">
                <a16:creationId xmlns:a16="http://schemas.microsoft.com/office/drawing/2014/main" id="{017159E8-E07A-42E6-8D2E-AEE4CE41B15B}"/>
              </a:ext>
            </a:extLst>
          </p:cNvPr>
          <p:cNvSpPr>
            <a:spLocks xmlns:a="http://schemas.openxmlformats.org/drawingml/2006/main" noGrp="1"/>
          </p:cNvSpPr>
          <p:nvPr/>
        </p:nvSpPr>
        <p:spPr>
          <a:xfrm xmlns:a="http://schemas.openxmlformats.org/drawingml/2006/main">
            <a:off x="9353550" y="4057650"/>
            <a:ext cx="1809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2480"/>
          </a:bodyPr>
          <a:lstStyle xmlns:a="http://schemas.openxmlformats.org/drawingml/2006/main"/>
          <a:p xmlns:a="http://schemas.openxmlformats.org/drawingml/2006/main">
            <a:pPr algn="l">
              <a:lnSpc>
                <a:spcPct val="104000"/>
              </a:lnSpc>
              <a:buNone/>
              <a:defRPr sz="1725" b="1">
                <a:solidFill>
                  <a:srgbClr val="172554"/>
                </a:solidFill>
                <a:latin typeface="Arial"/>
                <a:ea typeface="Arial"/>
                <a:cs typeface="Arial"/>
              </a:defRPr>
            </a:pPr>
            <a:r>
              <a:rPr sz="1725" b="1">
                <a:solidFill>
                  <a:srgbClr val="172554"/>
                </a:solidFill>
                <a:latin typeface="Arial"/>
                <a:ea typeface="Arial"/>
                <a:cs typeface="Arial"/>
              </a:rPr>
              <a:t>Residual SD   +0.0065</a:t>
            </a:r>
          </a:p>
          <a:p xmlns:a="http://schemas.openxmlformats.org/drawingml/2006/main">
            <a:pPr algn="l">
              <a:lnSpc>
                <a:spcPct val="104000"/>
              </a:lnSpc>
              <a:buNone/>
              <a:defRPr sz="1725" b="1">
                <a:solidFill>
                  <a:srgbClr val="172554"/>
                </a:solidFill>
                <a:latin typeface="Arial"/>
                <a:ea typeface="Arial"/>
                <a:cs typeface="Arial"/>
              </a:defRPr>
            </a:pPr>
            <a:r>
              <a:rPr sz="1725" b="1">
                <a:solidFill>
                  <a:srgbClr val="172554"/>
                </a:solidFill>
                <a:latin typeface="Arial"/>
                <a:ea typeface="Arial"/>
                <a:cs typeface="Arial"/>
              </a:rPr>
              <a:t>Within-cell  -0.0041</a:t>
            </a:r>
          </a:p>
          <a:p xmlns:a="http://schemas.openxmlformats.org/drawingml/2006/main">
            <a:pPr algn="l">
              <a:lnSpc>
                <a:spcPct val="104000"/>
              </a:lnSpc>
              <a:buNone/>
              <a:defRPr sz="1725" b="1">
                <a:solidFill>
                  <a:srgbClr val="172554"/>
                </a:solidFill>
                <a:latin typeface="Arial"/>
                <a:ea typeface="Arial"/>
                <a:cs typeface="Arial"/>
              </a:defRPr>
            </a:pPr>
            <a:r>
              <a:rPr sz="1725" b="1">
                <a:solidFill>
                  <a:srgbClr val="172554"/>
                </a:solidFill>
                <a:latin typeface="Arial"/>
                <a:ea typeface="Arial"/>
                <a:cs typeface="Arial"/>
              </a:rPr>
              <a:t>Marker AUROC  -0.0006</a:t>
            </a:r>
          </a:p>
        </p:txBody>
      </p:sp>
      <p:sp>
        <p:nvSpPr>
          <p:cNvPr id="13" name="">
            <a:extLst xmlns:a="http://schemas.openxmlformats.org/drawingml/2006/main">
              <a:ext uri="{FF2B5EF4-FFF2-40B4-BE49-F238E27FC236}">
                <a16:creationId xmlns:a16="http://schemas.microsoft.com/office/drawing/2014/main" id="{CEF54F0A-1CDB-4752-9C96-C3FA08153696}"/>
              </a:ext>
            </a:extLst>
          </p:cNvPr>
          <p:cNvSpPr>
            <a:spLocks xmlns:a="http://schemas.openxmlformats.org/drawingml/2006/main" noGrp="1"/>
          </p:cNvSpPr>
          <p:nvPr/>
        </p:nvSpPr>
        <p:spPr>
          <a:xfrm xmlns:a="http://schemas.openxmlformats.org/drawingml/2006/main">
            <a:off x="9010650" y="58864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059"/>
          </a:bodyPr>
          <a:lstStyle xmlns:a="http://schemas.openxmlformats.org/drawingml/2006/main"/>
          <a:p xmlns:a="http://schemas.openxmlformats.org/drawingml/2006/main">
            <a:pPr algn="ctr">
              <a:lnSpc>
                <a:spcPct val="104000"/>
              </a:lnSpc>
              <a:buNone/>
              <a:defRPr sz="1200" b="1">
                <a:solidFill>
                  <a:srgbClr val="16A34A"/>
                </a:solidFill>
                <a:latin typeface="Arial"/>
                <a:ea typeface="Arial"/>
                <a:cs typeface="Arial"/>
              </a:defRPr>
            </a:pPr>
            <a:r>
              <a:rPr sz="1200" b="1">
                <a:solidFill>
                  <a:srgbClr val="16A34A"/>
                </a:solidFill>
                <a:latin typeface="Arial"/>
                <a:ea typeface="Arial"/>
                <a:cs typeface="Arial"/>
              </a:rPr>
              <a:t>16 paired seeds  •  all checkpoints re-scored</a:t>
            </a:r>
          </a:p>
        </p:txBody>
      </p:sp>
    </p:spTree>
    <p:extLst>
      <p:ext uri="{BB962C8B-B14F-4D97-AF65-F5344CB8AC3E}">
        <p14:creationId xmlns:p14="http://schemas.microsoft.com/office/powerpoint/2010/main" val="1755346213"/>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B5A002B-3B7A-4D2E-9A6A-A3C39C5B0BC7}"/>
              </a:ext>
            </a:extLst>
          </p:cNvPr>
          <p:cNvSpPr>
            <a:spLocks xmlns:a="http://schemas.openxmlformats.org/drawingml/2006/main" noGrp="1"/>
          </p:cNvSpPr>
          <p:nvPr/>
        </p:nvSpPr>
        <p:spPr>
          <a:xfrm xmlns:a="http://schemas.openxmlformats.org/drawingml/2006/main">
            <a:off x="647700" y="2857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17"/>
          </a:bodyPr>
          <a:lstStyle xmlns:a="http://schemas.openxmlformats.org/drawingml/2006/main"/>
          <a:p xmlns:a="http://schemas.openxmlformats.org/drawingml/2006/main">
            <a:pPr algn="l">
              <a:lnSpc>
                <a:spcPct val="104000"/>
              </a:lnSpc>
              <a:buNone/>
              <a:defRPr sz="1050" b="1">
                <a:solidFill>
                  <a:srgbClr val="0F9F9A"/>
                </a:solidFill>
                <a:latin typeface="Arial"/>
                <a:ea typeface="Arial"/>
                <a:cs typeface="Arial"/>
              </a:defRPr>
            </a:pPr>
            <a:r>
              <a:rPr sz="1050" b="1">
                <a:solidFill>
                  <a:srgbClr val="0F9F9A"/>
                </a:solidFill>
                <a:latin typeface="Arial"/>
                <a:ea typeface="Arial"/>
                <a:cs typeface="Arial"/>
              </a:rPr>
              <a:t>INTERPRETATION</a:t>
            </a:r>
          </a:p>
        </p:txBody>
      </p:sp>
      <p:sp>
        <p:nvSpPr>
          <p:cNvPr id="2" name="">
            <a:extLst xmlns:a="http://schemas.openxmlformats.org/drawingml/2006/main">
              <a:ext uri="{FF2B5EF4-FFF2-40B4-BE49-F238E27FC236}">
                <a16:creationId xmlns:a16="http://schemas.microsoft.com/office/drawing/2014/main" id="{64315C03-185F-4E8F-878A-9099C7C582D1}"/>
              </a:ext>
            </a:extLst>
          </p:cNvPr>
          <p:cNvSpPr>
            <a:spLocks xmlns:a="http://schemas.openxmlformats.org/drawingml/2006/main" noGrp="1"/>
          </p:cNvSpPr>
          <p:nvPr/>
        </p:nvSpPr>
        <p:spPr>
          <a:xfrm xmlns:a="http://schemas.openxmlformats.org/drawingml/2006/main">
            <a:off x="647700" y="5715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4000"/>
              </a:lnSpc>
              <a:buNone/>
              <a:defRPr sz="2850" b="1">
                <a:solidFill>
                  <a:srgbClr val="172554"/>
                </a:solidFill>
                <a:latin typeface="Arial"/>
                <a:ea typeface="Arial"/>
                <a:cs typeface="Arial"/>
              </a:defRPr>
            </a:pPr>
            <a:r>
              <a:rPr sz="2850" b="1">
                <a:solidFill>
                  <a:srgbClr val="172554"/>
                </a:solidFill>
                <a:latin typeface="Arial"/>
                <a:ea typeface="Arial"/>
                <a:cs typeface="Arial"/>
              </a:rPr>
              <a:t>Calibration explains the apparent RMSLE gain</a:t>
            </a:r>
          </a:p>
        </p:txBody>
      </p:sp>
      <p:sp>
        <p:nvSpPr>
          <p:cNvPr id="3" name="">
            <a:extLst xmlns:a="http://schemas.openxmlformats.org/drawingml/2006/main">
              <a:ext uri="{FF2B5EF4-FFF2-40B4-BE49-F238E27FC236}">
                <a16:creationId xmlns:a16="http://schemas.microsoft.com/office/drawing/2014/main" id="{77B6EF63-6751-4DC3-86BE-41AB3CC453D3}"/>
              </a:ext>
            </a:extLst>
          </p:cNvPr>
          <p:cNvSpPr>
            <a:spLocks xmlns:a="http://schemas.openxmlformats.org/drawingml/2006/main" noGrp="1"/>
          </p:cNvSpPr>
          <p:nvPr/>
        </p:nvSpPr>
        <p:spPr>
          <a:xfrm xmlns:a="http://schemas.openxmlformats.org/drawingml/2006/main">
            <a:off x="647700" y="1219200"/>
            <a:ext cx="876300" cy="47625"/>
          </a:xfrm>
          <a:prstGeom xmlns:a="http://schemas.openxmlformats.org/drawingml/2006/main" prst="rect">
            <a:avLst/>
          </a:prstGeom>
          <a:solidFill xmlns:a="http://schemas.openxmlformats.org/drawingml/2006/main">
            <a:srgbClr val="F9731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44AB404-C493-4F55-8439-1AA137E9FD23}"/>
              </a:ext>
            </a:extLst>
          </p:cNvPr>
          <p:cNvSpPr>
            <a:spLocks xmlns:a="http://schemas.openxmlformats.org/drawingml/2006/main" noGrp="1"/>
          </p:cNvSpPr>
          <p:nvPr/>
        </p:nvSpPr>
        <p:spPr>
          <a:xfrm xmlns:a="http://schemas.openxmlformats.org/drawingml/2006/main">
            <a:off x="11239500" y="32385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17"/>
          </a:bodyPr>
          <a:lstStyle xmlns:a="http://schemas.openxmlformats.org/drawingml/2006/main"/>
          <a:p xmlns:a="http://schemas.openxmlformats.org/drawingml/2006/main">
            <a:pPr algn="r">
              <a:lnSpc>
                <a:spcPct val="104000"/>
              </a:lnSpc>
              <a:buNone/>
              <a:defRPr sz="1050" b="1">
                <a:solidFill>
                  <a:srgbClr val="64748B"/>
                </a:solidFill>
                <a:latin typeface="Arial"/>
                <a:ea typeface="Arial"/>
                <a:cs typeface="Arial"/>
              </a:defRPr>
            </a:pPr>
            <a:r>
              <a:rPr sz="1050" b="1">
                <a:solidFill>
                  <a:srgbClr val="64748B"/>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3D63C4C2-6A54-4E75-AEBD-E81B38E052E5}"/>
              </a:ext>
            </a:extLst>
          </p:cNvPr>
          <p:cNvSpPr>
            <a:spLocks xmlns:a="http://schemas.openxmlformats.org/drawingml/2006/main" noGrp="1"/>
          </p:cNvSpPr>
          <p:nvPr/>
        </p:nvSpPr>
        <p:spPr>
          <a:xfrm xmlns:a="http://schemas.openxmlformats.org/drawingml/2006/main">
            <a:off x="628650" y="1581150"/>
            <a:ext cx="5219700" cy="1905000"/>
          </a:xfrm>
          <a:prstGeom xmlns:a="http://schemas.openxmlformats.org/drawingml/2006/main" prst="roundRect">
            <a:avLst>
              <a:gd name="adj" fmla="val 6000"/>
            </a:avLst>
          </a:prstGeom>
          <a:solidFill xmlns:a="http://schemas.openxmlformats.org/drawingml/2006/main">
            <a:srgbClr val="FFFFFF"/>
          </a:solidFill>
          <a:ln xmlns:a="http://schemas.openxmlformats.org/drawingml/2006/main" w="9525">
            <a:solidFill>
              <a:srgbClr val="CBD5E1"/>
            </a:solidFill>
          </a:ln>
        </p:spPr>
      </p:sp>
      <p:sp>
        <p:nvSpPr>
          <p:cNvPr id="6" name="">
            <a:extLst xmlns:a="http://schemas.openxmlformats.org/drawingml/2006/main">
              <a:ext uri="{FF2B5EF4-FFF2-40B4-BE49-F238E27FC236}">
                <a16:creationId xmlns:a16="http://schemas.microsoft.com/office/drawing/2014/main" id="{8F8717AD-E57D-4192-AC3E-EE82CADAC698}"/>
              </a:ext>
            </a:extLst>
          </p:cNvPr>
          <p:cNvSpPr>
            <a:spLocks xmlns:a="http://schemas.openxmlformats.org/drawingml/2006/main" noGrp="1"/>
          </p:cNvSpPr>
          <p:nvPr/>
        </p:nvSpPr>
        <p:spPr>
          <a:xfrm xmlns:a="http://schemas.openxmlformats.org/drawingml/2006/main">
            <a:off x="857250" y="179070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826"/>
          </a:bodyPr>
          <a:lstStyle xmlns:a="http://schemas.openxmlformats.org/drawingml/2006/main"/>
          <a:p xmlns:a="http://schemas.openxmlformats.org/drawingml/2006/main">
            <a:pPr algn="l">
              <a:lnSpc>
                <a:spcPct val="104000"/>
              </a:lnSpc>
              <a:buNone/>
              <a:defRPr sz="2100" b="1">
                <a:solidFill>
                  <a:srgbClr val="F97316"/>
                </a:solidFill>
                <a:latin typeface="Arial"/>
                <a:ea typeface="Arial"/>
                <a:cs typeface="Arial"/>
              </a:defRPr>
            </a:pPr>
            <a:r>
              <a:rPr sz="2100" b="1">
                <a:solidFill>
                  <a:srgbClr val="F97316"/>
                </a:solidFill>
                <a:latin typeface="Arial"/>
                <a:ea typeface="Arial"/>
                <a:cs typeface="Arial"/>
              </a:rPr>
              <a:t>Original readout</a:t>
            </a:r>
          </a:p>
        </p:txBody>
      </p:sp>
      <p:sp>
        <p:nvSpPr>
          <p:cNvPr id="7" name="">
            <a:extLst xmlns:a="http://schemas.openxmlformats.org/drawingml/2006/main">
              <a:ext uri="{FF2B5EF4-FFF2-40B4-BE49-F238E27FC236}">
                <a16:creationId xmlns:a16="http://schemas.microsoft.com/office/drawing/2014/main" id="{D8A0A679-4629-4175-AE64-C3454718A692}"/>
              </a:ext>
            </a:extLst>
          </p:cNvPr>
          <p:cNvSpPr>
            <a:spLocks xmlns:a="http://schemas.openxmlformats.org/drawingml/2006/main" noGrp="1"/>
          </p:cNvSpPr>
          <p:nvPr/>
        </p:nvSpPr>
        <p:spPr>
          <a:xfrm xmlns:a="http://schemas.openxmlformats.org/drawingml/2006/main">
            <a:off x="857250" y="2286000"/>
            <a:ext cx="4762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4000"/>
              </a:lnSpc>
              <a:buNone/>
              <a:defRPr sz="1575" b="0">
                <a:solidFill>
                  <a:srgbClr val="172554"/>
                </a:solidFill>
                <a:latin typeface="Arial"/>
                <a:ea typeface="Arial"/>
                <a:cs typeface="Arial"/>
              </a:defRPr>
            </a:pPr>
            <a:r>
              <a:rPr sz="1575" b="0">
                <a:solidFill>
                  <a:srgbClr val="172554"/>
                </a:solidFill>
                <a:latin typeface="Arial"/>
                <a:ea typeface="Arial"/>
                <a:cs typeface="Arial"/>
              </a:rPr>
              <a:t>FusionVI was lower by 0.0062 RMSLE when scoring log1p of expected counts.</a:t>
            </a:r>
          </a:p>
        </p:txBody>
      </p:sp>
      <p:sp>
        <p:nvSpPr>
          <p:cNvPr id="8" name="">
            <a:extLst xmlns:a="http://schemas.openxmlformats.org/drawingml/2006/main">
              <a:ext uri="{FF2B5EF4-FFF2-40B4-BE49-F238E27FC236}">
                <a16:creationId xmlns:a16="http://schemas.microsoft.com/office/drawing/2014/main" id="{098A69E9-F9A2-4D0F-B565-866CF5A79587}"/>
              </a:ext>
            </a:extLst>
          </p:cNvPr>
          <p:cNvSpPr>
            <a:spLocks xmlns:a="http://schemas.openxmlformats.org/drawingml/2006/main" noGrp="1"/>
          </p:cNvSpPr>
          <p:nvPr/>
        </p:nvSpPr>
        <p:spPr>
          <a:xfrm xmlns:a="http://schemas.openxmlformats.org/drawingml/2006/main">
            <a:off x="6343650" y="1581150"/>
            <a:ext cx="5219700" cy="1905000"/>
          </a:xfrm>
          <a:prstGeom xmlns:a="http://schemas.openxmlformats.org/drawingml/2006/main" prst="roundRect">
            <a:avLst>
              <a:gd name="adj" fmla="val 6000"/>
            </a:avLst>
          </a:prstGeom>
          <a:solidFill xmlns:a="http://schemas.openxmlformats.org/drawingml/2006/main">
            <a:srgbClr val="FFFFFF"/>
          </a:solidFill>
          <a:ln xmlns:a="http://schemas.openxmlformats.org/drawingml/2006/main" w="9525">
            <a:solidFill>
              <a:srgbClr val="CBD5E1"/>
            </a:solidFill>
          </a:ln>
        </p:spPr>
      </p:sp>
      <p:sp>
        <p:nvSpPr>
          <p:cNvPr id="9" name="">
            <a:extLst xmlns:a="http://schemas.openxmlformats.org/drawingml/2006/main">
              <a:ext uri="{FF2B5EF4-FFF2-40B4-BE49-F238E27FC236}">
                <a16:creationId xmlns:a16="http://schemas.microsoft.com/office/drawing/2014/main" id="{14940686-358A-47A2-A742-25EB2BEC8500}"/>
              </a:ext>
            </a:extLst>
          </p:cNvPr>
          <p:cNvSpPr>
            <a:spLocks xmlns:a="http://schemas.openxmlformats.org/drawingml/2006/main" noGrp="1"/>
          </p:cNvSpPr>
          <p:nvPr/>
        </p:nvSpPr>
        <p:spPr>
          <a:xfrm xmlns:a="http://schemas.openxmlformats.org/drawingml/2006/main">
            <a:off x="6572250" y="179070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826"/>
          </a:bodyPr>
          <a:lstStyle xmlns:a="http://schemas.openxmlformats.org/drawingml/2006/main"/>
          <a:p xmlns:a="http://schemas.openxmlformats.org/drawingml/2006/main">
            <a:pPr algn="l">
              <a:lnSpc>
                <a:spcPct val="104000"/>
              </a:lnSpc>
              <a:buNone/>
              <a:defRPr sz="2100" b="1">
                <a:solidFill>
                  <a:srgbClr val="0F9F9A"/>
                </a:solidFill>
                <a:latin typeface="Arial"/>
                <a:ea typeface="Arial"/>
                <a:cs typeface="Arial"/>
              </a:defRPr>
            </a:pPr>
            <a:r>
              <a:rPr sz="2100" b="1">
                <a:solidFill>
                  <a:srgbClr val="0F9F9A"/>
                </a:solidFill>
                <a:latin typeface="Arial"/>
                <a:ea typeface="Arial"/>
                <a:cs typeface="Arial"/>
              </a:rPr>
              <a:t>After D1 calibration</a:t>
            </a:r>
          </a:p>
        </p:txBody>
      </p:sp>
      <p:sp>
        <p:nvSpPr>
          <p:cNvPr id="10" name="">
            <a:extLst xmlns:a="http://schemas.openxmlformats.org/drawingml/2006/main">
              <a:ext uri="{FF2B5EF4-FFF2-40B4-BE49-F238E27FC236}">
                <a16:creationId xmlns:a16="http://schemas.microsoft.com/office/drawing/2014/main" id="{F05700F7-AF18-4934-9C99-9A7D1ADCFE6B}"/>
              </a:ext>
            </a:extLst>
          </p:cNvPr>
          <p:cNvSpPr>
            <a:spLocks xmlns:a="http://schemas.openxmlformats.org/drawingml/2006/main" noGrp="1"/>
          </p:cNvSpPr>
          <p:nvPr/>
        </p:nvSpPr>
        <p:spPr>
          <a:xfrm xmlns:a="http://schemas.openxmlformats.org/drawingml/2006/main">
            <a:off x="6572250" y="2286000"/>
            <a:ext cx="4762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4000"/>
              </a:lnSpc>
              <a:buNone/>
              <a:defRPr sz="1575" b="0">
                <a:solidFill>
                  <a:srgbClr val="172554"/>
                </a:solidFill>
                <a:latin typeface="Arial"/>
                <a:ea typeface="Arial"/>
                <a:cs typeface="Arial"/>
              </a:defRPr>
            </a:pPr>
            <a:r>
              <a:rPr sz="1575" b="0">
                <a:solidFill>
                  <a:srgbClr val="172554"/>
                </a:solidFill>
                <a:latin typeface="Arial"/>
                <a:ea typeface="Arial"/>
                <a:cs typeface="Arial"/>
              </a:rPr>
              <a:t>FusionVI is +0.0085 versus totalVI; the 95% CI crosses zero and residual error is higher.</a:t>
            </a:r>
          </a:p>
        </p:txBody>
      </p:sp>
      <p:sp>
        <p:nvSpPr>
          <p:cNvPr id="11" name="">
            <a:extLst xmlns:a="http://schemas.openxmlformats.org/drawingml/2006/main">
              <a:ext uri="{FF2B5EF4-FFF2-40B4-BE49-F238E27FC236}">
                <a16:creationId xmlns:a16="http://schemas.microsoft.com/office/drawing/2014/main" id="{E7370A3D-6D8C-4D4E-B72C-50DA8E79D90F}"/>
              </a:ext>
            </a:extLst>
          </p:cNvPr>
          <p:cNvSpPr>
            <a:spLocks xmlns:a="http://schemas.openxmlformats.org/drawingml/2006/main" noGrp="1"/>
          </p:cNvSpPr>
          <p:nvPr/>
        </p:nvSpPr>
        <p:spPr>
          <a:xfrm xmlns:a="http://schemas.openxmlformats.org/drawingml/2006/main">
            <a:off x="685800" y="4000500"/>
            <a:ext cx="352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839"/>
          </a:bodyPr>
          <a:lstStyle xmlns:a="http://schemas.openxmlformats.org/drawingml/2006/main"/>
          <a:p xmlns:a="http://schemas.openxmlformats.org/drawingml/2006/main">
            <a:pPr algn="l">
              <a:lnSpc>
                <a:spcPct val="104000"/>
              </a:lnSpc>
              <a:buNone/>
              <a:defRPr sz="1575" b="1">
                <a:solidFill>
                  <a:srgbClr val="4F46E5"/>
                </a:solidFill>
                <a:latin typeface="Arial"/>
                <a:ea typeface="Arial"/>
                <a:cs typeface="Arial"/>
              </a:defRPr>
            </a:pPr>
            <a:r>
              <a:rPr sz="1575" b="1">
                <a:solidFill>
                  <a:srgbClr val="4F46E5"/>
                </a:solidFill>
                <a:latin typeface="Arial"/>
                <a:ea typeface="Arial"/>
                <a:cs typeface="Arial"/>
              </a:rPr>
              <a:t>Biological information</a:t>
            </a:r>
          </a:p>
        </p:txBody>
      </p:sp>
      <p:sp>
        <p:nvSpPr>
          <p:cNvPr id="12" name="">
            <a:extLst xmlns:a="http://schemas.openxmlformats.org/drawingml/2006/main">
              <a:ext uri="{FF2B5EF4-FFF2-40B4-BE49-F238E27FC236}">
                <a16:creationId xmlns:a16="http://schemas.microsoft.com/office/drawing/2014/main" id="{2C8C96E8-1FDD-4F80-9031-FAEDFFE3E083}"/>
              </a:ext>
            </a:extLst>
          </p:cNvPr>
          <p:cNvSpPr>
            <a:spLocks xmlns:a="http://schemas.openxmlformats.org/drawingml/2006/main" noGrp="1"/>
          </p:cNvSpPr>
          <p:nvPr/>
        </p:nvSpPr>
        <p:spPr>
          <a:xfrm xmlns:a="http://schemas.openxmlformats.org/drawingml/2006/main">
            <a:off x="685800" y="4381500"/>
            <a:ext cx="476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4000"/>
              </a:lnSpc>
              <a:buNone/>
              <a:defRPr sz="1875" b="1">
                <a:solidFill>
                  <a:srgbClr val="172554"/>
                </a:solidFill>
                <a:latin typeface="Arial"/>
                <a:ea typeface="Arial"/>
                <a:cs typeface="Arial"/>
              </a:defRPr>
            </a:pPr>
            <a:r>
              <a:rPr sz="1875" b="1">
                <a:solidFill>
                  <a:srgbClr val="172554"/>
                </a:solidFill>
                <a:latin typeface="Arial"/>
                <a:ea typeface="Arial"/>
                <a:cs typeface="Arial"/>
              </a:rPr>
              <a:t>Within-cell-type Spearman is 0.164 for FusionVI versus 0.168 for totalVI.</a:t>
            </a:r>
          </a:p>
        </p:txBody>
      </p:sp>
      <p:sp>
        <p:nvSpPr>
          <p:cNvPr id="13" name="">
            <a:extLst xmlns:a="http://schemas.openxmlformats.org/drawingml/2006/main">
              <a:ext uri="{FF2B5EF4-FFF2-40B4-BE49-F238E27FC236}">
                <a16:creationId xmlns:a16="http://schemas.microsoft.com/office/drawing/2014/main" id="{30778563-451F-4EC4-86CA-7F8159D6D11A}"/>
              </a:ext>
            </a:extLst>
          </p:cNvPr>
          <p:cNvSpPr>
            <a:spLocks xmlns:a="http://schemas.openxmlformats.org/drawingml/2006/main" noGrp="1"/>
          </p:cNvSpPr>
          <p:nvPr/>
        </p:nvSpPr>
        <p:spPr>
          <a:xfrm xmlns:a="http://schemas.openxmlformats.org/drawingml/2006/main">
            <a:off x="6400800" y="4000500"/>
            <a:ext cx="352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839"/>
          </a:bodyPr>
          <a:lstStyle xmlns:a="http://schemas.openxmlformats.org/drawingml/2006/main"/>
          <a:p xmlns:a="http://schemas.openxmlformats.org/drawingml/2006/main">
            <a:pPr algn="l">
              <a:lnSpc>
                <a:spcPct val="104000"/>
              </a:lnSpc>
              <a:buNone/>
              <a:defRPr sz="1575" b="1">
                <a:solidFill>
                  <a:srgbClr val="F97316"/>
                </a:solidFill>
                <a:latin typeface="Arial"/>
                <a:ea typeface="Arial"/>
                <a:cs typeface="Arial"/>
              </a:defRPr>
            </a:pPr>
            <a:r>
              <a:rPr sz="1575" b="1">
                <a:solidFill>
                  <a:srgbClr val="F97316"/>
                </a:solidFill>
                <a:latin typeface="Arial"/>
                <a:ea typeface="Arial"/>
                <a:cs typeface="Arial"/>
              </a:rPr>
              <a:t>Interpretation</a:t>
            </a:r>
          </a:p>
        </p:txBody>
      </p:sp>
      <p:sp>
        <p:nvSpPr>
          <p:cNvPr id="14" name="">
            <a:extLst xmlns:a="http://schemas.openxmlformats.org/drawingml/2006/main">
              <a:ext uri="{FF2B5EF4-FFF2-40B4-BE49-F238E27FC236}">
                <a16:creationId xmlns:a16="http://schemas.microsoft.com/office/drawing/2014/main" id="{4AFE4801-2C28-4533-ABB8-459700303B3C}"/>
              </a:ext>
            </a:extLst>
          </p:cNvPr>
          <p:cNvSpPr>
            <a:spLocks xmlns:a="http://schemas.openxmlformats.org/drawingml/2006/main" noGrp="1"/>
          </p:cNvSpPr>
          <p:nvPr/>
        </p:nvSpPr>
        <p:spPr>
          <a:xfrm xmlns:a="http://schemas.openxmlformats.org/drawingml/2006/main">
            <a:off x="6400800" y="4381500"/>
            <a:ext cx="4762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4000"/>
              </a:lnSpc>
              <a:buNone/>
              <a:defRPr sz="1650" b="1">
                <a:solidFill>
                  <a:srgbClr val="172554"/>
                </a:solidFill>
                <a:latin typeface="Arial"/>
                <a:ea typeface="Arial"/>
                <a:cs typeface="Arial"/>
              </a:defRPr>
            </a:pPr>
            <a:r>
              <a:rPr sz="1650" b="1">
                <a:solidFill>
                  <a:srgbClr val="172554"/>
                </a:solidFill>
                <a:latin typeface="Arial"/>
                <a:ea typeface="Arial"/>
                <a:cs typeface="Arial"/>
              </a:rPr>
              <a:t>The encoder changes output scale, but this benchmark does not show stronger recovery of biological variation.</a:t>
            </a:r>
          </a:p>
        </p:txBody>
      </p:sp>
    </p:spTree>
    <p:extLst>
      <p:ext uri="{BB962C8B-B14F-4D97-AF65-F5344CB8AC3E}">
        <p14:creationId xmlns:p14="http://schemas.microsoft.com/office/powerpoint/2010/main" val="804352027"/>
      </p:ext>
    </p:extLst>
  </p:cSld>
</p:sld>
</file>

<file path=ppt/slides/slide8.xml><?xml version="1.0" encoding="utf-8"?>
<p:sld xmlns:p="http://schemas.openxmlformats.org/presentationml/2006/main">
  <p:cSld>
    <p:bg>
      <p:bgPr>
        <a:solidFill xmlns:a="http://schemas.openxmlformats.org/drawingml/2006/main">
          <a:srgbClr val="172554"/>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2428635-0120-4E42-BB49-4A57D6C05F77}"/>
              </a:ext>
            </a:extLst>
          </p:cNvPr>
          <p:cNvSpPr>
            <a:spLocks xmlns:a="http://schemas.openxmlformats.org/drawingml/2006/main" noGrp="1"/>
          </p:cNvSpPr>
          <p:nvPr/>
        </p:nvSpPr>
        <p:spPr>
          <a:xfrm xmlns:a="http://schemas.openxmlformats.org/drawingml/2006/main">
            <a:off x="685800" y="4191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923"/>
          </a:bodyPr>
          <a:lstStyle xmlns:a="http://schemas.openxmlformats.org/drawingml/2006/main"/>
          <a:p xmlns:a="http://schemas.openxmlformats.org/drawingml/2006/main">
            <a:pPr algn="l">
              <a:lnSpc>
                <a:spcPct val="104000"/>
              </a:lnSpc>
              <a:buNone/>
              <a:defRPr sz="1125" b="1">
                <a:solidFill>
                  <a:srgbClr val="E6FFFB"/>
                </a:solidFill>
                <a:latin typeface="Arial"/>
                <a:ea typeface="Arial"/>
                <a:cs typeface="Arial"/>
              </a:defRPr>
            </a:pPr>
            <a:r>
              <a:rPr sz="1125" b="1">
                <a:solidFill>
                  <a:srgbClr val="E6FFFB"/>
                </a:solidFill>
                <a:latin typeface="Arial"/>
                <a:ea typeface="Arial"/>
                <a:cs typeface="Arial"/>
              </a:rPr>
              <a:t>CONCLUSION</a:t>
            </a:r>
          </a:p>
        </p:txBody>
      </p:sp>
      <p:sp>
        <p:nvSpPr>
          <p:cNvPr id="2" name="">
            <a:extLst xmlns:a="http://schemas.openxmlformats.org/drawingml/2006/main">
              <a:ext uri="{FF2B5EF4-FFF2-40B4-BE49-F238E27FC236}">
                <a16:creationId xmlns:a16="http://schemas.microsoft.com/office/drawing/2014/main" id="{E78DD208-5F0F-4464-A681-BFC107A42B72}"/>
              </a:ext>
            </a:extLst>
          </p:cNvPr>
          <p:cNvSpPr>
            <a:spLocks xmlns:a="http://schemas.openxmlformats.org/drawingml/2006/main" noGrp="1"/>
          </p:cNvSpPr>
          <p:nvPr/>
        </p:nvSpPr>
        <p:spPr>
          <a:xfrm xmlns:a="http://schemas.openxmlformats.org/drawingml/2006/main">
            <a:off x="685800" y="876300"/>
            <a:ext cx="10191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4000"/>
              </a:lnSpc>
              <a:buNone/>
              <a:defRPr sz="3150" b="1">
                <a:solidFill>
                  <a:srgbClr val="FFFFFF"/>
                </a:solidFill>
                <a:latin typeface="Arial"/>
                <a:ea typeface="Arial"/>
                <a:cs typeface="Arial"/>
              </a:defRPr>
            </a:pPr>
            <a:r>
              <a:rPr sz="3150" b="1">
                <a:solidFill>
                  <a:srgbClr val="FFFFFF"/>
                </a:solidFill>
                <a:latin typeface="Arial"/>
                <a:ea typeface="Arial"/>
                <a:cs typeface="Arial"/>
              </a:rPr>
              <a:t>FusionVI changes scale, not biological recovery</a:t>
            </a:r>
          </a:p>
        </p:txBody>
      </p:sp>
      <p:sp>
        <p:nvSpPr>
          <p:cNvPr id="3" name="">
            <a:extLst xmlns:a="http://schemas.openxmlformats.org/drawingml/2006/main">
              <a:ext uri="{FF2B5EF4-FFF2-40B4-BE49-F238E27FC236}">
                <a16:creationId xmlns:a16="http://schemas.microsoft.com/office/drawing/2014/main" id="{9244C386-87BE-4C70-83D9-A6B1DF88E561}"/>
              </a:ext>
            </a:extLst>
          </p:cNvPr>
          <p:cNvSpPr>
            <a:spLocks xmlns:a="http://schemas.openxmlformats.org/drawingml/2006/main" noGrp="1"/>
          </p:cNvSpPr>
          <p:nvPr/>
        </p:nvSpPr>
        <p:spPr>
          <a:xfrm xmlns:a="http://schemas.openxmlformats.org/drawingml/2006/main">
            <a:off x="685800" y="1847850"/>
            <a:ext cx="990600" cy="47625"/>
          </a:xfrm>
          <a:prstGeom xmlns:a="http://schemas.openxmlformats.org/drawingml/2006/main" prst="rect">
            <a:avLst/>
          </a:prstGeom>
          <a:solidFill xmlns:a="http://schemas.openxmlformats.org/drawingml/2006/main">
            <a:srgbClr val="F9731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F343AAC-FE70-4C64-A82D-C076485AAEB9}"/>
              </a:ext>
            </a:extLst>
          </p:cNvPr>
          <p:cNvSpPr>
            <a:spLocks xmlns:a="http://schemas.openxmlformats.org/drawingml/2006/main" noGrp="1"/>
          </p:cNvSpPr>
          <p:nvPr/>
        </p:nvSpPr>
        <p:spPr>
          <a:xfrm xmlns:a="http://schemas.openxmlformats.org/drawingml/2006/main">
            <a:off x="838200" y="2381250"/>
            <a:ext cx="2190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3150" b="1">
                <a:solidFill>
                  <a:srgbClr val="CBD5E1"/>
                </a:solidFill>
                <a:latin typeface="Arial"/>
                <a:ea typeface="Arial"/>
                <a:cs typeface="Arial"/>
              </a:defRPr>
            </a:pPr>
            <a:r>
              <a:rPr sz="3150" b="1">
                <a:solidFill>
                  <a:srgbClr val="CBD5E1"/>
                </a:solidFill>
                <a:latin typeface="Arial"/>
                <a:ea typeface="Arial"/>
                <a:cs typeface="Arial"/>
              </a:rPr>
              <a:t>0.5745</a:t>
            </a:r>
          </a:p>
        </p:txBody>
      </p:sp>
      <p:sp>
        <p:nvSpPr>
          <p:cNvPr id="5" name="">
            <a:extLst xmlns:a="http://schemas.openxmlformats.org/drawingml/2006/main">
              <a:ext uri="{FF2B5EF4-FFF2-40B4-BE49-F238E27FC236}">
                <a16:creationId xmlns:a16="http://schemas.microsoft.com/office/drawing/2014/main" id="{0EB9B353-91F9-4CD2-9678-7580940B03D5}"/>
              </a:ext>
            </a:extLst>
          </p:cNvPr>
          <p:cNvSpPr>
            <a:spLocks xmlns:a="http://schemas.openxmlformats.org/drawingml/2006/main" noGrp="1"/>
          </p:cNvSpPr>
          <p:nvPr/>
        </p:nvSpPr>
        <p:spPr>
          <a:xfrm xmlns:a="http://schemas.openxmlformats.org/drawingml/2006/main">
            <a:off x="838200" y="30480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6727"/>
          </a:bodyPr>
          <a:lstStyle xmlns:a="http://schemas.openxmlformats.org/drawingml/2006/main"/>
          <a:p xmlns:a="http://schemas.openxmlformats.org/drawingml/2006/main">
            <a:pPr algn="ctr">
              <a:lnSpc>
                <a:spcPct val="104000"/>
              </a:lnSpc>
              <a:buNone/>
              <a:defRPr sz="1275" b="1">
                <a:solidFill>
                  <a:srgbClr val="CBD5E1"/>
                </a:solidFill>
                <a:latin typeface="Arial"/>
                <a:ea typeface="Arial"/>
                <a:cs typeface="Arial"/>
              </a:defRPr>
            </a:pPr>
            <a:r>
              <a:rPr sz="1275" b="1">
                <a:solidFill>
                  <a:srgbClr val="CBD5E1"/>
                </a:solidFill>
                <a:latin typeface="Arial"/>
                <a:ea typeface="Arial"/>
                <a:cs typeface="Arial"/>
              </a:rPr>
              <a:t>totalVI calibrated RMSLE</a:t>
            </a:r>
          </a:p>
        </p:txBody>
      </p:sp>
      <p:sp>
        <p:nvSpPr>
          <p:cNvPr id="6" name="">
            <a:extLst xmlns:a="http://schemas.openxmlformats.org/drawingml/2006/main">
              <a:ext uri="{FF2B5EF4-FFF2-40B4-BE49-F238E27FC236}">
                <a16:creationId xmlns:a16="http://schemas.microsoft.com/office/drawing/2014/main" id="{1D34A93D-36C6-4C6A-A51E-9093A341B9ED}"/>
              </a:ext>
            </a:extLst>
          </p:cNvPr>
          <p:cNvSpPr>
            <a:spLocks xmlns:a="http://schemas.openxmlformats.org/drawingml/2006/main" noGrp="1"/>
          </p:cNvSpPr>
          <p:nvPr/>
        </p:nvSpPr>
        <p:spPr>
          <a:xfrm xmlns:a="http://schemas.openxmlformats.org/drawingml/2006/main">
            <a:off x="3333750" y="2571750"/>
            <a:ext cx="95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22"/>
          </a:bodyPr>
          <a:lstStyle xmlns:a="http://schemas.openxmlformats.org/drawingml/2006/main"/>
          <a:p xmlns:a="http://schemas.openxmlformats.org/drawingml/2006/main">
            <a:pPr algn="ctr">
              <a:lnSpc>
                <a:spcPct val="104000"/>
              </a:lnSpc>
              <a:buNone/>
              <a:defRPr sz="2700" b="1">
                <a:solidFill>
                  <a:srgbClr val="F97316"/>
                </a:solidFill>
                <a:latin typeface="Arial"/>
                <a:ea typeface="Arial"/>
                <a:cs typeface="Arial"/>
              </a:defRPr>
            </a:pPr>
            <a:r>
              <a:rPr sz="2700" b="1">
                <a:solidFill>
                  <a:srgbClr val="F97316"/>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00EED77E-D1FB-4528-82E6-BF40CCAE3094}"/>
              </a:ext>
            </a:extLst>
          </p:cNvPr>
          <p:cNvSpPr>
            <a:spLocks xmlns:a="http://schemas.openxmlformats.org/drawingml/2006/main" noGrp="1"/>
          </p:cNvSpPr>
          <p:nvPr/>
        </p:nvSpPr>
        <p:spPr>
          <a:xfrm xmlns:a="http://schemas.openxmlformats.org/drawingml/2006/main">
            <a:off x="4572000" y="2381250"/>
            <a:ext cx="2190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3150" b="1">
                <a:solidFill>
                  <a:srgbClr val="F97316"/>
                </a:solidFill>
                <a:latin typeface="Arial"/>
                <a:ea typeface="Arial"/>
                <a:cs typeface="Arial"/>
              </a:defRPr>
            </a:pPr>
            <a:r>
              <a:rPr sz="3150" b="1">
                <a:solidFill>
                  <a:srgbClr val="F97316"/>
                </a:solidFill>
                <a:latin typeface="Arial"/>
                <a:ea typeface="Arial"/>
                <a:cs typeface="Arial"/>
              </a:rPr>
              <a:t>0.5831</a:t>
            </a:r>
          </a:p>
        </p:txBody>
      </p:sp>
      <p:sp>
        <p:nvSpPr>
          <p:cNvPr id="8" name="">
            <a:extLst xmlns:a="http://schemas.openxmlformats.org/drawingml/2006/main">
              <a:ext uri="{FF2B5EF4-FFF2-40B4-BE49-F238E27FC236}">
                <a16:creationId xmlns:a16="http://schemas.microsoft.com/office/drawing/2014/main" id="{9E5A596D-5999-4724-B588-CA4028CE30EA}"/>
              </a:ext>
            </a:extLst>
          </p:cNvPr>
          <p:cNvSpPr>
            <a:spLocks xmlns:a="http://schemas.openxmlformats.org/drawingml/2006/main" noGrp="1"/>
          </p:cNvSpPr>
          <p:nvPr/>
        </p:nvSpPr>
        <p:spPr>
          <a:xfrm xmlns:a="http://schemas.openxmlformats.org/drawingml/2006/main">
            <a:off x="4572000" y="30480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6727"/>
          </a:bodyPr>
          <a:lstStyle xmlns:a="http://schemas.openxmlformats.org/drawingml/2006/main"/>
          <a:p xmlns:a="http://schemas.openxmlformats.org/drawingml/2006/main">
            <a:pPr algn="ctr">
              <a:lnSpc>
                <a:spcPct val="104000"/>
              </a:lnSpc>
              <a:buNone/>
              <a:defRPr sz="1275" b="1">
                <a:solidFill>
                  <a:srgbClr val="FFF7ED"/>
                </a:solidFill>
                <a:latin typeface="Arial"/>
                <a:ea typeface="Arial"/>
                <a:cs typeface="Arial"/>
              </a:defRPr>
            </a:pPr>
            <a:r>
              <a:rPr sz="1275" b="1">
                <a:solidFill>
                  <a:srgbClr val="FFF7ED"/>
                </a:solidFill>
                <a:latin typeface="Arial"/>
                <a:ea typeface="Arial"/>
                <a:cs typeface="Arial"/>
              </a:rPr>
              <a:t>FusionVI calibrated RMSLE</a:t>
            </a:r>
          </a:p>
        </p:txBody>
      </p:sp>
      <p:sp>
        <p:nvSpPr>
          <p:cNvPr id="9" name="">
            <a:extLst xmlns:a="http://schemas.openxmlformats.org/drawingml/2006/main">
              <a:ext uri="{FF2B5EF4-FFF2-40B4-BE49-F238E27FC236}">
                <a16:creationId xmlns:a16="http://schemas.microsoft.com/office/drawing/2014/main" id="{E94B412D-1239-494E-84E1-6940E7B4988A}"/>
              </a:ext>
            </a:extLst>
          </p:cNvPr>
          <p:cNvSpPr>
            <a:spLocks xmlns:a="http://schemas.openxmlformats.org/drawingml/2006/main" noGrp="1"/>
          </p:cNvSpPr>
          <p:nvPr/>
        </p:nvSpPr>
        <p:spPr>
          <a:xfrm xmlns:a="http://schemas.openxmlformats.org/drawingml/2006/main">
            <a:off x="742950" y="39052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598"/>
          </a:bodyPr>
          <a:lstStyle xmlns:a="http://schemas.openxmlformats.org/drawingml/2006/main"/>
          <a:p xmlns:a="http://schemas.openxmlformats.org/drawingml/2006/main">
            <a:pPr algn="l">
              <a:lnSpc>
                <a:spcPct val="104000"/>
              </a:lnSpc>
              <a:buNone/>
              <a:defRPr sz="1425" b="1">
                <a:solidFill>
                  <a:srgbClr val="E6FFFB"/>
                </a:solidFill>
                <a:latin typeface="Arial"/>
                <a:ea typeface="Arial"/>
                <a:cs typeface="Arial"/>
              </a:defRPr>
            </a:pPr>
            <a:r>
              <a:rPr sz="1425" b="1">
                <a:solidFill>
                  <a:srgbClr val="E6FFFB"/>
                </a:solidFill>
                <a:latin typeface="Arial"/>
                <a:ea typeface="Arial"/>
                <a:cs typeface="Arial"/>
              </a:rPr>
              <a:t>What we learned</a:t>
            </a:r>
          </a:p>
        </p:txBody>
      </p:sp>
      <p:sp>
        <p:nvSpPr>
          <p:cNvPr id="10" name="">
            <a:extLst xmlns:a="http://schemas.openxmlformats.org/drawingml/2006/main">
              <a:ext uri="{FF2B5EF4-FFF2-40B4-BE49-F238E27FC236}">
                <a16:creationId xmlns:a16="http://schemas.microsoft.com/office/drawing/2014/main" id="{6E4E1340-81A8-4088-932C-8651A0C4B166}"/>
              </a:ext>
            </a:extLst>
          </p:cNvPr>
          <p:cNvSpPr>
            <a:spLocks xmlns:a="http://schemas.openxmlformats.org/drawingml/2006/main" noGrp="1"/>
          </p:cNvSpPr>
          <p:nvPr/>
        </p:nvSpPr>
        <p:spPr>
          <a:xfrm xmlns:a="http://schemas.openxmlformats.org/drawingml/2006/main">
            <a:off x="742950" y="4286250"/>
            <a:ext cx="4953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450"/>
          </a:bodyPr>
          <a:lstStyle xmlns:a="http://schemas.openxmlformats.org/drawingml/2006/main"/>
          <a:p xmlns:a="http://schemas.openxmlformats.org/drawingml/2006/main">
            <a:pPr algn="l">
              <a:lnSpc>
                <a:spcPct val="104000"/>
              </a:lnSpc>
              <a:buNone/>
              <a:defRPr sz="2025" b="1">
                <a:solidFill>
                  <a:srgbClr val="FFFFFF"/>
                </a:solidFill>
                <a:latin typeface="Arial"/>
                <a:ea typeface="Arial"/>
                <a:cs typeface="Arial"/>
              </a:defRPr>
            </a:pPr>
            <a:r>
              <a:rPr sz="2025" b="1">
                <a:solidFill>
                  <a:srgbClr val="FFFFFF"/>
                </a:solidFill>
                <a:latin typeface="Arial"/>
                <a:ea typeface="Arial"/>
                <a:cs typeface="Arial"/>
              </a:rPr>
              <a:t>Across 16 seeds, the raw FusionVI lead disappears after source-only calibration; residual and rank metrics do not improve.</a:t>
            </a:r>
          </a:p>
        </p:txBody>
      </p:sp>
      <p:sp>
        <p:nvSpPr>
          <p:cNvPr id="11" name="">
            <a:extLst xmlns:a="http://schemas.openxmlformats.org/drawingml/2006/main">
              <a:ext uri="{FF2B5EF4-FFF2-40B4-BE49-F238E27FC236}">
                <a16:creationId xmlns:a16="http://schemas.microsoft.com/office/drawing/2014/main" id="{ED202566-68B5-49F6-B69C-A8256F635234}"/>
              </a:ext>
            </a:extLst>
          </p:cNvPr>
          <p:cNvSpPr>
            <a:spLocks xmlns:a="http://schemas.openxmlformats.org/drawingml/2006/main" noGrp="1"/>
          </p:cNvSpPr>
          <p:nvPr/>
        </p:nvSpPr>
        <p:spPr>
          <a:xfrm xmlns:a="http://schemas.openxmlformats.org/drawingml/2006/main">
            <a:off x="6572250" y="390525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598"/>
          </a:bodyPr>
          <a:lstStyle xmlns:a="http://schemas.openxmlformats.org/drawingml/2006/main"/>
          <a:p xmlns:a="http://schemas.openxmlformats.org/drawingml/2006/main">
            <a:pPr algn="l">
              <a:lnSpc>
                <a:spcPct val="104000"/>
              </a:lnSpc>
              <a:buNone/>
              <a:defRPr sz="1425" b="1">
                <a:solidFill>
                  <a:srgbClr val="F97316"/>
                </a:solidFill>
                <a:latin typeface="Arial"/>
                <a:ea typeface="Arial"/>
                <a:cs typeface="Arial"/>
              </a:defRPr>
            </a:pPr>
            <a:r>
              <a:rPr sz="1425" b="1">
                <a:solidFill>
                  <a:srgbClr val="F97316"/>
                </a:solidFill>
                <a:latin typeface="Arial"/>
                <a:ea typeface="Arial"/>
                <a:cs typeface="Arial"/>
              </a:rPr>
              <a:t>Practical benchmark result</a:t>
            </a:r>
          </a:p>
        </p:txBody>
      </p:sp>
      <p:sp>
        <p:nvSpPr>
          <p:cNvPr id="12" name="">
            <a:extLst xmlns:a="http://schemas.openxmlformats.org/drawingml/2006/main">
              <a:ext uri="{FF2B5EF4-FFF2-40B4-BE49-F238E27FC236}">
                <a16:creationId xmlns:a16="http://schemas.microsoft.com/office/drawing/2014/main" id="{DFBF4A01-1E1A-47C4-9BD7-40B84F344267}"/>
              </a:ext>
            </a:extLst>
          </p:cNvPr>
          <p:cNvSpPr>
            <a:spLocks xmlns:a="http://schemas.openxmlformats.org/drawingml/2006/main" noGrp="1"/>
          </p:cNvSpPr>
          <p:nvPr/>
        </p:nvSpPr>
        <p:spPr>
          <a:xfrm xmlns:a="http://schemas.openxmlformats.org/drawingml/2006/main">
            <a:off x="6572250" y="4286250"/>
            <a:ext cx="40957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117"/>
          </a:bodyPr>
          <a:lstStyle xmlns:a="http://schemas.openxmlformats.org/drawingml/2006/main"/>
          <a:p xmlns:a="http://schemas.openxmlformats.org/drawingml/2006/main">
            <a:pPr algn="l">
              <a:lnSpc>
                <a:spcPct val="104000"/>
              </a:lnSpc>
              <a:buNone/>
              <a:defRPr sz="2025" b="1">
                <a:solidFill>
                  <a:srgbClr val="FFFFFF"/>
                </a:solidFill>
                <a:latin typeface="Arial"/>
                <a:ea typeface="Arial"/>
                <a:cs typeface="Arial"/>
              </a:defRPr>
            </a:pPr>
            <a:r>
              <a:rPr sz="2025" b="1">
                <a:solidFill>
                  <a:srgbClr val="FFFFFF"/>
                </a:solidFill>
                <a:latin typeface="Arial"/>
                <a:ea typeface="Arial"/>
                <a:cs typeface="Arial"/>
              </a:rPr>
              <a:t>D1 calibration reduces neural RMSLE below RNA ridge (0.6373), showing the earlier ridge gap was also mostly scale.</a:t>
            </a:r>
          </a:p>
        </p:txBody>
      </p:sp>
      <p:sp>
        <p:nvSpPr>
          <p:cNvPr id="13" name="">
            <a:extLst xmlns:a="http://schemas.openxmlformats.org/drawingml/2006/main">
              <a:ext uri="{FF2B5EF4-FFF2-40B4-BE49-F238E27FC236}">
                <a16:creationId xmlns:a16="http://schemas.microsoft.com/office/drawing/2014/main" id="{9AB55407-3D66-4CF2-BE5D-5A0F610B0BC2}"/>
              </a:ext>
            </a:extLst>
          </p:cNvPr>
          <p:cNvSpPr>
            <a:spLocks xmlns:a="http://schemas.openxmlformats.org/drawingml/2006/main" noGrp="1"/>
          </p:cNvSpPr>
          <p:nvPr/>
        </p:nvSpPr>
        <p:spPr>
          <a:xfrm xmlns:a="http://schemas.openxmlformats.org/drawingml/2006/main">
            <a:off x="8420100" y="6019800"/>
            <a:ext cx="285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443"/>
          </a:bodyPr>
          <a:lstStyle xmlns:a="http://schemas.openxmlformats.org/drawingml/2006/main"/>
          <a:p xmlns:a="http://schemas.openxmlformats.org/drawingml/2006/main">
            <a:pPr algn="r">
              <a:lnSpc>
                <a:spcPct val="104000"/>
              </a:lnSpc>
              <a:buNone/>
              <a:defRPr sz="2100" b="1">
                <a:solidFill>
                  <a:srgbClr val="E6FFFB"/>
                </a:solidFill>
                <a:latin typeface="Arial"/>
                <a:ea typeface="Arial"/>
                <a:cs typeface="Arial"/>
              </a:defRPr>
            </a:pPr>
            <a:r>
              <a:rPr sz="2100" b="1">
                <a:solidFill>
                  <a:srgbClr val="E6FFFB"/>
                </a:solidFill>
                <a:latin typeface="Arial"/>
                <a:ea typeface="Arial"/>
                <a:cs typeface="Arial"/>
              </a:rPr>
              <a:t>Questions?</a:t>
            </a:r>
          </a:p>
        </p:txBody>
      </p:sp>
    </p:spTree>
    <p:extLst>
      <p:ext uri="{BB962C8B-B14F-4D97-AF65-F5344CB8AC3E}">
        <p14:creationId xmlns:p14="http://schemas.microsoft.com/office/powerpoint/2010/main" val="12379120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2026-10-04T08:32:02.7980000Z</dcterms:created>
  <dcterms:modified xsi:type="dcterms:W3CDTF">2026-10-04T08:32:02.7980000Z</dcterms:modified>
</coreProperties>
</file>