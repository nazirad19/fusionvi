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6187846b83414110" /><Relationship Type="http://schemas.openxmlformats.org/officeDocument/2006/relationships/extended-properties" Target="/docProps/app.xml" Id="R6bb67cc0490d40ba" /><Relationship Type="http://schemas.openxmlformats.org/officeDocument/2006/relationships/officeDocument" Target="/ppt/presentation.xml" Id="Rb382f5204a294e60" /></Relationships>
</file>

<file path=ppt/presentation.xml><?xml version="1.0" encoding="utf-8"?>
<p:presentation xmlns:p="http://schemas.openxmlformats.org/presentationml/2006/main">
  <p:sldMasterIdLst>
    <p:sldMasterId xmlns:r="http://schemas.openxmlformats.org/officeDocument/2006/relationships" id="2147483648" r:id="R379c69cf10594c17"/>
  </p:sldMasterIdLst>
  <p:notesMasterIdLst>
    <p:notesMasterId xmlns:r="http://schemas.openxmlformats.org/officeDocument/2006/relationships" r:id="R8d89a15868a349f2"/>
  </p:notesMasterIdLst>
  <p:sldIdLst>
    <p:sldId xmlns:r="http://schemas.openxmlformats.org/officeDocument/2006/relationships" id="256" r:id="R5c87a300dbf047bd"/>
    <p:sldId xmlns:r="http://schemas.openxmlformats.org/officeDocument/2006/relationships" id="257" r:id="R5e8fc275d6824925"/>
    <p:sldId xmlns:r="http://schemas.openxmlformats.org/officeDocument/2006/relationships" id="258" r:id="R52fe821d883845f9"/>
    <p:sldId xmlns:r="http://schemas.openxmlformats.org/officeDocument/2006/relationships" id="259" r:id="R5f6dc134e8e14caa"/>
    <p:sldId xmlns:r="http://schemas.openxmlformats.org/officeDocument/2006/relationships" id="260" r:id="R65c5d2b398534939"/>
    <p:sldId xmlns:r="http://schemas.openxmlformats.org/officeDocument/2006/relationships" id="261" r:id="Rfb5d4caa1bc84858"/>
    <p:sldId xmlns:r="http://schemas.openxmlformats.org/officeDocument/2006/relationships" id="262" r:id="R133cd76dcfb64564"/>
    <p:sldId xmlns:r="http://schemas.openxmlformats.org/officeDocument/2006/relationships" id="263" r:id="Reee626a9a12440c4"/>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3fac4904522444b2" /><Relationship Type="http://schemas.openxmlformats.org/officeDocument/2006/relationships/slideMaster" Target="/ppt/slideMasters/slideMaster1.xml" Id="R379c69cf10594c17" /><Relationship Type="http://schemas.openxmlformats.org/officeDocument/2006/relationships/notesMaster" Target="/ppt/notesMasters/notesMaster1.xml" Id="R8d89a15868a349f2" /><Relationship Type="http://schemas.openxmlformats.org/officeDocument/2006/relationships/presProps" Target="/ppt/presProps.xml" Id="Rb66aa3ba000541ed" /><Relationship Type="http://schemas.openxmlformats.org/officeDocument/2006/relationships/tableStyles" Target="/ppt/tableStyles.xml" Id="Rf8fb3c6a6f164d1a" /><Relationship Type="http://schemas.openxmlformats.org/officeDocument/2006/relationships/slide" Target="/ppt/slides/slide1.xml" Id="R5c87a300dbf047bd" /><Relationship Type="http://schemas.openxmlformats.org/officeDocument/2006/relationships/slide" Target="/ppt/slides/slide2.xml" Id="R5e8fc275d6824925" /><Relationship Type="http://schemas.openxmlformats.org/officeDocument/2006/relationships/slide" Target="/ppt/slides/slide3.xml" Id="R52fe821d883845f9" /><Relationship Type="http://schemas.openxmlformats.org/officeDocument/2006/relationships/slide" Target="/ppt/slides/slide4.xml" Id="R5f6dc134e8e14caa" /><Relationship Type="http://schemas.openxmlformats.org/officeDocument/2006/relationships/slide" Target="/ppt/slides/slide5.xml" Id="R65c5d2b398534939" /><Relationship Type="http://schemas.openxmlformats.org/officeDocument/2006/relationships/slide" Target="/ppt/slides/slide6.xml" Id="Rfb5d4caa1bc84858" /><Relationship Type="http://schemas.openxmlformats.org/officeDocument/2006/relationships/slide" Target="/ppt/slides/slide7.xml" Id="R133cd76dcfb64564" /><Relationship Type="http://schemas.openxmlformats.org/officeDocument/2006/relationships/slide" Target="/ppt/slides/slide8.xml" Id="Reee626a9a12440c4"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d4c5fb386ba34ac7"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13ef3ca0c57c4927" /><Relationship Type="http://schemas.openxmlformats.org/officeDocument/2006/relationships/notesMaster" Target="/ppt/notesMasters/notesMaster1.xml" Id="R319b7745c2cb4300" /></Relationships>
</file>

<file path=ppt/notesSlides/_rels/notesSlide2.xml.rels>&#65279;<?xml version="1.0" encoding="utf-8"?><Relationships xmlns="http://schemas.openxmlformats.org/package/2006/relationships"><Relationship Type="http://schemas.openxmlformats.org/officeDocument/2006/relationships/slide" Target="/ppt/slides/slide2.xml" Id="R169cec9fa25245b6" /><Relationship Type="http://schemas.openxmlformats.org/officeDocument/2006/relationships/notesMaster" Target="/ppt/notesMasters/notesMaster1.xml" Id="R4b01f40e48384bb5" /></Relationships>
</file>

<file path=ppt/notesSlides/_rels/notesSlide3.xml.rels>&#65279;<?xml version="1.0" encoding="utf-8"?><Relationships xmlns="http://schemas.openxmlformats.org/package/2006/relationships"><Relationship Type="http://schemas.openxmlformats.org/officeDocument/2006/relationships/slide" Target="/ppt/slides/slide3.xml" Id="R92199eadc4904317" /><Relationship Type="http://schemas.openxmlformats.org/officeDocument/2006/relationships/notesMaster" Target="/ppt/notesMasters/notesMaster1.xml" Id="Rcc1a5282efdf41bd" /></Relationships>
</file>

<file path=ppt/notesSlides/_rels/notesSlide4.xml.rels>&#65279;<?xml version="1.0" encoding="utf-8"?><Relationships xmlns="http://schemas.openxmlformats.org/package/2006/relationships"><Relationship Type="http://schemas.openxmlformats.org/officeDocument/2006/relationships/slide" Target="/ppt/slides/slide4.xml" Id="R6fd5e345ba6f4ef7" /><Relationship Type="http://schemas.openxmlformats.org/officeDocument/2006/relationships/notesMaster" Target="/ppt/notesMasters/notesMaster1.xml" Id="R581e85519e1a4fbe" /></Relationships>
</file>

<file path=ppt/notesSlides/_rels/notesSlide5.xml.rels>&#65279;<?xml version="1.0" encoding="utf-8"?><Relationships xmlns="http://schemas.openxmlformats.org/package/2006/relationships"><Relationship Type="http://schemas.openxmlformats.org/officeDocument/2006/relationships/slide" Target="/ppt/slides/slide5.xml" Id="R3b2b3ea017ad4482" /><Relationship Type="http://schemas.openxmlformats.org/officeDocument/2006/relationships/notesMaster" Target="/ppt/notesMasters/notesMaster1.xml" Id="R74bee81270bf49ed" /></Relationships>
</file>

<file path=ppt/notesSlides/_rels/notesSlide6.xml.rels>&#65279;<?xml version="1.0" encoding="utf-8"?><Relationships xmlns="http://schemas.openxmlformats.org/package/2006/relationships"><Relationship Type="http://schemas.openxmlformats.org/officeDocument/2006/relationships/slide" Target="/ppt/slides/slide6.xml" Id="Rfd16e0cfbd7d4acb" /><Relationship Type="http://schemas.openxmlformats.org/officeDocument/2006/relationships/notesMaster" Target="/ppt/notesMasters/notesMaster1.xml" Id="R078b0184adb140c4" /></Relationships>
</file>

<file path=ppt/notesSlides/_rels/notesSlide7.xml.rels>&#65279;<?xml version="1.0" encoding="utf-8"?><Relationships xmlns="http://schemas.openxmlformats.org/package/2006/relationships"><Relationship Type="http://schemas.openxmlformats.org/officeDocument/2006/relationships/slide" Target="/ppt/slides/slide7.xml" Id="R15ee5cc500064665" /><Relationship Type="http://schemas.openxmlformats.org/officeDocument/2006/relationships/notesMaster" Target="/ppt/notesMasters/notesMaster1.xml" Id="R5e463e802c62415b" /></Relationships>
</file>

<file path=ppt/notesSlides/_rels/notesSlide8.xml.rels>&#65279;<?xml version="1.0" encoding="utf-8"?><Relationships xmlns="http://schemas.openxmlformats.org/package/2006/relationships"><Relationship Type="http://schemas.openxmlformats.org/officeDocument/2006/relationships/slide" Target="/ppt/slides/slide8.xml" Id="Rb10cf640c4644124" /><Relationship Type="http://schemas.openxmlformats.org/officeDocument/2006/relationships/notesMaster" Target="/ppt/notesMasters/notesMaster1.xml" Id="R17c9a86d6173497b"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compare the published totalVI architecture with FusionVI on the paper's missing-protein benchmark. Every protein in SLN111-D2 is hidden during training, and the model predicts all 110 from RNA plus the multimodal structure learned in SLN111-D1. The final analysis uses 16 paired random seeds. The mean difference is −0.0062 RMSLE and its 95 percent interval excludes zero. Timing: 40 seconds. Source: Gayoso et al., Nature Methods 2021, doi:10.1038/s41592-020-01050-x.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biological question concerns panel completion. Surface proteins define immune populations and include therapeutic targets such as CD20. If a whole antibody panel is missing in a new batch, can transcript measurements recover those protein abundances? CD20, CD28, CD4 and CD8a are examples among the 110 targets. Timing: 50 seconds.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SLN111-D1 supplies RNA and the complete protein panel. We set every D2 protein input to zero and let totalVI treat that batch as missing protein measurements. The untouched D2 counts remain separate as test truth. Both models receive the same 4,005 genes, 110 target proteins, batches and validation split. Timing: 55 seconds.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totalVI concatenates RNA and protein measurements in one encoder. FusionVI uses separate RNA and protein branches, then combines their hidden states with a learned gate for each cell. Both models estimate a 20-dimensional latent state and use the same native totalVI decoders and likelihoods. This isolates the encoder as the experimental variable. Timing: 65 seconds.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For each of 16 seeds, we train one totalVI model and one FusionVI model with identical settings: at most 500 epochs, learning rate 0.004, batch size 256, 90/10 training-validation split and early stopping patience 45. Prediction averages 25 posterior samples. The primary metric is mean per-protein root mean squared log error across 7,564 D2 cells. The paper ran 30 initializations; our course benchmark runs 16 paired seeds. Timing: 60 seconds.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Across 16 paired seeds, FusionVI lowers mean RMSLE by 0.0062 versus the published totalVI configuration. FusionVI also beats the same-width, parameter-matched and missingness-aware joint encoders. The left panel shows paired differences with 95 percent t intervals. The right panel shows one point per seed and the mean for each arm. Timing: 70 seconds.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matched controls resolve the earlier capacity concern: FusionVI's small advantage persists at the same width, at similar parameter count, and against a joint encoder given the same missing-panel indicator. The RNA ridge baseline remains much stronger on aggregate RMSLE, which limits the practical claim. Timing: 60 seconds.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FusionVI's small neural-model advantage survives the prespecified Tier 1 controls across 16 paired seeds. The RNA SVD-ridge baseline still performs substantially better on aggregate error. The conclusion remains limited to one source-target batch pair. Timing: 35 seconds, leaving three minutes for questions.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cc34b2714e524cce"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a11853ccd23f417a" /><Relationship Type="http://schemas.openxmlformats.org/officeDocument/2006/relationships/slideLayout" Target="/ppt/slideLayouts/slideLayout1.xml" Id="R8878ae42d7eb45ef"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8878ae42d7eb45ef"/>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8c9f6a6c8e7a44a2" /><Relationship Type="http://schemas.openxmlformats.org/officeDocument/2006/relationships/notesSlide" Target="/ppt/notesSlides/notesSlide1.xml" Id="R163ecfd1ac90458d"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9f2afde6e62d4892" /><Relationship Type="http://schemas.openxmlformats.org/officeDocument/2006/relationships/notesSlide" Target="/ppt/notesSlides/notesSlide2.xml" Id="R310deeeca6614067"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015f2841d95640d2" /><Relationship Type="http://schemas.openxmlformats.org/officeDocument/2006/relationships/notesSlide" Target="/ppt/notesSlides/notesSlide3.xml" Id="R5faa96ff493549bb"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fdc8da886d2e425b" /><Relationship Type="http://schemas.openxmlformats.org/officeDocument/2006/relationships/notesSlide" Target="/ppt/notesSlides/notesSlide4.xml" Id="R21977e2b011a4f08"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bf59e2d7aaca4960" /><Relationship Type="http://schemas.openxmlformats.org/officeDocument/2006/relationships/notesSlide" Target="/ppt/notesSlides/notesSlide5.xml" Id="R5f942fb3ef0c4f06"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9452516fab2a41ae" /><Relationship Type="http://schemas.openxmlformats.org/officeDocument/2006/relationships/image" Target="/ppt/media/image.png" Id="R90a5dc8921804d6b" /><Relationship Type="http://schemas.openxmlformats.org/officeDocument/2006/relationships/notesSlide" Target="/ppt/notesSlides/notesSlide6.xml" Id="Re29b8e04eec946c4"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86e6f6f3eeb44b36" /><Relationship Type="http://schemas.openxmlformats.org/officeDocument/2006/relationships/notesSlide" Target="/ppt/notesSlides/notesSlide7.xml" Id="R538c9c234ebe46b9"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f8f99d13954c4de2" /><Relationship Type="http://schemas.openxmlformats.org/officeDocument/2006/relationships/notesSlide" Target="/ppt/notesSlides/notesSlide8.xml" Id="R95e89560be844300"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253254EE-404D-4E4F-BE6D-B49C82006D1E}"/>
              </a:ext>
            </a:extLst>
          </p:cNvPr>
          <p:cNvSpPr>
            <a:spLocks xmlns:a="http://schemas.openxmlformats.org/drawingml/2006/main" noGrp="1"/>
          </p:cNvSpPr>
          <p:nvPr/>
        </p:nvSpPr>
        <p:spPr>
          <a:xfrm xmlns:a="http://schemas.openxmlformats.org/drawingml/2006/main">
            <a:off x="0" y="0"/>
            <a:ext cx="266700" cy="6858000"/>
          </a:xfrm>
          <a:prstGeom xmlns:a="http://schemas.openxmlformats.org/drawingml/2006/main" prst="rect">
            <a:avLst/>
          </a:prstGeom>
          <a:solidFill xmlns:a="http://schemas.openxmlformats.org/drawingml/2006/main">
            <a:srgbClr val="F97316"/>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1DBE74A-A493-462C-824F-85D55F6BF1D8}"/>
              </a:ext>
            </a:extLst>
          </p:cNvPr>
          <p:cNvSpPr>
            <a:spLocks xmlns:a="http://schemas.openxmlformats.org/drawingml/2006/main" noGrp="1"/>
          </p:cNvSpPr>
          <p:nvPr/>
        </p:nvSpPr>
        <p:spPr>
          <a:xfrm xmlns:a="http://schemas.openxmlformats.org/drawingml/2006/main">
            <a:off x="8382000" y="0"/>
            <a:ext cx="3810000" cy="6858000"/>
          </a:xfrm>
          <a:prstGeom xmlns:a="http://schemas.openxmlformats.org/drawingml/2006/main" prst="rect">
            <a:avLst/>
          </a:prstGeom>
          <a:solidFill xmlns:a="http://schemas.openxmlformats.org/drawingml/2006/main">
            <a:srgbClr val="EEF2FF"/>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DC3419BB-BF9B-40A3-BBD8-EDE42DA87486}"/>
              </a:ext>
            </a:extLst>
          </p:cNvPr>
          <p:cNvSpPr>
            <a:spLocks xmlns:a="http://schemas.openxmlformats.org/drawingml/2006/main" noGrp="1"/>
          </p:cNvSpPr>
          <p:nvPr/>
        </p:nvSpPr>
        <p:spPr>
          <a:xfrm xmlns:a="http://schemas.openxmlformats.org/drawingml/2006/main">
            <a:off x="666750" y="533400"/>
            <a:ext cx="4762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9715"/>
          </a:bodyPr>
          <a:lstStyle xmlns:a="http://schemas.openxmlformats.org/drawingml/2006/main"/>
          <a:p xmlns:a="http://schemas.openxmlformats.org/drawingml/2006/main">
            <a:pPr algn="l">
              <a:lnSpc>
                <a:spcPct val="104000"/>
              </a:lnSpc>
              <a:buNone/>
              <a:defRPr sz="1350" b="1">
                <a:solidFill>
                  <a:srgbClr val="F97316"/>
                </a:solidFill>
                <a:latin typeface="Arial"/>
                <a:ea typeface="Arial"/>
                <a:cs typeface="Arial"/>
              </a:defRPr>
            </a:pPr>
            <a:r>
              <a:rPr sz="1350" b="1">
                <a:solidFill>
                  <a:srgbClr val="F97316"/>
                </a:solidFill>
                <a:latin typeface="Arial"/>
                <a:ea typeface="Arial"/>
                <a:cs typeface="Arial"/>
              </a:rPr>
              <a:t>FUSIONVI</a:t>
            </a:r>
          </a:p>
        </p:txBody>
      </p:sp>
      <p:sp>
        <p:nvSpPr>
          <p:cNvPr id="4" name="">
            <a:extLst xmlns:a="http://schemas.openxmlformats.org/drawingml/2006/main">
              <a:ext uri="{FF2B5EF4-FFF2-40B4-BE49-F238E27FC236}">
                <a16:creationId xmlns:a16="http://schemas.microsoft.com/office/drawing/2014/main" id="{733F237B-09A7-4E4B-A301-1D13BF717F3F}"/>
              </a:ext>
            </a:extLst>
          </p:cNvPr>
          <p:cNvSpPr>
            <a:spLocks xmlns:a="http://schemas.openxmlformats.org/drawingml/2006/main" noGrp="1"/>
          </p:cNvSpPr>
          <p:nvPr/>
        </p:nvSpPr>
        <p:spPr>
          <a:xfrm xmlns:a="http://schemas.openxmlformats.org/drawingml/2006/main">
            <a:off x="666750" y="1200150"/>
            <a:ext cx="7239000" cy="2000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9122"/>
          </a:bodyPr>
          <a:lstStyle xmlns:a="http://schemas.openxmlformats.org/drawingml/2006/main"/>
          <a:p xmlns:a="http://schemas.openxmlformats.org/drawingml/2006/main">
            <a:pPr algn="l">
              <a:lnSpc>
                <a:spcPct val="104000"/>
              </a:lnSpc>
              <a:buNone/>
              <a:defRPr sz="4050" b="1">
                <a:solidFill>
                  <a:srgbClr val="172554"/>
                </a:solidFill>
                <a:latin typeface="Arial"/>
                <a:ea typeface="Arial"/>
                <a:cs typeface="Arial"/>
              </a:defRPr>
            </a:pPr>
            <a:r>
              <a:rPr sz="4050" b="1">
                <a:solidFill>
                  <a:srgbClr val="172554"/>
                </a:solidFill>
                <a:latin typeface="Arial"/>
                <a:ea typeface="Arial"/>
                <a:cs typeface="Arial"/>
              </a:rPr>
              <a:t>Can RNA recover an</a:t>
            </a:r>
          </a:p>
          <a:p xmlns:a="http://schemas.openxmlformats.org/drawingml/2006/main">
            <a:pPr algn="l">
              <a:lnSpc>
                <a:spcPct val="104000"/>
              </a:lnSpc>
              <a:buNone/>
              <a:defRPr sz="4050" b="1">
                <a:solidFill>
                  <a:srgbClr val="172554"/>
                </a:solidFill>
                <a:latin typeface="Arial"/>
                <a:ea typeface="Arial"/>
                <a:cs typeface="Arial"/>
              </a:defRPr>
            </a:pPr>
            <a:r>
              <a:rPr sz="4050" b="1">
                <a:solidFill>
                  <a:srgbClr val="172554"/>
                </a:solidFill>
                <a:latin typeface="Arial"/>
                <a:ea typeface="Arial"/>
                <a:cs typeface="Arial"/>
              </a:rPr>
              <a:t>entire missing</a:t>
            </a:r>
          </a:p>
          <a:p xmlns:a="http://schemas.openxmlformats.org/drawingml/2006/main">
            <a:pPr algn="l">
              <a:lnSpc>
                <a:spcPct val="104000"/>
              </a:lnSpc>
              <a:buNone/>
              <a:defRPr sz="4050" b="1">
                <a:solidFill>
                  <a:srgbClr val="172554"/>
                </a:solidFill>
                <a:latin typeface="Arial"/>
                <a:ea typeface="Arial"/>
                <a:cs typeface="Arial"/>
              </a:defRPr>
            </a:pPr>
            <a:r>
              <a:rPr sz="4050" b="1">
                <a:solidFill>
                  <a:srgbClr val="172554"/>
                </a:solidFill>
                <a:latin typeface="Arial"/>
                <a:ea typeface="Arial"/>
                <a:cs typeface="Arial"/>
              </a:rPr>
              <a:t>protein panel?</a:t>
            </a:r>
          </a:p>
        </p:txBody>
      </p:sp>
      <p:sp>
        <p:nvSpPr>
          <p:cNvPr id="5" name="">
            <a:extLst xmlns:a="http://schemas.openxmlformats.org/drawingml/2006/main">
              <a:ext uri="{FF2B5EF4-FFF2-40B4-BE49-F238E27FC236}">
                <a16:creationId xmlns:a16="http://schemas.microsoft.com/office/drawing/2014/main" id="{2203FB05-77EB-4996-940C-9C49CC8A115F}"/>
              </a:ext>
            </a:extLst>
          </p:cNvPr>
          <p:cNvSpPr>
            <a:spLocks xmlns:a="http://schemas.openxmlformats.org/drawingml/2006/main" noGrp="1"/>
          </p:cNvSpPr>
          <p:nvPr/>
        </p:nvSpPr>
        <p:spPr>
          <a:xfrm xmlns:a="http://schemas.openxmlformats.org/drawingml/2006/main">
            <a:off x="704850" y="3429000"/>
            <a:ext cx="6858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lnSpc>
                <a:spcPct val="104000"/>
              </a:lnSpc>
              <a:buNone/>
              <a:defRPr sz="1800" b="0">
                <a:solidFill>
                  <a:srgbClr val="4F46E5"/>
                </a:solidFill>
                <a:latin typeface="Arial"/>
                <a:ea typeface="Arial"/>
                <a:cs typeface="Arial"/>
              </a:defRPr>
            </a:pPr>
            <a:r>
              <a:rPr sz="1800" b="0">
                <a:solidFill>
                  <a:srgbClr val="4F46E5"/>
                </a:solidFill>
                <a:latin typeface="Arial"/>
                <a:ea typeface="Arial"/>
                <a:cs typeface="Arial"/>
              </a:rPr>
              <a:t>Published totalVI versus our FusionVI encoder</a:t>
            </a:r>
          </a:p>
        </p:txBody>
      </p:sp>
      <p:sp>
        <p:nvSpPr>
          <p:cNvPr id="6" name="">
            <a:extLst xmlns:a="http://schemas.openxmlformats.org/drawingml/2006/main">
              <a:ext uri="{FF2B5EF4-FFF2-40B4-BE49-F238E27FC236}">
                <a16:creationId xmlns:a16="http://schemas.microsoft.com/office/drawing/2014/main" id="{BEC12EC1-1543-4BE5-93BC-051CF957EB2F}"/>
              </a:ext>
            </a:extLst>
          </p:cNvPr>
          <p:cNvSpPr>
            <a:spLocks xmlns:a="http://schemas.openxmlformats.org/drawingml/2006/main" noGrp="1"/>
          </p:cNvSpPr>
          <p:nvPr/>
        </p:nvSpPr>
        <p:spPr>
          <a:xfrm xmlns:a="http://schemas.openxmlformats.org/drawingml/2006/main">
            <a:off x="704850" y="3943350"/>
            <a:ext cx="6743700" cy="457200"/>
          </a:xfrm>
          <a:prstGeom xmlns:a="http://schemas.openxmlformats.org/drawingml/2006/main" prst="roundRect">
            <a:avLst>
              <a:gd name="adj" fmla="val 25000"/>
            </a:avLst>
          </a:prstGeom>
          <a:solidFill xmlns:a="http://schemas.openxmlformats.org/drawingml/2006/main">
            <a:srgbClr val="EEF2FF"/>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864CC86A-8F41-4A08-A38C-D5AF99F4BA67}"/>
              </a:ext>
            </a:extLst>
          </p:cNvPr>
          <p:cNvSpPr>
            <a:spLocks xmlns:a="http://schemas.openxmlformats.org/drawingml/2006/main" noGrp="1"/>
          </p:cNvSpPr>
          <p:nvPr/>
        </p:nvSpPr>
        <p:spPr>
          <a:xfrm xmlns:a="http://schemas.openxmlformats.org/drawingml/2006/main">
            <a:off x="876300" y="4038600"/>
            <a:ext cx="6400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2147"/>
          </a:bodyPr>
          <a:lstStyle xmlns:a="http://schemas.openxmlformats.org/drawingml/2006/main"/>
          <a:p xmlns:a="http://schemas.openxmlformats.org/drawingml/2006/main">
            <a:pPr algn="ctr">
              <a:lnSpc>
                <a:spcPct val="104000"/>
              </a:lnSpc>
              <a:buNone/>
              <a:defRPr sz="1200" b="1">
                <a:solidFill>
                  <a:srgbClr val="4F46E5"/>
                </a:solidFill>
                <a:latin typeface="Arial"/>
                <a:ea typeface="Arial"/>
                <a:cs typeface="Arial"/>
              </a:defRPr>
            </a:pPr>
            <a:r>
              <a:rPr sz="1200" b="1">
                <a:solidFill>
                  <a:srgbClr val="4F46E5"/>
                </a:solidFill>
                <a:latin typeface="Arial"/>
                <a:ea typeface="Arial"/>
                <a:cs typeface="Arial"/>
              </a:rPr>
              <a:t>Paper Figure 3 task on the official SLN111 CITE-seq object</a:t>
            </a:r>
          </a:p>
        </p:txBody>
      </p:sp>
      <p:sp>
        <p:nvSpPr>
          <p:cNvPr id="8" name="">
            <a:extLst xmlns:a="http://schemas.openxmlformats.org/drawingml/2006/main">
              <a:ext uri="{FF2B5EF4-FFF2-40B4-BE49-F238E27FC236}">
                <a16:creationId xmlns:a16="http://schemas.microsoft.com/office/drawing/2014/main" id="{DF90CB2E-C1CE-4029-A288-281B214208CF}"/>
              </a:ext>
            </a:extLst>
          </p:cNvPr>
          <p:cNvSpPr>
            <a:spLocks xmlns:a="http://schemas.openxmlformats.org/drawingml/2006/main" noGrp="1"/>
          </p:cNvSpPr>
          <p:nvPr/>
        </p:nvSpPr>
        <p:spPr>
          <a:xfrm xmlns:a="http://schemas.openxmlformats.org/drawingml/2006/main">
            <a:off x="704850" y="4629150"/>
            <a:ext cx="1752600" cy="1066800"/>
          </a:xfrm>
          <a:prstGeom xmlns:a="http://schemas.openxmlformats.org/drawingml/2006/main" prst="roundRect">
            <a:avLst>
              <a:gd name="adj" fmla="val 10714"/>
            </a:avLst>
          </a:prstGeom>
          <a:solidFill xmlns:a="http://schemas.openxmlformats.org/drawingml/2006/main">
            <a:srgbClr val="E6FFFB"/>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8D6FC12B-1522-49A2-8153-8B9C954BE6FC}"/>
              </a:ext>
            </a:extLst>
          </p:cNvPr>
          <p:cNvSpPr>
            <a:spLocks xmlns:a="http://schemas.openxmlformats.org/drawingml/2006/main" noGrp="1"/>
          </p:cNvSpPr>
          <p:nvPr/>
        </p:nvSpPr>
        <p:spPr>
          <a:xfrm xmlns:a="http://schemas.openxmlformats.org/drawingml/2006/main">
            <a:off x="819150" y="4762500"/>
            <a:ext cx="1524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5784"/>
          </a:bodyPr>
          <a:lstStyle xmlns:a="http://schemas.openxmlformats.org/drawingml/2006/main"/>
          <a:p xmlns:a="http://schemas.openxmlformats.org/drawingml/2006/main">
            <a:pPr algn="ctr">
              <a:lnSpc>
                <a:spcPct val="104000"/>
              </a:lnSpc>
              <a:buNone/>
              <a:defRPr sz="2550" b="1">
                <a:solidFill>
                  <a:srgbClr val="0F9F9A"/>
                </a:solidFill>
                <a:latin typeface="Arial"/>
                <a:ea typeface="Arial"/>
                <a:cs typeface="Arial"/>
              </a:defRPr>
            </a:pPr>
            <a:r>
              <a:rPr sz="2550" b="1">
                <a:solidFill>
                  <a:srgbClr val="0F9F9A"/>
                </a:solidFill>
                <a:latin typeface="Arial"/>
                <a:ea typeface="Arial"/>
                <a:cs typeface="Arial"/>
              </a:rPr>
              <a:t>16,828</a:t>
            </a:r>
          </a:p>
        </p:txBody>
      </p:sp>
      <p:sp>
        <p:nvSpPr>
          <p:cNvPr id="10" name="">
            <a:extLst xmlns:a="http://schemas.openxmlformats.org/drawingml/2006/main">
              <a:ext uri="{FF2B5EF4-FFF2-40B4-BE49-F238E27FC236}">
                <a16:creationId xmlns:a16="http://schemas.microsoft.com/office/drawing/2014/main" id="{AE0A6310-62CA-4270-B9B3-3D332E97E1AB}"/>
              </a:ext>
            </a:extLst>
          </p:cNvPr>
          <p:cNvSpPr>
            <a:spLocks xmlns:a="http://schemas.openxmlformats.org/drawingml/2006/main" noGrp="1"/>
          </p:cNvSpPr>
          <p:nvPr/>
        </p:nvSpPr>
        <p:spPr>
          <a:xfrm xmlns:a="http://schemas.openxmlformats.org/drawingml/2006/main">
            <a:off x="819150" y="5248275"/>
            <a:ext cx="152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lnSpc>
                <a:spcPct val="104000"/>
              </a:lnSpc>
              <a:buNone/>
              <a:defRPr sz="1200" b="1">
                <a:solidFill>
                  <a:srgbClr val="64748B"/>
                </a:solidFill>
                <a:latin typeface="Arial"/>
                <a:ea typeface="Arial"/>
                <a:cs typeface="Arial"/>
              </a:defRPr>
            </a:pPr>
            <a:r>
              <a:rPr sz="1200" b="1">
                <a:solidFill>
                  <a:srgbClr val="64748B"/>
                </a:solidFill>
                <a:latin typeface="Arial"/>
                <a:ea typeface="Arial"/>
                <a:cs typeface="Arial"/>
              </a:rPr>
              <a:t>cells</a:t>
            </a:r>
          </a:p>
        </p:txBody>
      </p:sp>
      <p:sp>
        <p:nvSpPr>
          <p:cNvPr id="11" name="">
            <a:extLst xmlns:a="http://schemas.openxmlformats.org/drawingml/2006/main">
              <a:ext uri="{FF2B5EF4-FFF2-40B4-BE49-F238E27FC236}">
                <a16:creationId xmlns:a16="http://schemas.microsoft.com/office/drawing/2014/main" id="{9F009113-408A-4191-B093-2E1CF59BF607}"/>
              </a:ext>
            </a:extLst>
          </p:cNvPr>
          <p:cNvSpPr>
            <a:spLocks xmlns:a="http://schemas.openxmlformats.org/drawingml/2006/main" noGrp="1"/>
          </p:cNvSpPr>
          <p:nvPr/>
        </p:nvSpPr>
        <p:spPr>
          <a:xfrm xmlns:a="http://schemas.openxmlformats.org/drawingml/2006/main">
            <a:off x="2628900" y="4629150"/>
            <a:ext cx="1752600" cy="1066800"/>
          </a:xfrm>
          <a:prstGeom xmlns:a="http://schemas.openxmlformats.org/drawingml/2006/main" prst="roundRect">
            <a:avLst>
              <a:gd name="adj" fmla="val 10714"/>
            </a:avLst>
          </a:prstGeom>
          <a:solidFill xmlns:a="http://schemas.openxmlformats.org/drawingml/2006/main">
            <a:srgbClr val="FFF7ED"/>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F82F33C3-59A6-41F0-BB2C-9836D9899B2B}"/>
              </a:ext>
            </a:extLst>
          </p:cNvPr>
          <p:cNvSpPr>
            <a:spLocks xmlns:a="http://schemas.openxmlformats.org/drawingml/2006/main" noGrp="1"/>
          </p:cNvSpPr>
          <p:nvPr/>
        </p:nvSpPr>
        <p:spPr>
          <a:xfrm xmlns:a="http://schemas.openxmlformats.org/drawingml/2006/main">
            <a:off x="2743200" y="4762500"/>
            <a:ext cx="1524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5784"/>
          </a:bodyPr>
          <a:lstStyle xmlns:a="http://schemas.openxmlformats.org/drawingml/2006/main"/>
          <a:p xmlns:a="http://schemas.openxmlformats.org/drawingml/2006/main">
            <a:pPr algn="ctr">
              <a:lnSpc>
                <a:spcPct val="104000"/>
              </a:lnSpc>
              <a:buNone/>
              <a:defRPr sz="2550" b="1">
                <a:solidFill>
                  <a:srgbClr val="F97316"/>
                </a:solidFill>
                <a:latin typeface="Arial"/>
                <a:ea typeface="Arial"/>
                <a:cs typeface="Arial"/>
              </a:defRPr>
            </a:pPr>
            <a:r>
              <a:rPr sz="2550" b="1">
                <a:solidFill>
                  <a:srgbClr val="F97316"/>
                </a:solidFill>
                <a:latin typeface="Arial"/>
                <a:ea typeface="Arial"/>
                <a:cs typeface="Arial"/>
              </a:rPr>
              <a:t>110</a:t>
            </a:r>
          </a:p>
        </p:txBody>
      </p:sp>
      <p:sp>
        <p:nvSpPr>
          <p:cNvPr id="13" name="">
            <a:extLst xmlns:a="http://schemas.openxmlformats.org/drawingml/2006/main">
              <a:ext uri="{FF2B5EF4-FFF2-40B4-BE49-F238E27FC236}">
                <a16:creationId xmlns:a16="http://schemas.microsoft.com/office/drawing/2014/main" id="{483F9711-78EA-4C69-ACAA-3194ABC80135}"/>
              </a:ext>
            </a:extLst>
          </p:cNvPr>
          <p:cNvSpPr>
            <a:spLocks xmlns:a="http://schemas.openxmlformats.org/drawingml/2006/main" noGrp="1"/>
          </p:cNvSpPr>
          <p:nvPr/>
        </p:nvSpPr>
        <p:spPr>
          <a:xfrm xmlns:a="http://schemas.openxmlformats.org/drawingml/2006/main">
            <a:off x="2743200" y="5248275"/>
            <a:ext cx="152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lnSpc>
                <a:spcPct val="104000"/>
              </a:lnSpc>
              <a:buNone/>
              <a:defRPr sz="1200" b="1">
                <a:solidFill>
                  <a:srgbClr val="64748B"/>
                </a:solidFill>
                <a:latin typeface="Arial"/>
                <a:ea typeface="Arial"/>
                <a:cs typeface="Arial"/>
              </a:defRPr>
            </a:pPr>
            <a:r>
              <a:rPr sz="1200" b="1">
                <a:solidFill>
                  <a:srgbClr val="64748B"/>
                </a:solidFill>
                <a:latin typeface="Arial"/>
                <a:ea typeface="Arial"/>
                <a:cs typeface="Arial"/>
              </a:rPr>
              <a:t>proteins hidden</a:t>
            </a:r>
          </a:p>
        </p:txBody>
      </p:sp>
      <p:sp>
        <p:nvSpPr>
          <p:cNvPr id="14" name="">
            <a:extLst xmlns:a="http://schemas.openxmlformats.org/drawingml/2006/main">
              <a:ext uri="{FF2B5EF4-FFF2-40B4-BE49-F238E27FC236}">
                <a16:creationId xmlns:a16="http://schemas.microsoft.com/office/drawing/2014/main" id="{0EDBCC62-8DDC-4740-A7C6-AC061405ECDD}"/>
              </a:ext>
            </a:extLst>
          </p:cNvPr>
          <p:cNvSpPr>
            <a:spLocks xmlns:a="http://schemas.openxmlformats.org/drawingml/2006/main" noGrp="1"/>
          </p:cNvSpPr>
          <p:nvPr/>
        </p:nvSpPr>
        <p:spPr>
          <a:xfrm xmlns:a="http://schemas.openxmlformats.org/drawingml/2006/main">
            <a:off x="4552950" y="4629150"/>
            <a:ext cx="1752600" cy="1066800"/>
          </a:xfrm>
          <a:prstGeom xmlns:a="http://schemas.openxmlformats.org/drawingml/2006/main" prst="roundRect">
            <a:avLst>
              <a:gd name="adj" fmla="val 10714"/>
            </a:avLst>
          </a:prstGeom>
          <a:solidFill xmlns:a="http://schemas.openxmlformats.org/drawingml/2006/main">
            <a:srgbClr val="EEF2FF"/>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4627B23F-8987-45B6-98A4-24CD6428250D}"/>
              </a:ext>
            </a:extLst>
          </p:cNvPr>
          <p:cNvSpPr>
            <a:spLocks xmlns:a="http://schemas.openxmlformats.org/drawingml/2006/main" noGrp="1"/>
          </p:cNvSpPr>
          <p:nvPr/>
        </p:nvSpPr>
        <p:spPr>
          <a:xfrm xmlns:a="http://schemas.openxmlformats.org/drawingml/2006/main">
            <a:off x="4667250" y="4762500"/>
            <a:ext cx="1524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5784"/>
          </a:bodyPr>
          <a:lstStyle xmlns:a="http://schemas.openxmlformats.org/drawingml/2006/main"/>
          <a:p xmlns:a="http://schemas.openxmlformats.org/drawingml/2006/main">
            <a:pPr algn="ctr">
              <a:lnSpc>
                <a:spcPct val="104000"/>
              </a:lnSpc>
              <a:buNone/>
              <a:defRPr sz="2550" b="1">
                <a:solidFill>
                  <a:srgbClr val="4F46E5"/>
                </a:solidFill>
                <a:latin typeface="Arial"/>
                <a:ea typeface="Arial"/>
                <a:cs typeface="Arial"/>
              </a:defRPr>
            </a:pPr>
            <a:r>
              <a:rPr sz="2550" b="1">
                <a:solidFill>
                  <a:srgbClr val="4F46E5"/>
                </a:solidFill>
                <a:latin typeface="Arial"/>
                <a:ea typeface="Arial"/>
                <a:cs typeface="Arial"/>
              </a:rPr>
              <a:t>16</a:t>
            </a:r>
          </a:p>
        </p:txBody>
      </p:sp>
      <p:sp>
        <p:nvSpPr>
          <p:cNvPr id="16" name="">
            <a:extLst xmlns:a="http://schemas.openxmlformats.org/drawingml/2006/main">
              <a:ext uri="{FF2B5EF4-FFF2-40B4-BE49-F238E27FC236}">
                <a16:creationId xmlns:a16="http://schemas.microsoft.com/office/drawing/2014/main" id="{118B1A07-A3FA-4DC2-8595-D08AF188596A}"/>
              </a:ext>
            </a:extLst>
          </p:cNvPr>
          <p:cNvSpPr>
            <a:spLocks xmlns:a="http://schemas.openxmlformats.org/drawingml/2006/main" noGrp="1"/>
          </p:cNvSpPr>
          <p:nvPr/>
        </p:nvSpPr>
        <p:spPr>
          <a:xfrm xmlns:a="http://schemas.openxmlformats.org/drawingml/2006/main">
            <a:off x="4667250" y="5248275"/>
            <a:ext cx="152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lnSpc>
                <a:spcPct val="104000"/>
              </a:lnSpc>
              <a:buNone/>
              <a:defRPr sz="1200" b="1">
                <a:solidFill>
                  <a:srgbClr val="64748B"/>
                </a:solidFill>
                <a:latin typeface="Arial"/>
                <a:ea typeface="Arial"/>
                <a:cs typeface="Arial"/>
              </a:defRPr>
            </a:pPr>
            <a:r>
              <a:rPr sz="1200" b="1">
                <a:solidFill>
                  <a:srgbClr val="64748B"/>
                </a:solidFill>
                <a:latin typeface="Arial"/>
                <a:ea typeface="Arial"/>
                <a:cs typeface="Arial"/>
              </a:rPr>
              <a:t>paired seeds</a:t>
            </a:r>
          </a:p>
        </p:txBody>
      </p:sp>
      <p:sp>
        <p:nvSpPr>
          <p:cNvPr id="17" name="">
            <a:extLst xmlns:a="http://schemas.openxmlformats.org/drawingml/2006/main">
              <a:ext uri="{FF2B5EF4-FFF2-40B4-BE49-F238E27FC236}">
                <a16:creationId xmlns:a16="http://schemas.microsoft.com/office/drawing/2014/main" id="{27C5F2C8-418E-44EE-90FE-0E2122EEB9EF}"/>
              </a:ext>
            </a:extLst>
          </p:cNvPr>
          <p:cNvSpPr>
            <a:spLocks xmlns:a="http://schemas.openxmlformats.org/drawingml/2006/main" noGrp="1"/>
          </p:cNvSpPr>
          <p:nvPr/>
        </p:nvSpPr>
        <p:spPr>
          <a:xfrm xmlns:a="http://schemas.openxmlformats.org/drawingml/2006/main">
            <a:off x="704850" y="6191250"/>
            <a:ext cx="5524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1909"/>
          </a:bodyPr>
          <a:lstStyle xmlns:a="http://schemas.openxmlformats.org/drawingml/2006/main"/>
          <a:p xmlns:a="http://schemas.openxmlformats.org/drawingml/2006/main">
            <a:pPr algn="l">
              <a:lnSpc>
                <a:spcPct val="104000"/>
              </a:lnSpc>
              <a:buNone/>
              <a:defRPr sz="1350" b="1">
                <a:solidFill>
                  <a:srgbClr val="64748B"/>
                </a:solidFill>
                <a:latin typeface="Arial"/>
                <a:ea typeface="Arial"/>
                <a:cs typeface="Arial"/>
              </a:defRPr>
            </a:pPr>
            <a:r>
              <a:rPr sz="1350" b="1">
                <a:solidFill>
                  <a:srgbClr val="64748B"/>
                </a:solidFill>
                <a:latin typeface="Arial"/>
                <a:ea typeface="Arial"/>
                <a:cs typeface="Arial"/>
              </a:rPr>
              <a:t>Multimodal AI for therapeutic discovery</a:t>
            </a:r>
          </a:p>
        </p:txBody>
      </p:sp>
      <p:sp>
        <p:nvSpPr>
          <p:cNvPr id="18" name="">
            <a:extLst xmlns:a="http://schemas.openxmlformats.org/drawingml/2006/main">
              <a:ext uri="{FF2B5EF4-FFF2-40B4-BE49-F238E27FC236}">
                <a16:creationId xmlns:a16="http://schemas.microsoft.com/office/drawing/2014/main" id="{F41FA2A6-F34B-449E-A6FA-94EA5DE051AD}"/>
              </a:ext>
            </a:extLst>
          </p:cNvPr>
          <p:cNvSpPr>
            <a:spLocks xmlns:a="http://schemas.openxmlformats.org/drawingml/2006/main" noGrp="1"/>
          </p:cNvSpPr>
          <p:nvPr/>
        </p:nvSpPr>
        <p:spPr>
          <a:xfrm xmlns:a="http://schemas.openxmlformats.org/drawingml/2006/main">
            <a:off x="8915400" y="1809750"/>
            <a:ext cx="2667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lnSpc>
                <a:spcPct val="104000"/>
              </a:lnSpc>
              <a:buNone/>
              <a:defRPr sz="4200" b="1">
                <a:solidFill>
                  <a:srgbClr val="F97316"/>
                </a:solidFill>
                <a:latin typeface="Arial"/>
                <a:ea typeface="Arial"/>
                <a:cs typeface="Arial"/>
              </a:defRPr>
            </a:pPr>
            <a:r>
              <a:rPr sz="4200" b="1">
                <a:solidFill>
                  <a:srgbClr val="F97316"/>
                </a:solidFill>
                <a:latin typeface="Arial"/>
                <a:ea typeface="Arial"/>
                <a:cs typeface="Arial"/>
              </a:rPr>
              <a:t>−0.0062</a:t>
            </a:r>
          </a:p>
        </p:txBody>
      </p:sp>
      <p:sp>
        <p:nvSpPr>
          <p:cNvPr id="19" name="">
            <a:extLst xmlns:a="http://schemas.openxmlformats.org/drawingml/2006/main">
              <a:ext uri="{FF2B5EF4-FFF2-40B4-BE49-F238E27FC236}">
                <a16:creationId xmlns:a16="http://schemas.microsoft.com/office/drawing/2014/main" id="{530E6E4F-0346-43F9-A15C-5754A2927D4A}"/>
              </a:ext>
            </a:extLst>
          </p:cNvPr>
          <p:cNvSpPr>
            <a:spLocks xmlns:a="http://schemas.openxmlformats.org/drawingml/2006/main" noGrp="1"/>
          </p:cNvSpPr>
          <p:nvPr/>
        </p:nvSpPr>
        <p:spPr>
          <a:xfrm xmlns:a="http://schemas.openxmlformats.org/drawingml/2006/main">
            <a:off x="8915400" y="2609850"/>
            <a:ext cx="2667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9715"/>
          </a:bodyPr>
          <a:lstStyle xmlns:a="http://schemas.openxmlformats.org/drawingml/2006/main"/>
          <a:p xmlns:a="http://schemas.openxmlformats.org/drawingml/2006/main">
            <a:pPr algn="ctr">
              <a:lnSpc>
                <a:spcPct val="104000"/>
              </a:lnSpc>
              <a:buNone/>
              <a:defRPr sz="1350" b="1">
                <a:solidFill>
                  <a:srgbClr val="64748B"/>
                </a:solidFill>
                <a:latin typeface="Arial"/>
                <a:ea typeface="Arial"/>
                <a:cs typeface="Arial"/>
              </a:defRPr>
            </a:pPr>
            <a:r>
              <a:rPr sz="1350" b="1">
                <a:solidFill>
                  <a:srgbClr val="64748B"/>
                </a:solidFill>
                <a:latin typeface="Arial"/>
                <a:ea typeface="Arial"/>
                <a:cs typeface="Arial"/>
              </a:rPr>
              <a:t>FusionVI − totalVI RMSLE</a:t>
            </a:r>
          </a:p>
        </p:txBody>
      </p:sp>
      <p:sp>
        <p:nvSpPr>
          <p:cNvPr id="20" name="">
            <a:extLst xmlns:a="http://schemas.openxmlformats.org/drawingml/2006/main">
              <a:ext uri="{FF2B5EF4-FFF2-40B4-BE49-F238E27FC236}">
                <a16:creationId xmlns:a16="http://schemas.microsoft.com/office/drawing/2014/main" id="{8793C35B-DAFB-4510-915A-0371A94A3419}"/>
              </a:ext>
            </a:extLst>
          </p:cNvPr>
          <p:cNvSpPr>
            <a:spLocks xmlns:a="http://schemas.openxmlformats.org/drawingml/2006/main" noGrp="1"/>
          </p:cNvSpPr>
          <p:nvPr/>
        </p:nvSpPr>
        <p:spPr>
          <a:xfrm xmlns:a="http://schemas.openxmlformats.org/drawingml/2006/main">
            <a:off x="8915400" y="3067050"/>
            <a:ext cx="2667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1585"/>
          </a:bodyPr>
          <a:lstStyle xmlns:a="http://schemas.openxmlformats.org/drawingml/2006/main"/>
          <a:p xmlns:a="http://schemas.openxmlformats.org/drawingml/2006/main">
            <a:pPr algn="ctr">
              <a:lnSpc>
                <a:spcPct val="104000"/>
              </a:lnSpc>
              <a:buNone/>
              <a:defRPr sz="1650" b="1">
                <a:solidFill>
                  <a:srgbClr val="172554"/>
                </a:solidFill>
                <a:latin typeface="Arial"/>
                <a:ea typeface="Arial"/>
                <a:cs typeface="Arial"/>
              </a:defRPr>
            </a:pPr>
            <a:r>
              <a:rPr sz="1650" b="1">
                <a:solidFill>
                  <a:srgbClr val="172554"/>
                </a:solidFill>
                <a:latin typeface="Arial"/>
                <a:ea typeface="Arial"/>
                <a:cs typeface="Arial"/>
              </a:rPr>
              <a:t>95% CI excludes zero</a:t>
            </a:r>
          </a:p>
        </p:txBody>
      </p:sp>
    </p:spTree>
    <p:extLst>
      <p:ext uri="{BB962C8B-B14F-4D97-AF65-F5344CB8AC3E}">
        <p14:creationId xmlns:p14="http://schemas.microsoft.com/office/powerpoint/2010/main" val="711474712"/>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2" name="">
            <a:extLst xmlns:a="http://schemas.openxmlformats.org/drawingml/2006/main">
              <a:ext uri="{FF2B5EF4-FFF2-40B4-BE49-F238E27FC236}">
                <a16:creationId xmlns:a16="http://schemas.microsoft.com/office/drawing/2014/main" id="{C7B9D5E9-3087-442B-8DD2-680F091EEBD5}"/>
              </a:ext>
            </a:extLst>
          </p:cNvPr>
          <p:cNvSpPr>
            <a:spLocks xmlns:a="http://schemas.openxmlformats.org/drawingml/2006/main" noGrp="1"/>
          </p:cNvSpPr>
          <p:nvPr/>
        </p:nvSpPr>
        <p:spPr>
          <a:xfrm xmlns:a="http://schemas.openxmlformats.org/drawingml/2006/main">
            <a:off x="647700" y="285750"/>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2417"/>
          </a:bodyPr>
          <a:lstStyle xmlns:a="http://schemas.openxmlformats.org/drawingml/2006/main"/>
          <a:p xmlns:a="http://schemas.openxmlformats.org/drawingml/2006/main">
            <a:pPr algn="l">
              <a:lnSpc>
                <a:spcPct val="104000"/>
              </a:lnSpc>
              <a:buNone/>
              <a:defRPr sz="1050" b="1">
                <a:solidFill>
                  <a:srgbClr val="0F9F9A"/>
                </a:solidFill>
                <a:latin typeface="Arial"/>
                <a:ea typeface="Arial"/>
                <a:cs typeface="Arial"/>
              </a:defRPr>
            </a:pPr>
            <a:r>
              <a:rPr sz="1050" b="1">
                <a:solidFill>
                  <a:srgbClr val="0F9F9A"/>
                </a:solidFill>
                <a:latin typeface="Arial"/>
                <a:ea typeface="Arial"/>
                <a:cs typeface="Arial"/>
              </a:rPr>
              <a:t>BIOLOGICAL QUESTION</a:t>
            </a:r>
          </a:p>
        </p:txBody>
      </p:sp>
      <p:sp>
        <p:nvSpPr>
          <p:cNvPr id="2" name="">
            <a:extLst xmlns:a="http://schemas.openxmlformats.org/drawingml/2006/main">
              <a:ext uri="{FF2B5EF4-FFF2-40B4-BE49-F238E27FC236}">
                <a16:creationId xmlns:a16="http://schemas.microsoft.com/office/drawing/2014/main" id="{A83B599E-C02C-44D3-97FC-2FF854F8122C}"/>
              </a:ext>
            </a:extLst>
          </p:cNvPr>
          <p:cNvSpPr>
            <a:spLocks xmlns:a="http://schemas.openxmlformats.org/drawingml/2006/main" noGrp="1"/>
          </p:cNvSpPr>
          <p:nvPr/>
        </p:nvSpPr>
        <p:spPr>
          <a:xfrm xmlns:a="http://schemas.openxmlformats.org/drawingml/2006/main">
            <a:off x="647700" y="571500"/>
            <a:ext cx="10477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lnSpc>
                <a:spcPct val="104000"/>
              </a:lnSpc>
              <a:buNone/>
              <a:defRPr sz="2850" b="1">
                <a:solidFill>
                  <a:srgbClr val="172554"/>
                </a:solidFill>
                <a:latin typeface="Arial"/>
                <a:ea typeface="Arial"/>
                <a:cs typeface="Arial"/>
              </a:defRPr>
            </a:pPr>
            <a:r>
              <a:rPr sz="2850" b="1">
                <a:solidFill>
                  <a:srgbClr val="172554"/>
                </a:solidFill>
                <a:latin typeface="Arial"/>
                <a:ea typeface="Arial"/>
                <a:cs typeface="Arial"/>
              </a:rPr>
              <a:t>A missing protein panel weakens immune phenotyping</a:t>
            </a:r>
          </a:p>
        </p:txBody>
      </p:sp>
      <p:sp>
        <p:nvSpPr>
          <p:cNvPr id="3" name="">
            <a:extLst xmlns:a="http://schemas.openxmlformats.org/drawingml/2006/main">
              <a:ext uri="{FF2B5EF4-FFF2-40B4-BE49-F238E27FC236}">
                <a16:creationId xmlns:a16="http://schemas.microsoft.com/office/drawing/2014/main" id="{5636433D-50BE-4E18-9C36-00CE86186BC6}"/>
              </a:ext>
            </a:extLst>
          </p:cNvPr>
          <p:cNvSpPr>
            <a:spLocks xmlns:a="http://schemas.openxmlformats.org/drawingml/2006/main" noGrp="1"/>
          </p:cNvSpPr>
          <p:nvPr/>
        </p:nvSpPr>
        <p:spPr>
          <a:xfrm xmlns:a="http://schemas.openxmlformats.org/drawingml/2006/main">
            <a:off x="647700" y="1219200"/>
            <a:ext cx="876300" cy="47625"/>
          </a:xfrm>
          <a:prstGeom xmlns:a="http://schemas.openxmlformats.org/drawingml/2006/main" prst="rect">
            <a:avLst/>
          </a:prstGeom>
          <a:solidFill xmlns:a="http://schemas.openxmlformats.org/drawingml/2006/main">
            <a:srgbClr val="F97316"/>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1AA4D4B0-D344-4462-8FBD-8071B328F3C0}"/>
              </a:ext>
            </a:extLst>
          </p:cNvPr>
          <p:cNvSpPr>
            <a:spLocks xmlns:a="http://schemas.openxmlformats.org/drawingml/2006/main" noGrp="1"/>
          </p:cNvSpPr>
          <p:nvPr/>
        </p:nvSpPr>
        <p:spPr>
          <a:xfrm xmlns:a="http://schemas.openxmlformats.org/drawingml/2006/main">
            <a:off x="11239500" y="323850"/>
            <a:ext cx="4191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2417"/>
          </a:bodyPr>
          <a:lstStyle xmlns:a="http://schemas.openxmlformats.org/drawingml/2006/main"/>
          <a:p xmlns:a="http://schemas.openxmlformats.org/drawingml/2006/main">
            <a:pPr algn="r">
              <a:lnSpc>
                <a:spcPct val="104000"/>
              </a:lnSpc>
              <a:buNone/>
              <a:defRPr sz="1050" b="1">
                <a:solidFill>
                  <a:srgbClr val="64748B"/>
                </a:solidFill>
                <a:latin typeface="Arial"/>
                <a:ea typeface="Arial"/>
                <a:cs typeface="Arial"/>
              </a:defRPr>
            </a:pPr>
            <a:r>
              <a:rPr sz="1050" b="1">
                <a:solidFill>
                  <a:srgbClr val="64748B"/>
                </a:solidFill>
                <a:latin typeface="Arial"/>
                <a:ea typeface="Arial"/>
                <a:cs typeface="Arial"/>
              </a:rPr>
              <a:t>02</a:t>
            </a:r>
          </a:p>
        </p:txBody>
      </p:sp>
      <p:sp>
        <p:nvSpPr>
          <p:cNvPr id="5" name="">
            <a:extLst xmlns:a="http://schemas.openxmlformats.org/drawingml/2006/main">
              <a:ext uri="{FF2B5EF4-FFF2-40B4-BE49-F238E27FC236}">
                <a16:creationId xmlns:a16="http://schemas.microsoft.com/office/drawing/2014/main" id="{3BC52A35-AF76-4CF3-B7EB-F2368CDDD6B7}"/>
              </a:ext>
            </a:extLst>
          </p:cNvPr>
          <p:cNvSpPr>
            <a:spLocks xmlns:a="http://schemas.openxmlformats.org/drawingml/2006/main" noGrp="1"/>
          </p:cNvSpPr>
          <p:nvPr/>
        </p:nvSpPr>
        <p:spPr>
          <a:xfrm xmlns:a="http://schemas.openxmlformats.org/drawingml/2006/main">
            <a:off x="647700" y="1504950"/>
            <a:ext cx="10858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8876"/>
          </a:bodyPr>
          <a:lstStyle xmlns:a="http://schemas.openxmlformats.org/drawingml/2006/main"/>
          <a:p xmlns:a="http://schemas.openxmlformats.org/drawingml/2006/main">
            <a:pPr algn="ctr">
              <a:lnSpc>
                <a:spcPct val="104000"/>
              </a:lnSpc>
              <a:buNone/>
              <a:defRPr sz="2025" b="1">
                <a:solidFill>
                  <a:srgbClr val="4F46E5"/>
                </a:solidFill>
                <a:latin typeface="Arial"/>
                <a:ea typeface="Arial"/>
                <a:cs typeface="Arial"/>
              </a:defRPr>
            </a:pPr>
            <a:r>
              <a:rPr sz="2025" b="1">
                <a:solidFill>
                  <a:srgbClr val="4F46E5"/>
                </a:solidFill>
                <a:latin typeface="Arial"/>
                <a:ea typeface="Arial"/>
                <a:cs typeface="Arial"/>
              </a:rPr>
              <a:t>Can RNA in a new batch recover all 110 proteins after their measurements are removed?</a:t>
            </a:r>
          </a:p>
        </p:txBody>
      </p:sp>
      <p:sp>
        <p:nvSpPr>
          <p:cNvPr id="6" name="">
            <a:extLst xmlns:a="http://schemas.openxmlformats.org/drawingml/2006/main">
              <a:ext uri="{FF2B5EF4-FFF2-40B4-BE49-F238E27FC236}">
                <a16:creationId xmlns:a16="http://schemas.microsoft.com/office/drawing/2014/main" id="{D27D16C2-5244-4BBB-88BB-BBF0ED54EC31}"/>
              </a:ext>
            </a:extLst>
          </p:cNvPr>
          <p:cNvSpPr>
            <a:spLocks xmlns:a="http://schemas.openxmlformats.org/drawingml/2006/main" noGrp="1"/>
          </p:cNvSpPr>
          <p:nvPr/>
        </p:nvSpPr>
        <p:spPr>
          <a:xfrm xmlns:a="http://schemas.openxmlformats.org/drawingml/2006/main">
            <a:off x="609600" y="2533650"/>
            <a:ext cx="2571750" cy="2324100"/>
          </a:xfrm>
          <a:prstGeom xmlns:a="http://schemas.openxmlformats.org/drawingml/2006/main" prst="roundRect">
            <a:avLst>
              <a:gd name="adj" fmla="val 4918"/>
            </a:avLst>
          </a:prstGeom>
          <a:solidFill xmlns:a="http://schemas.openxmlformats.org/drawingml/2006/main">
            <a:srgbClr val="FFF7ED"/>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5CA8DCF1-6D93-43A7-8FDB-95DF08198F6C}"/>
              </a:ext>
            </a:extLst>
          </p:cNvPr>
          <p:cNvSpPr>
            <a:spLocks xmlns:a="http://schemas.openxmlformats.org/drawingml/2006/main" noGrp="1"/>
          </p:cNvSpPr>
          <p:nvPr/>
        </p:nvSpPr>
        <p:spPr>
          <a:xfrm xmlns:a="http://schemas.openxmlformats.org/drawingml/2006/main">
            <a:off x="800100" y="2743200"/>
            <a:ext cx="21907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9406"/>
          </a:bodyPr>
          <a:lstStyle xmlns:a="http://schemas.openxmlformats.org/drawingml/2006/main"/>
          <a:p xmlns:a="http://schemas.openxmlformats.org/drawingml/2006/main">
            <a:pPr algn="ctr">
              <a:lnSpc>
                <a:spcPct val="104000"/>
              </a:lnSpc>
              <a:buNone/>
              <a:defRPr sz="2850" b="1">
                <a:solidFill>
                  <a:srgbClr val="F97316"/>
                </a:solidFill>
                <a:latin typeface="Arial"/>
                <a:ea typeface="Arial"/>
                <a:cs typeface="Arial"/>
              </a:defRPr>
            </a:pPr>
            <a:r>
              <a:rPr sz="2850" b="1">
                <a:solidFill>
                  <a:srgbClr val="F97316"/>
                </a:solidFill>
                <a:latin typeface="Arial"/>
                <a:ea typeface="Arial"/>
                <a:cs typeface="Arial"/>
              </a:rPr>
              <a:t>CD20</a:t>
            </a:r>
          </a:p>
        </p:txBody>
      </p:sp>
      <p:sp>
        <p:nvSpPr>
          <p:cNvPr id="8" name="">
            <a:extLst xmlns:a="http://schemas.openxmlformats.org/drawingml/2006/main">
              <a:ext uri="{FF2B5EF4-FFF2-40B4-BE49-F238E27FC236}">
                <a16:creationId xmlns:a16="http://schemas.microsoft.com/office/drawing/2014/main" id="{A59FB779-121B-4CBE-9BAF-DDA9E437BF6F}"/>
              </a:ext>
            </a:extLst>
          </p:cNvPr>
          <p:cNvSpPr>
            <a:spLocks xmlns:a="http://schemas.openxmlformats.org/drawingml/2006/main" noGrp="1"/>
          </p:cNvSpPr>
          <p:nvPr/>
        </p:nvSpPr>
        <p:spPr>
          <a:xfrm xmlns:a="http://schemas.openxmlformats.org/drawingml/2006/main">
            <a:off x="781050" y="3409950"/>
            <a:ext cx="22288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lnSpc>
                <a:spcPct val="104000"/>
              </a:lnSpc>
              <a:buNone/>
              <a:defRPr sz="1575" b="1">
                <a:solidFill>
                  <a:srgbClr val="172554"/>
                </a:solidFill>
                <a:latin typeface="Arial"/>
                <a:ea typeface="Arial"/>
                <a:cs typeface="Arial"/>
              </a:defRPr>
            </a:pPr>
            <a:r>
              <a:rPr sz="1575" b="1">
                <a:solidFill>
                  <a:srgbClr val="172554"/>
                </a:solidFill>
                <a:latin typeface="Arial"/>
                <a:ea typeface="Arial"/>
                <a:cs typeface="Arial"/>
              </a:rPr>
              <a:t>B-cell identity</a:t>
            </a:r>
          </a:p>
        </p:txBody>
      </p:sp>
      <p:sp>
        <p:nvSpPr>
          <p:cNvPr id="9" name="">
            <a:extLst xmlns:a="http://schemas.openxmlformats.org/drawingml/2006/main">
              <a:ext uri="{FF2B5EF4-FFF2-40B4-BE49-F238E27FC236}">
                <a16:creationId xmlns:a16="http://schemas.microsoft.com/office/drawing/2014/main" id="{2EFAD5DA-F69A-428B-99FC-9ABA36F9F036}"/>
              </a:ext>
            </a:extLst>
          </p:cNvPr>
          <p:cNvSpPr>
            <a:spLocks xmlns:a="http://schemas.openxmlformats.org/drawingml/2006/main" noGrp="1"/>
          </p:cNvSpPr>
          <p:nvPr/>
        </p:nvSpPr>
        <p:spPr>
          <a:xfrm xmlns:a="http://schemas.openxmlformats.org/drawingml/2006/main">
            <a:off x="781050" y="3905250"/>
            <a:ext cx="22288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lnSpc>
                <a:spcPct val="104000"/>
              </a:lnSpc>
              <a:buNone/>
              <a:defRPr sz="1275" b="0">
                <a:solidFill>
                  <a:srgbClr val="64748B"/>
                </a:solidFill>
                <a:latin typeface="Arial"/>
                <a:ea typeface="Arial"/>
                <a:cs typeface="Arial"/>
              </a:defRPr>
            </a:pPr>
            <a:r>
              <a:rPr sz="1275" b="0">
                <a:solidFill>
                  <a:srgbClr val="64748B"/>
                </a:solidFill>
                <a:latin typeface="Arial"/>
                <a:ea typeface="Arial"/>
                <a:cs typeface="Arial"/>
              </a:rPr>
              <a:t>therapeutic target</a:t>
            </a:r>
          </a:p>
        </p:txBody>
      </p:sp>
      <p:sp>
        <p:nvSpPr>
          <p:cNvPr id="10" name="">
            <a:extLst xmlns:a="http://schemas.openxmlformats.org/drawingml/2006/main">
              <a:ext uri="{FF2B5EF4-FFF2-40B4-BE49-F238E27FC236}">
                <a16:creationId xmlns:a16="http://schemas.microsoft.com/office/drawing/2014/main" id="{DD1F6C92-6C1E-433A-AA6C-F94CF651D157}"/>
              </a:ext>
            </a:extLst>
          </p:cNvPr>
          <p:cNvSpPr>
            <a:spLocks xmlns:a="http://schemas.openxmlformats.org/drawingml/2006/main" noGrp="1"/>
          </p:cNvSpPr>
          <p:nvPr/>
        </p:nvSpPr>
        <p:spPr>
          <a:xfrm xmlns:a="http://schemas.openxmlformats.org/drawingml/2006/main">
            <a:off x="933450" y="4400550"/>
            <a:ext cx="1924050" cy="342900"/>
          </a:xfrm>
          <a:prstGeom xmlns:a="http://schemas.openxmlformats.org/drawingml/2006/main" prst="roundRect">
            <a:avLst>
              <a:gd name="adj" fmla="val 33333"/>
            </a:avLst>
          </a:prstGeom>
          <a:solidFill xmlns:a="http://schemas.openxmlformats.org/drawingml/2006/main">
            <a:srgbClr val="F97316"/>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4A8AC3AB-76F2-419B-97D6-2E1DBB8B77F5}"/>
              </a:ext>
            </a:extLst>
          </p:cNvPr>
          <p:cNvSpPr>
            <a:spLocks xmlns:a="http://schemas.openxmlformats.org/drawingml/2006/main" noGrp="1"/>
          </p:cNvSpPr>
          <p:nvPr/>
        </p:nvSpPr>
        <p:spPr>
          <a:xfrm xmlns:a="http://schemas.openxmlformats.org/drawingml/2006/main">
            <a:off x="1009650" y="4438650"/>
            <a:ext cx="17716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8291"/>
          </a:bodyPr>
          <a:lstStyle xmlns:a="http://schemas.openxmlformats.org/drawingml/2006/main"/>
          <a:p xmlns:a="http://schemas.openxmlformats.org/drawingml/2006/main">
            <a:pPr algn="ctr">
              <a:lnSpc>
                <a:spcPct val="104000"/>
              </a:lnSpc>
              <a:buNone/>
              <a:defRPr sz="1125" b="1">
                <a:solidFill>
                  <a:srgbClr val="FFFFFF"/>
                </a:solidFill>
                <a:latin typeface="Arial"/>
                <a:ea typeface="Arial"/>
                <a:cs typeface="Arial"/>
              </a:defRPr>
            </a:pPr>
            <a:r>
              <a:rPr sz="1125" b="1">
                <a:solidFill>
                  <a:srgbClr val="FFFFFF"/>
                </a:solidFill>
                <a:latin typeface="Arial"/>
                <a:ea typeface="Arial"/>
                <a:cs typeface="Arial"/>
              </a:rPr>
              <a:t>example target</a:t>
            </a:r>
          </a:p>
        </p:txBody>
      </p:sp>
      <p:sp>
        <p:nvSpPr>
          <p:cNvPr id="12" name="">
            <a:extLst xmlns:a="http://schemas.openxmlformats.org/drawingml/2006/main">
              <a:ext uri="{FF2B5EF4-FFF2-40B4-BE49-F238E27FC236}">
                <a16:creationId xmlns:a16="http://schemas.microsoft.com/office/drawing/2014/main" id="{F72ED17F-B9D2-425A-BCF0-3DDE02A57580}"/>
              </a:ext>
            </a:extLst>
          </p:cNvPr>
          <p:cNvSpPr>
            <a:spLocks xmlns:a="http://schemas.openxmlformats.org/drawingml/2006/main" noGrp="1"/>
          </p:cNvSpPr>
          <p:nvPr/>
        </p:nvSpPr>
        <p:spPr>
          <a:xfrm xmlns:a="http://schemas.openxmlformats.org/drawingml/2006/main">
            <a:off x="3448050" y="2533650"/>
            <a:ext cx="2571750" cy="2324100"/>
          </a:xfrm>
          <a:prstGeom xmlns:a="http://schemas.openxmlformats.org/drawingml/2006/main" prst="roundRect">
            <a:avLst>
              <a:gd name="adj" fmla="val 4918"/>
            </a:avLst>
          </a:prstGeom>
          <a:solidFill xmlns:a="http://schemas.openxmlformats.org/drawingml/2006/main">
            <a:srgbClr val="E6FFFB"/>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BFCCDD82-5BA8-4E55-817F-C8CB3D93FC4B}"/>
              </a:ext>
            </a:extLst>
          </p:cNvPr>
          <p:cNvSpPr>
            <a:spLocks xmlns:a="http://schemas.openxmlformats.org/drawingml/2006/main" noGrp="1"/>
          </p:cNvSpPr>
          <p:nvPr/>
        </p:nvSpPr>
        <p:spPr>
          <a:xfrm xmlns:a="http://schemas.openxmlformats.org/drawingml/2006/main">
            <a:off x="3638550" y="2743200"/>
            <a:ext cx="21907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9406"/>
          </a:bodyPr>
          <a:lstStyle xmlns:a="http://schemas.openxmlformats.org/drawingml/2006/main"/>
          <a:p xmlns:a="http://schemas.openxmlformats.org/drawingml/2006/main">
            <a:pPr algn="ctr">
              <a:lnSpc>
                <a:spcPct val="104000"/>
              </a:lnSpc>
              <a:buNone/>
              <a:defRPr sz="2850" b="1">
                <a:solidFill>
                  <a:srgbClr val="0F9F9A"/>
                </a:solidFill>
                <a:latin typeface="Arial"/>
                <a:ea typeface="Arial"/>
                <a:cs typeface="Arial"/>
              </a:defRPr>
            </a:pPr>
            <a:r>
              <a:rPr sz="2850" b="1">
                <a:solidFill>
                  <a:srgbClr val="0F9F9A"/>
                </a:solidFill>
                <a:latin typeface="Arial"/>
                <a:ea typeface="Arial"/>
                <a:cs typeface="Arial"/>
              </a:rPr>
              <a:t>CD28</a:t>
            </a:r>
          </a:p>
        </p:txBody>
      </p:sp>
      <p:sp>
        <p:nvSpPr>
          <p:cNvPr id="14" name="">
            <a:extLst xmlns:a="http://schemas.openxmlformats.org/drawingml/2006/main">
              <a:ext uri="{FF2B5EF4-FFF2-40B4-BE49-F238E27FC236}">
                <a16:creationId xmlns:a16="http://schemas.microsoft.com/office/drawing/2014/main" id="{56DDA92F-F07E-4856-B705-43654F0EEF5E}"/>
              </a:ext>
            </a:extLst>
          </p:cNvPr>
          <p:cNvSpPr>
            <a:spLocks xmlns:a="http://schemas.openxmlformats.org/drawingml/2006/main" noGrp="1"/>
          </p:cNvSpPr>
          <p:nvPr/>
        </p:nvSpPr>
        <p:spPr>
          <a:xfrm xmlns:a="http://schemas.openxmlformats.org/drawingml/2006/main">
            <a:off x="3619500" y="3409950"/>
            <a:ext cx="22288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lnSpc>
                <a:spcPct val="104000"/>
              </a:lnSpc>
              <a:buNone/>
              <a:defRPr sz="1575" b="1">
                <a:solidFill>
                  <a:srgbClr val="172554"/>
                </a:solidFill>
                <a:latin typeface="Arial"/>
                <a:ea typeface="Arial"/>
                <a:cs typeface="Arial"/>
              </a:defRPr>
            </a:pPr>
            <a:r>
              <a:rPr sz="1575" b="1">
                <a:solidFill>
                  <a:srgbClr val="172554"/>
                </a:solidFill>
                <a:latin typeface="Arial"/>
                <a:ea typeface="Arial"/>
                <a:cs typeface="Arial"/>
              </a:rPr>
              <a:t>T-cell costimulation</a:t>
            </a:r>
          </a:p>
        </p:txBody>
      </p:sp>
      <p:sp>
        <p:nvSpPr>
          <p:cNvPr id="15" name="">
            <a:extLst xmlns:a="http://schemas.openxmlformats.org/drawingml/2006/main">
              <a:ext uri="{FF2B5EF4-FFF2-40B4-BE49-F238E27FC236}">
                <a16:creationId xmlns:a16="http://schemas.microsoft.com/office/drawing/2014/main" id="{24685452-D5E4-4F36-9250-CBB1D8B339EA}"/>
              </a:ext>
            </a:extLst>
          </p:cNvPr>
          <p:cNvSpPr>
            <a:spLocks xmlns:a="http://schemas.openxmlformats.org/drawingml/2006/main" noGrp="1"/>
          </p:cNvSpPr>
          <p:nvPr/>
        </p:nvSpPr>
        <p:spPr>
          <a:xfrm xmlns:a="http://schemas.openxmlformats.org/drawingml/2006/main">
            <a:off x="3619500" y="3905250"/>
            <a:ext cx="22288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lnSpc>
                <a:spcPct val="104000"/>
              </a:lnSpc>
              <a:buNone/>
              <a:defRPr sz="1275" b="0">
                <a:solidFill>
                  <a:srgbClr val="64748B"/>
                </a:solidFill>
                <a:latin typeface="Arial"/>
                <a:ea typeface="Arial"/>
                <a:cs typeface="Arial"/>
              </a:defRPr>
            </a:pPr>
            <a:r>
              <a:rPr sz="1275" b="0">
                <a:solidFill>
                  <a:srgbClr val="64748B"/>
                </a:solidFill>
                <a:latin typeface="Arial"/>
                <a:ea typeface="Arial"/>
                <a:cs typeface="Arial"/>
              </a:rPr>
              <a:t>activation state</a:t>
            </a:r>
          </a:p>
        </p:txBody>
      </p:sp>
      <p:sp>
        <p:nvSpPr>
          <p:cNvPr id="16" name="">
            <a:extLst xmlns:a="http://schemas.openxmlformats.org/drawingml/2006/main">
              <a:ext uri="{FF2B5EF4-FFF2-40B4-BE49-F238E27FC236}">
                <a16:creationId xmlns:a16="http://schemas.microsoft.com/office/drawing/2014/main" id="{88D301A9-3214-4605-8B7A-1F2B67846F6A}"/>
              </a:ext>
            </a:extLst>
          </p:cNvPr>
          <p:cNvSpPr>
            <a:spLocks xmlns:a="http://schemas.openxmlformats.org/drawingml/2006/main" noGrp="1"/>
          </p:cNvSpPr>
          <p:nvPr/>
        </p:nvSpPr>
        <p:spPr>
          <a:xfrm xmlns:a="http://schemas.openxmlformats.org/drawingml/2006/main">
            <a:off x="3771900" y="4400550"/>
            <a:ext cx="1924050" cy="342900"/>
          </a:xfrm>
          <a:prstGeom xmlns:a="http://schemas.openxmlformats.org/drawingml/2006/main" prst="roundRect">
            <a:avLst>
              <a:gd name="adj" fmla="val 33333"/>
            </a:avLst>
          </a:prstGeom>
          <a:solidFill xmlns:a="http://schemas.openxmlformats.org/drawingml/2006/main">
            <a:srgbClr val="0F9F9A"/>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21E5414E-E368-4FE4-8B7D-F1407B0EDAED}"/>
              </a:ext>
            </a:extLst>
          </p:cNvPr>
          <p:cNvSpPr>
            <a:spLocks xmlns:a="http://schemas.openxmlformats.org/drawingml/2006/main" noGrp="1"/>
          </p:cNvSpPr>
          <p:nvPr/>
        </p:nvSpPr>
        <p:spPr>
          <a:xfrm xmlns:a="http://schemas.openxmlformats.org/drawingml/2006/main">
            <a:off x="3848100" y="4438650"/>
            <a:ext cx="17716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8291"/>
          </a:bodyPr>
          <a:lstStyle xmlns:a="http://schemas.openxmlformats.org/drawingml/2006/main"/>
          <a:p xmlns:a="http://schemas.openxmlformats.org/drawingml/2006/main">
            <a:pPr algn="ctr">
              <a:lnSpc>
                <a:spcPct val="104000"/>
              </a:lnSpc>
              <a:buNone/>
              <a:defRPr sz="1125" b="1">
                <a:solidFill>
                  <a:srgbClr val="FFFFFF"/>
                </a:solidFill>
                <a:latin typeface="Arial"/>
                <a:ea typeface="Arial"/>
                <a:cs typeface="Arial"/>
              </a:defRPr>
            </a:pPr>
            <a:r>
              <a:rPr sz="1125" b="1">
                <a:solidFill>
                  <a:srgbClr val="FFFFFF"/>
                </a:solidFill>
                <a:latin typeface="Arial"/>
                <a:ea typeface="Arial"/>
                <a:cs typeface="Arial"/>
              </a:rPr>
              <a:t>example target</a:t>
            </a:r>
          </a:p>
        </p:txBody>
      </p:sp>
      <p:sp>
        <p:nvSpPr>
          <p:cNvPr id="18" name="">
            <a:extLst xmlns:a="http://schemas.openxmlformats.org/drawingml/2006/main">
              <a:ext uri="{FF2B5EF4-FFF2-40B4-BE49-F238E27FC236}">
                <a16:creationId xmlns:a16="http://schemas.microsoft.com/office/drawing/2014/main" id="{0EAAB1AC-8C99-40FC-AE9D-7C93B1AE37EA}"/>
              </a:ext>
            </a:extLst>
          </p:cNvPr>
          <p:cNvSpPr>
            <a:spLocks xmlns:a="http://schemas.openxmlformats.org/drawingml/2006/main" noGrp="1"/>
          </p:cNvSpPr>
          <p:nvPr/>
        </p:nvSpPr>
        <p:spPr>
          <a:xfrm xmlns:a="http://schemas.openxmlformats.org/drawingml/2006/main">
            <a:off x="6286500" y="2533650"/>
            <a:ext cx="2571750" cy="2324100"/>
          </a:xfrm>
          <a:prstGeom xmlns:a="http://schemas.openxmlformats.org/drawingml/2006/main" prst="roundRect">
            <a:avLst>
              <a:gd name="adj" fmla="val 4918"/>
            </a:avLst>
          </a:prstGeom>
          <a:solidFill xmlns:a="http://schemas.openxmlformats.org/drawingml/2006/main">
            <a:srgbClr val="EEF2FF"/>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52DDBC2C-4814-4A1D-A7E4-A3B5D8DFCF85}"/>
              </a:ext>
            </a:extLst>
          </p:cNvPr>
          <p:cNvSpPr>
            <a:spLocks xmlns:a="http://schemas.openxmlformats.org/drawingml/2006/main" noGrp="1"/>
          </p:cNvSpPr>
          <p:nvPr/>
        </p:nvSpPr>
        <p:spPr>
          <a:xfrm xmlns:a="http://schemas.openxmlformats.org/drawingml/2006/main">
            <a:off x="6477000" y="2743200"/>
            <a:ext cx="21907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9406"/>
          </a:bodyPr>
          <a:lstStyle xmlns:a="http://schemas.openxmlformats.org/drawingml/2006/main"/>
          <a:p xmlns:a="http://schemas.openxmlformats.org/drawingml/2006/main">
            <a:pPr algn="ctr">
              <a:lnSpc>
                <a:spcPct val="104000"/>
              </a:lnSpc>
              <a:buNone/>
              <a:defRPr sz="2850" b="1">
                <a:solidFill>
                  <a:srgbClr val="4F46E5"/>
                </a:solidFill>
                <a:latin typeface="Arial"/>
                <a:ea typeface="Arial"/>
                <a:cs typeface="Arial"/>
              </a:defRPr>
            </a:pPr>
            <a:r>
              <a:rPr sz="2850" b="1">
                <a:solidFill>
                  <a:srgbClr val="4F46E5"/>
                </a:solidFill>
                <a:latin typeface="Arial"/>
                <a:ea typeface="Arial"/>
                <a:cs typeface="Arial"/>
              </a:rPr>
              <a:t>CD4</a:t>
            </a:r>
          </a:p>
        </p:txBody>
      </p:sp>
      <p:sp>
        <p:nvSpPr>
          <p:cNvPr id="20" name="">
            <a:extLst xmlns:a="http://schemas.openxmlformats.org/drawingml/2006/main">
              <a:ext uri="{FF2B5EF4-FFF2-40B4-BE49-F238E27FC236}">
                <a16:creationId xmlns:a16="http://schemas.microsoft.com/office/drawing/2014/main" id="{0E74148F-DF0B-4A90-A42A-F68DCBC59F9D}"/>
              </a:ext>
            </a:extLst>
          </p:cNvPr>
          <p:cNvSpPr>
            <a:spLocks xmlns:a="http://schemas.openxmlformats.org/drawingml/2006/main" noGrp="1"/>
          </p:cNvSpPr>
          <p:nvPr/>
        </p:nvSpPr>
        <p:spPr>
          <a:xfrm xmlns:a="http://schemas.openxmlformats.org/drawingml/2006/main">
            <a:off x="6457950" y="3409950"/>
            <a:ext cx="22288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lnSpc>
                <a:spcPct val="104000"/>
              </a:lnSpc>
              <a:buNone/>
              <a:defRPr sz="1575" b="1">
                <a:solidFill>
                  <a:srgbClr val="172554"/>
                </a:solidFill>
                <a:latin typeface="Arial"/>
                <a:ea typeface="Arial"/>
                <a:cs typeface="Arial"/>
              </a:defRPr>
            </a:pPr>
            <a:r>
              <a:rPr sz="1575" b="1">
                <a:solidFill>
                  <a:srgbClr val="172554"/>
                </a:solidFill>
                <a:latin typeface="Arial"/>
                <a:ea typeface="Arial"/>
                <a:cs typeface="Arial"/>
              </a:rPr>
              <a:t>helper T cells</a:t>
            </a:r>
          </a:p>
        </p:txBody>
      </p:sp>
      <p:sp>
        <p:nvSpPr>
          <p:cNvPr id="21" name="">
            <a:extLst xmlns:a="http://schemas.openxmlformats.org/drawingml/2006/main">
              <a:ext uri="{FF2B5EF4-FFF2-40B4-BE49-F238E27FC236}">
                <a16:creationId xmlns:a16="http://schemas.microsoft.com/office/drawing/2014/main" id="{2AEAA0DB-AC6C-48C6-9BE4-3C2B9B0B02D8}"/>
              </a:ext>
            </a:extLst>
          </p:cNvPr>
          <p:cNvSpPr>
            <a:spLocks xmlns:a="http://schemas.openxmlformats.org/drawingml/2006/main" noGrp="1"/>
          </p:cNvSpPr>
          <p:nvPr/>
        </p:nvSpPr>
        <p:spPr>
          <a:xfrm xmlns:a="http://schemas.openxmlformats.org/drawingml/2006/main">
            <a:off x="6457950" y="3905250"/>
            <a:ext cx="22288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lnSpc>
                <a:spcPct val="104000"/>
              </a:lnSpc>
              <a:buNone/>
              <a:defRPr sz="1275" b="0">
                <a:solidFill>
                  <a:srgbClr val="64748B"/>
                </a:solidFill>
                <a:latin typeface="Arial"/>
                <a:ea typeface="Arial"/>
                <a:cs typeface="Arial"/>
              </a:defRPr>
            </a:pPr>
            <a:r>
              <a:rPr sz="1275" b="0">
                <a:solidFill>
                  <a:srgbClr val="64748B"/>
                </a:solidFill>
                <a:latin typeface="Arial"/>
                <a:ea typeface="Arial"/>
                <a:cs typeface="Arial"/>
              </a:rPr>
              <a:t>lineage marker</a:t>
            </a:r>
          </a:p>
        </p:txBody>
      </p:sp>
      <p:sp>
        <p:nvSpPr>
          <p:cNvPr id="22" name="">
            <a:extLst xmlns:a="http://schemas.openxmlformats.org/drawingml/2006/main">
              <a:ext uri="{FF2B5EF4-FFF2-40B4-BE49-F238E27FC236}">
                <a16:creationId xmlns:a16="http://schemas.microsoft.com/office/drawing/2014/main" id="{6855A5AC-B61D-4E1A-B7D7-BDFD47FDED5A}"/>
              </a:ext>
            </a:extLst>
          </p:cNvPr>
          <p:cNvSpPr>
            <a:spLocks xmlns:a="http://schemas.openxmlformats.org/drawingml/2006/main" noGrp="1"/>
          </p:cNvSpPr>
          <p:nvPr/>
        </p:nvSpPr>
        <p:spPr>
          <a:xfrm xmlns:a="http://schemas.openxmlformats.org/drawingml/2006/main">
            <a:off x="6610350" y="4400550"/>
            <a:ext cx="1924050" cy="342900"/>
          </a:xfrm>
          <a:prstGeom xmlns:a="http://schemas.openxmlformats.org/drawingml/2006/main" prst="roundRect">
            <a:avLst>
              <a:gd name="adj" fmla="val 33333"/>
            </a:avLst>
          </a:prstGeom>
          <a:solidFill xmlns:a="http://schemas.openxmlformats.org/drawingml/2006/main">
            <a:srgbClr val="4F46E5"/>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046218E1-FD64-4BCD-A39B-948411014D59}"/>
              </a:ext>
            </a:extLst>
          </p:cNvPr>
          <p:cNvSpPr>
            <a:spLocks xmlns:a="http://schemas.openxmlformats.org/drawingml/2006/main" noGrp="1"/>
          </p:cNvSpPr>
          <p:nvPr/>
        </p:nvSpPr>
        <p:spPr>
          <a:xfrm xmlns:a="http://schemas.openxmlformats.org/drawingml/2006/main">
            <a:off x="6686550" y="4438650"/>
            <a:ext cx="17716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8291"/>
          </a:bodyPr>
          <a:lstStyle xmlns:a="http://schemas.openxmlformats.org/drawingml/2006/main"/>
          <a:p xmlns:a="http://schemas.openxmlformats.org/drawingml/2006/main">
            <a:pPr algn="ctr">
              <a:lnSpc>
                <a:spcPct val="104000"/>
              </a:lnSpc>
              <a:buNone/>
              <a:defRPr sz="1125" b="1">
                <a:solidFill>
                  <a:srgbClr val="FFFFFF"/>
                </a:solidFill>
                <a:latin typeface="Arial"/>
                <a:ea typeface="Arial"/>
                <a:cs typeface="Arial"/>
              </a:defRPr>
            </a:pPr>
            <a:r>
              <a:rPr sz="1125" b="1">
                <a:solidFill>
                  <a:srgbClr val="FFFFFF"/>
                </a:solidFill>
                <a:latin typeface="Arial"/>
                <a:ea typeface="Arial"/>
                <a:cs typeface="Arial"/>
              </a:rPr>
              <a:t>example target</a:t>
            </a:r>
          </a:p>
        </p:txBody>
      </p:sp>
      <p:sp>
        <p:nvSpPr>
          <p:cNvPr id="24" name="">
            <a:extLst xmlns:a="http://schemas.openxmlformats.org/drawingml/2006/main">
              <a:ext uri="{FF2B5EF4-FFF2-40B4-BE49-F238E27FC236}">
                <a16:creationId xmlns:a16="http://schemas.microsoft.com/office/drawing/2014/main" id="{EE58221D-08A7-4D45-8E17-C11C017E469A}"/>
              </a:ext>
            </a:extLst>
          </p:cNvPr>
          <p:cNvSpPr>
            <a:spLocks xmlns:a="http://schemas.openxmlformats.org/drawingml/2006/main" noGrp="1"/>
          </p:cNvSpPr>
          <p:nvPr/>
        </p:nvSpPr>
        <p:spPr>
          <a:xfrm xmlns:a="http://schemas.openxmlformats.org/drawingml/2006/main">
            <a:off x="9124950" y="2533650"/>
            <a:ext cx="2571750" cy="2324100"/>
          </a:xfrm>
          <a:prstGeom xmlns:a="http://schemas.openxmlformats.org/drawingml/2006/main" prst="roundRect">
            <a:avLst>
              <a:gd name="adj" fmla="val 4918"/>
            </a:avLst>
          </a:prstGeom>
          <a:solidFill xmlns:a="http://schemas.openxmlformats.org/drawingml/2006/main">
            <a:srgbClr val="FFF7ED"/>
          </a:solidFill>
          <a:ln xmlns:a="http://schemas.openxmlformats.org/drawingml/2006/main" w="0">
            <a:noFill/>
          </a:ln>
        </p:spPr>
      </p:sp>
      <p:sp>
        <p:nvSpPr>
          <p:cNvPr id="25" name="">
            <a:extLst xmlns:a="http://schemas.openxmlformats.org/drawingml/2006/main">
              <a:ext uri="{FF2B5EF4-FFF2-40B4-BE49-F238E27FC236}">
                <a16:creationId xmlns:a16="http://schemas.microsoft.com/office/drawing/2014/main" id="{F3ADFA2B-5312-468A-993D-DA54FC318080}"/>
              </a:ext>
            </a:extLst>
          </p:cNvPr>
          <p:cNvSpPr>
            <a:spLocks xmlns:a="http://schemas.openxmlformats.org/drawingml/2006/main" noGrp="1"/>
          </p:cNvSpPr>
          <p:nvPr/>
        </p:nvSpPr>
        <p:spPr>
          <a:xfrm xmlns:a="http://schemas.openxmlformats.org/drawingml/2006/main">
            <a:off x="9315450" y="2743200"/>
            <a:ext cx="21907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9406"/>
          </a:bodyPr>
          <a:lstStyle xmlns:a="http://schemas.openxmlformats.org/drawingml/2006/main"/>
          <a:p xmlns:a="http://schemas.openxmlformats.org/drawingml/2006/main">
            <a:pPr algn="ctr">
              <a:lnSpc>
                <a:spcPct val="104000"/>
              </a:lnSpc>
              <a:buNone/>
              <a:defRPr sz="2850" b="1">
                <a:solidFill>
                  <a:srgbClr val="F97316"/>
                </a:solidFill>
                <a:latin typeface="Arial"/>
                <a:ea typeface="Arial"/>
                <a:cs typeface="Arial"/>
              </a:defRPr>
            </a:pPr>
            <a:r>
              <a:rPr sz="2850" b="1">
                <a:solidFill>
                  <a:srgbClr val="F97316"/>
                </a:solidFill>
                <a:latin typeface="Arial"/>
                <a:ea typeface="Arial"/>
                <a:cs typeface="Arial"/>
              </a:rPr>
              <a:t>CD8a</a:t>
            </a:r>
          </a:p>
        </p:txBody>
      </p:sp>
      <p:sp>
        <p:nvSpPr>
          <p:cNvPr id="26" name="">
            <a:extLst xmlns:a="http://schemas.openxmlformats.org/drawingml/2006/main">
              <a:ext uri="{FF2B5EF4-FFF2-40B4-BE49-F238E27FC236}">
                <a16:creationId xmlns:a16="http://schemas.microsoft.com/office/drawing/2014/main" id="{F77E4F51-BC58-44D3-BC61-22C632A0E8A5}"/>
              </a:ext>
            </a:extLst>
          </p:cNvPr>
          <p:cNvSpPr>
            <a:spLocks xmlns:a="http://schemas.openxmlformats.org/drawingml/2006/main" noGrp="1"/>
          </p:cNvSpPr>
          <p:nvPr/>
        </p:nvSpPr>
        <p:spPr>
          <a:xfrm xmlns:a="http://schemas.openxmlformats.org/drawingml/2006/main">
            <a:off x="9296400" y="3409950"/>
            <a:ext cx="22288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lnSpc>
                <a:spcPct val="104000"/>
              </a:lnSpc>
              <a:buNone/>
              <a:defRPr sz="1575" b="1">
                <a:solidFill>
                  <a:srgbClr val="172554"/>
                </a:solidFill>
                <a:latin typeface="Arial"/>
                <a:ea typeface="Arial"/>
                <a:cs typeface="Arial"/>
              </a:defRPr>
            </a:pPr>
            <a:r>
              <a:rPr sz="1575" b="1">
                <a:solidFill>
                  <a:srgbClr val="172554"/>
                </a:solidFill>
                <a:latin typeface="Arial"/>
                <a:ea typeface="Arial"/>
                <a:cs typeface="Arial"/>
              </a:rPr>
              <a:t>cytotoxic T cells</a:t>
            </a:r>
          </a:p>
        </p:txBody>
      </p:sp>
      <p:sp>
        <p:nvSpPr>
          <p:cNvPr id="27" name="">
            <a:extLst xmlns:a="http://schemas.openxmlformats.org/drawingml/2006/main">
              <a:ext uri="{FF2B5EF4-FFF2-40B4-BE49-F238E27FC236}">
                <a16:creationId xmlns:a16="http://schemas.microsoft.com/office/drawing/2014/main" id="{011543BD-A92D-4055-AD59-2E84139241EF}"/>
              </a:ext>
            </a:extLst>
          </p:cNvPr>
          <p:cNvSpPr>
            <a:spLocks xmlns:a="http://schemas.openxmlformats.org/drawingml/2006/main" noGrp="1"/>
          </p:cNvSpPr>
          <p:nvPr/>
        </p:nvSpPr>
        <p:spPr>
          <a:xfrm xmlns:a="http://schemas.openxmlformats.org/drawingml/2006/main">
            <a:off x="9296400" y="3905250"/>
            <a:ext cx="22288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lnSpc>
                <a:spcPct val="104000"/>
              </a:lnSpc>
              <a:buNone/>
              <a:defRPr sz="1275" b="0">
                <a:solidFill>
                  <a:srgbClr val="64748B"/>
                </a:solidFill>
                <a:latin typeface="Arial"/>
                <a:ea typeface="Arial"/>
                <a:cs typeface="Arial"/>
              </a:defRPr>
            </a:pPr>
            <a:r>
              <a:rPr sz="1275" b="0">
                <a:solidFill>
                  <a:srgbClr val="64748B"/>
                </a:solidFill>
                <a:latin typeface="Arial"/>
                <a:ea typeface="Arial"/>
                <a:cs typeface="Arial"/>
              </a:rPr>
              <a:t>lineage marker</a:t>
            </a:r>
          </a:p>
        </p:txBody>
      </p:sp>
      <p:sp>
        <p:nvSpPr>
          <p:cNvPr id="28" name="">
            <a:extLst xmlns:a="http://schemas.openxmlformats.org/drawingml/2006/main">
              <a:ext uri="{FF2B5EF4-FFF2-40B4-BE49-F238E27FC236}">
                <a16:creationId xmlns:a16="http://schemas.microsoft.com/office/drawing/2014/main" id="{4B6B3134-527F-4F41-BBA5-9F356BF0C0E9}"/>
              </a:ext>
            </a:extLst>
          </p:cNvPr>
          <p:cNvSpPr>
            <a:spLocks xmlns:a="http://schemas.openxmlformats.org/drawingml/2006/main" noGrp="1"/>
          </p:cNvSpPr>
          <p:nvPr/>
        </p:nvSpPr>
        <p:spPr>
          <a:xfrm xmlns:a="http://schemas.openxmlformats.org/drawingml/2006/main">
            <a:off x="9448800" y="4400550"/>
            <a:ext cx="1924050" cy="342900"/>
          </a:xfrm>
          <a:prstGeom xmlns:a="http://schemas.openxmlformats.org/drawingml/2006/main" prst="roundRect">
            <a:avLst>
              <a:gd name="adj" fmla="val 33333"/>
            </a:avLst>
          </a:prstGeom>
          <a:solidFill xmlns:a="http://schemas.openxmlformats.org/drawingml/2006/main">
            <a:srgbClr val="F97316"/>
          </a:solidFill>
          <a:ln xmlns:a="http://schemas.openxmlformats.org/drawingml/2006/main" w="0">
            <a:noFill/>
          </a:ln>
        </p:spPr>
      </p:sp>
      <p:sp>
        <p:nvSpPr>
          <p:cNvPr id="29" name="">
            <a:extLst xmlns:a="http://schemas.openxmlformats.org/drawingml/2006/main">
              <a:ext uri="{FF2B5EF4-FFF2-40B4-BE49-F238E27FC236}">
                <a16:creationId xmlns:a16="http://schemas.microsoft.com/office/drawing/2014/main" id="{C6BAB793-FBD1-4517-8D96-87DB0FA89500}"/>
              </a:ext>
            </a:extLst>
          </p:cNvPr>
          <p:cNvSpPr>
            <a:spLocks xmlns:a="http://schemas.openxmlformats.org/drawingml/2006/main" noGrp="1"/>
          </p:cNvSpPr>
          <p:nvPr/>
        </p:nvSpPr>
        <p:spPr>
          <a:xfrm xmlns:a="http://schemas.openxmlformats.org/drawingml/2006/main">
            <a:off x="9525000" y="4438650"/>
            <a:ext cx="17716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8291"/>
          </a:bodyPr>
          <a:lstStyle xmlns:a="http://schemas.openxmlformats.org/drawingml/2006/main"/>
          <a:p xmlns:a="http://schemas.openxmlformats.org/drawingml/2006/main">
            <a:pPr algn="ctr">
              <a:lnSpc>
                <a:spcPct val="104000"/>
              </a:lnSpc>
              <a:buNone/>
              <a:defRPr sz="1125" b="1">
                <a:solidFill>
                  <a:srgbClr val="FFFFFF"/>
                </a:solidFill>
                <a:latin typeface="Arial"/>
                <a:ea typeface="Arial"/>
                <a:cs typeface="Arial"/>
              </a:defRPr>
            </a:pPr>
            <a:r>
              <a:rPr sz="1125" b="1">
                <a:solidFill>
                  <a:srgbClr val="FFFFFF"/>
                </a:solidFill>
                <a:latin typeface="Arial"/>
                <a:ea typeface="Arial"/>
                <a:cs typeface="Arial"/>
              </a:rPr>
              <a:t>example target</a:t>
            </a:r>
          </a:p>
        </p:txBody>
      </p:sp>
      <p:sp>
        <p:nvSpPr>
          <p:cNvPr id="30" name="">
            <a:extLst xmlns:a="http://schemas.openxmlformats.org/drawingml/2006/main">
              <a:ext uri="{FF2B5EF4-FFF2-40B4-BE49-F238E27FC236}">
                <a16:creationId xmlns:a16="http://schemas.microsoft.com/office/drawing/2014/main" id="{51E12772-64D5-4956-B332-6264746DF58F}"/>
              </a:ext>
            </a:extLst>
          </p:cNvPr>
          <p:cNvSpPr>
            <a:spLocks xmlns:a="http://schemas.openxmlformats.org/drawingml/2006/main" noGrp="1"/>
          </p:cNvSpPr>
          <p:nvPr/>
        </p:nvSpPr>
        <p:spPr>
          <a:xfrm xmlns:a="http://schemas.openxmlformats.org/drawingml/2006/main">
            <a:off x="1352550" y="5314950"/>
            <a:ext cx="9486900" cy="781050"/>
          </a:xfrm>
          <a:prstGeom xmlns:a="http://schemas.openxmlformats.org/drawingml/2006/main" prst="roundRect">
            <a:avLst>
              <a:gd name="adj" fmla="val 14634"/>
            </a:avLst>
          </a:prstGeom>
          <a:solidFill xmlns:a="http://schemas.openxmlformats.org/drawingml/2006/main">
            <a:srgbClr val="F8FAFC"/>
          </a:solidFill>
          <a:ln xmlns:a="http://schemas.openxmlformats.org/drawingml/2006/main" w="9525">
            <a:solidFill>
              <a:srgbClr val="CBD5E1"/>
            </a:solidFill>
          </a:ln>
        </p:spPr>
      </p:sp>
      <p:sp>
        <p:nvSpPr>
          <p:cNvPr id="31" name="">
            <a:extLst xmlns:a="http://schemas.openxmlformats.org/drawingml/2006/main">
              <a:ext uri="{FF2B5EF4-FFF2-40B4-BE49-F238E27FC236}">
                <a16:creationId xmlns:a16="http://schemas.microsoft.com/office/drawing/2014/main" id="{745C8BFD-317C-4663-92C4-AEB5F86BB9AC}"/>
              </a:ext>
            </a:extLst>
          </p:cNvPr>
          <p:cNvSpPr>
            <a:spLocks xmlns:a="http://schemas.openxmlformats.org/drawingml/2006/main" noGrp="1"/>
          </p:cNvSpPr>
          <p:nvPr/>
        </p:nvSpPr>
        <p:spPr>
          <a:xfrm xmlns:a="http://schemas.openxmlformats.org/drawingml/2006/main">
            <a:off x="1619250" y="5486400"/>
            <a:ext cx="8953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73260"/>
          </a:bodyPr>
          <a:lstStyle xmlns:a="http://schemas.openxmlformats.org/drawingml/2006/main"/>
          <a:p xmlns:a="http://schemas.openxmlformats.org/drawingml/2006/main">
            <a:pPr algn="ctr">
              <a:lnSpc>
                <a:spcPct val="104000"/>
              </a:lnSpc>
              <a:buNone/>
              <a:defRPr sz="1575" b="1">
                <a:solidFill>
                  <a:srgbClr val="172554"/>
                </a:solidFill>
                <a:latin typeface="Arial"/>
                <a:ea typeface="Arial"/>
                <a:cs typeface="Arial"/>
              </a:defRPr>
            </a:pPr>
            <a:r>
              <a:rPr sz="1575" b="1">
                <a:solidFill>
                  <a:srgbClr val="172554"/>
                </a:solidFill>
                <a:latin typeface="Arial"/>
                <a:ea typeface="Arial"/>
                <a:cs typeface="Arial"/>
              </a:rPr>
              <a:t>Therapeutic relevance: recovering surface proteins can rescue immune biomarker profiling when an antibody panel fails or differs between studies.</a:t>
            </a:r>
          </a:p>
        </p:txBody>
      </p:sp>
    </p:spTree>
    <p:extLst>
      <p:ext uri="{BB962C8B-B14F-4D97-AF65-F5344CB8AC3E}">
        <p14:creationId xmlns:p14="http://schemas.microsoft.com/office/powerpoint/2010/main" val="897124473"/>
      </p:ext>
    </p:extLst>
  </p:cSld>
</p:sld>
</file>

<file path=ppt/slides/slide3.xml><?xml version="1.0" encoding="utf-8"?>
<p:sld xmlns:p="http://schemas.openxmlformats.org/presentationml/2006/main">
  <p:cSld>
    <p:bg>
      <p:bgPr>
        <a:solidFill xmlns:a="http://schemas.openxmlformats.org/drawingml/2006/main">
          <a:srgbClr val="F8FAFC"/>
        </a:solidFill>
      </p:bgPr>
    </p:bg>
    <p:spTree>
      <p:nvGrpSpPr>
        <p:cNvPr id="1" name=""/>
        <p:cNvGrpSpPr/>
        <p:nvPr/>
      </p:nvGrpSpPr>
      <p:grpSpPr>
        <a:xfrm xmlns:a="http://schemas.openxmlformats.org/drawingml/2006/main"/>
      </p:grpSpPr>
      <p:sp>
        <p:nvSpPr>
          <p:cNvPr id="32" name="">
            <a:extLst xmlns:a="http://schemas.openxmlformats.org/drawingml/2006/main">
              <a:ext uri="{FF2B5EF4-FFF2-40B4-BE49-F238E27FC236}">
                <a16:creationId xmlns:a16="http://schemas.microsoft.com/office/drawing/2014/main" id="{D278F18B-6DFF-43CA-A192-7E03A8CEF335}"/>
              </a:ext>
            </a:extLst>
          </p:cNvPr>
          <p:cNvSpPr>
            <a:spLocks xmlns:a="http://schemas.openxmlformats.org/drawingml/2006/main" noGrp="1"/>
          </p:cNvSpPr>
          <p:nvPr/>
        </p:nvSpPr>
        <p:spPr>
          <a:xfrm xmlns:a="http://schemas.openxmlformats.org/drawingml/2006/main">
            <a:off x="647700" y="285750"/>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2417"/>
          </a:bodyPr>
          <a:lstStyle xmlns:a="http://schemas.openxmlformats.org/drawingml/2006/main"/>
          <a:p xmlns:a="http://schemas.openxmlformats.org/drawingml/2006/main">
            <a:pPr algn="l">
              <a:lnSpc>
                <a:spcPct val="104000"/>
              </a:lnSpc>
              <a:buNone/>
              <a:defRPr sz="1050" b="1">
                <a:solidFill>
                  <a:srgbClr val="0F9F9A"/>
                </a:solidFill>
                <a:latin typeface="Arial"/>
                <a:ea typeface="Arial"/>
                <a:cs typeface="Arial"/>
              </a:defRPr>
            </a:pPr>
            <a:r>
              <a:rPr sz="1050" b="1">
                <a:solidFill>
                  <a:srgbClr val="0F9F9A"/>
                </a:solidFill>
                <a:latin typeface="Arial"/>
                <a:ea typeface="Arial"/>
                <a:cs typeface="Arial"/>
              </a:rPr>
              <a:t>STUDY DESIGN</a:t>
            </a:r>
          </a:p>
        </p:txBody>
      </p:sp>
      <p:sp>
        <p:nvSpPr>
          <p:cNvPr id="2" name="">
            <a:extLst xmlns:a="http://schemas.openxmlformats.org/drawingml/2006/main">
              <a:ext uri="{FF2B5EF4-FFF2-40B4-BE49-F238E27FC236}">
                <a16:creationId xmlns:a16="http://schemas.microsoft.com/office/drawing/2014/main" id="{71D807F4-2D2A-4956-97BA-BFD0972BBB79}"/>
              </a:ext>
            </a:extLst>
          </p:cNvPr>
          <p:cNvSpPr>
            <a:spLocks xmlns:a="http://schemas.openxmlformats.org/drawingml/2006/main" noGrp="1"/>
          </p:cNvSpPr>
          <p:nvPr/>
        </p:nvSpPr>
        <p:spPr>
          <a:xfrm xmlns:a="http://schemas.openxmlformats.org/drawingml/2006/main">
            <a:off x="647700" y="571500"/>
            <a:ext cx="10477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lnSpc>
                <a:spcPct val="104000"/>
              </a:lnSpc>
              <a:buNone/>
              <a:defRPr sz="2850" b="1">
                <a:solidFill>
                  <a:srgbClr val="172554"/>
                </a:solidFill>
                <a:latin typeface="Arial"/>
                <a:ea typeface="Arial"/>
                <a:cs typeface="Arial"/>
              </a:defRPr>
            </a:pPr>
            <a:r>
              <a:rPr sz="2850" b="1">
                <a:solidFill>
                  <a:srgbClr val="172554"/>
                </a:solidFill>
                <a:latin typeface="Arial"/>
                <a:ea typeface="Arial"/>
                <a:cs typeface="Arial"/>
              </a:rPr>
              <a:t>The paper's two-batch design creates a direct transfer test</a:t>
            </a:r>
          </a:p>
        </p:txBody>
      </p:sp>
      <p:sp>
        <p:nvSpPr>
          <p:cNvPr id="3" name="">
            <a:extLst xmlns:a="http://schemas.openxmlformats.org/drawingml/2006/main">
              <a:ext uri="{FF2B5EF4-FFF2-40B4-BE49-F238E27FC236}">
                <a16:creationId xmlns:a16="http://schemas.microsoft.com/office/drawing/2014/main" id="{16B77C88-0495-4924-8F35-86A4024CD6BF}"/>
              </a:ext>
            </a:extLst>
          </p:cNvPr>
          <p:cNvSpPr>
            <a:spLocks xmlns:a="http://schemas.openxmlformats.org/drawingml/2006/main" noGrp="1"/>
          </p:cNvSpPr>
          <p:nvPr/>
        </p:nvSpPr>
        <p:spPr>
          <a:xfrm xmlns:a="http://schemas.openxmlformats.org/drawingml/2006/main">
            <a:off x="647700" y="1219200"/>
            <a:ext cx="876300" cy="47625"/>
          </a:xfrm>
          <a:prstGeom xmlns:a="http://schemas.openxmlformats.org/drawingml/2006/main" prst="rect">
            <a:avLst/>
          </a:prstGeom>
          <a:solidFill xmlns:a="http://schemas.openxmlformats.org/drawingml/2006/main">
            <a:srgbClr val="F97316"/>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155A671C-0FFB-4FAD-92EF-187F722631EE}"/>
              </a:ext>
            </a:extLst>
          </p:cNvPr>
          <p:cNvSpPr>
            <a:spLocks xmlns:a="http://schemas.openxmlformats.org/drawingml/2006/main" noGrp="1"/>
          </p:cNvSpPr>
          <p:nvPr/>
        </p:nvSpPr>
        <p:spPr>
          <a:xfrm xmlns:a="http://schemas.openxmlformats.org/drawingml/2006/main">
            <a:off x="11239500" y="323850"/>
            <a:ext cx="4191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2417"/>
          </a:bodyPr>
          <a:lstStyle xmlns:a="http://schemas.openxmlformats.org/drawingml/2006/main"/>
          <a:p xmlns:a="http://schemas.openxmlformats.org/drawingml/2006/main">
            <a:pPr algn="r">
              <a:lnSpc>
                <a:spcPct val="104000"/>
              </a:lnSpc>
              <a:buNone/>
              <a:defRPr sz="1050" b="1">
                <a:solidFill>
                  <a:srgbClr val="64748B"/>
                </a:solidFill>
                <a:latin typeface="Arial"/>
                <a:ea typeface="Arial"/>
                <a:cs typeface="Arial"/>
              </a:defRPr>
            </a:pPr>
            <a:r>
              <a:rPr sz="1050" b="1">
                <a:solidFill>
                  <a:srgbClr val="64748B"/>
                </a:solidFill>
                <a:latin typeface="Arial"/>
                <a:ea typeface="Arial"/>
                <a:cs typeface="Arial"/>
              </a:rPr>
              <a:t>03</a:t>
            </a:r>
          </a:p>
        </p:txBody>
      </p:sp>
      <p:sp>
        <p:nvSpPr>
          <p:cNvPr id="5" name="">
            <a:extLst xmlns:a="http://schemas.openxmlformats.org/drawingml/2006/main">
              <a:ext uri="{FF2B5EF4-FFF2-40B4-BE49-F238E27FC236}">
                <a16:creationId xmlns:a16="http://schemas.microsoft.com/office/drawing/2014/main" id="{628A53B9-B997-489C-B7BD-5C37ADEF8CD2}"/>
              </a:ext>
            </a:extLst>
          </p:cNvPr>
          <p:cNvSpPr>
            <a:spLocks xmlns:a="http://schemas.openxmlformats.org/drawingml/2006/main" noGrp="1"/>
          </p:cNvSpPr>
          <p:nvPr/>
        </p:nvSpPr>
        <p:spPr>
          <a:xfrm xmlns:a="http://schemas.openxmlformats.org/drawingml/2006/main">
            <a:off x="685800" y="1562100"/>
            <a:ext cx="2095500" cy="1066800"/>
          </a:xfrm>
          <a:prstGeom xmlns:a="http://schemas.openxmlformats.org/drawingml/2006/main" prst="roundRect">
            <a:avLst>
              <a:gd name="adj" fmla="val 10714"/>
            </a:avLst>
          </a:prstGeom>
          <a:solidFill xmlns:a="http://schemas.openxmlformats.org/drawingml/2006/main">
            <a:srgbClr val="FFFFFF"/>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B5D6C0C7-192E-4106-9CAC-CC7F911022A7}"/>
              </a:ext>
            </a:extLst>
          </p:cNvPr>
          <p:cNvSpPr>
            <a:spLocks xmlns:a="http://schemas.openxmlformats.org/drawingml/2006/main" noGrp="1"/>
          </p:cNvSpPr>
          <p:nvPr/>
        </p:nvSpPr>
        <p:spPr>
          <a:xfrm xmlns:a="http://schemas.openxmlformats.org/drawingml/2006/main">
            <a:off x="800100" y="1695450"/>
            <a:ext cx="18669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5784"/>
          </a:bodyPr>
          <a:lstStyle xmlns:a="http://schemas.openxmlformats.org/drawingml/2006/main"/>
          <a:p xmlns:a="http://schemas.openxmlformats.org/drawingml/2006/main">
            <a:pPr algn="ctr">
              <a:lnSpc>
                <a:spcPct val="104000"/>
              </a:lnSpc>
              <a:buNone/>
              <a:defRPr sz="2550" b="1">
                <a:solidFill>
                  <a:srgbClr val="0F9F9A"/>
                </a:solidFill>
                <a:latin typeface="Arial"/>
                <a:ea typeface="Arial"/>
                <a:cs typeface="Arial"/>
              </a:defRPr>
            </a:pPr>
            <a:r>
              <a:rPr sz="2550" b="1">
                <a:solidFill>
                  <a:srgbClr val="0F9F9A"/>
                </a:solidFill>
                <a:latin typeface="Arial"/>
                <a:ea typeface="Arial"/>
                <a:cs typeface="Arial"/>
              </a:rPr>
              <a:t>16,828</a:t>
            </a:r>
          </a:p>
        </p:txBody>
      </p:sp>
      <p:sp>
        <p:nvSpPr>
          <p:cNvPr id="7" name="">
            <a:extLst xmlns:a="http://schemas.openxmlformats.org/drawingml/2006/main">
              <a:ext uri="{FF2B5EF4-FFF2-40B4-BE49-F238E27FC236}">
                <a16:creationId xmlns:a16="http://schemas.microsoft.com/office/drawing/2014/main" id="{20E1A12C-BE89-48A0-AAB2-702A55365930}"/>
              </a:ext>
            </a:extLst>
          </p:cNvPr>
          <p:cNvSpPr>
            <a:spLocks xmlns:a="http://schemas.openxmlformats.org/drawingml/2006/main" noGrp="1"/>
          </p:cNvSpPr>
          <p:nvPr/>
        </p:nvSpPr>
        <p:spPr>
          <a:xfrm xmlns:a="http://schemas.openxmlformats.org/drawingml/2006/main">
            <a:off x="800100" y="2181225"/>
            <a:ext cx="1866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lnSpc>
                <a:spcPct val="104000"/>
              </a:lnSpc>
              <a:buNone/>
              <a:defRPr sz="1200" b="1">
                <a:solidFill>
                  <a:srgbClr val="64748B"/>
                </a:solidFill>
                <a:latin typeface="Arial"/>
                <a:ea typeface="Arial"/>
                <a:cs typeface="Arial"/>
              </a:defRPr>
            </a:pPr>
            <a:r>
              <a:rPr sz="1200" b="1">
                <a:solidFill>
                  <a:srgbClr val="64748B"/>
                </a:solidFill>
                <a:latin typeface="Arial"/>
                <a:ea typeface="Arial"/>
                <a:cs typeface="Arial"/>
              </a:rPr>
              <a:t>cells</a:t>
            </a:r>
          </a:p>
        </p:txBody>
      </p:sp>
      <p:sp>
        <p:nvSpPr>
          <p:cNvPr id="8" name="">
            <a:extLst xmlns:a="http://schemas.openxmlformats.org/drawingml/2006/main">
              <a:ext uri="{FF2B5EF4-FFF2-40B4-BE49-F238E27FC236}">
                <a16:creationId xmlns:a16="http://schemas.microsoft.com/office/drawing/2014/main" id="{A918FCD4-DA33-463E-9B0C-65E82FD6B597}"/>
              </a:ext>
            </a:extLst>
          </p:cNvPr>
          <p:cNvSpPr>
            <a:spLocks xmlns:a="http://schemas.openxmlformats.org/drawingml/2006/main" noGrp="1"/>
          </p:cNvSpPr>
          <p:nvPr/>
        </p:nvSpPr>
        <p:spPr>
          <a:xfrm xmlns:a="http://schemas.openxmlformats.org/drawingml/2006/main">
            <a:off x="2971800" y="1562100"/>
            <a:ext cx="2095500" cy="1066800"/>
          </a:xfrm>
          <a:prstGeom xmlns:a="http://schemas.openxmlformats.org/drawingml/2006/main" prst="roundRect">
            <a:avLst>
              <a:gd name="adj" fmla="val 10714"/>
            </a:avLst>
          </a:prstGeom>
          <a:solidFill xmlns:a="http://schemas.openxmlformats.org/drawingml/2006/main">
            <a:srgbClr val="FFFFFF"/>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9F681688-B834-44B8-95F7-1E95BD22B2BC}"/>
              </a:ext>
            </a:extLst>
          </p:cNvPr>
          <p:cNvSpPr>
            <a:spLocks xmlns:a="http://schemas.openxmlformats.org/drawingml/2006/main" noGrp="1"/>
          </p:cNvSpPr>
          <p:nvPr/>
        </p:nvSpPr>
        <p:spPr>
          <a:xfrm xmlns:a="http://schemas.openxmlformats.org/drawingml/2006/main">
            <a:off x="3086100" y="1695450"/>
            <a:ext cx="18669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5784"/>
          </a:bodyPr>
          <a:lstStyle xmlns:a="http://schemas.openxmlformats.org/drawingml/2006/main"/>
          <a:p xmlns:a="http://schemas.openxmlformats.org/drawingml/2006/main">
            <a:pPr algn="ctr">
              <a:lnSpc>
                <a:spcPct val="104000"/>
              </a:lnSpc>
              <a:buNone/>
              <a:defRPr sz="2550" b="1">
                <a:solidFill>
                  <a:srgbClr val="4F46E5"/>
                </a:solidFill>
                <a:latin typeface="Arial"/>
                <a:ea typeface="Arial"/>
                <a:cs typeface="Arial"/>
              </a:defRPr>
            </a:pPr>
            <a:r>
              <a:rPr sz="2550" b="1">
                <a:solidFill>
                  <a:srgbClr val="4F46E5"/>
                </a:solidFill>
                <a:latin typeface="Arial"/>
                <a:ea typeface="Arial"/>
                <a:cs typeface="Arial"/>
              </a:rPr>
              <a:t>4,005</a:t>
            </a:r>
          </a:p>
        </p:txBody>
      </p:sp>
      <p:sp>
        <p:nvSpPr>
          <p:cNvPr id="10" name="">
            <a:extLst xmlns:a="http://schemas.openxmlformats.org/drawingml/2006/main">
              <a:ext uri="{FF2B5EF4-FFF2-40B4-BE49-F238E27FC236}">
                <a16:creationId xmlns:a16="http://schemas.microsoft.com/office/drawing/2014/main" id="{9A42F196-4210-4FF1-AC1C-7DAABCEBE6D3}"/>
              </a:ext>
            </a:extLst>
          </p:cNvPr>
          <p:cNvSpPr>
            <a:spLocks xmlns:a="http://schemas.openxmlformats.org/drawingml/2006/main" noGrp="1"/>
          </p:cNvSpPr>
          <p:nvPr/>
        </p:nvSpPr>
        <p:spPr>
          <a:xfrm xmlns:a="http://schemas.openxmlformats.org/drawingml/2006/main">
            <a:off x="3086100" y="2181225"/>
            <a:ext cx="1866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lnSpc>
                <a:spcPct val="104000"/>
              </a:lnSpc>
              <a:buNone/>
              <a:defRPr sz="1200" b="1">
                <a:solidFill>
                  <a:srgbClr val="64748B"/>
                </a:solidFill>
                <a:latin typeface="Arial"/>
                <a:ea typeface="Arial"/>
                <a:cs typeface="Arial"/>
              </a:defRPr>
            </a:pPr>
            <a:r>
              <a:rPr sz="1200" b="1">
                <a:solidFill>
                  <a:srgbClr val="64748B"/>
                </a:solidFill>
                <a:latin typeface="Arial"/>
                <a:ea typeface="Arial"/>
                <a:cs typeface="Arial"/>
              </a:rPr>
              <a:t>genes</a:t>
            </a:r>
          </a:p>
        </p:txBody>
      </p:sp>
      <p:sp>
        <p:nvSpPr>
          <p:cNvPr id="11" name="">
            <a:extLst xmlns:a="http://schemas.openxmlformats.org/drawingml/2006/main">
              <a:ext uri="{FF2B5EF4-FFF2-40B4-BE49-F238E27FC236}">
                <a16:creationId xmlns:a16="http://schemas.microsoft.com/office/drawing/2014/main" id="{B2067CE6-84EF-43D6-A2FF-4DFEB44302AE}"/>
              </a:ext>
            </a:extLst>
          </p:cNvPr>
          <p:cNvSpPr>
            <a:spLocks xmlns:a="http://schemas.openxmlformats.org/drawingml/2006/main" noGrp="1"/>
          </p:cNvSpPr>
          <p:nvPr/>
        </p:nvSpPr>
        <p:spPr>
          <a:xfrm xmlns:a="http://schemas.openxmlformats.org/drawingml/2006/main">
            <a:off x="5257800" y="1562100"/>
            <a:ext cx="2095500" cy="1066800"/>
          </a:xfrm>
          <a:prstGeom xmlns:a="http://schemas.openxmlformats.org/drawingml/2006/main" prst="roundRect">
            <a:avLst>
              <a:gd name="adj" fmla="val 10714"/>
            </a:avLst>
          </a:prstGeom>
          <a:solidFill xmlns:a="http://schemas.openxmlformats.org/drawingml/2006/main">
            <a:srgbClr val="FFFFFF"/>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BB642057-BF37-4929-BA58-DECC3674E7A8}"/>
              </a:ext>
            </a:extLst>
          </p:cNvPr>
          <p:cNvSpPr>
            <a:spLocks xmlns:a="http://schemas.openxmlformats.org/drawingml/2006/main" noGrp="1"/>
          </p:cNvSpPr>
          <p:nvPr/>
        </p:nvSpPr>
        <p:spPr>
          <a:xfrm xmlns:a="http://schemas.openxmlformats.org/drawingml/2006/main">
            <a:off x="5372100" y="1695450"/>
            <a:ext cx="18669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5784"/>
          </a:bodyPr>
          <a:lstStyle xmlns:a="http://schemas.openxmlformats.org/drawingml/2006/main"/>
          <a:p xmlns:a="http://schemas.openxmlformats.org/drawingml/2006/main">
            <a:pPr algn="ctr">
              <a:lnSpc>
                <a:spcPct val="104000"/>
              </a:lnSpc>
              <a:buNone/>
              <a:defRPr sz="2550" b="1">
                <a:solidFill>
                  <a:srgbClr val="F97316"/>
                </a:solidFill>
                <a:latin typeface="Arial"/>
                <a:ea typeface="Arial"/>
                <a:cs typeface="Arial"/>
              </a:defRPr>
            </a:pPr>
            <a:r>
              <a:rPr sz="2550" b="1">
                <a:solidFill>
                  <a:srgbClr val="F97316"/>
                </a:solidFill>
                <a:latin typeface="Arial"/>
                <a:ea typeface="Arial"/>
                <a:cs typeface="Arial"/>
              </a:rPr>
              <a:t>110</a:t>
            </a:r>
          </a:p>
        </p:txBody>
      </p:sp>
      <p:sp>
        <p:nvSpPr>
          <p:cNvPr id="13" name="">
            <a:extLst xmlns:a="http://schemas.openxmlformats.org/drawingml/2006/main">
              <a:ext uri="{FF2B5EF4-FFF2-40B4-BE49-F238E27FC236}">
                <a16:creationId xmlns:a16="http://schemas.microsoft.com/office/drawing/2014/main" id="{688A6EF8-EDEF-4138-8293-5CE979AC866D}"/>
              </a:ext>
            </a:extLst>
          </p:cNvPr>
          <p:cNvSpPr>
            <a:spLocks xmlns:a="http://schemas.openxmlformats.org/drawingml/2006/main" noGrp="1"/>
          </p:cNvSpPr>
          <p:nvPr/>
        </p:nvSpPr>
        <p:spPr>
          <a:xfrm xmlns:a="http://schemas.openxmlformats.org/drawingml/2006/main">
            <a:off x="5372100" y="2181225"/>
            <a:ext cx="1866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lnSpc>
                <a:spcPct val="104000"/>
              </a:lnSpc>
              <a:buNone/>
              <a:defRPr sz="1200" b="1">
                <a:solidFill>
                  <a:srgbClr val="64748B"/>
                </a:solidFill>
                <a:latin typeface="Arial"/>
                <a:ea typeface="Arial"/>
                <a:cs typeface="Arial"/>
              </a:defRPr>
            </a:pPr>
            <a:r>
              <a:rPr sz="1200" b="1">
                <a:solidFill>
                  <a:srgbClr val="64748B"/>
                </a:solidFill>
                <a:latin typeface="Arial"/>
                <a:ea typeface="Arial"/>
                <a:cs typeface="Arial"/>
              </a:rPr>
              <a:t>proteins</a:t>
            </a:r>
          </a:p>
        </p:txBody>
      </p:sp>
      <p:sp>
        <p:nvSpPr>
          <p:cNvPr id="14" name="">
            <a:extLst xmlns:a="http://schemas.openxmlformats.org/drawingml/2006/main">
              <a:ext uri="{FF2B5EF4-FFF2-40B4-BE49-F238E27FC236}">
                <a16:creationId xmlns:a16="http://schemas.microsoft.com/office/drawing/2014/main" id="{9F52F725-8887-422A-98F5-A0C0E058F1D9}"/>
              </a:ext>
            </a:extLst>
          </p:cNvPr>
          <p:cNvSpPr>
            <a:spLocks xmlns:a="http://schemas.openxmlformats.org/drawingml/2006/main" noGrp="1"/>
          </p:cNvSpPr>
          <p:nvPr/>
        </p:nvSpPr>
        <p:spPr>
          <a:xfrm xmlns:a="http://schemas.openxmlformats.org/drawingml/2006/main">
            <a:off x="7543800" y="1562100"/>
            <a:ext cx="2095500" cy="1066800"/>
          </a:xfrm>
          <a:prstGeom xmlns:a="http://schemas.openxmlformats.org/drawingml/2006/main" prst="roundRect">
            <a:avLst>
              <a:gd name="adj" fmla="val 10714"/>
            </a:avLst>
          </a:prstGeom>
          <a:solidFill xmlns:a="http://schemas.openxmlformats.org/drawingml/2006/main">
            <a:srgbClr val="FFFFFF"/>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347358A2-52F3-46CC-80FB-53A5CB64F495}"/>
              </a:ext>
            </a:extLst>
          </p:cNvPr>
          <p:cNvSpPr>
            <a:spLocks xmlns:a="http://schemas.openxmlformats.org/drawingml/2006/main" noGrp="1"/>
          </p:cNvSpPr>
          <p:nvPr/>
        </p:nvSpPr>
        <p:spPr>
          <a:xfrm xmlns:a="http://schemas.openxmlformats.org/drawingml/2006/main">
            <a:off x="7658100" y="1695450"/>
            <a:ext cx="18669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5784"/>
          </a:bodyPr>
          <a:lstStyle xmlns:a="http://schemas.openxmlformats.org/drawingml/2006/main"/>
          <a:p xmlns:a="http://schemas.openxmlformats.org/drawingml/2006/main">
            <a:pPr algn="ctr">
              <a:lnSpc>
                <a:spcPct val="104000"/>
              </a:lnSpc>
              <a:buNone/>
              <a:defRPr sz="2550" b="1">
                <a:solidFill>
                  <a:srgbClr val="0F9F9A"/>
                </a:solidFill>
                <a:latin typeface="Arial"/>
                <a:ea typeface="Arial"/>
                <a:cs typeface="Arial"/>
              </a:defRPr>
            </a:pPr>
            <a:r>
              <a:rPr sz="2550" b="1">
                <a:solidFill>
                  <a:srgbClr val="0F9F9A"/>
                </a:solidFill>
                <a:latin typeface="Arial"/>
                <a:ea typeface="Arial"/>
                <a:cs typeface="Arial"/>
              </a:rPr>
              <a:t>2</a:t>
            </a:r>
          </a:p>
        </p:txBody>
      </p:sp>
      <p:sp>
        <p:nvSpPr>
          <p:cNvPr id="16" name="">
            <a:extLst xmlns:a="http://schemas.openxmlformats.org/drawingml/2006/main">
              <a:ext uri="{FF2B5EF4-FFF2-40B4-BE49-F238E27FC236}">
                <a16:creationId xmlns:a16="http://schemas.microsoft.com/office/drawing/2014/main" id="{13F79C40-681C-4AE7-8F7C-DBC078421750}"/>
              </a:ext>
            </a:extLst>
          </p:cNvPr>
          <p:cNvSpPr>
            <a:spLocks xmlns:a="http://schemas.openxmlformats.org/drawingml/2006/main" noGrp="1"/>
          </p:cNvSpPr>
          <p:nvPr/>
        </p:nvSpPr>
        <p:spPr>
          <a:xfrm xmlns:a="http://schemas.openxmlformats.org/drawingml/2006/main">
            <a:off x="7658100" y="2181225"/>
            <a:ext cx="1866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lnSpc>
                <a:spcPct val="104000"/>
              </a:lnSpc>
              <a:buNone/>
              <a:defRPr sz="1200" b="1">
                <a:solidFill>
                  <a:srgbClr val="64748B"/>
                </a:solidFill>
                <a:latin typeface="Arial"/>
                <a:ea typeface="Arial"/>
                <a:cs typeface="Arial"/>
              </a:defRPr>
            </a:pPr>
            <a:r>
              <a:rPr sz="1200" b="1">
                <a:solidFill>
                  <a:srgbClr val="64748B"/>
                </a:solidFill>
                <a:latin typeface="Arial"/>
                <a:ea typeface="Arial"/>
                <a:cs typeface="Arial"/>
              </a:rPr>
              <a:t>batches</a:t>
            </a:r>
          </a:p>
        </p:txBody>
      </p:sp>
      <p:sp>
        <p:nvSpPr>
          <p:cNvPr id="17" name="">
            <a:extLst xmlns:a="http://schemas.openxmlformats.org/drawingml/2006/main">
              <a:ext uri="{FF2B5EF4-FFF2-40B4-BE49-F238E27FC236}">
                <a16:creationId xmlns:a16="http://schemas.microsoft.com/office/drawing/2014/main" id="{0F5CC82E-B1C2-41A2-9848-46D221EA790D}"/>
              </a:ext>
            </a:extLst>
          </p:cNvPr>
          <p:cNvSpPr>
            <a:spLocks xmlns:a="http://schemas.openxmlformats.org/drawingml/2006/main" noGrp="1"/>
          </p:cNvSpPr>
          <p:nvPr/>
        </p:nvSpPr>
        <p:spPr>
          <a:xfrm xmlns:a="http://schemas.openxmlformats.org/drawingml/2006/main">
            <a:off x="9829800" y="1562100"/>
            <a:ext cx="1676400" cy="1066800"/>
          </a:xfrm>
          <a:prstGeom xmlns:a="http://schemas.openxmlformats.org/drawingml/2006/main" prst="roundRect">
            <a:avLst>
              <a:gd name="adj" fmla="val 10714"/>
            </a:avLst>
          </a:prstGeom>
          <a:solidFill xmlns:a="http://schemas.openxmlformats.org/drawingml/2006/main">
            <a:srgbClr val="FFFFFF"/>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3B9EEA33-95FB-44B0-BF90-8F1E042DC7E0}"/>
              </a:ext>
            </a:extLst>
          </p:cNvPr>
          <p:cNvSpPr>
            <a:spLocks xmlns:a="http://schemas.openxmlformats.org/drawingml/2006/main" noGrp="1"/>
          </p:cNvSpPr>
          <p:nvPr/>
        </p:nvSpPr>
        <p:spPr>
          <a:xfrm xmlns:a="http://schemas.openxmlformats.org/drawingml/2006/main">
            <a:off x="9944100" y="1695450"/>
            <a:ext cx="1447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5784"/>
          </a:bodyPr>
          <a:lstStyle xmlns:a="http://schemas.openxmlformats.org/drawingml/2006/main"/>
          <a:p xmlns:a="http://schemas.openxmlformats.org/drawingml/2006/main">
            <a:pPr algn="ctr">
              <a:lnSpc>
                <a:spcPct val="104000"/>
              </a:lnSpc>
              <a:buNone/>
              <a:defRPr sz="2550" b="1">
                <a:solidFill>
                  <a:srgbClr val="4F46E5"/>
                </a:solidFill>
                <a:latin typeface="Arial"/>
                <a:ea typeface="Arial"/>
                <a:cs typeface="Arial"/>
              </a:defRPr>
            </a:pPr>
            <a:r>
              <a:rPr sz="2550" b="1">
                <a:solidFill>
                  <a:srgbClr val="4F46E5"/>
                </a:solidFill>
                <a:latin typeface="Arial"/>
                <a:ea typeface="Arial"/>
                <a:cs typeface="Arial"/>
              </a:rPr>
              <a:t>1</a:t>
            </a:r>
          </a:p>
        </p:txBody>
      </p:sp>
      <p:sp>
        <p:nvSpPr>
          <p:cNvPr id="19" name="">
            <a:extLst xmlns:a="http://schemas.openxmlformats.org/drawingml/2006/main">
              <a:ext uri="{FF2B5EF4-FFF2-40B4-BE49-F238E27FC236}">
                <a16:creationId xmlns:a16="http://schemas.microsoft.com/office/drawing/2014/main" id="{78E7BB4A-9747-4EDD-9115-5C14632E98E6}"/>
              </a:ext>
            </a:extLst>
          </p:cNvPr>
          <p:cNvSpPr>
            <a:spLocks xmlns:a="http://schemas.openxmlformats.org/drawingml/2006/main" noGrp="1"/>
          </p:cNvSpPr>
          <p:nvPr/>
        </p:nvSpPr>
        <p:spPr>
          <a:xfrm xmlns:a="http://schemas.openxmlformats.org/drawingml/2006/main">
            <a:off x="9944100" y="2181225"/>
            <a:ext cx="1447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lnSpc>
                <a:spcPct val="104000"/>
              </a:lnSpc>
              <a:buNone/>
              <a:defRPr sz="1200" b="1">
                <a:solidFill>
                  <a:srgbClr val="64748B"/>
                </a:solidFill>
                <a:latin typeface="Arial"/>
                <a:ea typeface="Arial"/>
                <a:cs typeface="Arial"/>
              </a:defRPr>
            </a:pPr>
            <a:r>
              <a:rPr sz="1200" b="1">
                <a:solidFill>
                  <a:srgbClr val="64748B"/>
                </a:solidFill>
                <a:latin typeface="Arial"/>
                <a:ea typeface="Arial"/>
                <a:cs typeface="Arial"/>
              </a:rPr>
              <a:t>transfer task</a:t>
            </a:r>
          </a:p>
        </p:txBody>
      </p:sp>
      <p:sp>
        <p:nvSpPr>
          <p:cNvPr id="20" name="">
            <a:extLst xmlns:a="http://schemas.openxmlformats.org/drawingml/2006/main">
              <a:ext uri="{FF2B5EF4-FFF2-40B4-BE49-F238E27FC236}">
                <a16:creationId xmlns:a16="http://schemas.microsoft.com/office/drawing/2014/main" id="{841C1085-18C9-46BF-AA11-139414E0A32D}"/>
              </a:ext>
            </a:extLst>
          </p:cNvPr>
          <p:cNvSpPr>
            <a:spLocks xmlns:a="http://schemas.openxmlformats.org/drawingml/2006/main" noGrp="1"/>
          </p:cNvSpPr>
          <p:nvPr/>
        </p:nvSpPr>
        <p:spPr>
          <a:xfrm xmlns:a="http://schemas.openxmlformats.org/drawingml/2006/main">
            <a:off x="800100" y="3162300"/>
            <a:ext cx="4648200" cy="2133600"/>
          </a:xfrm>
          <a:prstGeom xmlns:a="http://schemas.openxmlformats.org/drawingml/2006/main" prst="roundRect">
            <a:avLst>
              <a:gd name="adj" fmla="val 5357"/>
            </a:avLst>
          </a:prstGeom>
          <a:solidFill xmlns:a="http://schemas.openxmlformats.org/drawingml/2006/main">
            <a:srgbClr val="FFFFFF"/>
          </a:solidFill>
          <a:ln xmlns:a="http://schemas.openxmlformats.org/drawingml/2006/main" w="9525">
            <a:solidFill>
              <a:srgbClr val="CBD5E1"/>
            </a:solidFill>
          </a:ln>
        </p:spPr>
      </p:sp>
      <p:sp>
        <p:nvSpPr>
          <p:cNvPr id="21" name="">
            <a:extLst xmlns:a="http://schemas.openxmlformats.org/drawingml/2006/main">
              <a:ext uri="{FF2B5EF4-FFF2-40B4-BE49-F238E27FC236}">
                <a16:creationId xmlns:a16="http://schemas.microsoft.com/office/drawing/2014/main" id="{2CE3BE9D-44D3-46CA-9130-00FDE5D537F9}"/>
              </a:ext>
            </a:extLst>
          </p:cNvPr>
          <p:cNvSpPr>
            <a:spLocks xmlns:a="http://schemas.openxmlformats.org/drawingml/2006/main" noGrp="1"/>
          </p:cNvSpPr>
          <p:nvPr/>
        </p:nvSpPr>
        <p:spPr>
          <a:xfrm xmlns:a="http://schemas.openxmlformats.org/drawingml/2006/main">
            <a:off x="1028700" y="3352800"/>
            <a:ext cx="1905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4283"/>
          </a:bodyPr>
          <a:lstStyle xmlns:a="http://schemas.openxmlformats.org/drawingml/2006/main"/>
          <a:p xmlns:a="http://schemas.openxmlformats.org/drawingml/2006/main">
            <a:pPr algn="l">
              <a:lnSpc>
                <a:spcPct val="104000"/>
              </a:lnSpc>
              <a:buNone/>
              <a:defRPr sz="2025" b="1">
                <a:solidFill>
                  <a:srgbClr val="4F46E5"/>
                </a:solidFill>
                <a:latin typeface="Arial"/>
                <a:ea typeface="Arial"/>
                <a:cs typeface="Arial"/>
              </a:defRPr>
            </a:pPr>
            <a:r>
              <a:rPr sz="2025" b="1">
                <a:solidFill>
                  <a:srgbClr val="4F46E5"/>
                </a:solidFill>
                <a:latin typeface="Arial"/>
                <a:ea typeface="Arial"/>
                <a:cs typeface="Arial"/>
              </a:rPr>
              <a:t>SLN111-D1</a:t>
            </a:r>
          </a:p>
        </p:txBody>
      </p:sp>
      <p:sp>
        <p:nvSpPr>
          <p:cNvPr id="22" name="">
            <a:extLst xmlns:a="http://schemas.openxmlformats.org/drawingml/2006/main">
              <a:ext uri="{FF2B5EF4-FFF2-40B4-BE49-F238E27FC236}">
                <a16:creationId xmlns:a16="http://schemas.microsoft.com/office/drawing/2014/main" id="{51A53A41-4C7F-4C65-84E0-F1B02AA6B95A}"/>
              </a:ext>
            </a:extLst>
          </p:cNvPr>
          <p:cNvSpPr>
            <a:spLocks xmlns:a="http://schemas.openxmlformats.org/drawingml/2006/main" noGrp="1"/>
          </p:cNvSpPr>
          <p:nvPr/>
        </p:nvSpPr>
        <p:spPr>
          <a:xfrm xmlns:a="http://schemas.openxmlformats.org/drawingml/2006/main">
            <a:off x="1028700" y="3790950"/>
            <a:ext cx="1905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5470"/>
          </a:bodyPr>
          <a:lstStyle xmlns:a="http://schemas.openxmlformats.org/drawingml/2006/main"/>
          <a:p xmlns:a="http://schemas.openxmlformats.org/drawingml/2006/main">
            <a:pPr algn="l">
              <a:lnSpc>
                <a:spcPct val="104000"/>
              </a:lnSpc>
              <a:buNone/>
              <a:defRPr sz="1575" b="1">
                <a:solidFill>
                  <a:srgbClr val="172554"/>
                </a:solidFill>
                <a:latin typeface="Arial"/>
                <a:ea typeface="Arial"/>
                <a:cs typeface="Arial"/>
              </a:defRPr>
            </a:pPr>
            <a:r>
              <a:rPr sz="1575" b="1">
                <a:solidFill>
                  <a:srgbClr val="172554"/>
                </a:solidFill>
                <a:latin typeface="Arial"/>
                <a:ea typeface="Arial"/>
                <a:cs typeface="Arial"/>
              </a:rPr>
              <a:t>9,264 cells</a:t>
            </a:r>
          </a:p>
        </p:txBody>
      </p:sp>
      <p:sp>
        <p:nvSpPr>
          <p:cNvPr id="23" name="">
            <a:extLst xmlns:a="http://schemas.openxmlformats.org/drawingml/2006/main">
              <a:ext uri="{FF2B5EF4-FFF2-40B4-BE49-F238E27FC236}">
                <a16:creationId xmlns:a16="http://schemas.microsoft.com/office/drawing/2014/main" id="{567F4151-9A27-4A13-8C7B-C09257FCA3FB}"/>
              </a:ext>
            </a:extLst>
          </p:cNvPr>
          <p:cNvSpPr>
            <a:spLocks xmlns:a="http://schemas.openxmlformats.org/drawingml/2006/main" noGrp="1"/>
          </p:cNvSpPr>
          <p:nvPr/>
        </p:nvSpPr>
        <p:spPr>
          <a:xfrm xmlns:a="http://schemas.openxmlformats.org/drawingml/2006/main">
            <a:off x="1028700" y="4210050"/>
            <a:ext cx="2381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9715"/>
          </a:bodyPr>
          <a:lstStyle xmlns:a="http://schemas.openxmlformats.org/drawingml/2006/main"/>
          <a:p xmlns:a="http://schemas.openxmlformats.org/drawingml/2006/main">
            <a:pPr algn="l">
              <a:lnSpc>
                <a:spcPct val="104000"/>
              </a:lnSpc>
              <a:buNone/>
              <a:defRPr sz="1350" b="0">
                <a:solidFill>
                  <a:srgbClr val="64748B"/>
                </a:solidFill>
                <a:latin typeface="Arial"/>
                <a:ea typeface="Arial"/>
                <a:cs typeface="Arial"/>
              </a:defRPr>
            </a:pPr>
            <a:r>
              <a:rPr sz="1350" b="0">
                <a:solidFill>
                  <a:srgbClr val="64748B"/>
                </a:solidFill>
                <a:latin typeface="Arial"/>
                <a:ea typeface="Arial"/>
                <a:cs typeface="Arial"/>
              </a:rPr>
              <a:t>RNA + 110 proteins</a:t>
            </a:r>
          </a:p>
        </p:txBody>
      </p:sp>
      <p:sp>
        <p:nvSpPr>
          <p:cNvPr id="24" name="">
            <a:extLst xmlns:a="http://schemas.openxmlformats.org/drawingml/2006/main">
              <a:ext uri="{FF2B5EF4-FFF2-40B4-BE49-F238E27FC236}">
                <a16:creationId xmlns:a16="http://schemas.microsoft.com/office/drawing/2014/main" id="{D20C443B-22E9-423B-857B-24B16F68671B}"/>
              </a:ext>
            </a:extLst>
          </p:cNvPr>
          <p:cNvSpPr>
            <a:spLocks xmlns:a="http://schemas.openxmlformats.org/drawingml/2006/main" noGrp="1"/>
          </p:cNvSpPr>
          <p:nvPr/>
        </p:nvSpPr>
        <p:spPr>
          <a:xfrm xmlns:a="http://schemas.openxmlformats.org/drawingml/2006/main">
            <a:off x="3562350" y="3619500"/>
            <a:ext cx="15621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lnSpc>
                <a:spcPct val="104000"/>
              </a:lnSpc>
              <a:buNone/>
              <a:defRPr sz="1350" b="1">
                <a:solidFill>
                  <a:srgbClr val="F97316"/>
                </a:solidFill>
                <a:latin typeface="Arial"/>
                <a:ea typeface="Arial"/>
                <a:cs typeface="Arial"/>
              </a:defRPr>
            </a:pPr>
            <a:r>
              <a:rPr sz="1350" b="1">
                <a:solidFill>
                  <a:srgbClr val="F97316"/>
                </a:solidFill>
                <a:latin typeface="Arial"/>
                <a:ea typeface="Arial"/>
                <a:cs typeface="Arial"/>
              </a:rPr>
              <a:t>REFERENCE</a:t>
            </a:r>
          </a:p>
          <a:p xmlns:a="http://schemas.openxmlformats.org/drawingml/2006/main">
            <a:pPr algn="ctr">
              <a:lnSpc>
                <a:spcPct val="104000"/>
              </a:lnSpc>
              <a:buNone/>
              <a:defRPr sz="1350" b="1">
                <a:solidFill>
                  <a:srgbClr val="F97316"/>
                </a:solidFill>
                <a:latin typeface="Arial"/>
                <a:ea typeface="Arial"/>
                <a:cs typeface="Arial"/>
              </a:defRPr>
            </a:pPr>
            <a:r>
              <a:rPr sz="1350" b="1">
                <a:solidFill>
                  <a:srgbClr val="F97316"/>
                </a:solidFill>
                <a:latin typeface="Arial"/>
                <a:ea typeface="Arial"/>
                <a:cs typeface="Arial"/>
              </a:rPr>
              <a:t>BATCH</a:t>
            </a:r>
          </a:p>
        </p:txBody>
      </p:sp>
      <p:sp>
        <p:nvSpPr>
          <p:cNvPr id="25" name="">
            <a:extLst xmlns:a="http://schemas.openxmlformats.org/drawingml/2006/main">
              <a:ext uri="{FF2B5EF4-FFF2-40B4-BE49-F238E27FC236}">
                <a16:creationId xmlns:a16="http://schemas.microsoft.com/office/drawing/2014/main" id="{C95589F5-DCA6-46D8-9A13-BB6CE8B764DE}"/>
              </a:ext>
            </a:extLst>
          </p:cNvPr>
          <p:cNvSpPr>
            <a:spLocks xmlns:a="http://schemas.openxmlformats.org/drawingml/2006/main" noGrp="1"/>
          </p:cNvSpPr>
          <p:nvPr/>
        </p:nvSpPr>
        <p:spPr>
          <a:xfrm xmlns:a="http://schemas.openxmlformats.org/drawingml/2006/main">
            <a:off x="6743700" y="3162300"/>
            <a:ext cx="4648200" cy="2133600"/>
          </a:xfrm>
          <a:prstGeom xmlns:a="http://schemas.openxmlformats.org/drawingml/2006/main" prst="roundRect">
            <a:avLst>
              <a:gd name="adj" fmla="val 5357"/>
            </a:avLst>
          </a:prstGeom>
          <a:solidFill xmlns:a="http://schemas.openxmlformats.org/drawingml/2006/main">
            <a:srgbClr val="FFFFFF"/>
          </a:solidFill>
          <a:ln xmlns:a="http://schemas.openxmlformats.org/drawingml/2006/main" w="9525">
            <a:solidFill>
              <a:srgbClr val="CBD5E1"/>
            </a:solidFill>
          </a:ln>
        </p:spPr>
      </p:sp>
      <p:sp>
        <p:nvSpPr>
          <p:cNvPr id="26" name="">
            <a:extLst xmlns:a="http://schemas.openxmlformats.org/drawingml/2006/main">
              <a:ext uri="{FF2B5EF4-FFF2-40B4-BE49-F238E27FC236}">
                <a16:creationId xmlns:a16="http://schemas.microsoft.com/office/drawing/2014/main" id="{992C2E78-CFE1-4C57-8232-9E89B175A70B}"/>
              </a:ext>
            </a:extLst>
          </p:cNvPr>
          <p:cNvSpPr>
            <a:spLocks xmlns:a="http://schemas.openxmlformats.org/drawingml/2006/main" noGrp="1"/>
          </p:cNvSpPr>
          <p:nvPr/>
        </p:nvSpPr>
        <p:spPr>
          <a:xfrm xmlns:a="http://schemas.openxmlformats.org/drawingml/2006/main">
            <a:off x="6972300" y="3352800"/>
            <a:ext cx="1905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4283"/>
          </a:bodyPr>
          <a:lstStyle xmlns:a="http://schemas.openxmlformats.org/drawingml/2006/main"/>
          <a:p xmlns:a="http://schemas.openxmlformats.org/drawingml/2006/main">
            <a:pPr algn="l">
              <a:lnSpc>
                <a:spcPct val="104000"/>
              </a:lnSpc>
              <a:buNone/>
              <a:defRPr sz="2025" b="1">
                <a:solidFill>
                  <a:srgbClr val="4F46E5"/>
                </a:solidFill>
                <a:latin typeface="Arial"/>
                <a:ea typeface="Arial"/>
                <a:cs typeface="Arial"/>
              </a:defRPr>
            </a:pPr>
            <a:r>
              <a:rPr sz="2025" b="1">
                <a:solidFill>
                  <a:srgbClr val="4F46E5"/>
                </a:solidFill>
                <a:latin typeface="Arial"/>
                <a:ea typeface="Arial"/>
                <a:cs typeface="Arial"/>
              </a:rPr>
              <a:t>SLN111-D2</a:t>
            </a:r>
          </a:p>
        </p:txBody>
      </p:sp>
      <p:sp>
        <p:nvSpPr>
          <p:cNvPr id="27" name="">
            <a:extLst xmlns:a="http://schemas.openxmlformats.org/drawingml/2006/main">
              <a:ext uri="{FF2B5EF4-FFF2-40B4-BE49-F238E27FC236}">
                <a16:creationId xmlns:a16="http://schemas.microsoft.com/office/drawing/2014/main" id="{3AAC4442-ECA2-42E9-B0EA-8EBD3B223732}"/>
              </a:ext>
            </a:extLst>
          </p:cNvPr>
          <p:cNvSpPr>
            <a:spLocks xmlns:a="http://schemas.openxmlformats.org/drawingml/2006/main" noGrp="1"/>
          </p:cNvSpPr>
          <p:nvPr/>
        </p:nvSpPr>
        <p:spPr>
          <a:xfrm xmlns:a="http://schemas.openxmlformats.org/drawingml/2006/main">
            <a:off x="6972300" y="3790950"/>
            <a:ext cx="1905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5470"/>
          </a:bodyPr>
          <a:lstStyle xmlns:a="http://schemas.openxmlformats.org/drawingml/2006/main"/>
          <a:p xmlns:a="http://schemas.openxmlformats.org/drawingml/2006/main">
            <a:pPr algn="l">
              <a:lnSpc>
                <a:spcPct val="104000"/>
              </a:lnSpc>
              <a:buNone/>
              <a:defRPr sz="1575" b="1">
                <a:solidFill>
                  <a:srgbClr val="172554"/>
                </a:solidFill>
                <a:latin typeface="Arial"/>
                <a:ea typeface="Arial"/>
                <a:cs typeface="Arial"/>
              </a:defRPr>
            </a:pPr>
            <a:r>
              <a:rPr sz="1575" b="1">
                <a:solidFill>
                  <a:srgbClr val="172554"/>
                </a:solidFill>
                <a:latin typeface="Arial"/>
                <a:ea typeface="Arial"/>
                <a:cs typeface="Arial"/>
              </a:rPr>
              <a:t>7,564 cells</a:t>
            </a:r>
          </a:p>
        </p:txBody>
      </p:sp>
      <p:sp>
        <p:nvSpPr>
          <p:cNvPr id="28" name="">
            <a:extLst xmlns:a="http://schemas.openxmlformats.org/drawingml/2006/main">
              <a:ext uri="{FF2B5EF4-FFF2-40B4-BE49-F238E27FC236}">
                <a16:creationId xmlns:a16="http://schemas.microsoft.com/office/drawing/2014/main" id="{BF0ABCDC-6958-4F83-AEB7-CE977BB78930}"/>
              </a:ext>
            </a:extLst>
          </p:cNvPr>
          <p:cNvSpPr>
            <a:spLocks xmlns:a="http://schemas.openxmlformats.org/drawingml/2006/main" noGrp="1"/>
          </p:cNvSpPr>
          <p:nvPr/>
        </p:nvSpPr>
        <p:spPr>
          <a:xfrm xmlns:a="http://schemas.openxmlformats.org/drawingml/2006/main">
            <a:off x="6972300" y="4210050"/>
            <a:ext cx="2381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9715"/>
          </a:bodyPr>
          <a:lstStyle xmlns:a="http://schemas.openxmlformats.org/drawingml/2006/main"/>
          <a:p xmlns:a="http://schemas.openxmlformats.org/drawingml/2006/main">
            <a:pPr algn="l">
              <a:lnSpc>
                <a:spcPct val="104000"/>
              </a:lnSpc>
              <a:buNone/>
              <a:defRPr sz="1350" b="0">
                <a:solidFill>
                  <a:srgbClr val="64748B"/>
                </a:solidFill>
                <a:latin typeface="Arial"/>
                <a:ea typeface="Arial"/>
                <a:cs typeface="Arial"/>
              </a:defRPr>
            </a:pPr>
            <a:r>
              <a:rPr sz="1350" b="0">
                <a:solidFill>
                  <a:srgbClr val="64748B"/>
                </a:solidFill>
                <a:latin typeface="Arial"/>
                <a:ea typeface="Arial"/>
                <a:cs typeface="Arial"/>
              </a:rPr>
              <a:t>RNA only for training</a:t>
            </a:r>
          </a:p>
        </p:txBody>
      </p:sp>
      <p:sp>
        <p:nvSpPr>
          <p:cNvPr id="29" name="">
            <a:extLst xmlns:a="http://schemas.openxmlformats.org/drawingml/2006/main">
              <a:ext uri="{FF2B5EF4-FFF2-40B4-BE49-F238E27FC236}">
                <a16:creationId xmlns:a16="http://schemas.microsoft.com/office/drawing/2014/main" id="{2415A3DB-0D12-493A-95F3-0B00536DD194}"/>
              </a:ext>
            </a:extLst>
          </p:cNvPr>
          <p:cNvSpPr>
            <a:spLocks xmlns:a="http://schemas.openxmlformats.org/drawingml/2006/main" noGrp="1"/>
          </p:cNvSpPr>
          <p:nvPr/>
        </p:nvSpPr>
        <p:spPr>
          <a:xfrm xmlns:a="http://schemas.openxmlformats.org/drawingml/2006/main">
            <a:off x="9505950" y="3619500"/>
            <a:ext cx="15621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lnSpc>
                <a:spcPct val="104000"/>
              </a:lnSpc>
              <a:buNone/>
              <a:defRPr sz="1350" b="1">
                <a:solidFill>
                  <a:srgbClr val="0F9F9A"/>
                </a:solidFill>
                <a:latin typeface="Arial"/>
                <a:ea typeface="Arial"/>
                <a:cs typeface="Arial"/>
              </a:defRPr>
            </a:pPr>
            <a:r>
              <a:rPr sz="1350" b="1">
                <a:solidFill>
                  <a:srgbClr val="0F9F9A"/>
                </a:solidFill>
                <a:latin typeface="Arial"/>
                <a:ea typeface="Arial"/>
                <a:cs typeface="Arial"/>
              </a:rPr>
              <a:t>ALL PROTEINS</a:t>
            </a:r>
          </a:p>
          <a:p xmlns:a="http://schemas.openxmlformats.org/drawingml/2006/main">
            <a:pPr algn="ctr">
              <a:lnSpc>
                <a:spcPct val="104000"/>
              </a:lnSpc>
              <a:buNone/>
              <a:defRPr sz="1350" b="1">
                <a:solidFill>
                  <a:srgbClr val="0F9F9A"/>
                </a:solidFill>
                <a:latin typeface="Arial"/>
                <a:ea typeface="Arial"/>
                <a:cs typeface="Arial"/>
              </a:defRPr>
            </a:pPr>
            <a:r>
              <a:rPr sz="1350" b="1">
                <a:solidFill>
                  <a:srgbClr val="0F9F9A"/>
                </a:solidFill>
                <a:latin typeface="Arial"/>
                <a:ea typeface="Arial"/>
                <a:cs typeface="Arial"/>
              </a:rPr>
              <a:t>HIDDEN</a:t>
            </a:r>
          </a:p>
        </p:txBody>
      </p:sp>
      <p:sp>
        <p:nvSpPr>
          <p:cNvPr id="30" name="">
            <a:extLst xmlns:a="http://schemas.openxmlformats.org/drawingml/2006/main">
              <a:ext uri="{FF2B5EF4-FFF2-40B4-BE49-F238E27FC236}">
                <a16:creationId xmlns:a16="http://schemas.microsoft.com/office/drawing/2014/main" id="{5D560BEC-9734-4F13-A024-A4A39C604C58}"/>
              </a:ext>
            </a:extLst>
          </p:cNvPr>
          <p:cNvSpPr>
            <a:spLocks xmlns:a="http://schemas.openxmlformats.org/drawingml/2006/main" noGrp="1"/>
          </p:cNvSpPr>
          <p:nvPr/>
        </p:nvSpPr>
        <p:spPr>
          <a:xfrm xmlns:a="http://schemas.openxmlformats.org/drawingml/2006/main">
            <a:off x="1676400" y="5715000"/>
            <a:ext cx="8839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lnSpc>
                <a:spcPct val="104000"/>
              </a:lnSpc>
              <a:buNone/>
              <a:defRPr sz="1650" b="1">
                <a:solidFill>
                  <a:srgbClr val="172554"/>
                </a:solidFill>
                <a:latin typeface="Arial"/>
                <a:ea typeface="Arial"/>
                <a:cs typeface="Arial"/>
              </a:defRPr>
            </a:pPr>
            <a:r>
              <a:rPr sz="1650" b="1">
                <a:solidFill>
                  <a:srgbClr val="172554"/>
                </a:solidFill>
                <a:latin typeface="Arial"/>
                <a:ea typeface="Arial"/>
                <a:cs typeface="Arial"/>
              </a:rPr>
              <a:t>D2 proteins never enter training and are revealed only for scoring</a:t>
            </a:r>
          </a:p>
        </p:txBody>
      </p:sp>
      <p:sp>
        <p:nvSpPr>
          <p:cNvPr id="31" name="">
            <a:extLst xmlns:a="http://schemas.openxmlformats.org/drawingml/2006/main">
              <a:ext uri="{FF2B5EF4-FFF2-40B4-BE49-F238E27FC236}">
                <a16:creationId xmlns:a16="http://schemas.microsoft.com/office/drawing/2014/main" id="{44A73434-E8A8-4972-A141-D3ED179ABFE8}"/>
              </a:ext>
            </a:extLst>
          </p:cNvPr>
          <p:cNvSpPr>
            <a:spLocks xmlns:a="http://schemas.openxmlformats.org/drawingml/2006/main" noGrp="1"/>
          </p:cNvSpPr>
          <p:nvPr/>
        </p:nvSpPr>
        <p:spPr>
          <a:xfrm xmlns:a="http://schemas.openxmlformats.org/drawingml/2006/main">
            <a:off x="1714500" y="6191250"/>
            <a:ext cx="8763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0971"/>
          </a:bodyPr>
          <a:lstStyle xmlns:a="http://schemas.openxmlformats.org/drawingml/2006/main"/>
          <a:p xmlns:a="http://schemas.openxmlformats.org/drawingml/2006/main">
            <a:pPr algn="ctr">
              <a:lnSpc>
                <a:spcPct val="104000"/>
              </a:lnSpc>
              <a:buNone/>
              <a:defRPr sz="1050" b="0">
                <a:solidFill>
                  <a:srgbClr val="64748B"/>
                </a:solidFill>
                <a:latin typeface="Arial"/>
                <a:ea typeface="Arial"/>
                <a:cs typeface="Arial"/>
              </a:defRPr>
            </a:pPr>
            <a:r>
              <a:rPr sz="1050" b="0">
                <a:solidFill>
                  <a:srgbClr val="64748B"/>
                </a:solidFill>
                <a:latin typeface="Arial"/>
                <a:ea typeface="Arial"/>
                <a:cs typeface="Arial"/>
              </a:rPr>
              <a:t>Source: Gayoso et al., Nature Methods 2021; GSE150599; official reproducibility object</a:t>
            </a:r>
          </a:p>
        </p:txBody>
      </p:sp>
    </p:spTree>
    <p:extLst>
      <p:ext uri="{BB962C8B-B14F-4D97-AF65-F5344CB8AC3E}">
        <p14:creationId xmlns:p14="http://schemas.microsoft.com/office/powerpoint/2010/main" val="2011969745"/>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0" name="">
            <a:extLst xmlns:a="http://schemas.openxmlformats.org/drawingml/2006/main">
              <a:ext uri="{FF2B5EF4-FFF2-40B4-BE49-F238E27FC236}">
                <a16:creationId xmlns:a16="http://schemas.microsoft.com/office/drawing/2014/main" id="{24E0BD8F-20D7-43EC-95A5-FF617D79A945}"/>
              </a:ext>
            </a:extLst>
          </p:cNvPr>
          <p:cNvSpPr>
            <a:spLocks xmlns:a="http://schemas.openxmlformats.org/drawingml/2006/main" noGrp="1"/>
          </p:cNvSpPr>
          <p:nvPr/>
        </p:nvSpPr>
        <p:spPr>
          <a:xfrm xmlns:a="http://schemas.openxmlformats.org/drawingml/2006/main">
            <a:off x="647700" y="285750"/>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2417"/>
          </a:bodyPr>
          <a:lstStyle xmlns:a="http://schemas.openxmlformats.org/drawingml/2006/main"/>
          <a:p xmlns:a="http://schemas.openxmlformats.org/drawingml/2006/main">
            <a:pPr algn="l">
              <a:lnSpc>
                <a:spcPct val="104000"/>
              </a:lnSpc>
              <a:buNone/>
              <a:defRPr sz="1050" b="1">
                <a:solidFill>
                  <a:srgbClr val="0F9F9A"/>
                </a:solidFill>
                <a:latin typeface="Arial"/>
                <a:ea typeface="Arial"/>
                <a:cs typeface="Arial"/>
              </a:defRPr>
            </a:pPr>
            <a:r>
              <a:rPr sz="1050" b="1">
                <a:solidFill>
                  <a:srgbClr val="0F9F9A"/>
                </a:solidFill>
                <a:latin typeface="Arial"/>
                <a:ea typeface="Arial"/>
                <a:cs typeface="Arial"/>
              </a:rPr>
              <a:t>METHODS</a:t>
            </a:r>
          </a:p>
        </p:txBody>
      </p:sp>
      <p:sp>
        <p:nvSpPr>
          <p:cNvPr id="2" name="">
            <a:extLst xmlns:a="http://schemas.openxmlformats.org/drawingml/2006/main">
              <a:ext uri="{FF2B5EF4-FFF2-40B4-BE49-F238E27FC236}">
                <a16:creationId xmlns:a16="http://schemas.microsoft.com/office/drawing/2014/main" id="{B29AC7BD-8F9E-46AC-846D-AB198DF20DB6}"/>
              </a:ext>
            </a:extLst>
          </p:cNvPr>
          <p:cNvSpPr>
            <a:spLocks xmlns:a="http://schemas.openxmlformats.org/drawingml/2006/main" noGrp="1"/>
          </p:cNvSpPr>
          <p:nvPr/>
        </p:nvSpPr>
        <p:spPr>
          <a:xfrm xmlns:a="http://schemas.openxmlformats.org/drawingml/2006/main">
            <a:off x="647700" y="571500"/>
            <a:ext cx="10477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lnSpc>
                <a:spcPct val="104000"/>
              </a:lnSpc>
              <a:buNone/>
              <a:defRPr sz="2850" b="1">
                <a:solidFill>
                  <a:srgbClr val="172554"/>
                </a:solidFill>
                <a:latin typeface="Arial"/>
                <a:ea typeface="Arial"/>
                <a:cs typeface="Arial"/>
              </a:defRPr>
            </a:pPr>
            <a:r>
              <a:rPr sz="2850" b="1">
                <a:solidFill>
                  <a:srgbClr val="172554"/>
                </a:solidFill>
                <a:latin typeface="Arial"/>
                <a:ea typeface="Arial"/>
                <a:cs typeface="Arial"/>
              </a:rPr>
              <a:t>One controlled architectural change</a:t>
            </a:r>
          </a:p>
        </p:txBody>
      </p:sp>
      <p:sp>
        <p:nvSpPr>
          <p:cNvPr id="3" name="">
            <a:extLst xmlns:a="http://schemas.openxmlformats.org/drawingml/2006/main">
              <a:ext uri="{FF2B5EF4-FFF2-40B4-BE49-F238E27FC236}">
                <a16:creationId xmlns:a16="http://schemas.microsoft.com/office/drawing/2014/main" id="{AACB2801-1FD2-4B2C-8835-23D6E643FC3D}"/>
              </a:ext>
            </a:extLst>
          </p:cNvPr>
          <p:cNvSpPr>
            <a:spLocks xmlns:a="http://schemas.openxmlformats.org/drawingml/2006/main" noGrp="1"/>
          </p:cNvSpPr>
          <p:nvPr/>
        </p:nvSpPr>
        <p:spPr>
          <a:xfrm xmlns:a="http://schemas.openxmlformats.org/drawingml/2006/main">
            <a:off x="647700" y="1219200"/>
            <a:ext cx="876300" cy="47625"/>
          </a:xfrm>
          <a:prstGeom xmlns:a="http://schemas.openxmlformats.org/drawingml/2006/main" prst="rect">
            <a:avLst/>
          </a:prstGeom>
          <a:solidFill xmlns:a="http://schemas.openxmlformats.org/drawingml/2006/main">
            <a:srgbClr val="F97316"/>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E571DF71-CFD0-4001-8137-EFA58BFF7106}"/>
              </a:ext>
            </a:extLst>
          </p:cNvPr>
          <p:cNvSpPr>
            <a:spLocks xmlns:a="http://schemas.openxmlformats.org/drawingml/2006/main" noGrp="1"/>
          </p:cNvSpPr>
          <p:nvPr/>
        </p:nvSpPr>
        <p:spPr>
          <a:xfrm xmlns:a="http://schemas.openxmlformats.org/drawingml/2006/main">
            <a:off x="11239500" y="323850"/>
            <a:ext cx="4191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2417"/>
          </a:bodyPr>
          <a:lstStyle xmlns:a="http://schemas.openxmlformats.org/drawingml/2006/main"/>
          <a:p xmlns:a="http://schemas.openxmlformats.org/drawingml/2006/main">
            <a:pPr algn="r">
              <a:lnSpc>
                <a:spcPct val="104000"/>
              </a:lnSpc>
              <a:buNone/>
              <a:defRPr sz="1050" b="1">
                <a:solidFill>
                  <a:srgbClr val="64748B"/>
                </a:solidFill>
                <a:latin typeface="Arial"/>
                <a:ea typeface="Arial"/>
                <a:cs typeface="Arial"/>
              </a:defRPr>
            </a:pPr>
            <a:r>
              <a:rPr sz="1050" b="1">
                <a:solidFill>
                  <a:srgbClr val="64748B"/>
                </a:solidFill>
                <a:latin typeface="Arial"/>
                <a:ea typeface="Arial"/>
                <a:cs typeface="Arial"/>
              </a:rPr>
              <a:t>04</a:t>
            </a:r>
          </a:p>
        </p:txBody>
      </p:sp>
      <p:sp>
        <p:nvSpPr>
          <p:cNvPr id="5" name="">
            <a:extLst xmlns:a="http://schemas.openxmlformats.org/drawingml/2006/main">
              <a:ext uri="{FF2B5EF4-FFF2-40B4-BE49-F238E27FC236}">
                <a16:creationId xmlns:a16="http://schemas.microsoft.com/office/drawing/2014/main" id="{68704B8F-771F-4D7D-81DF-94E0D09D1EF3}"/>
              </a:ext>
            </a:extLst>
          </p:cNvPr>
          <p:cNvSpPr>
            <a:spLocks xmlns:a="http://schemas.openxmlformats.org/drawingml/2006/main" noGrp="1"/>
          </p:cNvSpPr>
          <p:nvPr/>
        </p:nvSpPr>
        <p:spPr>
          <a:xfrm xmlns:a="http://schemas.openxmlformats.org/drawingml/2006/main">
            <a:off x="609600" y="1504950"/>
            <a:ext cx="5219700" cy="4362450"/>
          </a:xfrm>
          <a:prstGeom xmlns:a="http://schemas.openxmlformats.org/drawingml/2006/main" prst="roundRect">
            <a:avLst>
              <a:gd name="adj" fmla="val 2620"/>
            </a:avLst>
          </a:prstGeom>
          <a:solidFill xmlns:a="http://schemas.openxmlformats.org/drawingml/2006/main">
            <a:srgbClr val="F8FAFC"/>
          </a:solidFill>
          <a:ln xmlns:a="http://schemas.openxmlformats.org/drawingml/2006/main" w="9525">
            <a:solidFill>
              <a:srgbClr val="CBD5E1"/>
            </a:solidFill>
          </a:ln>
        </p:spPr>
      </p:sp>
      <p:sp>
        <p:nvSpPr>
          <p:cNvPr id="6" name="">
            <a:extLst xmlns:a="http://schemas.openxmlformats.org/drawingml/2006/main">
              <a:ext uri="{FF2B5EF4-FFF2-40B4-BE49-F238E27FC236}">
                <a16:creationId xmlns:a16="http://schemas.microsoft.com/office/drawing/2014/main" id="{8BDF019D-32D9-438C-992F-1ECA4DA96A13}"/>
              </a:ext>
            </a:extLst>
          </p:cNvPr>
          <p:cNvSpPr>
            <a:spLocks xmlns:a="http://schemas.openxmlformats.org/drawingml/2006/main" noGrp="1"/>
          </p:cNvSpPr>
          <p:nvPr/>
        </p:nvSpPr>
        <p:spPr>
          <a:xfrm xmlns:a="http://schemas.openxmlformats.org/drawingml/2006/main">
            <a:off x="857250" y="1695450"/>
            <a:ext cx="2095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6154"/>
          </a:bodyPr>
          <a:lstStyle xmlns:a="http://schemas.openxmlformats.org/drawingml/2006/main"/>
          <a:p xmlns:a="http://schemas.openxmlformats.org/drawingml/2006/main">
            <a:pPr algn="l">
              <a:lnSpc>
                <a:spcPct val="104000"/>
              </a:lnSpc>
              <a:buNone/>
              <a:defRPr sz="2400" b="1">
                <a:solidFill>
                  <a:srgbClr val="4F46E5"/>
                </a:solidFill>
                <a:latin typeface="Arial"/>
                <a:ea typeface="Arial"/>
                <a:cs typeface="Arial"/>
              </a:defRPr>
            </a:pPr>
            <a:r>
              <a:rPr sz="2400" b="1">
                <a:solidFill>
                  <a:srgbClr val="4F46E5"/>
                </a:solidFill>
                <a:latin typeface="Arial"/>
                <a:ea typeface="Arial"/>
                <a:cs typeface="Arial"/>
              </a:rPr>
              <a:t>totalVI</a:t>
            </a:r>
          </a:p>
        </p:txBody>
      </p:sp>
      <p:sp>
        <p:nvSpPr>
          <p:cNvPr id="7" name="">
            <a:extLst xmlns:a="http://schemas.openxmlformats.org/drawingml/2006/main">
              <a:ext uri="{FF2B5EF4-FFF2-40B4-BE49-F238E27FC236}">
                <a16:creationId xmlns:a16="http://schemas.microsoft.com/office/drawing/2014/main" id="{828BC3FA-2C77-49AA-8674-8E94F571C3B0}"/>
              </a:ext>
            </a:extLst>
          </p:cNvPr>
          <p:cNvSpPr>
            <a:spLocks xmlns:a="http://schemas.openxmlformats.org/drawingml/2006/main" noGrp="1"/>
          </p:cNvSpPr>
          <p:nvPr/>
        </p:nvSpPr>
        <p:spPr>
          <a:xfrm xmlns:a="http://schemas.openxmlformats.org/drawingml/2006/main">
            <a:off x="3371850" y="1790700"/>
            <a:ext cx="20955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2131"/>
          </a:bodyPr>
          <a:lstStyle xmlns:a="http://schemas.openxmlformats.org/drawingml/2006/main"/>
          <a:p xmlns:a="http://schemas.openxmlformats.org/drawingml/2006/main">
            <a:pPr algn="r">
              <a:lnSpc>
                <a:spcPct val="104000"/>
              </a:lnSpc>
              <a:buNone/>
              <a:defRPr sz="1200" b="1">
                <a:solidFill>
                  <a:srgbClr val="64748B"/>
                </a:solidFill>
                <a:latin typeface="Arial"/>
                <a:ea typeface="Arial"/>
                <a:cs typeface="Arial"/>
              </a:defRPr>
            </a:pPr>
            <a:r>
              <a:rPr sz="1200" b="1">
                <a:solidFill>
                  <a:srgbClr val="64748B"/>
                </a:solidFill>
                <a:latin typeface="Arial"/>
                <a:ea typeface="Arial"/>
                <a:cs typeface="Arial"/>
              </a:rPr>
              <a:t>Paper baseline</a:t>
            </a:r>
          </a:p>
        </p:txBody>
      </p:sp>
      <p:sp>
        <p:nvSpPr>
          <p:cNvPr id="8" name="">
            <a:extLst xmlns:a="http://schemas.openxmlformats.org/drawingml/2006/main">
              <a:ext uri="{FF2B5EF4-FFF2-40B4-BE49-F238E27FC236}">
                <a16:creationId xmlns:a16="http://schemas.microsoft.com/office/drawing/2014/main" id="{367E492C-4F68-49C3-80E8-EF954324F9B1}"/>
              </a:ext>
            </a:extLst>
          </p:cNvPr>
          <p:cNvSpPr>
            <a:spLocks xmlns:a="http://schemas.openxmlformats.org/drawingml/2006/main" noGrp="1"/>
          </p:cNvSpPr>
          <p:nvPr/>
        </p:nvSpPr>
        <p:spPr>
          <a:xfrm xmlns:a="http://schemas.openxmlformats.org/drawingml/2006/main">
            <a:off x="895350" y="2400300"/>
            <a:ext cx="45529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lnSpc>
                <a:spcPct val="104000"/>
              </a:lnSpc>
              <a:buNone/>
              <a:defRPr sz="1575" b="1">
                <a:solidFill>
                  <a:srgbClr val="172554"/>
                </a:solidFill>
                <a:latin typeface="Arial"/>
                <a:ea typeface="Arial"/>
                <a:cs typeface="Arial"/>
              </a:defRPr>
            </a:pPr>
            <a:r>
              <a:rPr sz="1575" b="1">
                <a:solidFill>
                  <a:srgbClr val="172554"/>
                </a:solidFill>
                <a:latin typeface="Arial"/>
                <a:ea typeface="Arial"/>
                <a:cs typeface="Arial"/>
              </a:rPr>
              <a:t>RNA + available proteins</a:t>
            </a:r>
          </a:p>
        </p:txBody>
      </p:sp>
      <p:sp>
        <p:nvSpPr>
          <p:cNvPr id="9" name="">
            <a:extLst xmlns:a="http://schemas.openxmlformats.org/drawingml/2006/main">
              <a:ext uri="{FF2B5EF4-FFF2-40B4-BE49-F238E27FC236}">
                <a16:creationId xmlns:a16="http://schemas.microsoft.com/office/drawing/2014/main" id="{2645F834-1F71-447A-B9FB-C17A798A795F}"/>
              </a:ext>
            </a:extLst>
          </p:cNvPr>
          <p:cNvSpPr>
            <a:spLocks xmlns:a="http://schemas.openxmlformats.org/drawingml/2006/main" noGrp="1"/>
          </p:cNvSpPr>
          <p:nvPr/>
        </p:nvSpPr>
        <p:spPr>
          <a:xfrm xmlns:a="http://schemas.openxmlformats.org/drawingml/2006/main">
            <a:off x="2762250" y="2781300"/>
            <a:ext cx="857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1361"/>
          </a:bodyPr>
          <a:lstStyle xmlns:a="http://schemas.openxmlformats.org/drawingml/2006/main"/>
          <a:p xmlns:a="http://schemas.openxmlformats.org/drawingml/2006/main">
            <a:pPr algn="ctr">
              <a:lnSpc>
                <a:spcPct val="104000"/>
              </a:lnSpc>
              <a:buNone/>
              <a:defRPr sz="1950" b="1">
                <a:solidFill>
                  <a:srgbClr val="64748B"/>
                </a:solidFill>
                <a:latin typeface="Arial"/>
                <a:ea typeface="Arial"/>
                <a:cs typeface="Arial"/>
              </a:defRPr>
            </a:pPr>
            <a:r>
              <a:rPr sz="1950" b="1">
                <a:solidFill>
                  <a:srgbClr val="64748B"/>
                </a:solidFill>
                <a:latin typeface="Arial"/>
                <a:ea typeface="Arial"/>
                <a:cs typeface="Arial"/>
              </a:rPr>
              <a:t>↓</a:t>
            </a:r>
          </a:p>
        </p:txBody>
      </p:sp>
      <p:sp>
        <p:nvSpPr>
          <p:cNvPr id="10" name="">
            <a:extLst xmlns:a="http://schemas.openxmlformats.org/drawingml/2006/main">
              <a:ext uri="{FF2B5EF4-FFF2-40B4-BE49-F238E27FC236}">
                <a16:creationId xmlns:a16="http://schemas.microsoft.com/office/drawing/2014/main" id="{032DC00F-9B05-43BD-B2AA-C3E752760937}"/>
              </a:ext>
            </a:extLst>
          </p:cNvPr>
          <p:cNvSpPr>
            <a:spLocks xmlns:a="http://schemas.openxmlformats.org/drawingml/2006/main" noGrp="1"/>
          </p:cNvSpPr>
          <p:nvPr/>
        </p:nvSpPr>
        <p:spPr>
          <a:xfrm xmlns:a="http://schemas.openxmlformats.org/drawingml/2006/main">
            <a:off x="1485900" y="3162300"/>
            <a:ext cx="3467100" cy="685800"/>
          </a:xfrm>
          <a:prstGeom xmlns:a="http://schemas.openxmlformats.org/drawingml/2006/main" prst="roundRect">
            <a:avLst>
              <a:gd name="adj" fmla="val 16667"/>
            </a:avLst>
          </a:prstGeom>
          <a:solidFill xmlns:a="http://schemas.openxmlformats.org/drawingml/2006/main">
            <a:srgbClr val="EEF2FF"/>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909BA48C-F44C-4082-A087-25ABE63E6027}"/>
              </a:ext>
            </a:extLst>
          </p:cNvPr>
          <p:cNvSpPr>
            <a:spLocks xmlns:a="http://schemas.openxmlformats.org/drawingml/2006/main" noGrp="1"/>
          </p:cNvSpPr>
          <p:nvPr/>
        </p:nvSpPr>
        <p:spPr>
          <a:xfrm xmlns:a="http://schemas.openxmlformats.org/drawingml/2006/main">
            <a:off x="1676400" y="3333750"/>
            <a:ext cx="30861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5006"/>
          </a:bodyPr>
          <a:lstStyle xmlns:a="http://schemas.openxmlformats.org/drawingml/2006/main"/>
          <a:p xmlns:a="http://schemas.openxmlformats.org/drawingml/2006/main">
            <a:pPr algn="ctr">
              <a:lnSpc>
                <a:spcPct val="104000"/>
              </a:lnSpc>
              <a:buNone/>
              <a:defRPr sz="1725" b="1">
                <a:solidFill>
                  <a:srgbClr val="4F46E5"/>
                </a:solidFill>
                <a:latin typeface="Arial"/>
                <a:ea typeface="Arial"/>
                <a:cs typeface="Arial"/>
              </a:defRPr>
            </a:pPr>
            <a:r>
              <a:rPr sz="1725" b="1">
                <a:solidFill>
                  <a:srgbClr val="4F46E5"/>
                </a:solidFill>
                <a:latin typeface="Arial"/>
                <a:ea typeface="Arial"/>
                <a:cs typeface="Arial"/>
              </a:rPr>
              <a:t>joint RNA-protein encoder</a:t>
            </a:r>
          </a:p>
        </p:txBody>
      </p:sp>
      <p:sp>
        <p:nvSpPr>
          <p:cNvPr id="12" name="">
            <a:extLst xmlns:a="http://schemas.openxmlformats.org/drawingml/2006/main">
              <a:ext uri="{FF2B5EF4-FFF2-40B4-BE49-F238E27FC236}">
                <a16:creationId xmlns:a16="http://schemas.microsoft.com/office/drawing/2014/main" id="{628647E2-B5BE-46C4-938D-8EB3EFB0D739}"/>
              </a:ext>
            </a:extLst>
          </p:cNvPr>
          <p:cNvSpPr>
            <a:spLocks xmlns:a="http://schemas.openxmlformats.org/drawingml/2006/main" noGrp="1"/>
          </p:cNvSpPr>
          <p:nvPr/>
        </p:nvSpPr>
        <p:spPr>
          <a:xfrm xmlns:a="http://schemas.openxmlformats.org/drawingml/2006/main">
            <a:off x="1485900" y="4038600"/>
            <a:ext cx="3467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ctr">
              <a:lnSpc>
                <a:spcPct val="104000"/>
              </a:lnSpc>
              <a:buNone/>
              <a:defRPr sz="1425" b="1">
                <a:solidFill>
                  <a:srgbClr val="64748B"/>
                </a:solidFill>
                <a:latin typeface="Arial"/>
                <a:ea typeface="Arial"/>
                <a:cs typeface="Arial"/>
              </a:defRPr>
            </a:pPr>
            <a:r>
              <a:rPr sz="1425" b="1">
                <a:solidFill>
                  <a:srgbClr val="64748B"/>
                </a:solidFill>
                <a:latin typeface="Arial"/>
                <a:ea typeface="Arial"/>
                <a:cs typeface="Arial"/>
              </a:rPr>
              <a:t>↓  20-dimensional latent state  ↓</a:t>
            </a:r>
          </a:p>
        </p:txBody>
      </p:sp>
      <p:sp>
        <p:nvSpPr>
          <p:cNvPr id="13" name="">
            <a:extLst xmlns:a="http://schemas.openxmlformats.org/drawingml/2006/main">
              <a:ext uri="{FF2B5EF4-FFF2-40B4-BE49-F238E27FC236}">
                <a16:creationId xmlns:a16="http://schemas.microsoft.com/office/drawing/2014/main" id="{38078183-CEF1-4A6E-90A5-EA6651897927}"/>
              </a:ext>
            </a:extLst>
          </p:cNvPr>
          <p:cNvSpPr>
            <a:spLocks xmlns:a="http://schemas.openxmlformats.org/drawingml/2006/main" noGrp="1"/>
          </p:cNvSpPr>
          <p:nvPr/>
        </p:nvSpPr>
        <p:spPr>
          <a:xfrm xmlns:a="http://schemas.openxmlformats.org/drawingml/2006/main">
            <a:off x="1485900" y="4552950"/>
            <a:ext cx="3467100" cy="685800"/>
          </a:xfrm>
          <a:prstGeom xmlns:a="http://schemas.openxmlformats.org/drawingml/2006/main" prst="roundRect">
            <a:avLst>
              <a:gd name="adj" fmla="val 16667"/>
            </a:avLst>
          </a:prstGeom>
          <a:solidFill xmlns:a="http://schemas.openxmlformats.org/drawingml/2006/main">
            <a:srgbClr val="FFFFFF"/>
          </a:solidFill>
          <a:ln xmlns:a="http://schemas.openxmlformats.org/drawingml/2006/main" w="9525">
            <a:solidFill>
              <a:srgbClr val="4F46E5"/>
            </a:solidFill>
          </a:ln>
        </p:spPr>
      </p:sp>
      <p:sp>
        <p:nvSpPr>
          <p:cNvPr id="14" name="">
            <a:extLst xmlns:a="http://schemas.openxmlformats.org/drawingml/2006/main">
              <a:ext uri="{FF2B5EF4-FFF2-40B4-BE49-F238E27FC236}">
                <a16:creationId xmlns:a16="http://schemas.microsoft.com/office/drawing/2014/main" id="{6EEE87F8-C96F-47EF-A005-442AF5F4944A}"/>
              </a:ext>
            </a:extLst>
          </p:cNvPr>
          <p:cNvSpPr>
            <a:spLocks xmlns:a="http://schemas.openxmlformats.org/drawingml/2006/main" noGrp="1"/>
          </p:cNvSpPr>
          <p:nvPr/>
        </p:nvSpPr>
        <p:spPr>
          <a:xfrm xmlns:a="http://schemas.openxmlformats.org/drawingml/2006/main">
            <a:off x="1676400" y="4724400"/>
            <a:ext cx="30861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8869"/>
          </a:bodyPr>
          <a:lstStyle xmlns:a="http://schemas.openxmlformats.org/drawingml/2006/main"/>
          <a:p xmlns:a="http://schemas.openxmlformats.org/drawingml/2006/main">
            <a:pPr algn="ctr">
              <a:lnSpc>
                <a:spcPct val="104000"/>
              </a:lnSpc>
              <a:buNone/>
              <a:defRPr sz="1650" b="1">
                <a:solidFill>
                  <a:srgbClr val="172554"/>
                </a:solidFill>
                <a:latin typeface="Arial"/>
                <a:ea typeface="Arial"/>
                <a:cs typeface="Arial"/>
              </a:defRPr>
            </a:pPr>
            <a:r>
              <a:rPr sz="1650" b="1">
                <a:solidFill>
                  <a:srgbClr val="172554"/>
                </a:solidFill>
                <a:latin typeface="Arial"/>
                <a:ea typeface="Arial"/>
                <a:cs typeface="Arial"/>
              </a:rPr>
              <a:t>native protein decoder</a:t>
            </a:r>
          </a:p>
        </p:txBody>
      </p:sp>
      <p:sp>
        <p:nvSpPr>
          <p:cNvPr id="15" name="">
            <a:extLst xmlns:a="http://schemas.openxmlformats.org/drawingml/2006/main">
              <a:ext uri="{FF2B5EF4-FFF2-40B4-BE49-F238E27FC236}">
                <a16:creationId xmlns:a16="http://schemas.microsoft.com/office/drawing/2014/main" id="{322A2E8D-CEB5-4972-BD0D-34435947DC52}"/>
              </a:ext>
            </a:extLst>
          </p:cNvPr>
          <p:cNvSpPr>
            <a:spLocks xmlns:a="http://schemas.openxmlformats.org/drawingml/2006/main" noGrp="1"/>
          </p:cNvSpPr>
          <p:nvPr/>
        </p:nvSpPr>
        <p:spPr>
          <a:xfrm xmlns:a="http://schemas.openxmlformats.org/drawingml/2006/main">
            <a:off x="1485900" y="5429250"/>
            <a:ext cx="34671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2115"/>
          </a:bodyPr>
          <a:lstStyle xmlns:a="http://schemas.openxmlformats.org/drawingml/2006/main"/>
          <a:p xmlns:a="http://schemas.openxmlformats.org/drawingml/2006/main">
            <a:pPr algn="ctr">
              <a:lnSpc>
                <a:spcPct val="104000"/>
              </a:lnSpc>
              <a:buNone/>
              <a:defRPr sz="1200" b="0">
                <a:solidFill>
                  <a:srgbClr val="64748B"/>
                </a:solidFill>
                <a:latin typeface="Arial"/>
                <a:ea typeface="Arial"/>
                <a:cs typeface="Arial"/>
              </a:defRPr>
            </a:pPr>
            <a:r>
              <a:rPr sz="1200" b="0">
                <a:solidFill>
                  <a:srgbClr val="64748B"/>
                </a:solidFill>
                <a:latin typeface="Arial"/>
                <a:ea typeface="Arial"/>
                <a:cs typeface="Arial"/>
              </a:rPr>
              <a:t>110 protein estimates</a:t>
            </a:r>
          </a:p>
        </p:txBody>
      </p:sp>
      <p:sp>
        <p:nvSpPr>
          <p:cNvPr id="16" name="">
            <a:extLst xmlns:a="http://schemas.openxmlformats.org/drawingml/2006/main">
              <a:ext uri="{FF2B5EF4-FFF2-40B4-BE49-F238E27FC236}">
                <a16:creationId xmlns:a16="http://schemas.microsoft.com/office/drawing/2014/main" id="{7EAF77FE-5D12-46DD-AE00-ACFA79AB8548}"/>
              </a:ext>
            </a:extLst>
          </p:cNvPr>
          <p:cNvSpPr>
            <a:spLocks xmlns:a="http://schemas.openxmlformats.org/drawingml/2006/main" noGrp="1"/>
          </p:cNvSpPr>
          <p:nvPr/>
        </p:nvSpPr>
        <p:spPr>
          <a:xfrm xmlns:a="http://schemas.openxmlformats.org/drawingml/2006/main">
            <a:off x="6362700" y="1504950"/>
            <a:ext cx="5219700" cy="4362450"/>
          </a:xfrm>
          <a:prstGeom xmlns:a="http://schemas.openxmlformats.org/drawingml/2006/main" prst="roundRect">
            <a:avLst>
              <a:gd name="adj" fmla="val 2620"/>
            </a:avLst>
          </a:prstGeom>
          <a:solidFill xmlns:a="http://schemas.openxmlformats.org/drawingml/2006/main">
            <a:srgbClr val="FFF7ED"/>
          </a:solidFill>
          <a:ln xmlns:a="http://schemas.openxmlformats.org/drawingml/2006/main" w="9525">
            <a:solidFill>
              <a:srgbClr val="FDBA74"/>
            </a:solidFill>
          </a:ln>
        </p:spPr>
      </p:sp>
      <p:sp>
        <p:nvSpPr>
          <p:cNvPr id="17" name="">
            <a:extLst xmlns:a="http://schemas.openxmlformats.org/drawingml/2006/main">
              <a:ext uri="{FF2B5EF4-FFF2-40B4-BE49-F238E27FC236}">
                <a16:creationId xmlns:a16="http://schemas.microsoft.com/office/drawing/2014/main" id="{322CAEC6-F851-4EF3-9178-BA87BE0E4DE2}"/>
              </a:ext>
            </a:extLst>
          </p:cNvPr>
          <p:cNvSpPr>
            <a:spLocks xmlns:a="http://schemas.openxmlformats.org/drawingml/2006/main" noGrp="1"/>
          </p:cNvSpPr>
          <p:nvPr/>
        </p:nvSpPr>
        <p:spPr>
          <a:xfrm xmlns:a="http://schemas.openxmlformats.org/drawingml/2006/main">
            <a:off x="6610350" y="1695450"/>
            <a:ext cx="2095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6154"/>
          </a:bodyPr>
          <a:lstStyle xmlns:a="http://schemas.openxmlformats.org/drawingml/2006/main"/>
          <a:p xmlns:a="http://schemas.openxmlformats.org/drawingml/2006/main">
            <a:pPr algn="l">
              <a:lnSpc>
                <a:spcPct val="104000"/>
              </a:lnSpc>
              <a:buNone/>
              <a:defRPr sz="2400" b="1">
                <a:solidFill>
                  <a:srgbClr val="F97316"/>
                </a:solidFill>
                <a:latin typeface="Arial"/>
                <a:ea typeface="Arial"/>
                <a:cs typeface="Arial"/>
              </a:defRPr>
            </a:pPr>
            <a:r>
              <a:rPr sz="2400" b="1">
                <a:solidFill>
                  <a:srgbClr val="F97316"/>
                </a:solidFill>
                <a:latin typeface="Arial"/>
                <a:ea typeface="Arial"/>
                <a:cs typeface="Arial"/>
              </a:rPr>
              <a:t>FusionVI</a:t>
            </a:r>
          </a:p>
        </p:txBody>
      </p:sp>
      <p:sp>
        <p:nvSpPr>
          <p:cNvPr id="18" name="">
            <a:extLst xmlns:a="http://schemas.openxmlformats.org/drawingml/2006/main">
              <a:ext uri="{FF2B5EF4-FFF2-40B4-BE49-F238E27FC236}">
                <a16:creationId xmlns:a16="http://schemas.microsoft.com/office/drawing/2014/main" id="{424B0F85-EA20-4B61-919A-B09CBDB93092}"/>
              </a:ext>
            </a:extLst>
          </p:cNvPr>
          <p:cNvSpPr>
            <a:spLocks xmlns:a="http://schemas.openxmlformats.org/drawingml/2006/main" noGrp="1"/>
          </p:cNvSpPr>
          <p:nvPr/>
        </p:nvSpPr>
        <p:spPr>
          <a:xfrm xmlns:a="http://schemas.openxmlformats.org/drawingml/2006/main">
            <a:off x="9124950" y="1790700"/>
            <a:ext cx="20955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2131"/>
          </a:bodyPr>
          <a:lstStyle xmlns:a="http://schemas.openxmlformats.org/drawingml/2006/main"/>
          <a:p xmlns:a="http://schemas.openxmlformats.org/drawingml/2006/main">
            <a:pPr algn="r">
              <a:lnSpc>
                <a:spcPct val="104000"/>
              </a:lnSpc>
              <a:buNone/>
              <a:defRPr sz="1200" b="1">
                <a:solidFill>
                  <a:srgbClr val="64748B"/>
                </a:solidFill>
                <a:latin typeface="Arial"/>
                <a:ea typeface="Arial"/>
                <a:cs typeface="Arial"/>
              </a:defRPr>
            </a:pPr>
            <a:r>
              <a:rPr sz="1200" b="1">
                <a:solidFill>
                  <a:srgbClr val="64748B"/>
                </a:solidFill>
                <a:latin typeface="Arial"/>
                <a:ea typeface="Arial"/>
                <a:cs typeface="Arial"/>
              </a:rPr>
              <a:t>Our final model</a:t>
            </a:r>
          </a:p>
        </p:txBody>
      </p:sp>
      <p:sp>
        <p:nvSpPr>
          <p:cNvPr id="19" name="">
            <a:extLst xmlns:a="http://schemas.openxmlformats.org/drawingml/2006/main">
              <a:ext uri="{FF2B5EF4-FFF2-40B4-BE49-F238E27FC236}">
                <a16:creationId xmlns:a16="http://schemas.microsoft.com/office/drawing/2014/main" id="{CB0D196C-65A2-4422-B9DC-37CBD84CAD51}"/>
              </a:ext>
            </a:extLst>
          </p:cNvPr>
          <p:cNvSpPr>
            <a:spLocks xmlns:a="http://schemas.openxmlformats.org/drawingml/2006/main" noGrp="1"/>
          </p:cNvSpPr>
          <p:nvPr/>
        </p:nvSpPr>
        <p:spPr>
          <a:xfrm xmlns:a="http://schemas.openxmlformats.org/drawingml/2006/main">
            <a:off x="6762750" y="2381250"/>
            <a:ext cx="2000250" cy="685800"/>
          </a:xfrm>
          <a:prstGeom xmlns:a="http://schemas.openxmlformats.org/drawingml/2006/main" prst="roundRect">
            <a:avLst>
              <a:gd name="adj" fmla="val 16667"/>
            </a:avLst>
          </a:prstGeom>
          <a:solidFill xmlns:a="http://schemas.openxmlformats.org/drawingml/2006/main">
            <a:srgbClr val="E6FFFB"/>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0805AFA3-1048-4984-9304-58EA73108FFB}"/>
              </a:ext>
            </a:extLst>
          </p:cNvPr>
          <p:cNvSpPr>
            <a:spLocks xmlns:a="http://schemas.openxmlformats.org/drawingml/2006/main" noGrp="1"/>
          </p:cNvSpPr>
          <p:nvPr/>
        </p:nvSpPr>
        <p:spPr>
          <a:xfrm xmlns:a="http://schemas.openxmlformats.org/drawingml/2006/main">
            <a:off x="9182100" y="2381250"/>
            <a:ext cx="2000250" cy="685800"/>
          </a:xfrm>
          <a:prstGeom xmlns:a="http://schemas.openxmlformats.org/drawingml/2006/main" prst="roundRect">
            <a:avLst>
              <a:gd name="adj" fmla="val 16667"/>
            </a:avLst>
          </a:prstGeom>
          <a:solidFill xmlns:a="http://schemas.openxmlformats.org/drawingml/2006/main">
            <a:srgbClr val="EEF2FF"/>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9A642405-EFAF-4A06-AAF0-23776420E1EB}"/>
              </a:ext>
            </a:extLst>
          </p:cNvPr>
          <p:cNvSpPr>
            <a:spLocks xmlns:a="http://schemas.openxmlformats.org/drawingml/2006/main" noGrp="1"/>
          </p:cNvSpPr>
          <p:nvPr/>
        </p:nvSpPr>
        <p:spPr>
          <a:xfrm xmlns:a="http://schemas.openxmlformats.org/drawingml/2006/main">
            <a:off x="6953250" y="2552700"/>
            <a:ext cx="1619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3101"/>
          </a:bodyPr>
          <a:lstStyle xmlns:a="http://schemas.openxmlformats.org/drawingml/2006/main"/>
          <a:p xmlns:a="http://schemas.openxmlformats.org/drawingml/2006/main">
            <a:pPr algn="ctr">
              <a:lnSpc>
                <a:spcPct val="104000"/>
              </a:lnSpc>
              <a:buNone/>
              <a:defRPr sz="1575" b="1">
                <a:solidFill>
                  <a:srgbClr val="0F9F9A"/>
                </a:solidFill>
                <a:latin typeface="Arial"/>
                <a:ea typeface="Arial"/>
                <a:cs typeface="Arial"/>
              </a:defRPr>
            </a:pPr>
            <a:r>
              <a:rPr sz="1575" b="1">
                <a:solidFill>
                  <a:srgbClr val="0F9F9A"/>
                </a:solidFill>
                <a:latin typeface="Arial"/>
                <a:ea typeface="Arial"/>
                <a:cs typeface="Arial"/>
              </a:rPr>
              <a:t>RNA branch</a:t>
            </a:r>
          </a:p>
        </p:txBody>
      </p:sp>
      <p:sp>
        <p:nvSpPr>
          <p:cNvPr id="22" name="">
            <a:extLst xmlns:a="http://schemas.openxmlformats.org/drawingml/2006/main">
              <a:ext uri="{FF2B5EF4-FFF2-40B4-BE49-F238E27FC236}">
                <a16:creationId xmlns:a16="http://schemas.microsoft.com/office/drawing/2014/main" id="{A0BFA83F-80A0-4C66-9671-BB93BA74D640}"/>
              </a:ext>
            </a:extLst>
          </p:cNvPr>
          <p:cNvSpPr>
            <a:spLocks xmlns:a="http://schemas.openxmlformats.org/drawingml/2006/main" noGrp="1"/>
          </p:cNvSpPr>
          <p:nvPr/>
        </p:nvSpPr>
        <p:spPr>
          <a:xfrm xmlns:a="http://schemas.openxmlformats.org/drawingml/2006/main">
            <a:off x="9372600" y="2552700"/>
            <a:ext cx="1619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3101"/>
          </a:bodyPr>
          <a:lstStyle xmlns:a="http://schemas.openxmlformats.org/drawingml/2006/main"/>
          <a:p xmlns:a="http://schemas.openxmlformats.org/drawingml/2006/main">
            <a:pPr algn="ctr">
              <a:lnSpc>
                <a:spcPct val="104000"/>
              </a:lnSpc>
              <a:buNone/>
              <a:defRPr sz="1575" b="1">
                <a:solidFill>
                  <a:srgbClr val="4F46E5"/>
                </a:solidFill>
                <a:latin typeface="Arial"/>
                <a:ea typeface="Arial"/>
                <a:cs typeface="Arial"/>
              </a:defRPr>
            </a:pPr>
            <a:r>
              <a:rPr sz="1575" b="1">
                <a:solidFill>
                  <a:srgbClr val="4F46E5"/>
                </a:solidFill>
                <a:latin typeface="Arial"/>
                <a:ea typeface="Arial"/>
                <a:cs typeface="Arial"/>
              </a:rPr>
              <a:t>protein branch</a:t>
            </a:r>
          </a:p>
        </p:txBody>
      </p:sp>
      <p:sp>
        <p:nvSpPr>
          <p:cNvPr id="23" name="">
            <a:extLst xmlns:a="http://schemas.openxmlformats.org/drawingml/2006/main">
              <a:ext uri="{FF2B5EF4-FFF2-40B4-BE49-F238E27FC236}">
                <a16:creationId xmlns:a16="http://schemas.microsoft.com/office/drawing/2014/main" id="{4A746520-4618-4B96-AFF6-BBA4067FEE4A}"/>
              </a:ext>
            </a:extLst>
          </p:cNvPr>
          <p:cNvSpPr>
            <a:spLocks xmlns:a="http://schemas.openxmlformats.org/drawingml/2006/main" noGrp="1"/>
          </p:cNvSpPr>
          <p:nvPr/>
        </p:nvSpPr>
        <p:spPr>
          <a:xfrm xmlns:a="http://schemas.openxmlformats.org/drawingml/2006/main">
            <a:off x="7467600" y="3276600"/>
            <a:ext cx="3009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7756"/>
          </a:bodyPr>
          <a:lstStyle xmlns:a="http://schemas.openxmlformats.org/drawingml/2006/main"/>
          <a:p xmlns:a="http://schemas.openxmlformats.org/drawingml/2006/main">
            <a:pPr algn="ctr">
              <a:lnSpc>
                <a:spcPct val="104000"/>
              </a:lnSpc>
              <a:buNone/>
              <a:defRPr sz="1500" b="1">
                <a:solidFill>
                  <a:srgbClr val="F97316"/>
                </a:solidFill>
                <a:latin typeface="Arial"/>
                <a:ea typeface="Arial"/>
                <a:cs typeface="Arial"/>
              </a:defRPr>
            </a:pPr>
            <a:r>
              <a:rPr sz="1500" b="1">
                <a:solidFill>
                  <a:srgbClr val="F97316"/>
                </a:solidFill>
                <a:latin typeface="Arial"/>
                <a:ea typeface="Arial"/>
                <a:cs typeface="Arial"/>
              </a:rPr>
              <a:t>availability-aware gate</a:t>
            </a:r>
          </a:p>
        </p:txBody>
      </p:sp>
      <p:sp>
        <p:nvSpPr>
          <p:cNvPr id="24" name="">
            <a:extLst xmlns:a="http://schemas.openxmlformats.org/drawingml/2006/main">
              <a:ext uri="{FF2B5EF4-FFF2-40B4-BE49-F238E27FC236}">
                <a16:creationId xmlns:a16="http://schemas.microsoft.com/office/drawing/2014/main" id="{F4A9B1C5-E322-427C-B96A-2A5293832A6F}"/>
              </a:ext>
            </a:extLst>
          </p:cNvPr>
          <p:cNvSpPr>
            <a:spLocks xmlns:a="http://schemas.openxmlformats.org/drawingml/2006/main" noGrp="1"/>
          </p:cNvSpPr>
          <p:nvPr/>
        </p:nvSpPr>
        <p:spPr>
          <a:xfrm xmlns:a="http://schemas.openxmlformats.org/drawingml/2006/main">
            <a:off x="7239000" y="3733800"/>
            <a:ext cx="3467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ctr">
              <a:lnSpc>
                <a:spcPct val="104000"/>
              </a:lnSpc>
              <a:buNone/>
              <a:defRPr sz="1425" b="1">
                <a:solidFill>
                  <a:srgbClr val="64748B"/>
                </a:solidFill>
                <a:latin typeface="Arial"/>
                <a:ea typeface="Arial"/>
                <a:cs typeface="Arial"/>
              </a:defRPr>
            </a:pPr>
            <a:r>
              <a:rPr sz="1425" b="1">
                <a:solidFill>
                  <a:srgbClr val="64748B"/>
                </a:solidFill>
                <a:latin typeface="Arial"/>
                <a:ea typeface="Arial"/>
                <a:cs typeface="Arial"/>
              </a:rPr>
              <a:t>↓  20-dimensional latent state  ↓</a:t>
            </a:r>
          </a:p>
        </p:txBody>
      </p:sp>
      <p:sp>
        <p:nvSpPr>
          <p:cNvPr id="25" name="">
            <a:extLst xmlns:a="http://schemas.openxmlformats.org/drawingml/2006/main">
              <a:ext uri="{FF2B5EF4-FFF2-40B4-BE49-F238E27FC236}">
                <a16:creationId xmlns:a16="http://schemas.microsoft.com/office/drawing/2014/main" id="{EC4B0DA9-DA86-42BA-B3DE-8C0650C63154}"/>
              </a:ext>
            </a:extLst>
          </p:cNvPr>
          <p:cNvSpPr>
            <a:spLocks xmlns:a="http://schemas.openxmlformats.org/drawingml/2006/main" noGrp="1"/>
          </p:cNvSpPr>
          <p:nvPr/>
        </p:nvSpPr>
        <p:spPr>
          <a:xfrm xmlns:a="http://schemas.openxmlformats.org/drawingml/2006/main">
            <a:off x="6991350" y="4267200"/>
            <a:ext cx="3962400" cy="971550"/>
          </a:xfrm>
          <a:prstGeom xmlns:a="http://schemas.openxmlformats.org/drawingml/2006/main" prst="roundRect">
            <a:avLst>
              <a:gd name="adj" fmla="val 11765"/>
            </a:avLst>
          </a:prstGeom>
          <a:solidFill xmlns:a="http://schemas.openxmlformats.org/drawingml/2006/main">
            <a:srgbClr val="FFFFFF"/>
          </a:solidFill>
          <a:ln xmlns:a="http://schemas.openxmlformats.org/drawingml/2006/main" w="9525">
            <a:solidFill>
              <a:srgbClr val="F97316"/>
            </a:solidFill>
          </a:ln>
        </p:spPr>
      </p:sp>
      <p:sp>
        <p:nvSpPr>
          <p:cNvPr id="26" name="">
            <a:extLst xmlns:a="http://schemas.openxmlformats.org/drawingml/2006/main">
              <a:ext uri="{FF2B5EF4-FFF2-40B4-BE49-F238E27FC236}">
                <a16:creationId xmlns:a16="http://schemas.microsoft.com/office/drawing/2014/main" id="{6035D0EE-CF48-48F5-A4B0-C468F3924DE6}"/>
              </a:ext>
            </a:extLst>
          </p:cNvPr>
          <p:cNvSpPr>
            <a:spLocks xmlns:a="http://schemas.openxmlformats.org/drawingml/2006/main" noGrp="1"/>
          </p:cNvSpPr>
          <p:nvPr/>
        </p:nvSpPr>
        <p:spPr>
          <a:xfrm xmlns:a="http://schemas.openxmlformats.org/drawingml/2006/main">
            <a:off x="7181850" y="4400550"/>
            <a:ext cx="35814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74301"/>
          </a:bodyPr>
          <a:lstStyle xmlns:a="http://schemas.openxmlformats.org/drawingml/2006/main"/>
          <a:p xmlns:a="http://schemas.openxmlformats.org/drawingml/2006/main">
            <a:pPr algn="ctr">
              <a:lnSpc>
                <a:spcPct val="104000"/>
              </a:lnSpc>
              <a:buNone/>
              <a:defRPr sz="1650" b="1">
                <a:solidFill>
                  <a:srgbClr val="F97316"/>
                </a:solidFill>
                <a:latin typeface="Arial"/>
                <a:ea typeface="Arial"/>
                <a:cs typeface="Arial"/>
              </a:defRPr>
            </a:pPr>
            <a:r>
              <a:rPr sz="1650" b="1">
                <a:solidFill>
                  <a:srgbClr val="F97316"/>
                </a:solidFill>
                <a:latin typeface="Arial"/>
                <a:ea typeface="Arial"/>
                <a:cs typeface="Arial"/>
              </a:rPr>
              <a:t>native totalVI decoder</a:t>
            </a:r>
          </a:p>
        </p:txBody>
      </p:sp>
      <p:sp>
        <p:nvSpPr>
          <p:cNvPr id="27" name="">
            <a:extLst xmlns:a="http://schemas.openxmlformats.org/drawingml/2006/main">
              <a:ext uri="{FF2B5EF4-FFF2-40B4-BE49-F238E27FC236}">
                <a16:creationId xmlns:a16="http://schemas.microsoft.com/office/drawing/2014/main" id="{515FBD2F-A731-45A2-A1DF-DE139FCB3EBD}"/>
              </a:ext>
            </a:extLst>
          </p:cNvPr>
          <p:cNvSpPr>
            <a:spLocks xmlns:a="http://schemas.openxmlformats.org/drawingml/2006/main" noGrp="1"/>
          </p:cNvSpPr>
          <p:nvPr/>
        </p:nvSpPr>
        <p:spPr>
          <a:xfrm xmlns:a="http://schemas.openxmlformats.org/drawingml/2006/main">
            <a:off x="7181850" y="4819650"/>
            <a:ext cx="3581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2131"/>
          </a:bodyPr>
          <a:lstStyle xmlns:a="http://schemas.openxmlformats.org/drawingml/2006/main"/>
          <a:p xmlns:a="http://schemas.openxmlformats.org/drawingml/2006/main">
            <a:pPr algn="ctr">
              <a:lnSpc>
                <a:spcPct val="104000"/>
              </a:lnSpc>
              <a:buNone/>
              <a:defRPr sz="1200" b="0">
                <a:solidFill>
                  <a:srgbClr val="64748B"/>
                </a:solidFill>
                <a:latin typeface="Arial"/>
                <a:ea typeface="Arial"/>
                <a:cs typeface="Arial"/>
              </a:defRPr>
            </a:pPr>
            <a:r>
              <a:rPr sz="1200" b="0">
                <a:solidFill>
                  <a:srgbClr val="64748B"/>
                </a:solidFill>
                <a:latin typeface="Arial"/>
                <a:ea typeface="Arial"/>
                <a:cs typeface="Arial"/>
              </a:rPr>
              <a:t>same RNA and protein likelihoods</a:t>
            </a:r>
          </a:p>
        </p:txBody>
      </p:sp>
      <p:sp>
        <p:nvSpPr>
          <p:cNvPr id="28" name="">
            <a:extLst xmlns:a="http://schemas.openxmlformats.org/drawingml/2006/main">
              <a:ext uri="{FF2B5EF4-FFF2-40B4-BE49-F238E27FC236}">
                <a16:creationId xmlns:a16="http://schemas.microsoft.com/office/drawing/2014/main" id="{78BDDEA3-8371-44E1-BA81-2C23BA235D82}"/>
              </a:ext>
            </a:extLst>
          </p:cNvPr>
          <p:cNvSpPr>
            <a:spLocks xmlns:a="http://schemas.openxmlformats.org/drawingml/2006/main" noGrp="1"/>
          </p:cNvSpPr>
          <p:nvPr/>
        </p:nvSpPr>
        <p:spPr>
          <a:xfrm xmlns:a="http://schemas.openxmlformats.org/drawingml/2006/main">
            <a:off x="7239000" y="5429250"/>
            <a:ext cx="34671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2115"/>
          </a:bodyPr>
          <a:lstStyle xmlns:a="http://schemas.openxmlformats.org/drawingml/2006/main"/>
          <a:p xmlns:a="http://schemas.openxmlformats.org/drawingml/2006/main">
            <a:pPr algn="ctr">
              <a:lnSpc>
                <a:spcPct val="104000"/>
              </a:lnSpc>
              <a:buNone/>
              <a:defRPr sz="1200" b="0">
                <a:solidFill>
                  <a:srgbClr val="64748B"/>
                </a:solidFill>
                <a:latin typeface="Arial"/>
                <a:ea typeface="Arial"/>
                <a:cs typeface="Arial"/>
              </a:defRPr>
            </a:pPr>
            <a:r>
              <a:rPr sz="1200" b="0">
                <a:solidFill>
                  <a:srgbClr val="64748B"/>
                </a:solidFill>
                <a:latin typeface="Arial"/>
                <a:ea typeface="Arial"/>
                <a:cs typeface="Arial"/>
              </a:rPr>
              <a:t>110 protein estimates</a:t>
            </a:r>
          </a:p>
        </p:txBody>
      </p:sp>
      <p:sp>
        <p:nvSpPr>
          <p:cNvPr id="29" name="">
            <a:extLst xmlns:a="http://schemas.openxmlformats.org/drawingml/2006/main">
              <a:ext uri="{FF2B5EF4-FFF2-40B4-BE49-F238E27FC236}">
                <a16:creationId xmlns:a16="http://schemas.microsoft.com/office/drawing/2014/main" id="{89104298-A569-4AE5-83D5-0DC4F49F178F}"/>
              </a:ext>
            </a:extLst>
          </p:cNvPr>
          <p:cNvSpPr>
            <a:spLocks xmlns:a="http://schemas.openxmlformats.org/drawingml/2006/main" noGrp="1"/>
          </p:cNvSpPr>
          <p:nvPr/>
        </p:nvSpPr>
        <p:spPr>
          <a:xfrm xmlns:a="http://schemas.openxmlformats.org/drawingml/2006/main">
            <a:off x="2857500" y="6153150"/>
            <a:ext cx="6477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1909"/>
          </a:bodyPr>
          <a:lstStyle xmlns:a="http://schemas.openxmlformats.org/drawingml/2006/main"/>
          <a:p xmlns:a="http://schemas.openxmlformats.org/drawingml/2006/main">
            <a:pPr algn="ctr">
              <a:lnSpc>
                <a:spcPct val="104000"/>
              </a:lnSpc>
              <a:buNone/>
              <a:defRPr sz="1350" b="1">
                <a:solidFill>
                  <a:srgbClr val="172554"/>
                </a:solidFill>
                <a:latin typeface="Arial"/>
                <a:ea typeface="Arial"/>
                <a:cs typeface="Arial"/>
              </a:defRPr>
            </a:pPr>
            <a:r>
              <a:rPr sz="1350" b="1">
                <a:solidFill>
                  <a:srgbClr val="172554"/>
                </a:solidFill>
                <a:latin typeface="Arial"/>
                <a:ea typeface="Arial"/>
                <a:cs typeface="Arial"/>
              </a:rPr>
              <a:t>Only the encoder changes; missing panel routes to RNA only</a:t>
            </a:r>
          </a:p>
        </p:txBody>
      </p:sp>
    </p:spTree>
    <p:extLst>
      <p:ext uri="{BB962C8B-B14F-4D97-AF65-F5344CB8AC3E}">
        <p14:creationId xmlns:p14="http://schemas.microsoft.com/office/powerpoint/2010/main" val="853211616"/>
      </p:ext>
    </p:extLst>
  </p:cSld>
</p:sld>
</file>

<file path=ppt/slides/slide5.xml><?xml version="1.0" encoding="utf-8"?>
<p:sld xmlns:p="http://schemas.openxmlformats.org/presentationml/2006/main">
  <p:cSld>
    <p:bg>
      <p:bgPr>
        <a:solidFill xmlns:a="http://schemas.openxmlformats.org/drawingml/2006/main">
          <a:srgbClr val="F8FAFC"/>
        </a:solidFill>
      </p:bgPr>
    </p:bg>
    <p:spTree>
      <p:nvGrpSpPr>
        <p:cNvPr id="1" name=""/>
        <p:cNvGrpSpPr/>
        <p:nvPr/>
      </p:nvGrpSpPr>
      <p:grpSpPr>
        <a:xfrm xmlns:a="http://schemas.openxmlformats.org/drawingml/2006/main"/>
      </p:grpSpPr>
      <p:sp>
        <p:nvSpPr>
          <p:cNvPr id="30" name="">
            <a:extLst xmlns:a="http://schemas.openxmlformats.org/drawingml/2006/main">
              <a:ext uri="{FF2B5EF4-FFF2-40B4-BE49-F238E27FC236}">
                <a16:creationId xmlns:a16="http://schemas.microsoft.com/office/drawing/2014/main" id="{A988EEA2-A903-46C9-B493-B02D2C7A680C}"/>
              </a:ext>
            </a:extLst>
          </p:cNvPr>
          <p:cNvSpPr>
            <a:spLocks xmlns:a="http://schemas.openxmlformats.org/drawingml/2006/main" noGrp="1"/>
          </p:cNvSpPr>
          <p:nvPr/>
        </p:nvSpPr>
        <p:spPr>
          <a:xfrm xmlns:a="http://schemas.openxmlformats.org/drawingml/2006/main">
            <a:off x="647700" y="285750"/>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2417"/>
          </a:bodyPr>
          <a:lstStyle xmlns:a="http://schemas.openxmlformats.org/drawingml/2006/main"/>
          <a:p xmlns:a="http://schemas.openxmlformats.org/drawingml/2006/main">
            <a:pPr algn="l">
              <a:lnSpc>
                <a:spcPct val="104000"/>
              </a:lnSpc>
              <a:buNone/>
              <a:defRPr sz="1050" b="1">
                <a:solidFill>
                  <a:srgbClr val="0F9F9A"/>
                </a:solidFill>
                <a:latin typeface="Arial"/>
                <a:ea typeface="Arial"/>
                <a:cs typeface="Arial"/>
              </a:defRPr>
            </a:pPr>
            <a:r>
              <a:rPr sz="1050" b="1">
                <a:solidFill>
                  <a:srgbClr val="0F9F9A"/>
                </a:solidFill>
                <a:latin typeface="Arial"/>
                <a:ea typeface="Arial"/>
                <a:cs typeface="Arial"/>
              </a:rPr>
              <a:t>VALIDATION</a:t>
            </a:r>
          </a:p>
        </p:txBody>
      </p:sp>
      <p:sp>
        <p:nvSpPr>
          <p:cNvPr id="2" name="">
            <a:extLst xmlns:a="http://schemas.openxmlformats.org/drawingml/2006/main">
              <a:ext uri="{FF2B5EF4-FFF2-40B4-BE49-F238E27FC236}">
                <a16:creationId xmlns:a16="http://schemas.microsoft.com/office/drawing/2014/main" id="{3CD3E8DE-F1D4-440F-8934-932F00175CAA}"/>
              </a:ext>
            </a:extLst>
          </p:cNvPr>
          <p:cNvSpPr>
            <a:spLocks xmlns:a="http://schemas.openxmlformats.org/drawingml/2006/main" noGrp="1"/>
          </p:cNvSpPr>
          <p:nvPr/>
        </p:nvSpPr>
        <p:spPr>
          <a:xfrm xmlns:a="http://schemas.openxmlformats.org/drawingml/2006/main">
            <a:off x="647700" y="571500"/>
            <a:ext cx="10477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lnSpc>
                <a:spcPct val="104000"/>
              </a:lnSpc>
              <a:buNone/>
              <a:defRPr sz="2850" b="1">
                <a:solidFill>
                  <a:srgbClr val="172554"/>
                </a:solidFill>
                <a:latin typeface="Arial"/>
                <a:ea typeface="Arial"/>
                <a:cs typeface="Arial"/>
              </a:defRPr>
            </a:pPr>
            <a:r>
              <a:rPr sz="2850" b="1">
                <a:solidFill>
                  <a:srgbClr val="172554"/>
                </a:solidFill>
                <a:latin typeface="Arial"/>
                <a:ea typeface="Arial"/>
                <a:cs typeface="Arial"/>
              </a:rPr>
              <a:t>Paired training controls the comparison</a:t>
            </a:r>
          </a:p>
        </p:txBody>
      </p:sp>
      <p:sp>
        <p:nvSpPr>
          <p:cNvPr id="3" name="">
            <a:extLst xmlns:a="http://schemas.openxmlformats.org/drawingml/2006/main">
              <a:ext uri="{FF2B5EF4-FFF2-40B4-BE49-F238E27FC236}">
                <a16:creationId xmlns:a16="http://schemas.microsoft.com/office/drawing/2014/main" id="{5749D150-2EFD-465D-996A-2871563D4AF5}"/>
              </a:ext>
            </a:extLst>
          </p:cNvPr>
          <p:cNvSpPr>
            <a:spLocks xmlns:a="http://schemas.openxmlformats.org/drawingml/2006/main" noGrp="1"/>
          </p:cNvSpPr>
          <p:nvPr/>
        </p:nvSpPr>
        <p:spPr>
          <a:xfrm xmlns:a="http://schemas.openxmlformats.org/drawingml/2006/main">
            <a:off x="647700" y="1219200"/>
            <a:ext cx="876300" cy="47625"/>
          </a:xfrm>
          <a:prstGeom xmlns:a="http://schemas.openxmlformats.org/drawingml/2006/main" prst="rect">
            <a:avLst/>
          </a:prstGeom>
          <a:solidFill xmlns:a="http://schemas.openxmlformats.org/drawingml/2006/main">
            <a:srgbClr val="F97316"/>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146A0C2E-3B78-46F4-9357-E6AF5F3D7306}"/>
              </a:ext>
            </a:extLst>
          </p:cNvPr>
          <p:cNvSpPr>
            <a:spLocks xmlns:a="http://schemas.openxmlformats.org/drawingml/2006/main" noGrp="1"/>
          </p:cNvSpPr>
          <p:nvPr/>
        </p:nvSpPr>
        <p:spPr>
          <a:xfrm xmlns:a="http://schemas.openxmlformats.org/drawingml/2006/main">
            <a:off x="11239500" y="323850"/>
            <a:ext cx="4191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2417"/>
          </a:bodyPr>
          <a:lstStyle xmlns:a="http://schemas.openxmlformats.org/drawingml/2006/main"/>
          <a:p xmlns:a="http://schemas.openxmlformats.org/drawingml/2006/main">
            <a:pPr algn="r">
              <a:lnSpc>
                <a:spcPct val="104000"/>
              </a:lnSpc>
              <a:buNone/>
              <a:defRPr sz="1050" b="1">
                <a:solidFill>
                  <a:srgbClr val="64748B"/>
                </a:solidFill>
                <a:latin typeface="Arial"/>
                <a:ea typeface="Arial"/>
                <a:cs typeface="Arial"/>
              </a:defRPr>
            </a:pPr>
            <a:r>
              <a:rPr sz="1050" b="1">
                <a:solidFill>
                  <a:srgbClr val="64748B"/>
                </a:solidFill>
                <a:latin typeface="Arial"/>
                <a:ea typeface="Arial"/>
                <a:cs typeface="Arial"/>
              </a:rPr>
              <a:t>05</a:t>
            </a:r>
          </a:p>
        </p:txBody>
      </p:sp>
      <p:sp>
        <p:nvSpPr>
          <p:cNvPr id="5" name="">
            <a:extLst xmlns:a="http://schemas.openxmlformats.org/drawingml/2006/main">
              <a:ext uri="{FF2B5EF4-FFF2-40B4-BE49-F238E27FC236}">
                <a16:creationId xmlns:a16="http://schemas.microsoft.com/office/drawing/2014/main" id="{8B0E4135-44E7-4DFF-B9F8-DEA08DBC7EAA}"/>
              </a:ext>
            </a:extLst>
          </p:cNvPr>
          <p:cNvSpPr>
            <a:spLocks xmlns:a="http://schemas.openxmlformats.org/drawingml/2006/main" noGrp="1"/>
          </p:cNvSpPr>
          <p:nvPr/>
        </p:nvSpPr>
        <p:spPr>
          <a:xfrm xmlns:a="http://schemas.openxmlformats.org/drawingml/2006/main">
            <a:off x="742950" y="1619250"/>
            <a:ext cx="4953000" cy="3067050"/>
          </a:xfrm>
          <a:prstGeom xmlns:a="http://schemas.openxmlformats.org/drawingml/2006/main" prst="roundRect">
            <a:avLst>
              <a:gd name="adj" fmla="val 3727"/>
            </a:avLst>
          </a:prstGeom>
          <a:solidFill xmlns:a="http://schemas.openxmlformats.org/drawingml/2006/main">
            <a:srgbClr val="FFFFFF"/>
          </a:solidFill>
          <a:ln xmlns:a="http://schemas.openxmlformats.org/drawingml/2006/main" w="9525">
            <a:solidFill>
              <a:srgbClr val="CBD5E1"/>
            </a:solidFill>
          </a:ln>
        </p:spPr>
      </p:sp>
      <p:sp>
        <p:nvSpPr>
          <p:cNvPr id="6" name="">
            <a:extLst xmlns:a="http://schemas.openxmlformats.org/drawingml/2006/main">
              <a:ext uri="{FF2B5EF4-FFF2-40B4-BE49-F238E27FC236}">
                <a16:creationId xmlns:a16="http://schemas.microsoft.com/office/drawing/2014/main" id="{B49E7D29-E18E-465E-8951-01548BD58364}"/>
              </a:ext>
            </a:extLst>
          </p:cNvPr>
          <p:cNvSpPr>
            <a:spLocks xmlns:a="http://schemas.openxmlformats.org/drawingml/2006/main" noGrp="1"/>
          </p:cNvSpPr>
          <p:nvPr/>
        </p:nvSpPr>
        <p:spPr>
          <a:xfrm xmlns:a="http://schemas.openxmlformats.org/drawingml/2006/main">
            <a:off x="971550" y="1809750"/>
            <a:ext cx="1428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8205"/>
          </a:bodyPr>
          <a:lstStyle xmlns:a="http://schemas.openxmlformats.org/drawingml/2006/main"/>
          <a:p xmlns:a="http://schemas.openxmlformats.org/drawingml/2006/main">
            <a:pPr algn="l">
              <a:lnSpc>
                <a:spcPct val="104000"/>
              </a:lnSpc>
              <a:buNone/>
              <a:defRPr sz="1875" b="1">
                <a:solidFill>
                  <a:srgbClr val="4F46E5"/>
                </a:solidFill>
                <a:latin typeface="Arial"/>
                <a:ea typeface="Arial"/>
                <a:cs typeface="Arial"/>
              </a:defRPr>
            </a:pPr>
            <a:r>
              <a:rPr sz="1875" b="1">
                <a:solidFill>
                  <a:srgbClr val="4F46E5"/>
                </a:solidFill>
                <a:latin typeface="Arial"/>
                <a:ea typeface="Arial"/>
                <a:cs typeface="Arial"/>
              </a:rPr>
              <a:t>totalVI</a:t>
            </a:r>
          </a:p>
        </p:txBody>
      </p:sp>
      <p:sp>
        <p:nvSpPr>
          <p:cNvPr id="7" name="">
            <a:extLst xmlns:a="http://schemas.openxmlformats.org/drawingml/2006/main">
              <a:ext uri="{FF2B5EF4-FFF2-40B4-BE49-F238E27FC236}">
                <a16:creationId xmlns:a16="http://schemas.microsoft.com/office/drawing/2014/main" id="{A27791D7-DA02-4D1E-95C5-81BDCF04EF5E}"/>
              </a:ext>
            </a:extLst>
          </p:cNvPr>
          <p:cNvSpPr>
            <a:spLocks xmlns:a="http://schemas.openxmlformats.org/drawingml/2006/main" noGrp="1"/>
          </p:cNvSpPr>
          <p:nvPr/>
        </p:nvSpPr>
        <p:spPr>
          <a:xfrm xmlns:a="http://schemas.openxmlformats.org/drawingml/2006/main">
            <a:off x="1123950" y="2495550"/>
            <a:ext cx="1428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78038"/>
          </a:bodyPr>
          <a:lstStyle xmlns:a="http://schemas.openxmlformats.org/drawingml/2006/main"/>
          <a:p xmlns:a="http://schemas.openxmlformats.org/drawingml/2006/main">
            <a:pPr algn="ctr">
              <a:lnSpc>
                <a:spcPct val="104000"/>
              </a:lnSpc>
              <a:buNone/>
              <a:defRPr sz="1725" b="1">
                <a:solidFill>
                  <a:srgbClr val="0F9F9A"/>
                </a:solidFill>
                <a:latin typeface="Arial"/>
                <a:ea typeface="Arial"/>
                <a:cs typeface="Arial"/>
              </a:defRPr>
            </a:pPr>
            <a:r>
              <a:rPr sz="1725" b="1">
                <a:solidFill>
                  <a:srgbClr val="0F9F9A"/>
                </a:solidFill>
                <a:latin typeface="Arial"/>
                <a:ea typeface="Arial"/>
                <a:cs typeface="Arial"/>
              </a:rPr>
              <a:t>D1 complete</a:t>
            </a:r>
          </a:p>
        </p:txBody>
      </p:sp>
      <p:sp>
        <p:nvSpPr>
          <p:cNvPr id="8" name="">
            <a:extLst xmlns:a="http://schemas.openxmlformats.org/drawingml/2006/main">
              <a:ext uri="{FF2B5EF4-FFF2-40B4-BE49-F238E27FC236}">
                <a16:creationId xmlns:a16="http://schemas.microsoft.com/office/drawing/2014/main" id="{64166189-089C-4081-AEAB-5CE94DC48E9D}"/>
              </a:ext>
            </a:extLst>
          </p:cNvPr>
          <p:cNvSpPr>
            <a:spLocks xmlns:a="http://schemas.openxmlformats.org/drawingml/2006/main" noGrp="1"/>
          </p:cNvSpPr>
          <p:nvPr/>
        </p:nvSpPr>
        <p:spPr>
          <a:xfrm xmlns:a="http://schemas.openxmlformats.org/drawingml/2006/main">
            <a:off x="1123950" y="2895600"/>
            <a:ext cx="1428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2147"/>
          </a:bodyPr>
          <a:lstStyle xmlns:a="http://schemas.openxmlformats.org/drawingml/2006/main"/>
          <a:p xmlns:a="http://schemas.openxmlformats.org/drawingml/2006/main">
            <a:pPr algn="ctr">
              <a:lnSpc>
                <a:spcPct val="104000"/>
              </a:lnSpc>
              <a:buNone/>
              <a:defRPr sz="1200" b="1">
                <a:solidFill>
                  <a:srgbClr val="64748B"/>
                </a:solidFill>
                <a:latin typeface="Arial"/>
                <a:ea typeface="Arial"/>
                <a:cs typeface="Arial"/>
              </a:defRPr>
            </a:pPr>
            <a:r>
              <a:rPr sz="1200" b="1">
                <a:solidFill>
                  <a:srgbClr val="64748B"/>
                </a:solidFill>
                <a:latin typeface="Arial"/>
                <a:ea typeface="Arial"/>
                <a:cs typeface="Arial"/>
              </a:rPr>
              <a:t>TRAIN</a:t>
            </a:r>
          </a:p>
        </p:txBody>
      </p:sp>
      <p:sp>
        <p:nvSpPr>
          <p:cNvPr id="9" name="">
            <a:extLst xmlns:a="http://schemas.openxmlformats.org/drawingml/2006/main">
              <a:ext uri="{FF2B5EF4-FFF2-40B4-BE49-F238E27FC236}">
                <a16:creationId xmlns:a16="http://schemas.microsoft.com/office/drawing/2014/main" id="{82E4C9EF-F466-47FD-BBC3-6EC83FD1E8D2}"/>
              </a:ext>
            </a:extLst>
          </p:cNvPr>
          <p:cNvSpPr>
            <a:spLocks xmlns:a="http://schemas.openxmlformats.org/drawingml/2006/main" noGrp="1"/>
          </p:cNvSpPr>
          <p:nvPr/>
        </p:nvSpPr>
        <p:spPr>
          <a:xfrm xmlns:a="http://schemas.openxmlformats.org/drawingml/2006/main">
            <a:off x="2667000" y="2609850"/>
            <a:ext cx="857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5211"/>
          </a:bodyPr>
          <a:lstStyle xmlns:a="http://schemas.openxmlformats.org/drawingml/2006/main"/>
          <a:p xmlns:a="http://schemas.openxmlformats.org/drawingml/2006/main">
            <a:pPr algn="ctr">
              <a:lnSpc>
                <a:spcPct val="104000"/>
              </a:lnSpc>
              <a:buNone/>
              <a:defRPr sz="2550" b="1">
                <a:solidFill>
                  <a:srgbClr val="F97316"/>
                </a:solidFill>
                <a:latin typeface="Arial"/>
                <a:ea typeface="Arial"/>
                <a:cs typeface="Arial"/>
              </a:defRPr>
            </a:pPr>
            <a:r>
              <a:rPr sz="2550" b="1">
                <a:solidFill>
                  <a:srgbClr val="F97316"/>
                </a:solidFill>
                <a:latin typeface="Arial"/>
                <a:ea typeface="Arial"/>
                <a:cs typeface="Arial"/>
              </a:rPr>
              <a:t>→</a:t>
            </a:r>
          </a:p>
        </p:txBody>
      </p:sp>
      <p:sp>
        <p:nvSpPr>
          <p:cNvPr id="10" name="">
            <a:extLst xmlns:a="http://schemas.openxmlformats.org/drawingml/2006/main">
              <a:ext uri="{FF2B5EF4-FFF2-40B4-BE49-F238E27FC236}">
                <a16:creationId xmlns:a16="http://schemas.microsoft.com/office/drawing/2014/main" id="{099609CE-29C0-4479-AE99-E34356059AFB}"/>
              </a:ext>
            </a:extLst>
          </p:cNvPr>
          <p:cNvSpPr>
            <a:spLocks xmlns:a="http://schemas.openxmlformats.org/drawingml/2006/main" noGrp="1"/>
          </p:cNvSpPr>
          <p:nvPr/>
        </p:nvSpPr>
        <p:spPr>
          <a:xfrm xmlns:a="http://schemas.openxmlformats.org/drawingml/2006/main">
            <a:off x="3695700" y="2495550"/>
            <a:ext cx="1428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78038"/>
          </a:bodyPr>
          <a:lstStyle xmlns:a="http://schemas.openxmlformats.org/drawingml/2006/main"/>
          <a:p xmlns:a="http://schemas.openxmlformats.org/drawingml/2006/main">
            <a:pPr algn="ctr">
              <a:lnSpc>
                <a:spcPct val="104000"/>
              </a:lnSpc>
              <a:buNone/>
              <a:defRPr sz="1725" b="1">
                <a:solidFill>
                  <a:srgbClr val="F97316"/>
                </a:solidFill>
                <a:latin typeface="Arial"/>
                <a:ea typeface="Arial"/>
                <a:cs typeface="Arial"/>
              </a:defRPr>
            </a:pPr>
            <a:r>
              <a:rPr sz="1725" b="1">
                <a:solidFill>
                  <a:srgbClr val="F97316"/>
                </a:solidFill>
                <a:latin typeface="Arial"/>
                <a:ea typeface="Arial"/>
                <a:cs typeface="Arial"/>
              </a:rPr>
              <a:t>D2 RNA</a:t>
            </a:r>
          </a:p>
        </p:txBody>
      </p:sp>
      <p:sp>
        <p:nvSpPr>
          <p:cNvPr id="11" name="">
            <a:extLst xmlns:a="http://schemas.openxmlformats.org/drawingml/2006/main">
              <a:ext uri="{FF2B5EF4-FFF2-40B4-BE49-F238E27FC236}">
                <a16:creationId xmlns:a16="http://schemas.microsoft.com/office/drawing/2014/main" id="{C428BCF1-50BC-4F00-94AA-C4840AD9DFD2}"/>
              </a:ext>
            </a:extLst>
          </p:cNvPr>
          <p:cNvSpPr>
            <a:spLocks xmlns:a="http://schemas.openxmlformats.org/drawingml/2006/main" noGrp="1"/>
          </p:cNvSpPr>
          <p:nvPr/>
        </p:nvSpPr>
        <p:spPr>
          <a:xfrm xmlns:a="http://schemas.openxmlformats.org/drawingml/2006/main">
            <a:off x="3695700" y="2895600"/>
            <a:ext cx="1428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2147"/>
          </a:bodyPr>
          <a:lstStyle xmlns:a="http://schemas.openxmlformats.org/drawingml/2006/main"/>
          <a:p xmlns:a="http://schemas.openxmlformats.org/drawingml/2006/main">
            <a:pPr algn="ctr">
              <a:lnSpc>
                <a:spcPct val="104000"/>
              </a:lnSpc>
              <a:buNone/>
              <a:defRPr sz="1200" b="1">
                <a:solidFill>
                  <a:srgbClr val="64748B"/>
                </a:solidFill>
                <a:latin typeface="Arial"/>
                <a:ea typeface="Arial"/>
                <a:cs typeface="Arial"/>
              </a:defRPr>
            </a:pPr>
            <a:r>
              <a:rPr sz="1200" b="1">
                <a:solidFill>
                  <a:srgbClr val="64748B"/>
                </a:solidFill>
                <a:latin typeface="Arial"/>
                <a:ea typeface="Arial"/>
                <a:cs typeface="Arial"/>
              </a:rPr>
              <a:t>PREDICT</a:t>
            </a:r>
          </a:p>
        </p:txBody>
      </p:sp>
      <p:sp>
        <p:nvSpPr>
          <p:cNvPr id="12" name="">
            <a:extLst xmlns:a="http://schemas.openxmlformats.org/drawingml/2006/main">
              <a:ext uri="{FF2B5EF4-FFF2-40B4-BE49-F238E27FC236}">
                <a16:creationId xmlns:a16="http://schemas.microsoft.com/office/drawing/2014/main" id="{1ED40EEE-A97B-4D55-9088-8A0F6680D7A8}"/>
              </a:ext>
            </a:extLst>
          </p:cNvPr>
          <p:cNvSpPr>
            <a:spLocks xmlns:a="http://schemas.openxmlformats.org/drawingml/2006/main" noGrp="1"/>
          </p:cNvSpPr>
          <p:nvPr/>
        </p:nvSpPr>
        <p:spPr>
          <a:xfrm xmlns:a="http://schemas.openxmlformats.org/drawingml/2006/main">
            <a:off x="1562100" y="3790950"/>
            <a:ext cx="3295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ctr">
              <a:lnSpc>
                <a:spcPct val="104000"/>
              </a:lnSpc>
              <a:buNone/>
              <a:defRPr sz="1425" b="1">
                <a:solidFill>
                  <a:srgbClr val="172554"/>
                </a:solidFill>
                <a:latin typeface="Arial"/>
                <a:ea typeface="Arial"/>
                <a:cs typeface="Arial"/>
              </a:defRPr>
            </a:pPr>
            <a:r>
              <a:rPr sz="1425" b="1">
                <a:solidFill>
                  <a:srgbClr val="172554"/>
                </a:solidFill>
                <a:latin typeface="Arial"/>
                <a:ea typeface="Arial"/>
                <a:cs typeface="Arial"/>
              </a:rPr>
              <a:t>110 D2 proteins scored</a:t>
            </a:r>
          </a:p>
        </p:txBody>
      </p:sp>
      <p:sp>
        <p:nvSpPr>
          <p:cNvPr id="13" name="">
            <a:extLst xmlns:a="http://schemas.openxmlformats.org/drawingml/2006/main">
              <a:ext uri="{FF2B5EF4-FFF2-40B4-BE49-F238E27FC236}">
                <a16:creationId xmlns:a16="http://schemas.microsoft.com/office/drawing/2014/main" id="{A4F82748-807A-46F6-B8BC-56BD4D937FC7}"/>
              </a:ext>
            </a:extLst>
          </p:cNvPr>
          <p:cNvSpPr>
            <a:spLocks xmlns:a="http://schemas.openxmlformats.org/drawingml/2006/main" noGrp="1"/>
          </p:cNvSpPr>
          <p:nvPr/>
        </p:nvSpPr>
        <p:spPr>
          <a:xfrm xmlns:a="http://schemas.openxmlformats.org/drawingml/2006/main">
            <a:off x="6496050" y="1619250"/>
            <a:ext cx="4953000" cy="3067050"/>
          </a:xfrm>
          <a:prstGeom xmlns:a="http://schemas.openxmlformats.org/drawingml/2006/main" prst="roundRect">
            <a:avLst>
              <a:gd name="adj" fmla="val 3727"/>
            </a:avLst>
          </a:prstGeom>
          <a:solidFill xmlns:a="http://schemas.openxmlformats.org/drawingml/2006/main">
            <a:srgbClr val="FFFFFF"/>
          </a:solidFill>
          <a:ln xmlns:a="http://schemas.openxmlformats.org/drawingml/2006/main" w="9525">
            <a:solidFill>
              <a:srgbClr val="CBD5E1"/>
            </a:solidFill>
          </a:ln>
        </p:spPr>
      </p:sp>
      <p:sp>
        <p:nvSpPr>
          <p:cNvPr id="14" name="">
            <a:extLst xmlns:a="http://schemas.openxmlformats.org/drawingml/2006/main">
              <a:ext uri="{FF2B5EF4-FFF2-40B4-BE49-F238E27FC236}">
                <a16:creationId xmlns:a16="http://schemas.microsoft.com/office/drawing/2014/main" id="{8CA1277F-E3E3-44AB-AFE0-18AAB4FDEE9B}"/>
              </a:ext>
            </a:extLst>
          </p:cNvPr>
          <p:cNvSpPr>
            <a:spLocks xmlns:a="http://schemas.openxmlformats.org/drawingml/2006/main" noGrp="1"/>
          </p:cNvSpPr>
          <p:nvPr/>
        </p:nvSpPr>
        <p:spPr>
          <a:xfrm xmlns:a="http://schemas.openxmlformats.org/drawingml/2006/main">
            <a:off x="6724650" y="1809750"/>
            <a:ext cx="1428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8205"/>
          </a:bodyPr>
          <a:lstStyle xmlns:a="http://schemas.openxmlformats.org/drawingml/2006/main"/>
          <a:p xmlns:a="http://schemas.openxmlformats.org/drawingml/2006/main">
            <a:pPr algn="l">
              <a:lnSpc>
                <a:spcPct val="104000"/>
              </a:lnSpc>
              <a:buNone/>
              <a:defRPr sz="1875" b="1">
                <a:solidFill>
                  <a:srgbClr val="4F46E5"/>
                </a:solidFill>
                <a:latin typeface="Arial"/>
                <a:ea typeface="Arial"/>
                <a:cs typeface="Arial"/>
              </a:defRPr>
            </a:pPr>
            <a:r>
              <a:rPr sz="1875" b="1">
                <a:solidFill>
                  <a:srgbClr val="4F46E5"/>
                </a:solidFill>
                <a:latin typeface="Arial"/>
                <a:ea typeface="Arial"/>
                <a:cs typeface="Arial"/>
              </a:rPr>
              <a:t>FusionVI</a:t>
            </a:r>
          </a:p>
        </p:txBody>
      </p:sp>
      <p:sp>
        <p:nvSpPr>
          <p:cNvPr id="15" name="">
            <a:extLst xmlns:a="http://schemas.openxmlformats.org/drawingml/2006/main">
              <a:ext uri="{FF2B5EF4-FFF2-40B4-BE49-F238E27FC236}">
                <a16:creationId xmlns:a16="http://schemas.microsoft.com/office/drawing/2014/main" id="{4B56887A-9E03-4EBB-B59F-2D111E5E51B2}"/>
              </a:ext>
            </a:extLst>
          </p:cNvPr>
          <p:cNvSpPr>
            <a:spLocks xmlns:a="http://schemas.openxmlformats.org/drawingml/2006/main" noGrp="1"/>
          </p:cNvSpPr>
          <p:nvPr/>
        </p:nvSpPr>
        <p:spPr>
          <a:xfrm xmlns:a="http://schemas.openxmlformats.org/drawingml/2006/main">
            <a:off x="6877050" y="2495550"/>
            <a:ext cx="1428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78038"/>
          </a:bodyPr>
          <a:lstStyle xmlns:a="http://schemas.openxmlformats.org/drawingml/2006/main"/>
          <a:p xmlns:a="http://schemas.openxmlformats.org/drawingml/2006/main">
            <a:pPr algn="ctr">
              <a:lnSpc>
                <a:spcPct val="104000"/>
              </a:lnSpc>
              <a:buNone/>
              <a:defRPr sz="1725" b="1">
                <a:solidFill>
                  <a:srgbClr val="0F9F9A"/>
                </a:solidFill>
                <a:latin typeface="Arial"/>
                <a:ea typeface="Arial"/>
                <a:cs typeface="Arial"/>
              </a:defRPr>
            </a:pPr>
            <a:r>
              <a:rPr sz="1725" b="1">
                <a:solidFill>
                  <a:srgbClr val="0F9F9A"/>
                </a:solidFill>
                <a:latin typeface="Arial"/>
                <a:ea typeface="Arial"/>
                <a:cs typeface="Arial"/>
              </a:rPr>
              <a:t>D1 complete</a:t>
            </a:r>
          </a:p>
        </p:txBody>
      </p:sp>
      <p:sp>
        <p:nvSpPr>
          <p:cNvPr id="16" name="">
            <a:extLst xmlns:a="http://schemas.openxmlformats.org/drawingml/2006/main">
              <a:ext uri="{FF2B5EF4-FFF2-40B4-BE49-F238E27FC236}">
                <a16:creationId xmlns:a16="http://schemas.microsoft.com/office/drawing/2014/main" id="{4A761EF1-B1E9-4BF6-8D17-FAAB329C4A93}"/>
              </a:ext>
            </a:extLst>
          </p:cNvPr>
          <p:cNvSpPr>
            <a:spLocks xmlns:a="http://schemas.openxmlformats.org/drawingml/2006/main" noGrp="1"/>
          </p:cNvSpPr>
          <p:nvPr/>
        </p:nvSpPr>
        <p:spPr>
          <a:xfrm xmlns:a="http://schemas.openxmlformats.org/drawingml/2006/main">
            <a:off x="6877050" y="2895600"/>
            <a:ext cx="1428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2147"/>
          </a:bodyPr>
          <a:lstStyle xmlns:a="http://schemas.openxmlformats.org/drawingml/2006/main"/>
          <a:p xmlns:a="http://schemas.openxmlformats.org/drawingml/2006/main">
            <a:pPr algn="ctr">
              <a:lnSpc>
                <a:spcPct val="104000"/>
              </a:lnSpc>
              <a:buNone/>
              <a:defRPr sz="1200" b="1">
                <a:solidFill>
                  <a:srgbClr val="64748B"/>
                </a:solidFill>
                <a:latin typeface="Arial"/>
                <a:ea typeface="Arial"/>
                <a:cs typeface="Arial"/>
              </a:defRPr>
            </a:pPr>
            <a:r>
              <a:rPr sz="1200" b="1">
                <a:solidFill>
                  <a:srgbClr val="64748B"/>
                </a:solidFill>
                <a:latin typeface="Arial"/>
                <a:ea typeface="Arial"/>
                <a:cs typeface="Arial"/>
              </a:rPr>
              <a:t>TRAIN</a:t>
            </a:r>
          </a:p>
        </p:txBody>
      </p:sp>
      <p:sp>
        <p:nvSpPr>
          <p:cNvPr id="17" name="">
            <a:extLst xmlns:a="http://schemas.openxmlformats.org/drawingml/2006/main">
              <a:ext uri="{FF2B5EF4-FFF2-40B4-BE49-F238E27FC236}">
                <a16:creationId xmlns:a16="http://schemas.microsoft.com/office/drawing/2014/main" id="{C2E000B1-2B54-4F7D-918D-5CA08D41A6A7}"/>
              </a:ext>
            </a:extLst>
          </p:cNvPr>
          <p:cNvSpPr>
            <a:spLocks xmlns:a="http://schemas.openxmlformats.org/drawingml/2006/main" noGrp="1"/>
          </p:cNvSpPr>
          <p:nvPr/>
        </p:nvSpPr>
        <p:spPr>
          <a:xfrm xmlns:a="http://schemas.openxmlformats.org/drawingml/2006/main">
            <a:off x="8420100" y="2609850"/>
            <a:ext cx="857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5211"/>
          </a:bodyPr>
          <a:lstStyle xmlns:a="http://schemas.openxmlformats.org/drawingml/2006/main"/>
          <a:p xmlns:a="http://schemas.openxmlformats.org/drawingml/2006/main">
            <a:pPr algn="ctr">
              <a:lnSpc>
                <a:spcPct val="104000"/>
              </a:lnSpc>
              <a:buNone/>
              <a:defRPr sz="2550" b="1">
                <a:solidFill>
                  <a:srgbClr val="F97316"/>
                </a:solidFill>
                <a:latin typeface="Arial"/>
                <a:ea typeface="Arial"/>
                <a:cs typeface="Arial"/>
              </a:defRPr>
            </a:pPr>
            <a:r>
              <a:rPr sz="2550" b="1">
                <a:solidFill>
                  <a:srgbClr val="F97316"/>
                </a:solidFill>
                <a:latin typeface="Arial"/>
                <a:ea typeface="Arial"/>
                <a:cs typeface="Arial"/>
              </a:rPr>
              <a:t>→</a:t>
            </a:r>
          </a:p>
        </p:txBody>
      </p:sp>
      <p:sp>
        <p:nvSpPr>
          <p:cNvPr id="18" name="">
            <a:extLst xmlns:a="http://schemas.openxmlformats.org/drawingml/2006/main">
              <a:ext uri="{FF2B5EF4-FFF2-40B4-BE49-F238E27FC236}">
                <a16:creationId xmlns:a16="http://schemas.microsoft.com/office/drawing/2014/main" id="{0FE97C88-2A14-4AEA-8189-1A917510A8C3}"/>
              </a:ext>
            </a:extLst>
          </p:cNvPr>
          <p:cNvSpPr>
            <a:spLocks xmlns:a="http://schemas.openxmlformats.org/drawingml/2006/main" noGrp="1"/>
          </p:cNvSpPr>
          <p:nvPr/>
        </p:nvSpPr>
        <p:spPr>
          <a:xfrm xmlns:a="http://schemas.openxmlformats.org/drawingml/2006/main">
            <a:off x="9448800" y="2495550"/>
            <a:ext cx="1428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78038"/>
          </a:bodyPr>
          <a:lstStyle xmlns:a="http://schemas.openxmlformats.org/drawingml/2006/main"/>
          <a:p xmlns:a="http://schemas.openxmlformats.org/drawingml/2006/main">
            <a:pPr algn="ctr">
              <a:lnSpc>
                <a:spcPct val="104000"/>
              </a:lnSpc>
              <a:buNone/>
              <a:defRPr sz="1725" b="1">
                <a:solidFill>
                  <a:srgbClr val="F97316"/>
                </a:solidFill>
                <a:latin typeface="Arial"/>
                <a:ea typeface="Arial"/>
                <a:cs typeface="Arial"/>
              </a:defRPr>
            </a:pPr>
            <a:r>
              <a:rPr sz="1725" b="1">
                <a:solidFill>
                  <a:srgbClr val="F97316"/>
                </a:solidFill>
                <a:latin typeface="Arial"/>
                <a:ea typeface="Arial"/>
                <a:cs typeface="Arial"/>
              </a:rPr>
              <a:t>D2 RNA</a:t>
            </a:r>
          </a:p>
        </p:txBody>
      </p:sp>
      <p:sp>
        <p:nvSpPr>
          <p:cNvPr id="19" name="">
            <a:extLst xmlns:a="http://schemas.openxmlformats.org/drawingml/2006/main">
              <a:ext uri="{FF2B5EF4-FFF2-40B4-BE49-F238E27FC236}">
                <a16:creationId xmlns:a16="http://schemas.microsoft.com/office/drawing/2014/main" id="{9F6EEE3A-D21F-4483-9E97-0F3DA701407B}"/>
              </a:ext>
            </a:extLst>
          </p:cNvPr>
          <p:cNvSpPr>
            <a:spLocks xmlns:a="http://schemas.openxmlformats.org/drawingml/2006/main" noGrp="1"/>
          </p:cNvSpPr>
          <p:nvPr/>
        </p:nvSpPr>
        <p:spPr>
          <a:xfrm xmlns:a="http://schemas.openxmlformats.org/drawingml/2006/main">
            <a:off x="9448800" y="2895600"/>
            <a:ext cx="1428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2147"/>
          </a:bodyPr>
          <a:lstStyle xmlns:a="http://schemas.openxmlformats.org/drawingml/2006/main"/>
          <a:p xmlns:a="http://schemas.openxmlformats.org/drawingml/2006/main">
            <a:pPr algn="ctr">
              <a:lnSpc>
                <a:spcPct val="104000"/>
              </a:lnSpc>
              <a:buNone/>
              <a:defRPr sz="1200" b="1">
                <a:solidFill>
                  <a:srgbClr val="64748B"/>
                </a:solidFill>
                <a:latin typeface="Arial"/>
                <a:ea typeface="Arial"/>
                <a:cs typeface="Arial"/>
              </a:defRPr>
            </a:pPr>
            <a:r>
              <a:rPr sz="1200" b="1">
                <a:solidFill>
                  <a:srgbClr val="64748B"/>
                </a:solidFill>
                <a:latin typeface="Arial"/>
                <a:ea typeface="Arial"/>
                <a:cs typeface="Arial"/>
              </a:rPr>
              <a:t>PREDICT</a:t>
            </a:r>
          </a:p>
        </p:txBody>
      </p:sp>
      <p:sp>
        <p:nvSpPr>
          <p:cNvPr id="20" name="">
            <a:extLst xmlns:a="http://schemas.openxmlformats.org/drawingml/2006/main">
              <a:ext uri="{FF2B5EF4-FFF2-40B4-BE49-F238E27FC236}">
                <a16:creationId xmlns:a16="http://schemas.microsoft.com/office/drawing/2014/main" id="{AD37BE54-6AEB-4F4D-8412-AD8A396884EE}"/>
              </a:ext>
            </a:extLst>
          </p:cNvPr>
          <p:cNvSpPr>
            <a:spLocks xmlns:a="http://schemas.openxmlformats.org/drawingml/2006/main" noGrp="1"/>
          </p:cNvSpPr>
          <p:nvPr/>
        </p:nvSpPr>
        <p:spPr>
          <a:xfrm xmlns:a="http://schemas.openxmlformats.org/drawingml/2006/main">
            <a:off x="7315200" y="3790950"/>
            <a:ext cx="3295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ctr">
              <a:lnSpc>
                <a:spcPct val="104000"/>
              </a:lnSpc>
              <a:buNone/>
              <a:defRPr sz="1425" b="1">
                <a:solidFill>
                  <a:srgbClr val="172554"/>
                </a:solidFill>
                <a:latin typeface="Arial"/>
                <a:ea typeface="Arial"/>
                <a:cs typeface="Arial"/>
              </a:defRPr>
            </a:pPr>
            <a:r>
              <a:rPr sz="1425" b="1">
                <a:solidFill>
                  <a:srgbClr val="172554"/>
                </a:solidFill>
                <a:latin typeface="Arial"/>
                <a:ea typeface="Arial"/>
                <a:cs typeface="Arial"/>
              </a:rPr>
              <a:t>same 110 proteins scored</a:t>
            </a:r>
          </a:p>
        </p:txBody>
      </p:sp>
      <p:sp>
        <p:nvSpPr>
          <p:cNvPr id="21" name="">
            <a:extLst xmlns:a="http://schemas.openxmlformats.org/drawingml/2006/main">
              <a:ext uri="{FF2B5EF4-FFF2-40B4-BE49-F238E27FC236}">
                <a16:creationId xmlns:a16="http://schemas.microsoft.com/office/drawing/2014/main" id="{8704E548-98FA-45A0-9F57-D019CDF86F24}"/>
              </a:ext>
            </a:extLst>
          </p:cNvPr>
          <p:cNvSpPr>
            <a:spLocks xmlns:a="http://schemas.openxmlformats.org/drawingml/2006/main" noGrp="1"/>
          </p:cNvSpPr>
          <p:nvPr/>
        </p:nvSpPr>
        <p:spPr>
          <a:xfrm xmlns:a="http://schemas.openxmlformats.org/drawingml/2006/main">
            <a:off x="933450" y="5162550"/>
            <a:ext cx="2781300" cy="1066800"/>
          </a:xfrm>
          <a:prstGeom xmlns:a="http://schemas.openxmlformats.org/drawingml/2006/main" prst="roundRect">
            <a:avLst>
              <a:gd name="adj" fmla="val 10714"/>
            </a:avLst>
          </a:prstGeom>
          <a:solidFill xmlns:a="http://schemas.openxmlformats.org/drawingml/2006/main">
            <a:srgbClr val="EEF2FF"/>
          </a:solidFill>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80824978-B9CA-44A9-8CB8-3707885C19BC}"/>
              </a:ext>
            </a:extLst>
          </p:cNvPr>
          <p:cNvSpPr>
            <a:spLocks xmlns:a="http://schemas.openxmlformats.org/drawingml/2006/main" noGrp="1"/>
          </p:cNvSpPr>
          <p:nvPr/>
        </p:nvSpPr>
        <p:spPr>
          <a:xfrm xmlns:a="http://schemas.openxmlformats.org/drawingml/2006/main">
            <a:off x="1047750" y="5295900"/>
            <a:ext cx="25527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5784"/>
          </a:bodyPr>
          <a:lstStyle xmlns:a="http://schemas.openxmlformats.org/drawingml/2006/main"/>
          <a:p xmlns:a="http://schemas.openxmlformats.org/drawingml/2006/main">
            <a:pPr algn="ctr">
              <a:lnSpc>
                <a:spcPct val="104000"/>
              </a:lnSpc>
              <a:buNone/>
              <a:defRPr sz="2550" b="1">
                <a:solidFill>
                  <a:srgbClr val="4F46E5"/>
                </a:solidFill>
                <a:latin typeface="Arial"/>
                <a:ea typeface="Arial"/>
                <a:cs typeface="Arial"/>
              </a:defRPr>
            </a:pPr>
            <a:r>
              <a:rPr sz="2550" b="1">
                <a:solidFill>
                  <a:srgbClr val="4F46E5"/>
                </a:solidFill>
                <a:latin typeface="Arial"/>
                <a:ea typeface="Arial"/>
                <a:cs typeface="Arial"/>
              </a:rPr>
              <a:t>500</a:t>
            </a:r>
          </a:p>
        </p:txBody>
      </p:sp>
      <p:sp>
        <p:nvSpPr>
          <p:cNvPr id="23" name="">
            <a:extLst xmlns:a="http://schemas.openxmlformats.org/drawingml/2006/main">
              <a:ext uri="{FF2B5EF4-FFF2-40B4-BE49-F238E27FC236}">
                <a16:creationId xmlns:a16="http://schemas.microsoft.com/office/drawing/2014/main" id="{505FAB24-A4DB-4F18-8739-940738E73FE9}"/>
              </a:ext>
            </a:extLst>
          </p:cNvPr>
          <p:cNvSpPr>
            <a:spLocks xmlns:a="http://schemas.openxmlformats.org/drawingml/2006/main" noGrp="1"/>
          </p:cNvSpPr>
          <p:nvPr/>
        </p:nvSpPr>
        <p:spPr>
          <a:xfrm xmlns:a="http://schemas.openxmlformats.org/drawingml/2006/main">
            <a:off x="1047750" y="5781675"/>
            <a:ext cx="25527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4609"/>
          </a:bodyPr>
          <a:lstStyle xmlns:a="http://schemas.openxmlformats.org/drawingml/2006/main"/>
          <a:p xmlns:a="http://schemas.openxmlformats.org/drawingml/2006/main">
            <a:pPr algn="ctr">
              <a:lnSpc>
                <a:spcPct val="104000"/>
              </a:lnSpc>
              <a:buNone/>
              <a:defRPr sz="1200" b="1">
                <a:solidFill>
                  <a:srgbClr val="64748B"/>
                </a:solidFill>
                <a:latin typeface="Arial"/>
                <a:ea typeface="Arial"/>
                <a:cs typeface="Arial"/>
              </a:defRPr>
            </a:pPr>
            <a:r>
              <a:rPr sz="1200" b="1">
                <a:solidFill>
                  <a:srgbClr val="64748B"/>
                </a:solidFill>
                <a:latin typeface="Arial"/>
                <a:ea typeface="Arial"/>
                <a:cs typeface="Arial"/>
              </a:rPr>
              <a:t>maximum epochs + early stopping</a:t>
            </a:r>
          </a:p>
        </p:txBody>
      </p:sp>
      <p:sp>
        <p:nvSpPr>
          <p:cNvPr id="24" name="">
            <a:extLst xmlns:a="http://schemas.openxmlformats.org/drawingml/2006/main">
              <a:ext uri="{FF2B5EF4-FFF2-40B4-BE49-F238E27FC236}">
                <a16:creationId xmlns:a16="http://schemas.microsoft.com/office/drawing/2014/main" id="{D185B1C3-93D5-4404-B109-1BAA73FA234C}"/>
              </a:ext>
            </a:extLst>
          </p:cNvPr>
          <p:cNvSpPr>
            <a:spLocks xmlns:a="http://schemas.openxmlformats.org/drawingml/2006/main" noGrp="1"/>
          </p:cNvSpPr>
          <p:nvPr/>
        </p:nvSpPr>
        <p:spPr>
          <a:xfrm xmlns:a="http://schemas.openxmlformats.org/drawingml/2006/main">
            <a:off x="4705350" y="5162550"/>
            <a:ext cx="2781300" cy="1066800"/>
          </a:xfrm>
          <a:prstGeom xmlns:a="http://schemas.openxmlformats.org/drawingml/2006/main" prst="roundRect">
            <a:avLst>
              <a:gd name="adj" fmla="val 10714"/>
            </a:avLst>
          </a:prstGeom>
          <a:solidFill xmlns:a="http://schemas.openxmlformats.org/drawingml/2006/main">
            <a:srgbClr val="FFF7ED"/>
          </a:solidFill>
          <a:ln xmlns:a="http://schemas.openxmlformats.org/drawingml/2006/main" w="0">
            <a:noFill/>
          </a:ln>
        </p:spPr>
      </p:sp>
      <p:sp>
        <p:nvSpPr>
          <p:cNvPr id="25" name="">
            <a:extLst xmlns:a="http://schemas.openxmlformats.org/drawingml/2006/main">
              <a:ext uri="{FF2B5EF4-FFF2-40B4-BE49-F238E27FC236}">
                <a16:creationId xmlns:a16="http://schemas.microsoft.com/office/drawing/2014/main" id="{4BB49375-F1D9-47E6-8EF5-D1F94B870DEC}"/>
              </a:ext>
            </a:extLst>
          </p:cNvPr>
          <p:cNvSpPr>
            <a:spLocks xmlns:a="http://schemas.openxmlformats.org/drawingml/2006/main" noGrp="1"/>
          </p:cNvSpPr>
          <p:nvPr/>
        </p:nvSpPr>
        <p:spPr>
          <a:xfrm xmlns:a="http://schemas.openxmlformats.org/drawingml/2006/main">
            <a:off x="4819650" y="5295900"/>
            <a:ext cx="25527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5784"/>
          </a:bodyPr>
          <a:lstStyle xmlns:a="http://schemas.openxmlformats.org/drawingml/2006/main"/>
          <a:p xmlns:a="http://schemas.openxmlformats.org/drawingml/2006/main">
            <a:pPr algn="ctr">
              <a:lnSpc>
                <a:spcPct val="104000"/>
              </a:lnSpc>
              <a:buNone/>
              <a:defRPr sz="2550" b="1">
                <a:solidFill>
                  <a:srgbClr val="F97316"/>
                </a:solidFill>
                <a:latin typeface="Arial"/>
                <a:ea typeface="Arial"/>
                <a:cs typeface="Arial"/>
              </a:defRPr>
            </a:pPr>
            <a:r>
              <a:rPr sz="2550" b="1">
                <a:solidFill>
                  <a:srgbClr val="F97316"/>
                </a:solidFill>
                <a:latin typeface="Arial"/>
                <a:ea typeface="Arial"/>
                <a:cs typeface="Arial"/>
              </a:rPr>
              <a:t>25</a:t>
            </a:r>
          </a:p>
        </p:txBody>
      </p:sp>
      <p:sp>
        <p:nvSpPr>
          <p:cNvPr id="26" name="">
            <a:extLst xmlns:a="http://schemas.openxmlformats.org/drawingml/2006/main">
              <a:ext uri="{FF2B5EF4-FFF2-40B4-BE49-F238E27FC236}">
                <a16:creationId xmlns:a16="http://schemas.microsoft.com/office/drawing/2014/main" id="{FF1FF08D-9F33-4338-AB0C-1865A473A7D8}"/>
              </a:ext>
            </a:extLst>
          </p:cNvPr>
          <p:cNvSpPr>
            <a:spLocks xmlns:a="http://schemas.openxmlformats.org/drawingml/2006/main" noGrp="1"/>
          </p:cNvSpPr>
          <p:nvPr/>
        </p:nvSpPr>
        <p:spPr>
          <a:xfrm xmlns:a="http://schemas.openxmlformats.org/drawingml/2006/main">
            <a:off x="4819650" y="5781675"/>
            <a:ext cx="25527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lnSpc>
                <a:spcPct val="104000"/>
              </a:lnSpc>
              <a:buNone/>
              <a:defRPr sz="1200" b="1">
                <a:solidFill>
                  <a:srgbClr val="64748B"/>
                </a:solidFill>
                <a:latin typeface="Arial"/>
                <a:ea typeface="Arial"/>
                <a:cs typeface="Arial"/>
              </a:defRPr>
            </a:pPr>
            <a:r>
              <a:rPr sz="1200" b="1">
                <a:solidFill>
                  <a:srgbClr val="64748B"/>
                </a:solidFill>
                <a:latin typeface="Arial"/>
                <a:ea typeface="Arial"/>
                <a:cs typeface="Arial"/>
              </a:rPr>
              <a:t>posterior samples averaged</a:t>
            </a:r>
          </a:p>
        </p:txBody>
      </p:sp>
      <p:sp>
        <p:nvSpPr>
          <p:cNvPr id="27" name="">
            <a:extLst xmlns:a="http://schemas.openxmlformats.org/drawingml/2006/main">
              <a:ext uri="{FF2B5EF4-FFF2-40B4-BE49-F238E27FC236}">
                <a16:creationId xmlns:a16="http://schemas.microsoft.com/office/drawing/2014/main" id="{3032DB19-CA25-4276-ACF4-430E5B32C084}"/>
              </a:ext>
            </a:extLst>
          </p:cNvPr>
          <p:cNvSpPr>
            <a:spLocks xmlns:a="http://schemas.openxmlformats.org/drawingml/2006/main" noGrp="1"/>
          </p:cNvSpPr>
          <p:nvPr/>
        </p:nvSpPr>
        <p:spPr>
          <a:xfrm xmlns:a="http://schemas.openxmlformats.org/drawingml/2006/main">
            <a:off x="8477250" y="5162550"/>
            <a:ext cx="2781300" cy="1066800"/>
          </a:xfrm>
          <a:prstGeom xmlns:a="http://schemas.openxmlformats.org/drawingml/2006/main" prst="roundRect">
            <a:avLst>
              <a:gd name="adj" fmla="val 10714"/>
            </a:avLst>
          </a:prstGeom>
          <a:solidFill xmlns:a="http://schemas.openxmlformats.org/drawingml/2006/main">
            <a:srgbClr val="E6FFFB"/>
          </a:solidFill>
          <a:ln xmlns:a="http://schemas.openxmlformats.org/drawingml/2006/main" w="0">
            <a:noFill/>
          </a:ln>
        </p:spPr>
      </p:sp>
      <p:sp>
        <p:nvSpPr>
          <p:cNvPr id="28" name="">
            <a:extLst xmlns:a="http://schemas.openxmlformats.org/drawingml/2006/main">
              <a:ext uri="{FF2B5EF4-FFF2-40B4-BE49-F238E27FC236}">
                <a16:creationId xmlns:a16="http://schemas.microsoft.com/office/drawing/2014/main" id="{A649DC7B-4E35-4336-A26D-8B777E77BCD1}"/>
              </a:ext>
            </a:extLst>
          </p:cNvPr>
          <p:cNvSpPr>
            <a:spLocks xmlns:a="http://schemas.openxmlformats.org/drawingml/2006/main" noGrp="1"/>
          </p:cNvSpPr>
          <p:nvPr/>
        </p:nvSpPr>
        <p:spPr>
          <a:xfrm xmlns:a="http://schemas.openxmlformats.org/drawingml/2006/main">
            <a:off x="8591550" y="5295900"/>
            <a:ext cx="25527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5784"/>
          </a:bodyPr>
          <a:lstStyle xmlns:a="http://schemas.openxmlformats.org/drawingml/2006/main"/>
          <a:p xmlns:a="http://schemas.openxmlformats.org/drawingml/2006/main">
            <a:pPr algn="ctr">
              <a:lnSpc>
                <a:spcPct val="104000"/>
              </a:lnSpc>
              <a:buNone/>
              <a:defRPr sz="2550" b="1">
                <a:solidFill>
                  <a:srgbClr val="0F9F9A"/>
                </a:solidFill>
                <a:latin typeface="Arial"/>
                <a:ea typeface="Arial"/>
                <a:cs typeface="Arial"/>
              </a:defRPr>
            </a:pPr>
            <a:r>
              <a:rPr sz="2550" b="1">
                <a:solidFill>
                  <a:srgbClr val="0F9F9A"/>
                </a:solidFill>
                <a:latin typeface="Arial"/>
                <a:ea typeface="Arial"/>
                <a:cs typeface="Arial"/>
              </a:rPr>
              <a:t>RMSLE</a:t>
            </a:r>
          </a:p>
        </p:txBody>
      </p:sp>
      <p:sp>
        <p:nvSpPr>
          <p:cNvPr id="29" name="">
            <a:extLst xmlns:a="http://schemas.openxmlformats.org/drawingml/2006/main">
              <a:ext uri="{FF2B5EF4-FFF2-40B4-BE49-F238E27FC236}">
                <a16:creationId xmlns:a16="http://schemas.microsoft.com/office/drawing/2014/main" id="{FEE829AA-FE8E-447E-9E64-2405BE10B0A2}"/>
              </a:ext>
            </a:extLst>
          </p:cNvPr>
          <p:cNvSpPr>
            <a:spLocks xmlns:a="http://schemas.openxmlformats.org/drawingml/2006/main" noGrp="1"/>
          </p:cNvSpPr>
          <p:nvPr/>
        </p:nvSpPr>
        <p:spPr>
          <a:xfrm xmlns:a="http://schemas.openxmlformats.org/drawingml/2006/main">
            <a:off x="8591550" y="5781675"/>
            <a:ext cx="25527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lnSpc>
                <a:spcPct val="104000"/>
              </a:lnSpc>
              <a:buNone/>
              <a:defRPr sz="1200" b="1">
                <a:solidFill>
                  <a:srgbClr val="64748B"/>
                </a:solidFill>
                <a:latin typeface="Arial"/>
                <a:ea typeface="Arial"/>
                <a:cs typeface="Arial"/>
              </a:defRPr>
            </a:pPr>
            <a:r>
              <a:rPr sz="1200" b="1">
                <a:solidFill>
                  <a:srgbClr val="64748B"/>
                </a:solidFill>
                <a:latin typeface="Arial"/>
                <a:ea typeface="Arial"/>
                <a:cs typeface="Arial"/>
              </a:rPr>
              <a:t>primary metric • lower is better</a:t>
            </a:r>
          </a:p>
        </p:txBody>
      </p:sp>
    </p:spTree>
    <p:extLst>
      <p:ext uri="{BB962C8B-B14F-4D97-AF65-F5344CB8AC3E}">
        <p14:creationId xmlns:p14="http://schemas.microsoft.com/office/powerpoint/2010/main" val="1229429784"/>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EB2BB647-F12E-423E-A9AC-F3FE348269D8}"/>
              </a:ext>
            </a:extLst>
          </p:cNvPr>
          <p:cNvSpPr>
            <a:spLocks xmlns:a="http://schemas.openxmlformats.org/drawingml/2006/main" noGrp="1"/>
          </p:cNvSpPr>
          <p:nvPr/>
        </p:nvSpPr>
        <p:spPr>
          <a:xfrm xmlns:a="http://schemas.openxmlformats.org/drawingml/2006/main">
            <a:off x="647700" y="285750"/>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2417"/>
          </a:bodyPr>
          <a:lstStyle xmlns:a="http://schemas.openxmlformats.org/drawingml/2006/main"/>
          <a:p xmlns:a="http://schemas.openxmlformats.org/drawingml/2006/main">
            <a:pPr algn="l">
              <a:lnSpc>
                <a:spcPct val="104000"/>
              </a:lnSpc>
              <a:buNone/>
              <a:defRPr sz="1050" b="1">
                <a:solidFill>
                  <a:srgbClr val="0F9F9A"/>
                </a:solidFill>
                <a:latin typeface="Arial"/>
                <a:ea typeface="Arial"/>
                <a:cs typeface="Arial"/>
              </a:defRPr>
            </a:pPr>
            <a:r>
              <a:rPr sz="1050" b="1">
                <a:solidFill>
                  <a:srgbClr val="0F9F9A"/>
                </a:solidFill>
                <a:latin typeface="Arial"/>
                <a:ea typeface="Arial"/>
                <a:cs typeface="Arial"/>
              </a:rPr>
              <a:t>RESULTS</a:t>
            </a:r>
          </a:p>
        </p:txBody>
      </p:sp>
      <p:sp>
        <p:nvSpPr>
          <p:cNvPr id="2" name="">
            <a:extLst xmlns:a="http://schemas.openxmlformats.org/drawingml/2006/main">
              <a:ext uri="{FF2B5EF4-FFF2-40B4-BE49-F238E27FC236}">
                <a16:creationId xmlns:a16="http://schemas.microsoft.com/office/drawing/2014/main" id="{18B43848-0EFB-4099-80D2-1A1C44EBF252}"/>
              </a:ext>
            </a:extLst>
          </p:cNvPr>
          <p:cNvSpPr>
            <a:spLocks xmlns:a="http://schemas.openxmlformats.org/drawingml/2006/main" noGrp="1"/>
          </p:cNvSpPr>
          <p:nvPr/>
        </p:nvSpPr>
        <p:spPr>
          <a:xfrm xmlns:a="http://schemas.openxmlformats.org/drawingml/2006/main">
            <a:off x="647700" y="571500"/>
            <a:ext cx="10477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lnSpc>
                <a:spcPct val="104000"/>
              </a:lnSpc>
              <a:buNone/>
              <a:defRPr sz="2850" b="1">
                <a:solidFill>
                  <a:srgbClr val="172554"/>
                </a:solidFill>
                <a:latin typeface="Arial"/>
                <a:ea typeface="Arial"/>
                <a:cs typeface="Arial"/>
              </a:defRPr>
            </a:pPr>
            <a:r>
              <a:rPr sz="2850" b="1">
                <a:solidFill>
                  <a:srgbClr val="172554"/>
                </a:solidFill>
                <a:latin typeface="Arial"/>
                <a:ea typeface="Arial"/>
                <a:cs typeface="Arial"/>
              </a:rPr>
              <a:t>FusionVI advantage survives matched controls</a:t>
            </a:r>
          </a:p>
        </p:txBody>
      </p:sp>
      <p:sp>
        <p:nvSpPr>
          <p:cNvPr id="3" name="">
            <a:extLst xmlns:a="http://schemas.openxmlformats.org/drawingml/2006/main">
              <a:ext uri="{FF2B5EF4-FFF2-40B4-BE49-F238E27FC236}">
                <a16:creationId xmlns:a16="http://schemas.microsoft.com/office/drawing/2014/main" id="{CDD24C77-798A-4EB5-BE14-905ABA1BE9D6}"/>
              </a:ext>
            </a:extLst>
          </p:cNvPr>
          <p:cNvSpPr>
            <a:spLocks xmlns:a="http://schemas.openxmlformats.org/drawingml/2006/main" noGrp="1"/>
          </p:cNvSpPr>
          <p:nvPr/>
        </p:nvSpPr>
        <p:spPr>
          <a:xfrm xmlns:a="http://schemas.openxmlformats.org/drawingml/2006/main">
            <a:off x="647700" y="1219200"/>
            <a:ext cx="876300" cy="47625"/>
          </a:xfrm>
          <a:prstGeom xmlns:a="http://schemas.openxmlformats.org/drawingml/2006/main" prst="rect">
            <a:avLst/>
          </a:prstGeom>
          <a:solidFill xmlns:a="http://schemas.openxmlformats.org/drawingml/2006/main">
            <a:srgbClr val="F97316"/>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43637E17-4CA3-44BA-A91F-2117BE265B97}"/>
              </a:ext>
            </a:extLst>
          </p:cNvPr>
          <p:cNvSpPr>
            <a:spLocks xmlns:a="http://schemas.openxmlformats.org/drawingml/2006/main" noGrp="1"/>
          </p:cNvSpPr>
          <p:nvPr/>
        </p:nvSpPr>
        <p:spPr>
          <a:xfrm xmlns:a="http://schemas.openxmlformats.org/drawingml/2006/main">
            <a:off x="11239500" y="323850"/>
            <a:ext cx="4191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2417"/>
          </a:bodyPr>
          <a:lstStyle xmlns:a="http://schemas.openxmlformats.org/drawingml/2006/main"/>
          <a:p xmlns:a="http://schemas.openxmlformats.org/drawingml/2006/main">
            <a:pPr algn="r">
              <a:lnSpc>
                <a:spcPct val="104000"/>
              </a:lnSpc>
              <a:buNone/>
              <a:defRPr sz="1050" b="1">
                <a:solidFill>
                  <a:srgbClr val="64748B"/>
                </a:solidFill>
                <a:latin typeface="Arial"/>
                <a:ea typeface="Arial"/>
                <a:cs typeface="Arial"/>
              </a:defRPr>
            </a:pPr>
            <a:r>
              <a:rPr sz="1050" b="1">
                <a:solidFill>
                  <a:srgbClr val="64748B"/>
                </a:solidFill>
                <a:latin typeface="Arial"/>
                <a:ea typeface="Arial"/>
                <a:cs typeface="Arial"/>
              </a:rPr>
              <a:t>06</a:t>
            </a:r>
          </a:p>
        </p:txBody>
      </p:sp>
      <p:pic>
        <p:nvPicPr>
          <p:cNvPr id="20" name=""/>
          <p:cNvPicPr>
            <a:picLocks xmlns:a="http://schemas.openxmlformats.org/drawingml/2006/main" noChangeAspect="1"/>
          </p:cNvPicPr>
          <p:nvPr/>
        </p:nvPicPr>
        <p:blipFill>
          <a:blip xmlns:r="http://schemas.openxmlformats.org/officeDocument/2006/relationships" xmlns:a="http://schemas.openxmlformats.org/drawingml/2006/main" r:embed="R90a5dc8921804d6b"/>
          <a:stretch xmlns:a="http://schemas.openxmlformats.org/drawingml/2006/main"/>
        </p:blipFill>
        <p:spPr>
          <a:xfrm xmlns:a="http://schemas.openxmlformats.org/drawingml/2006/main">
            <a:off x="400050" y="2153902"/>
            <a:ext cx="8382000" cy="3235996"/>
          </a:xfrm>
          <a:prstGeom xmlns:a="http://schemas.openxmlformats.org/drawingml/2006/main" prst="rect">
            <a:avLst/>
          </a:prstGeom>
        </p:spPr>
      </p:pic>
      <p:sp>
        <p:nvSpPr>
          <p:cNvPr id="6" name="">
            <a:extLst xmlns:a="http://schemas.openxmlformats.org/drawingml/2006/main">
              <a:ext uri="{FF2B5EF4-FFF2-40B4-BE49-F238E27FC236}">
                <a16:creationId xmlns:a16="http://schemas.microsoft.com/office/drawing/2014/main" id="{EF27C360-D9C1-450E-B070-81764F6EA2FF}"/>
              </a:ext>
            </a:extLst>
          </p:cNvPr>
          <p:cNvSpPr>
            <a:spLocks xmlns:a="http://schemas.openxmlformats.org/drawingml/2006/main" noGrp="1"/>
          </p:cNvSpPr>
          <p:nvPr/>
        </p:nvSpPr>
        <p:spPr>
          <a:xfrm xmlns:a="http://schemas.openxmlformats.org/drawingml/2006/main">
            <a:off x="8896350" y="1581150"/>
            <a:ext cx="2705100" cy="1562100"/>
          </a:xfrm>
          <a:prstGeom xmlns:a="http://schemas.openxmlformats.org/drawingml/2006/main" prst="roundRect">
            <a:avLst>
              <a:gd name="adj" fmla="val 7317"/>
            </a:avLst>
          </a:prstGeom>
          <a:solidFill xmlns:a="http://schemas.openxmlformats.org/drawingml/2006/main">
            <a:srgbClr val="FFF7ED"/>
          </a:solidFill>
          <a:ln xmlns:a="http://schemas.openxmlformats.org/drawingml/2006/main" w="9525">
            <a:solidFill>
              <a:srgbClr val="FDBA74"/>
            </a:solidFill>
          </a:ln>
        </p:spPr>
      </p:sp>
      <p:sp>
        <p:nvSpPr>
          <p:cNvPr id="7" name="">
            <a:extLst xmlns:a="http://schemas.openxmlformats.org/drawingml/2006/main">
              <a:ext uri="{FF2B5EF4-FFF2-40B4-BE49-F238E27FC236}">
                <a16:creationId xmlns:a16="http://schemas.microsoft.com/office/drawing/2014/main" id="{09147184-E5A2-4DA5-9954-A6AE8A049169}"/>
              </a:ext>
            </a:extLst>
          </p:cNvPr>
          <p:cNvSpPr>
            <a:spLocks xmlns:a="http://schemas.openxmlformats.org/drawingml/2006/main" noGrp="1"/>
          </p:cNvSpPr>
          <p:nvPr/>
        </p:nvSpPr>
        <p:spPr>
          <a:xfrm xmlns:a="http://schemas.openxmlformats.org/drawingml/2006/main">
            <a:off x="9086850" y="1752600"/>
            <a:ext cx="23241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7841"/>
          </a:bodyPr>
          <a:lstStyle xmlns:a="http://schemas.openxmlformats.org/drawingml/2006/main"/>
          <a:p xmlns:a="http://schemas.openxmlformats.org/drawingml/2006/main">
            <a:pPr algn="ctr">
              <a:lnSpc>
                <a:spcPct val="104000"/>
              </a:lnSpc>
              <a:buNone/>
              <a:defRPr sz="2850" b="1">
                <a:solidFill>
                  <a:srgbClr val="F97316"/>
                </a:solidFill>
                <a:latin typeface="Arial"/>
                <a:ea typeface="Arial"/>
                <a:cs typeface="Arial"/>
              </a:defRPr>
            </a:pPr>
            <a:r>
              <a:rPr sz="2850" b="1">
                <a:solidFill>
                  <a:srgbClr val="F97316"/>
                </a:solidFill>
                <a:latin typeface="Arial"/>
                <a:ea typeface="Arial"/>
                <a:cs typeface="Arial"/>
              </a:rPr>
              <a:t>−0.0062</a:t>
            </a:r>
          </a:p>
        </p:txBody>
      </p:sp>
      <p:sp>
        <p:nvSpPr>
          <p:cNvPr id="8" name="">
            <a:extLst xmlns:a="http://schemas.openxmlformats.org/drawingml/2006/main">
              <a:ext uri="{FF2B5EF4-FFF2-40B4-BE49-F238E27FC236}">
                <a16:creationId xmlns:a16="http://schemas.microsoft.com/office/drawing/2014/main" id="{3962E079-F5EA-4FC2-B059-EFD2146CE356}"/>
              </a:ext>
            </a:extLst>
          </p:cNvPr>
          <p:cNvSpPr>
            <a:spLocks xmlns:a="http://schemas.openxmlformats.org/drawingml/2006/main" noGrp="1"/>
          </p:cNvSpPr>
          <p:nvPr/>
        </p:nvSpPr>
        <p:spPr>
          <a:xfrm xmlns:a="http://schemas.openxmlformats.org/drawingml/2006/main">
            <a:off x="9086850" y="2343150"/>
            <a:ext cx="2324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6154"/>
          </a:bodyPr>
          <a:lstStyle xmlns:a="http://schemas.openxmlformats.org/drawingml/2006/main"/>
          <a:p xmlns:a="http://schemas.openxmlformats.org/drawingml/2006/main">
            <a:pPr algn="ctr">
              <a:lnSpc>
                <a:spcPct val="104000"/>
              </a:lnSpc>
              <a:buNone/>
              <a:defRPr sz="1275" b="1">
                <a:solidFill>
                  <a:srgbClr val="64748B"/>
                </a:solidFill>
                <a:latin typeface="Arial"/>
                <a:ea typeface="Arial"/>
                <a:cs typeface="Arial"/>
              </a:defRPr>
            </a:pPr>
            <a:r>
              <a:rPr sz="1275" b="1">
                <a:solidFill>
                  <a:srgbClr val="64748B"/>
                </a:solidFill>
                <a:latin typeface="Arial"/>
                <a:ea typeface="Arial"/>
                <a:cs typeface="Arial"/>
              </a:rPr>
              <a:t>FusionVI − totalVI RMSLE</a:t>
            </a:r>
          </a:p>
        </p:txBody>
      </p:sp>
      <p:sp>
        <p:nvSpPr>
          <p:cNvPr id="9" name="">
            <a:extLst xmlns:a="http://schemas.openxmlformats.org/drawingml/2006/main">
              <a:ext uri="{FF2B5EF4-FFF2-40B4-BE49-F238E27FC236}">
                <a16:creationId xmlns:a16="http://schemas.microsoft.com/office/drawing/2014/main" id="{A9891CE3-D8DF-42EF-8F32-A439DA51ECCD}"/>
              </a:ext>
            </a:extLst>
          </p:cNvPr>
          <p:cNvSpPr>
            <a:spLocks xmlns:a="http://schemas.openxmlformats.org/drawingml/2006/main" noGrp="1"/>
          </p:cNvSpPr>
          <p:nvPr/>
        </p:nvSpPr>
        <p:spPr>
          <a:xfrm xmlns:a="http://schemas.openxmlformats.org/drawingml/2006/main">
            <a:off x="9086850" y="2743200"/>
            <a:ext cx="2324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3718"/>
          </a:bodyPr>
          <a:lstStyle xmlns:a="http://schemas.openxmlformats.org/drawingml/2006/main"/>
          <a:p xmlns:a="http://schemas.openxmlformats.org/drawingml/2006/main">
            <a:pPr algn="ctr">
              <a:lnSpc>
                <a:spcPct val="104000"/>
              </a:lnSpc>
              <a:buNone/>
              <a:defRPr sz="1500" b="1">
                <a:solidFill>
                  <a:srgbClr val="172554"/>
                </a:solidFill>
                <a:latin typeface="Arial"/>
                <a:ea typeface="Arial"/>
                <a:cs typeface="Arial"/>
              </a:defRPr>
            </a:pPr>
            <a:r>
              <a:rPr sz="1500" b="1">
                <a:solidFill>
                  <a:srgbClr val="172554"/>
                </a:solidFill>
                <a:latin typeface="Arial"/>
                <a:ea typeface="Arial"/>
                <a:cs typeface="Arial"/>
              </a:rPr>
              <a:t>1.0601  |  1.0539</a:t>
            </a:r>
          </a:p>
        </p:txBody>
      </p:sp>
      <p:sp>
        <p:nvSpPr>
          <p:cNvPr id="10" name="">
            <a:extLst xmlns:a="http://schemas.openxmlformats.org/drawingml/2006/main">
              <a:ext uri="{FF2B5EF4-FFF2-40B4-BE49-F238E27FC236}">
                <a16:creationId xmlns:a16="http://schemas.microsoft.com/office/drawing/2014/main" id="{F93A9BB5-67E1-4FDE-BC03-81840979CD6F}"/>
              </a:ext>
            </a:extLst>
          </p:cNvPr>
          <p:cNvSpPr>
            <a:spLocks xmlns:a="http://schemas.openxmlformats.org/drawingml/2006/main" noGrp="1"/>
          </p:cNvSpPr>
          <p:nvPr/>
        </p:nvSpPr>
        <p:spPr>
          <a:xfrm xmlns:a="http://schemas.openxmlformats.org/drawingml/2006/main">
            <a:off x="8896350" y="3371850"/>
            <a:ext cx="2705100" cy="2343150"/>
          </a:xfrm>
          <a:prstGeom xmlns:a="http://schemas.openxmlformats.org/drawingml/2006/main" prst="roundRect">
            <a:avLst>
              <a:gd name="adj" fmla="val 4878"/>
            </a:avLst>
          </a:prstGeom>
          <a:solidFill xmlns:a="http://schemas.openxmlformats.org/drawingml/2006/main">
            <a:srgbClr val="F8FAFC"/>
          </a:solidFill>
          <a:ln xmlns:a="http://schemas.openxmlformats.org/drawingml/2006/main" w="9525">
            <a:solidFill>
              <a:srgbClr val="CBD5E1"/>
            </a:solidFill>
          </a:ln>
        </p:spPr>
      </p:sp>
      <p:sp>
        <p:nvSpPr>
          <p:cNvPr id="11" name="">
            <a:extLst xmlns:a="http://schemas.openxmlformats.org/drawingml/2006/main">
              <a:ext uri="{FF2B5EF4-FFF2-40B4-BE49-F238E27FC236}">
                <a16:creationId xmlns:a16="http://schemas.microsoft.com/office/drawing/2014/main" id="{0A646E25-AB48-467E-93AA-98DA35C14B7D}"/>
              </a:ext>
            </a:extLst>
          </p:cNvPr>
          <p:cNvSpPr>
            <a:spLocks xmlns:a="http://schemas.openxmlformats.org/drawingml/2006/main" noGrp="1"/>
          </p:cNvSpPr>
          <p:nvPr/>
        </p:nvSpPr>
        <p:spPr>
          <a:xfrm xmlns:a="http://schemas.openxmlformats.org/drawingml/2006/main">
            <a:off x="9086850" y="3562350"/>
            <a:ext cx="2324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6032"/>
          </a:bodyPr>
          <a:lstStyle xmlns:a="http://schemas.openxmlformats.org/drawingml/2006/main"/>
          <a:p xmlns:a="http://schemas.openxmlformats.org/drawingml/2006/main">
            <a:pPr algn="ctr">
              <a:lnSpc>
                <a:spcPct val="104000"/>
              </a:lnSpc>
              <a:buNone/>
              <a:defRPr sz="1425" b="1">
                <a:solidFill>
                  <a:srgbClr val="4F46E5"/>
                </a:solidFill>
                <a:latin typeface="Arial"/>
                <a:ea typeface="Arial"/>
                <a:cs typeface="Arial"/>
              </a:defRPr>
            </a:pPr>
            <a:r>
              <a:rPr sz="1425" b="1">
                <a:solidFill>
                  <a:srgbClr val="4F46E5"/>
                </a:solidFill>
                <a:latin typeface="Arial"/>
                <a:ea typeface="Arial"/>
                <a:cs typeface="Arial"/>
              </a:rPr>
              <a:t>Matched joint encoders</a:t>
            </a:r>
          </a:p>
        </p:txBody>
      </p:sp>
      <p:sp>
        <p:nvSpPr>
          <p:cNvPr id="12" name="">
            <a:extLst xmlns:a="http://schemas.openxmlformats.org/drawingml/2006/main">
              <a:ext uri="{FF2B5EF4-FFF2-40B4-BE49-F238E27FC236}">
                <a16:creationId xmlns:a16="http://schemas.microsoft.com/office/drawing/2014/main" id="{017159E8-E07A-42E6-8D2E-AEE4CE41B15B}"/>
              </a:ext>
            </a:extLst>
          </p:cNvPr>
          <p:cNvSpPr>
            <a:spLocks xmlns:a="http://schemas.openxmlformats.org/drawingml/2006/main" noGrp="1"/>
          </p:cNvSpPr>
          <p:nvPr/>
        </p:nvSpPr>
        <p:spPr>
          <a:xfrm xmlns:a="http://schemas.openxmlformats.org/drawingml/2006/main">
            <a:off x="9353550" y="4057650"/>
            <a:ext cx="180975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76877"/>
          </a:bodyPr>
          <a:lstStyle xmlns:a="http://schemas.openxmlformats.org/drawingml/2006/main"/>
          <a:p xmlns:a="http://schemas.openxmlformats.org/drawingml/2006/main">
            <a:pPr algn="l">
              <a:lnSpc>
                <a:spcPct val="104000"/>
              </a:lnSpc>
              <a:buNone/>
              <a:defRPr sz="1725" b="1">
                <a:solidFill>
                  <a:srgbClr val="172554"/>
                </a:solidFill>
                <a:latin typeface="Arial"/>
                <a:ea typeface="Arial"/>
                <a:cs typeface="Arial"/>
              </a:defRPr>
            </a:pPr>
            <a:r>
              <a:rPr sz="1725" b="1">
                <a:solidFill>
                  <a:srgbClr val="172554"/>
                </a:solidFill>
                <a:latin typeface="Arial"/>
                <a:ea typeface="Arial"/>
                <a:cs typeface="Arial"/>
              </a:rPr>
              <a:t>Same width   -0.0106</a:t>
            </a:r>
          </a:p>
          <a:p xmlns:a="http://schemas.openxmlformats.org/drawingml/2006/main">
            <a:pPr algn="l">
              <a:lnSpc>
                <a:spcPct val="104000"/>
              </a:lnSpc>
              <a:buNone/>
              <a:defRPr sz="1725" b="1">
                <a:solidFill>
                  <a:srgbClr val="172554"/>
                </a:solidFill>
                <a:latin typeface="Arial"/>
                <a:ea typeface="Arial"/>
                <a:cs typeface="Arial"/>
              </a:defRPr>
            </a:pPr>
            <a:r>
              <a:rPr sz="1725" b="1">
                <a:solidFill>
                  <a:srgbClr val="172554"/>
                </a:solidFill>
                <a:latin typeface="Arial"/>
                <a:ea typeface="Arial"/>
                <a:cs typeface="Arial"/>
              </a:rPr>
              <a:t>Same parameters   -0.0189</a:t>
            </a:r>
          </a:p>
          <a:p xmlns:a="http://schemas.openxmlformats.org/drawingml/2006/main">
            <a:pPr algn="l">
              <a:lnSpc>
                <a:spcPct val="104000"/>
              </a:lnSpc>
              <a:buNone/>
              <a:defRPr sz="1725" b="1">
                <a:solidFill>
                  <a:srgbClr val="172554"/>
                </a:solidFill>
                <a:latin typeface="Arial"/>
                <a:ea typeface="Arial"/>
                <a:cs typeface="Arial"/>
              </a:defRPr>
            </a:pPr>
            <a:r>
              <a:rPr sz="1725" b="1">
                <a:solidFill>
                  <a:srgbClr val="172554"/>
                </a:solidFill>
                <a:latin typeface="Arial"/>
                <a:ea typeface="Arial"/>
                <a:cs typeface="Arial"/>
              </a:rPr>
              <a:t>+ availability   -0.0112</a:t>
            </a:r>
          </a:p>
        </p:txBody>
      </p:sp>
      <p:sp>
        <p:nvSpPr>
          <p:cNvPr id="13" name="">
            <a:extLst xmlns:a="http://schemas.openxmlformats.org/drawingml/2006/main">
              <a:ext uri="{FF2B5EF4-FFF2-40B4-BE49-F238E27FC236}">
                <a16:creationId xmlns:a16="http://schemas.microsoft.com/office/drawing/2014/main" id="{CEF54F0A-1CDB-4752-9C96-C3FA08153696}"/>
              </a:ext>
            </a:extLst>
          </p:cNvPr>
          <p:cNvSpPr>
            <a:spLocks xmlns:a="http://schemas.openxmlformats.org/drawingml/2006/main" noGrp="1"/>
          </p:cNvSpPr>
          <p:nvPr/>
        </p:nvSpPr>
        <p:spPr>
          <a:xfrm xmlns:a="http://schemas.openxmlformats.org/drawingml/2006/main">
            <a:off x="9010650" y="5886450"/>
            <a:ext cx="2476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68409"/>
          </a:bodyPr>
          <a:lstStyle xmlns:a="http://schemas.openxmlformats.org/drawingml/2006/main"/>
          <a:p xmlns:a="http://schemas.openxmlformats.org/drawingml/2006/main">
            <a:pPr algn="ctr">
              <a:lnSpc>
                <a:spcPct val="104000"/>
              </a:lnSpc>
              <a:buNone/>
              <a:defRPr sz="1200" b="1">
                <a:solidFill>
                  <a:srgbClr val="16A34A"/>
                </a:solidFill>
                <a:latin typeface="Arial"/>
                <a:ea typeface="Arial"/>
                <a:cs typeface="Arial"/>
              </a:defRPr>
            </a:pPr>
            <a:r>
              <a:rPr sz="1200" b="1">
                <a:solidFill>
                  <a:srgbClr val="16A34A"/>
                </a:solidFill>
                <a:latin typeface="Arial"/>
                <a:ea typeface="Arial"/>
                <a:cs typeface="Arial"/>
              </a:rPr>
              <a:t>16 paired seeds  •  matched controls complete</a:t>
            </a:r>
          </a:p>
        </p:txBody>
      </p:sp>
    </p:spTree>
    <p:extLst>
      <p:ext uri="{BB962C8B-B14F-4D97-AF65-F5344CB8AC3E}">
        <p14:creationId xmlns:p14="http://schemas.microsoft.com/office/powerpoint/2010/main" val="1755346213"/>
      </p:ext>
    </p:extLst>
  </p:cSld>
</p:sld>
</file>

<file path=ppt/slides/slide7.xml><?xml version="1.0" encoding="utf-8"?>
<p:sld xmlns:p="http://schemas.openxmlformats.org/presentationml/2006/main">
  <p:cSld>
    <p:bg>
      <p:bgPr>
        <a:solidFill xmlns:a="http://schemas.openxmlformats.org/drawingml/2006/main">
          <a:srgbClr val="F8FAFC"/>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7B5A002B-3B7A-4D2E-9A6A-A3C39C5B0BC7}"/>
              </a:ext>
            </a:extLst>
          </p:cNvPr>
          <p:cNvSpPr>
            <a:spLocks xmlns:a="http://schemas.openxmlformats.org/drawingml/2006/main" noGrp="1"/>
          </p:cNvSpPr>
          <p:nvPr/>
        </p:nvSpPr>
        <p:spPr>
          <a:xfrm xmlns:a="http://schemas.openxmlformats.org/drawingml/2006/main">
            <a:off x="647700" y="285750"/>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2417"/>
          </a:bodyPr>
          <a:lstStyle xmlns:a="http://schemas.openxmlformats.org/drawingml/2006/main"/>
          <a:p xmlns:a="http://schemas.openxmlformats.org/drawingml/2006/main">
            <a:pPr algn="l">
              <a:lnSpc>
                <a:spcPct val="104000"/>
              </a:lnSpc>
              <a:buNone/>
              <a:defRPr sz="1050" b="1">
                <a:solidFill>
                  <a:srgbClr val="0F9F9A"/>
                </a:solidFill>
                <a:latin typeface="Arial"/>
                <a:ea typeface="Arial"/>
                <a:cs typeface="Arial"/>
              </a:defRPr>
            </a:pPr>
            <a:r>
              <a:rPr sz="1050" b="1">
                <a:solidFill>
                  <a:srgbClr val="0F9F9A"/>
                </a:solidFill>
                <a:latin typeface="Arial"/>
                <a:ea typeface="Arial"/>
                <a:cs typeface="Arial"/>
              </a:rPr>
              <a:t>INTERPRETATION</a:t>
            </a:r>
          </a:p>
        </p:txBody>
      </p:sp>
      <p:sp>
        <p:nvSpPr>
          <p:cNvPr id="2" name="">
            <a:extLst xmlns:a="http://schemas.openxmlformats.org/drawingml/2006/main">
              <a:ext uri="{FF2B5EF4-FFF2-40B4-BE49-F238E27FC236}">
                <a16:creationId xmlns:a16="http://schemas.microsoft.com/office/drawing/2014/main" id="{64315C03-185F-4E8F-878A-9099C7C582D1}"/>
              </a:ext>
            </a:extLst>
          </p:cNvPr>
          <p:cNvSpPr>
            <a:spLocks xmlns:a="http://schemas.openxmlformats.org/drawingml/2006/main" noGrp="1"/>
          </p:cNvSpPr>
          <p:nvPr/>
        </p:nvSpPr>
        <p:spPr>
          <a:xfrm xmlns:a="http://schemas.openxmlformats.org/drawingml/2006/main">
            <a:off x="647700" y="571500"/>
            <a:ext cx="10477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lnSpc>
                <a:spcPct val="104000"/>
              </a:lnSpc>
              <a:buNone/>
              <a:defRPr sz="2850" b="1">
                <a:solidFill>
                  <a:srgbClr val="172554"/>
                </a:solidFill>
                <a:latin typeface="Arial"/>
                <a:ea typeface="Arial"/>
                <a:cs typeface="Arial"/>
              </a:defRPr>
            </a:pPr>
            <a:r>
              <a:rPr sz="2850" b="1">
                <a:solidFill>
                  <a:srgbClr val="172554"/>
                </a:solidFill>
                <a:latin typeface="Arial"/>
                <a:ea typeface="Arial"/>
                <a:cs typeface="Arial"/>
              </a:rPr>
              <a:t>Matched controls support a small encoder advantage</a:t>
            </a:r>
          </a:p>
        </p:txBody>
      </p:sp>
      <p:sp>
        <p:nvSpPr>
          <p:cNvPr id="3" name="">
            <a:extLst xmlns:a="http://schemas.openxmlformats.org/drawingml/2006/main">
              <a:ext uri="{FF2B5EF4-FFF2-40B4-BE49-F238E27FC236}">
                <a16:creationId xmlns:a16="http://schemas.microsoft.com/office/drawing/2014/main" id="{77B6EF63-6751-4DC3-86BE-41AB3CC453D3}"/>
              </a:ext>
            </a:extLst>
          </p:cNvPr>
          <p:cNvSpPr>
            <a:spLocks xmlns:a="http://schemas.openxmlformats.org/drawingml/2006/main" noGrp="1"/>
          </p:cNvSpPr>
          <p:nvPr/>
        </p:nvSpPr>
        <p:spPr>
          <a:xfrm xmlns:a="http://schemas.openxmlformats.org/drawingml/2006/main">
            <a:off x="647700" y="1219200"/>
            <a:ext cx="876300" cy="47625"/>
          </a:xfrm>
          <a:prstGeom xmlns:a="http://schemas.openxmlformats.org/drawingml/2006/main" prst="rect">
            <a:avLst/>
          </a:prstGeom>
          <a:solidFill xmlns:a="http://schemas.openxmlformats.org/drawingml/2006/main">
            <a:srgbClr val="F97316"/>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D44AB404-C493-4F55-8439-1AA137E9FD23}"/>
              </a:ext>
            </a:extLst>
          </p:cNvPr>
          <p:cNvSpPr>
            <a:spLocks xmlns:a="http://schemas.openxmlformats.org/drawingml/2006/main" noGrp="1"/>
          </p:cNvSpPr>
          <p:nvPr/>
        </p:nvSpPr>
        <p:spPr>
          <a:xfrm xmlns:a="http://schemas.openxmlformats.org/drawingml/2006/main">
            <a:off x="11239500" y="323850"/>
            <a:ext cx="4191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2417"/>
          </a:bodyPr>
          <a:lstStyle xmlns:a="http://schemas.openxmlformats.org/drawingml/2006/main"/>
          <a:p xmlns:a="http://schemas.openxmlformats.org/drawingml/2006/main">
            <a:pPr algn="r">
              <a:lnSpc>
                <a:spcPct val="104000"/>
              </a:lnSpc>
              <a:buNone/>
              <a:defRPr sz="1050" b="1">
                <a:solidFill>
                  <a:srgbClr val="64748B"/>
                </a:solidFill>
                <a:latin typeface="Arial"/>
                <a:ea typeface="Arial"/>
                <a:cs typeface="Arial"/>
              </a:defRPr>
            </a:pPr>
            <a:r>
              <a:rPr sz="1050" b="1">
                <a:solidFill>
                  <a:srgbClr val="64748B"/>
                </a:solidFill>
                <a:latin typeface="Arial"/>
                <a:ea typeface="Arial"/>
                <a:cs typeface="Arial"/>
              </a:rPr>
              <a:t>07</a:t>
            </a:r>
          </a:p>
        </p:txBody>
      </p:sp>
      <p:sp>
        <p:nvSpPr>
          <p:cNvPr id="5" name="">
            <a:extLst xmlns:a="http://schemas.openxmlformats.org/drawingml/2006/main">
              <a:ext uri="{FF2B5EF4-FFF2-40B4-BE49-F238E27FC236}">
                <a16:creationId xmlns:a16="http://schemas.microsoft.com/office/drawing/2014/main" id="{3D63C4C2-6A54-4E75-AEBD-E81B38E052E5}"/>
              </a:ext>
            </a:extLst>
          </p:cNvPr>
          <p:cNvSpPr>
            <a:spLocks xmlns:a="http://schemas.openxmlformats.org/drawingml/2006/main" noGrp="1"/>
          </p:cNvSpPr>
          <p:nvPr/>
        </p:nvSpPr>
        <p:spPr>
          <a:xfrm xmlns:a="http://schemas.openxmlformats.org/drawingml/2006/main">
            <a:off x="628650" y="1581150"/>
            <a:ext cx="5219700" cy="1905000"/>
          </a:xfrm>
          <a:prstGeom xmlns:a="http://schemas.openxmlformats.org/drawingml/2006/main" prst="roundRect">
            <a:avLst>
              <a:gd name="adj" fmla="val 6000"/>
            </a:avLst>
          </a:prstGeom>
          <a:solidFill xmlns:a="http://schemas.openxmlformats.org/drawingml/2006/main">
            <a:srgbClr val="FFFFFF"/>
          </a:solidFill>
          <a:ln xmlns:a="http://schemas.openxmlformats.org/drawingml/2006/main" w="9525">
            <a:solidFill>
              <a:srgbClr val="CBD5E1"/>
            </a:solidFill>
          </a:ln>
        </p:spPr>
      </p:sp>
      <p:sp>
        <p:nvSpPr>
          <p:cNvPr id="6" name="">
            <a:extLst xmlns:a="http://schemas.openxmlformats.org/drawingml/2006/main">
              <a:ext uri="{FF2B5EF4-FFF2-40B4-BE49-F238E27FC236}">
                <a16:creationId xmlns:a16="http://schemas.microsoft.com/office/drawing/2014/main" id="{8F8717AD-E57D-4192-AC3E-EE82CADAC698}"/>
              </a:ext>
            </a:extLst>
          </p:cNvPr>
          <p:cNvSpPr>
            <a:spLocks xmlns:a="http://schemas.openxmlformats.org/drawingml/2006/main" noGrp="1"/>
          </p:cNvSpPr>
          <p:nvPr/>
        </p:nvSpPr>
        <p:spPr>
          <a:xfrm xmlns:a="http://schemas.openxmlformats.org/drawingml/2006/main">
            <a:off x="857250" y="1790700"/>
            <a:ext cx="4762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69826"/>
          </a:bodyPr>
          <a:lstStyle xmlns:a="http://schemas.openxmlformats.org/drawingml/2006/main"/>
          <a:p xmlns:a="http://schemas.openxmlformats.org/drawingml/2006/main">
            <a:pPr algn="l">
              <a:lnSpc>
                <a:spcPct val="104000"/>
              </a:lnSpc>
              <a:buNone/>
              <a:defRPr sz="2100" b="1">
                <a:solidFill>
                  <a:srgbClr val="F97316"/>
                </a:solidFill>
                <a:latin typeface="Arial"/>
                <a:ea typeface="Arial"/>
                <a:cs typeface="Arial"/>
              </a:defRPr>
            </a:pPr>
            <a:r>
              <a:rPr sz="2100" b="1">
                <a:solidFill>
                  <a:srgbClr val="F97316"/>
                </a:solidFill>
                <a:latin typeface="Arial"/>
                <a:ea typeface="Arial"/>
                <a:cs typeface="Arial"/>
              </a:rPr>
              <a:t>Primary paper benchmark</a:t>
            </a:r>
          </a:p>
        </p:txBody>
      </p:sp>
      <p:sp>
        <p:nvSpPr>
          <p:cNvPr id="7" name="">
            <a:extLst xmlns:a="http://schemas.openxmlformats.org/drawingml/2006/main">
              <a:ext uri="{FF2B5EF4-FFF2-40B4-BE49-F238E27FC236}">
                <a16:creationId xmlns:a16="http://schemas.microsoft.com/office/drawing/2014/main" id="{D8A0A679-4629-4175-AE64-C3454718A692}"/>
              </a:ext>
            </a:extLst>
          </p:cNvPr>
          <p:cNvSpPr>
            <a:spLocks xmlns:a="http://schemas.openxmlformats.org/drawingml/2006/main" noGrp="1"/>
          </p:cNvSpPr>
          <p:nvPr/>
        </p:nvSpPr>
        <p:spPr>
          <a:xfrm xmlns:a="http://schemas.openxmlformats.org/drawingml/2006/main">
            <a:off x="857250" y="2286000"/>
            <a:ext cx="47625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5464"/>
          </a:bodyPr>
          <a:lstStyle xmlns:a="http://schemas.openxmlformats.org/drawingml/2006/main"/>
          <a:p xmlns:a="http://schemas.openxmlformats.org/drawingml/2006/main">
            <a:pPr algn="l">
              <a:lnSpc>
                <a:spcPct val="104000"/>
              </a:lnSpc>
              <a:buNone/>
              <a:defRPr sz="1575" b="0">
                <a:solidFill>
                  <a:srgbClr val="172554"/>
                </a:solidFill>
                <a:latin typeface="Arial"/>
                <a:ea typeface="Arial"/>
                <a:cs typeface="Arial"/>
              </a:defRPr>
            </a:pPr>
            <a:r>
              <a:rPr sz="1575" b="0">
                <a:solidFill>
                  <a:srgbClr val="172554"/>
                </a:solidFill>
                <a:latin typeface="Arial"/>
                <a:ea typeface="Arial"/>
                <a:cs typeface="Arial"/>
              </a:rPr>
              <a:t>Across 16 paired seeds, FusionVI lowers mean RMSLE by 0.0062 versus the published totalVI configuration. The 95 percent CI is -0.0086 to -0.0038.</a:t>
            </a:r>
          </a:p>
        </p:txBody>
      </p:sp>
      <p:sp>
        <p:nvSpPr>
          <p:cNvPr id="8" name="">
            <a:extLst xmlns:a="http://schemas.openxmlformats.org/drawingml/2006/main">
              <a:ext uri="{FF2B5EF4-FFF2-40B4-BE49-F238E27FC236}">
                <a16:creationId xmlns:a16="http://schemas.microsoft.com/office/drawing/2014/main" id="{098A69E9-F9A2-4D0F-B565-866CF5A79587}"/>
              </a:ext>
            </a:extLst>
          </p:cNvPr>
          <p:cNvSpPr>
            <a:spLocks xmlns:a="http://schemas.openxmlformats.org/drawingml/2006/main" noGrp="1"/>
          </p:cNvSpPr>
          <p:nvPr/>
        </p:nvSpPr>
        <p:spPr>
          <a:xfrm xmlns:a="http://schemas.openxmlformats.org/drawingml/2006/main">
            <a:off x="6343650" y="1581150"/>
            <a:ext cx="5219700" cy="1905000"/>
          </a:xfrm>
          <a:prstGeom xmlns:a="http://schemas.openxmlformats.org/drawingml/2006/main" prst="roundRect">
            <a:avLst>
              <a:gd name="adj" fmla="val 6000"/>
            </a:avLst>
          </a:prstGeom>
          <a:solidFill xmlns:a="http://schemas.openxmlformats.org/drawingml/2006/main">
            <a:srgbClr val="FFFFFF"/>
          </a:solidFill>
          <a:ln xmlns:a="http://schemas.openxmlformats.org/drawingml/2006/main" w="9525">
            <a:solidFill>
              <a:srgbClr val="CBD5E1"/>
            </a:solidFill>
          </a:ln>
        </p:spPr>
      </p:sp>
      <p:sp>
        <p:nvSpPr>
          <p:cNvPr id="9" name="">
            <a:extLst xmlns:a="http://schemas.openxmlformats.org/drawingml/2006/main">
              <a:ext uri="{FF2B5EF4-FFF2-40B4-BE49-F238E27FC236}">
                <a16:creationId xmlns:a16="http://schemas.microsoft.com/office/drawing/2014/main" id="{14940686-358A-47A2-A742-25EB2BEC8500}"/>
              </a:ext>
            </a:extLst>
          </p:cNvPr>
          <p:cNvSpPr>
            <a:spLocks xmlns:a="http://schemas.openxmlformats.org/drawingml/2006/main" noGrp="1"/>
          </p:cNvSpPr>
          <p:nvPr/>
        </p:nvSpPr>
        <p:spPr>
          <a:xfrm xmlns:a="http://schemas.openxmlformats.org/drawingml/2006/main">
            <a:off x="6572250" y="1790700"/>
            <a:ext cx="4762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69826"/>
          </a:bodyPr>
          <a:lstStyle xmlns:a="http://schemas.openxmlformats.org/drawingml/2006/main"/>
          <a:p xmlns:a="http://schemas.openxmlformats.org/drawingml/2006/main">
            <a:pPr algn="l">
              <a:lnSpc>
                <a:spcPct val="104000"/>
              </a:lnSpc>
              <a:buNone/>
              <a:defRPr sz="2100" b="1">
                <a:solidFill>
                  <a:srgbClr val="0F9F9A"/>
                </a:solidFill>
                <a:latin typeface="Arial"/>
                <a:ea typeface="Arial"/>
                <a:cs typeface="Arial"/>
              </a:defRPr>
            </a:pPr>
            <a:r>
              <a:rPr sz="2100" b="1">
                <a:solidFill>
                  <a:srgbClr val="0F9F9A"/>
                </a:solidFill>
                <a:latin typeface="Arial"/>
                <a:ea typeface="Arial"/>
                <a:cs typeface="Arial"/>
              </a:rPr>
              <a:t>Parameter efficiency</a:t>
            </a:r>
          </a:p>
        </p:txBody>
      </p:sp>
      <p:sp>
        <p:nvSpPr>
          <p:cNvPr id="10" name="">
            <a:extLst xmlns:a="http://schemas.openxmlformats.org/drawingml/2006/main">
              <a:ext uri="{FF2B5EF4-FFF2-40B4-BE49-F238E27FC236}">
                <a16:creationId xmlns:a16="http://schemas.microsoft.com/office/drawing/2014/main" id="{F05700F7-AF18-4934-9C99-9A7D1ADCFE6B}"/>
              </a:ext>
            </a:extLst>
          </p:cNvPr>
          <p:cNvSpPr>
            <a:spLocks xmlns:a="http://schemas.openxmlformats.org/drawingml/2006/main" noGrp="1"/>
          </p:cNvSpPr>
          <p:nvPr/>
        </p:nvSpPr>
        <p:spPr>
          <a:xfrm xmlns:a="http://schemas.openxmlformats.org/drawingml/2006/main">
            <a:off x="6572250" y="2286000"/>
            <a:ext cx="47625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lnSpc>
                <a:spcPct val="104000"/>
              </a:lnSpc>
              <a:buNone/>
              <a:defRPr sz="1575" b="0">
                <a:solidFill>
                  <a:srgbClr val="172554"/>
                </a:solidFill>
                <a:latin typeface="Arial"/>
                <a:ea typeface="Arial"/>
                <a:cs typeface="Arial"/>
              </a:defRPr>
            </a:pPr>
            <a:r>
              <a:rPr sz="1575" b="0">
                <a:solidFill>
                  <a:srgbClr val="172554"/>
                </a:solidFill>
                <a:latin typeface="Arial"/>
                <a:ea typeface="Arial"/>
                <a:cs typeface="Arial"/>
              </a:rPr>
              <a:t>FusionVI lowers RMSLE by 0.0106 versus the same-width encoder and 0.0189 versus the parameter-matched encoder.</a:t>
            </a:r>
          </a:p>
        </p:txBody>
      </p:sp>
      <p:sp>
        <p:nvSpPr>
          <p:cNvPr id="11" name="">
            <a:extLst xmlns:a="http://schemas.openxmlformats.org/drawingml/2006/main">
              <a:ext uri="{FF2B5EF4-FFF2-40B4-BE49-F238E27FC236}">
                <a16:creationId xmlns:a16="http://schemas.microsoft.com/office/drawing/2014/main" id="{E7370A3D-6D8C-4D4E-B72C-50DA8E79D90F}"/>
              </a:ext>
            </a:extLst>
          </p:cNvPr>
          <p:cNvSpPr>
            <a:spLocks xmlns:a="http://schemas.openxmlformats.org/drawingml/2006/main" noGrp="1"/>
          </p:cNvSpPr>
          <p:nvPr/>
        </p:nvSpPr>
        <p:spPr>
          <a:xfrm xmlns:a="http://schemas.openxmlformats.org/drawingml/2006/main">
            <a:off x="685800" y="4000500"/>
            <a:ext cx="3524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7839"/>
          </a:bodyPr>
          <a:lstStyle xmlns:a="http://schemas.openxmlformats.org/drawingml/2006/main"/>
          <a:p xmlns:a="http://schemas.openxmlformats.org/drawingml/2006/main">
            <a:pPr algn="l">
              <a:lnSpc>
                <a:spcPct val="104000"/>
              </a:lnSpc>
              <a:buNone/>
              <a:defRPr sz="1575" b="1">
                <a:solidFill>
                  <a:srgbClr val="4F46E5"/>
                </a:solidFill>
                <a:latin typeface="Arial"/>
                <a:ea typeface="Arial"/>
                <a:cs typeface="Arial"/>
              </a:defRPr>
            </a:pPr>
            <a:r>
              <a:rPr sz="1575" b="1">
                <a:solidFill>
                  <a:srgbClr val="4F46E5"/>
                </a:solidFill>
                <a:latin typeface="Arial"/>
                <a:ea typeface="Arial"/>
                <a:cs typeface="Arial"/>
              </a:rPr>
              <a:t>Simple RNA baseline</a:t>
            </a:r>
          </a:p>
        </p:txBody>
      </p:sp>
      <p:sp>
        <p:nvSpPr>
          <p:cNvPr id="12" name="">
            <a:extLst xmlns:a="http://schemas.openxmlformats.org/drawingml/2006/main">
              <a:ext uri="{FF2B5EF4-FFF2-40B4-BE49-F238E27FC236}">
                <a16:creationId xmlns:a16="http://schemas.microsoft.com/office/drawing/2014/main" id="{2C8C96E8-1FDD-4F80-9031-FAEDFFE3E083}"/>
              </a:ext>
            </a:extLst>
          </p:cNvPr>
          <p:cNvSpPr>
            <a:spLocks xmlns:a="http://schemas.openxmlformats.org/drawingml/2006/main" noGrp="1"/>
          </p:cNvSpPr>
          <p:nvPr/>
        </p:nvSpPr>
        <p:spPr>
          <a:xfrm xmlns:a="http://schemas.openxmlformats.org/drawingml/2006/main">
            <a:off x="685800" y="4381500"/>
            <a:ext cx="47625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lnSpc>
                <a:spcPct val="104000"/>
              </a:lnSpc>
              <a:buNone/>
              <a:defRPr sz="1875" b="1">
                <a:solidFill>
                  <a:srgbClr val="172554"/>
                </a:solidFill>
                <a:latin typeface="Arial"/>
                <a:ea typeface="Arial"/>
                <a:cs typeface="Arial"/>
              </a:defRPr>
            </a:pPr>
            <a:r>
              <a:rPr sz="1875" b="1">
                <a:solidFill>
                  <a:srgbClr val="172554"/>
                </a:solidFill>
                <a:latin typeface="Arial"/>
                <a:ea typeface="Arial"/>
                <a:cs typeface="Arial"/>
              </a:rPr>
              <a:t>RNA SVD-ridge reaches RMSLE 0.6379, substantially below every neural model.</a:t>
            </a:r>
          </a:p>
        </p:txBody>
      </p:sp>
      <p:sp>
        <p:nvSpPr>
          <p:cNvPr id="13" name="">
            <a:extLst xmlns:a="http://schemas.openxmlformats.org/drawingml/2006/main">
              <a:ext uri="{FF2B5EF4-FFF2-40B4-BE49-F238E27FC236}">
                <a16:creationId xmlns:a16="http://schemas.microsoft.com/office/drawing/2014/main" id="{30778563-451F-4EC4-86CA-7F8159D6D11A}"/>
              </a:ext>
            </a:extLst>
          </p:cNvPr>
          <p:cNvSpPr>
            <a:spLocks xmlns:a="http://schemas.openxmlformats.org/drawingml/2006/main" noGrp="1"/>
          </p:cNvSpPr>
          <p:nvPr/>
        </p:nvSpPr>
        <p:spPr>
          <a:xfrm xmlns:a="http://schemas.openxmlformats.org/drawingml/2006/main">
            <a:off x="6400800" y="4000500"/>
            <a:ext cx="3524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7839"/>
          </a:bodyPr>
          <a:lstStyle xmlns:a="http://schemas.openxmlformats.org/drawingml/2006/main"/>
          <a:p xmlns:a="http://schemas.openxmlformats.org/drawingml/2006/main">
            <a:pPr algn="l">
              <a:lnSpc>
                <a:spcPct val="104000"/>
              </a:lnSpc>
              <a:buNone/>
              <a:defRPr sz="1575" b="1">
                <a:solidFill>
                  <a:srgbClr val="F97316"/>
                </a:solidFill>
                <a:latin typeface="Arial"/>
                <a:ea typeface="Arial"/>
                <a:cs typeface="Arial"/>
              </a:defRPr>
            </a:pPr>
            <a:r>
              <a:rPr sz="1575" b="1">
                <a:solidFill>
                  <a:srgbClr val="F97316"/>
                </a:solidFill>
                <a:latin typeface="Arial"/>
                <a:ea typeface="Arial"/>
                <a:cs typeface="Arial"/>
              </a:rPr>
              <a:t>Limits on the claim</a:t>
            </a:r>
          </a:p>
        </p:txBody>
      </p:sp>
      <p:sp>
        <p:nvSpPr>
          <p:cNvPr id="14" name="">
            <a:extLst xmlns:a="http://schemas.openxmlformats.org/drawingml/2006/main">
              <a:ext uri="{FF2B5EF4-FFF2-40B4-BE49-F238E27FC236}">
                <a16:creationId xmlns:a16="http://schemas.microsoft.com/office/drawing/2014/main" id="{4AFE4801-2C28-4533-ABB8-459700303B3C}"/>
              </a:ext>
            </a:extLst>
          </p:cNvPr>
          <p:cNvSpPr>
            <a:spLocks xmlns:a="http://schemas.openxmlformats.org/drawingml/2006/main" noGrp="1"/>
          </p:cNvSpPr>
          <p:nvPr/>
        </p:nvSpPr>
        <p:spPr>
          <a:xfrm xmlns:a="http://schemas.openxmlformats.org/drawingml/2006/main">
            <a:off x="6400800" y="4381500"/>
            <a:ext cx="47625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lnSpc>
                <a:spcPct val="104000"/>
              </a:lnSpc>
              <a:buNone/>
              <a:defRPr sz="1650" b="1">
                <a:solidFill>
                  <a:srgbClr val="172554"/>
                </a:solidFill>
                <a:latin typeface="Arial"/>
                <a:ea typeface="Arial"/>
                <a:cs typeface="Arial"/>
              </a:defRPr>
            </a:pPr>
            <a:r>
              <a:rPr sz="1650" b="1">
                <a:solidFill>
                  <a:srgbClr val="172554"/>
                </a:solidFill>
                <a:latin typeface="Arial"/>
                <a:ea typeface="Arial"/>
                <a:cs typeface="Arial"/>
              </a:rPr>
              <a:t>One source-target batch pair and 16 seeds support an algorithmic comparison, not population or clinical generalization.</a:t>
            </a:r>
          </a:p>
        </p:txBody>
      </p:sp>
    </p:spTree>
    <p:extLst>
      <p:ext uri="{BB962C8B-B14F-4D97-AF65-F5344CB8AC3E}">
        <p14:creationId xmlns:p14="http://schemas.microsoft.com/office/powerpoint/2010/main" val="804352027"/>
      </p:ext>
    </p:extLst>
  </p:cSld>
</p:sld>
</file>

<file path=ppt/slides/slide8.xml><?xml version="1.0" encoding="utf-8"?>
<p:sld xmlns:p="http://schemas.openxmlformats.org/presentationml/2006/main">
  <p:cSld>
    <p:bg>
      <p:bgPr>
        <a:solidFill xmlns:a="http://schemas.openxmlformats.org/drawingml/2006/main">
          <a:srgbClr val="172554"/>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02428635-0120-4E42-BB49-4A57D6C05F77}"/>
              </a:ext>
            </a:extLst>
          </p:cNvPr>
          <p:cNvSpPr>
            <a:spLocks xmlns:a="http://schemas.openxmlformats.org/drawingml/2006/main" noGrp="1"/>
          </p:cNvSpPr>
          <p:nvPr/>
        </p:nvSpPr>
        <p:spPr>
          <a:xfrm xmlns:a="http://schemas.openxmlformats.org/drawingml/2006/main">
            <a:off x="685800" y="419100"/>
            <a:ext cx="2476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6923"/>
          </a:bodyPr>
          <a:lstStyle xmlns:a="http://schemas.openxmlformats.org/drawingml/2006/main"/>
          <a:p xmlns:a="http://schemas.openxmlformats.org/drawingml/2006/main">
            <a:pPr algn="l">
              <a:lnSpc>
                <a:spcPct val="104000"/>
              </a:lnSpc>
              <a:buNone/>
              <a:defRPr sz="1125" b="1">
                <a:solidFill>
                  <a:srgbClr val="E6FFFB"/>
                </a:solidFill>
                <a:latin typeface="Arial"/>
                <a:ea typeface="Arial"/>
                <a:cs typeface="Arial"/>
              </a:defRPr>
            </a:pPr>
            <a:r>
              <a:rPr sz="1125" b="1">
                <a:solidFill>
                  <a:srgbClr val="E6FFFB"/>
                </a:solidFill>
                <a:latin typeface="Arial"/>
                <a:ea typeface="Arial"/>
                <a:cs typeface="Arial"/>
              </a:rPr>
              <a:t>CONCLUSION</a:t>
            </a:r>
          </a:p>
        </p:txBody>
      </p:sp>
      <p:sp>
        <p:nvSpPr>
          <p:cNvPr id="2" name="">
            <a:extLst xmlns:a="http://schemas.openxmlformats.org/drawingml/2006/main">
              <a:ext uri="{FF2B5EF4-FFF2-40B4-BE49-F238E27FC236}">
                <a16:creationId xmlns:a16="http://schemas.microsoft.com/office/drawing/2014/main" id="{E78DD208-5F0F-4464-A681-BFC107A42B72}"/>
              </a:ext>
            </a:extLst>
          </p:cNvPr>
          <p:cNvSpPr>
            <a:spLocks xmlns:a="http://schemas.openxmlformats.org/drawingml/2006/main" noGrp="1"/>
          </p:cNvSpPr>
          <p:nvPr/>
        </p:nvSpPr>
        <p:spPr>
          <a:xfrm xmlns:a="http://schemas.openxmlformats.org/drawingml/2006/main">
            <a:off x="685800" y="876300"/>
            <a:ext cx="101917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8908"/>
          </a:bodyPr>
          <a:lstStyle xmlns:a="http://schemas.openxmlformats.org/drawingml/2006/main"/>
          <a:p xmlns:a="http://schemas.openxmlformats.org/drawingml/2006/main">
            <a:pPr algn="l">
              <a:lnSpc>
                <a:spcPct val="104000"/>
              </a:lnSpc>
              <a:buNone/>
              <a:defRPr sz="3150" b="1">
                <a:solidFill>
                  <a:srgbClr val="FFFFFF"/>
                </a:solidFill>
                <a:latin typeface="Arial"/>
                <a:ea typeface="Arial"/>
                <a:cs typeface="Arial"/>
              </a:defRPr>
            </a:pPr>
            <a:r>
              <a:rPr sz="3150" b="1">
                <a:solidFill>
                  <a:srgbClr val="FFFFFF"/>
                </a:solidFill>
                <a:latin typeface="Arial"/>
                <a:ea typeface="Arial"/>
                <a:cs typeface="Arial"/>
              </a:rPr>
              <a:t>FusionVI wins the neural comparison; RNA ridge remains stronger</a:t>
            </a:r>
          </a:p>
        </p:txBody>
      </p:sp>
      <p:sp>
        <p:nvSpPr>
          <p:cNvPr id="3" name="">
            <a:extLst xmlns:a="http://schemas.openxmlformats.org/drawingml/2006/main">
              <a:ext uri="{FF2B5EF4-FFF2-40B4-BE49-F238E27FC236}">
                <a16:creationId xmlns:a16="http://schemas.microsoft.com/office/drawing/2014/main" id="{9244C386-87BE-4C70-83D9-A6B1DF88E561}"/>
              </a:ext>
            </a:extLst>
          </p:cNvPr>
          <p:cNvSpPr>
            <a:spLocks xmlns:a="http://schemas.openxmlformats.org/drawingml/2006/main" noGrp="1"/>
          </p:cNvSpPr>
          <p:nvPr/>
        </p:nvSpPr>
        <p:spPr>
          <a:xfrm xmlns:a="http://schemas.openxmlformats.org/drawingml/2006/main">
            <a:off x="685800" y="1847850"/>
            <a:ext cx="990600" cy="47625"/>
          </a:xfrm>
          <a:prstGeom xmlns:a="http://schemas.openxmlformats.org/drawingml/2006/main" prst="rect">
            <a:avLst/>
          </a:prstGeom>
          <a:solidFill xmlns:a="http://schemas.openxmlformats.org/drawingml/2006/main">
            <a:srgbClr val="F97316"/>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8F343AAC-FE70-4C64-A82D-C076485AAEB9}"/>
              </a:ext>
            </a:extLst>
          </p:cNvPr>
          <p:cNvSpPr>
            <a:spLocks xmlns:a="http://schemas.openxmlformats.org/drawingml/2006/main" noGrp="1"/>
          </p:cNvSpPr>
          <p:nvPr/>
        </p:nvSpPr>
        <p:spPr>
          <a:xfrm xmlns:a="http://schemas.openxmlformats.org/drawingml/2006/main">
            <a:off x="838200" y="2381250"/>
            <a:ext cx="219075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lnSpc>
                <a:spcPct val="104000"/>
              </a:lnSpc>
              <a:buNone/>
              <a:defRPr sz="3150" b="1">
                <a:solidFill>
                  <a:srgbClr val="CBD5E1"/>
                </a:solidFill>
                <a:latin typeface="Arial"/>
                <a:ea typeface="Arial"/>
                <a:cs typeface="Arial"/>
              </a:defRPr>
            </a:pPr>
            <a:r>
              <a:rPr sz="3150" b="1">
                <a:solidFill>
                  <a:srgbClr val="CBD5E1"/>
                </a:solidFill>
                <a:latin typeface="Arial"/>
                <a:ea typeface="Arial"/>
                <a:cs typeface="Arial"/>
              </a:rPr>
              <a:t>1.0601</a:t>
            </a:r>
          </a:p>
        </p:txBody>
      </p:sp>
      <p:sp>
        <p:nvSpPr>
          <p:cNvPr id="5" name="">
            <a:extLst xmlns:a="http://schemas.openxmlformats.org/drawingml/2006/main">
              <a:ext uri="{FF2B5EF4-FFF2-40B4-BE49-F238E27FC236}">
                <a16:creationId xmlns:a16="http://schemas.microsoft.com/office/drawing/2014/main" id="{0EB9B353-91F9-4CD2-9678-7580940B03D5}"/>
              </a:ext>
            </a:extLst>
          </p:cNvPr>
          <p:cNvSpPr>
            <a:spLocks xmlns:a="http://schemas.openxmlformats.org/drawingml/2006/main" noGrp="1"/>
          </p:cNvSpPr>
          <p:nvPr/>
        </p:nvSpPr>
        <p:spPr>
          <a:xfrm xmlns:a="http://schemas.openxmlformats.org/drawingml/2006/main">
            <a:off x="838200" y="3048000"/>
            <a:ext cx="219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6727"/>
          </a:bodyPr>
          <a:lstStyle xmlns:a="http://schemas.openxmlformats.org/drawingml/2006/main"/>
          <a:p xmlns:a="http://schemas.openxmlformats.org/drawingml/2006/main">
            <a:pPr algn="ctr">
              <a:lnSpc>
                <a:spcPct val="104000"/>
              </a:lnSpc>
              <a:buNone/>
              <a:defRPr sz="1275" b="1">
                <a:solidFill>
                  <a:srgbClr val="CBD5E1"/>
                </a:solidFill>
                <a:latin typeface="Arial"/>
                <a:ea typeface="Arial"/>
                <a:cs typeface="Arial"/>
              </a:defRPr>
            </a:pPr>
            <a:r>
              <a:rPr sz="1275" b="1">
                <a:solidFill>
                  <a:srgbClr val="CBD5E1"/>
                </a:solidFill>
                <a:latin typeface="Arial"/>
                <a:ea typeface="Arial"/>
                <a:cs typeface="Arial"/>
              </a:rPr>
              <a:t>totalVI RMSLE</a:t>
            </a:r>
          </a:p>
        </p:txBody>
      </p:sp>
      <p:sp>
        <p:nvSpPr>
          <p:cNvPr id="6" name="">
            <a:extLst xmlns:a="http://schemas.openxmlformats.org/drawingml/2006/main">
              <a:ext uri="{FF2B5EF4-FFF2-40B4-BE49-F238E27FC236}">
                <a16:creationId xmlns:a16="http://schemas.microsoft.com/office/drawing/2014/main" id="{1D34A93D-36C6-4C6A-A51E-9093A341B9ED}"/>
              </a:ext>
            </a:extLst>
          </p:cNvPr>
          <p:cNvSpPr>
            <a:spLocks xmlns:a="http://schemas.openxmlformats.org/drawingml/2006/main" noGrp="1"/>
          </p:cNvSpPr>
          <p:nvPr/>
        </p:nvSpPr>
        <p:spPr>
          <a:xfrm xmlns:a="http://schemas.openxmlformats.org/drawingml/2006/main">
            <a:off x="3333750" y="2571750"/>
            <a:ext cx="952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9922"/>
          </a:bodyPr>
          <a:lstStyle xmlns:a="http://schemas.openxmlformats.org/drawingml/2006/main"/>
          <a:p xmlns:a="http://schemas.openxmlformats.org/drawingml/2006/main">
            <a:pPr algn="ctr">
              <a:lnSpc>
                <a:spcPct val="104000"/>
              </a:lnSpc>
              <a:buNone/>
              <a:defRPr sz="2700" b="1">
                <a:solidFill>
                  <a:srgbClr val="F97316"/>
                </a:solidFill>
                <a:latin typeface="Arial"/>
                <a:ea typeface="Arial"/>
                <a:cs typeface="Arial"/>
              </a:defRPr>
            </a:pPr>
            <a:r>
              <a:rPr sz="2700" b="1">
                <a:solidFill>
                  <a:srgbClr val="F97316"/>
                </a:solidFill>
                <a:latin typeface="Arial"/>
                <a:ea typeface="Arial"/>
                <a:cs typeface="Arial"/>
              </a:rPr>
              <a:t>→</a:t>
            </a:r>
          </a:p>
        </p:txBody>
      </p:sp>
      <p:sp>
        <p:nvSpPr>
          <p:cNvPr id="7" name="">
            <a:extLst xmlns:a="http://schemas.openxmlformats.org/drawingml/2006/main">
              <a:ext uri="{FF2B5EF4-FFF2-40B4-BE49-F238E27FC236}">
                <a16:creationId xmlns:a16="http://schemas.microsoft.com/office/drawing/2014/main" id="{00EED77E-D1FB-4528-82E6-BF40CCAE3094}"/>
              </a:ext>
            </a:extLst>
          </p:cNvPr>
          <p:cNvSpPr>
            <a:spLocks xmlns:a="http://schemas.openxmlformats.org/drawingml/2006/main" noGrp="1"/>
          </p:cNvSpPr>
          <p:nvPr/>
        </p:nvSpPr>
        <p:spPr>
          <a:xfrm xmlns:a="http://schemas.openxmlformats.org/drawingml/2006/main">
            <a:off x="4572000" y="2381250"/>
            <a:ext cx="219075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lnSpc>
                <a:spcPct val="104000"/>
              </a:lnSpc>
              <a:buNone/>
              <a:defRPr sz="3150" b="1">
                <a:solidFill>
                  <a:srgbClr val="F97316"/>
                </a:solidFill>
                <a:latin typeface="Arial"/>
                <a:ea typeface="Arial"/>
                <a:cs typeface="Arial"/>
              </a:defRPr>
            </a:pPr>
            <a:r>
              <a:rPr sz="3150" b="1">
                <a:solidFill>
                  <a:srgbClr val="F97316"/>
                </a:solidFill>
                <a:latin typeface="Arial"/>
                <a:ea typeface="Arial"/>
                <a:cs typeface="Arial"/>
              </a:rPr>
              <a:t>1.0539</a:t>
            </a:r>
          </a:p>
        </p:txBody>
      </p:sp>
      <p:sp>
        <p:nvSpPr>
          <p:cNvPr id="8" name="">
            <a:extLst xmlns:a="http://schemas.openxmlformats.org/drawingml/2006/main">
              <a:ext uri="{FF2B5EF4-FFF2-40B4-BE49-F238E27FC236}">
                <a16:creationId xmlns:a16="http://schemas.microsoft.com/office/drawing/2014/main" id="{9E5A596D-5999-4724-B588-CA4028CE30EA}"/>
              </a:ext>
            </a:extLst>
          </p:cNvPr>
          <p:cNvSpPr>
            <a:spLocks xmlns:a="http://schemas.openxmlformats.org/drawingml/2006/main" noGrp="1"/>
          </p:cNvSpPr>
          <p:nvPr/>
        </p:nvSpPr>
        <p:spPr>
          <a:xfrm xmlns:a="http://schemas.openxmlformats.org/drawingml/2006/main">
            <a:off x="4572000" y="3048000"/>
            <a:ext cx="219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6727"/>
          </a:bodyPr>
          <a:lstStyle xmlns:a="http://schemas.openxmlformats.org/drawingml/2006/main"/>
          <a:p xmlns:a="http://schemas.openxmlformats.org/drawingml/2006/main">
            <a:pPr algn="ctr">
              <a:lnSpc>
                <a:spcPct val="104000"/>
              </a:lnSpc>
              <a:buNone/>
              <a:defRPr sz="1275" b="1">
                <a:solidFill>
                  <a:srgbClr val="FFF7ED"/>
                </a:solidFill>
                <a:latin typeface="Arial"/>
                <a:ea typeface="Arial"/>
                <a:cs typeface="Arial"/>
              </a:defRPr>
            </a:pPr>
            <a:r>
              <a:rPr sz="1275" b="1">
                <a:solidFill>
                  <a:srgbClr val="FFF7ED"/>
                </a:solidFill>
                <a:latin typeface="Arial"/>
                <a:ea typeface="Arial"/>
                <a:cs typeface="Arial"/>
              </a:rPr>
              <a:t>FusionVI RMSLE</a:t>
            </a:r>
          </a:p>
        </p:txBody>
      </p:sp>
      <p:sp>
        <p:nvSpPr>
          <p:cNvPr id="9" name="">
            <a:extLst xmlns:a="http://schemas.openxmlformats.org/drawingml/2006/main">
              <a:ext uri="{FF2B5EF4-FFF2-40B4-BE49-F238E27FC236}">
                <a16:creationId xmlns:a16="http://schemas.microsoft.com/office/drawing/2014/main" id="{E94B412D-1239-494E-84E1-6940E7B4988A}"/>
              </a:ext>
            </a:extLst>
          </p:cNvPr>
          <p:cNvSpPr>
            <a:spLocks xmlns:a="http://schemas.openxmlformats.org/drawingml/2006/main" noGrp="1"/>
          </p:cNvSpPr>
          <p:nvPr/>
        </p:nvSpPr>
        <p:spPr>
          <a:xfrm xmlns:a="http://schemas.openxmlformats.org/drawingml/2006/main">
            <a:off x="742950" y="3905250"/>
            <a:ext cx="3333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7598"/>
          </a:bodyPr>
          <a:lstStyle xmlns:a="http://schemas.openxmlformats.org/drawingml/2006/main"/>
          <a:p xmlns:a="http://schemas.openxmlformats.org/drawingml/2006/main">
            <a:pPr algn="l">
              <a:lnSpc>
                <a:spcPct val="104000"/>
              </a:lnSpc>
              <a:buNone/>
              <a:defRPr sz="1425" b="1">
                <a:solidFill>
                  <a:srgbClr val="E6FFFB"/>
                </a:solidFill>
                <a:latin typeface="Arial"/>
                <a:ea typeface="Arial"/>
                <a:cs typeface="Arial"/>
              </a:defRPr>
            </a:pPr>
            <a:r>
              <a:rPr sz="1425" b="1">
                <a:solidFill>
                  <a:srgbClr val="E6FFFB"/>
                </a:solidFill>
                <a:latin typeface="Arial"/>
                <a:ea typeface="Arial"/>
                <a:cs typeface="Arial"/>
              </a:rPr>
              <a:t>What we learned</a:t>
            </a:r>
          </a:p>
        </p:txBody>
      </p:sp>
      <p:sp>
        <p:nvSpPr>
          <p:cNvPr id="10" name="">
            <a:extLst xmlns:a="http://schemas.openxmlformats.org/drawingml/2006/main">
              <a:ext uri="{FF2B5EF4-FFF2-40B4-BE49-F238E27FC236}">
                <a16:creationId xmlns:a16="http://schemas.microsoft.com/office/drawing/2014/main" id="{6E4E1340-81A8-4088-932C-8651A0C4B166}"/>
              </a:ext>
            </a:extLst>
          </p:cNvPr>
          <p:cNvSpPr>
            <a:spLocks xmlns:a="http://schemas.openxmlformats.org/drawingml/2006/main" noGrp="1"/>
          </p:cNvSpPr>
          <p:nvPr/>
        </p:nvSpPr>
        <p:spPr>
          <a:xfrm xmlns:a="http://schemas.openxmlformats.org/drawingml/2006/main">
            <a:off x="742950" y="4286250"/>
            <a:ext cx="4953000" cy="1085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8209"/>
          </a:bodyPr>
          <a:lstStyle xmlns:a="http://schemas.openxmlformats.org/drawingml/2006/main"/>
          <a:p xmlns:a="http://schemas.openxmlformats.org/drawingml/2006/main">
            <a:pPr algn="l">
              <a:lnSpc>
                <a:spcPct val="104000"/>
              </a:lnSpc>
              <a:buNone/>
              <a:defRPr sz="2025" b="1">
                <a:solidFill>
                  <a:srgbClr val="FFFFFF"/>
                </a:solidFill>
                <a:latin typeface="Arial"/>
                <a:ea typeface="Arial"/>
                <a:cs typeface="Arial"/>
              </a:defRPr>
            </a:pPr>
            <a:r>
              <a:rPr sz="2025" b="1">
                <a:solidFill>
                  <a:srgbClr val="FFFFFF"/>
                </a:solidFill>
                <a:latin typeface="Arial"/>
                <a:ea typeface="Arial"/>
                <a:cs typeface="Arial"/>
              </a:rPr>
              <a:t>Across 16 seeds, FusionVI beats totalVI and all three matched joint-encoder controls on mean protein RMSLE.</a:t>
            </a:r>
          </a:p>
        </p:txBody>
      </p:sp>
      <p:sp>
        <p:nvSpPr>
          <p:cNvPr id="11" name="">
            <a:extLst xmlns:a="http://schemas.openxmlformats.org/drawingml/2006/main">
              <a:ext uri="{FF2B5EF4-FFF2-40B4-BE49-F238E27FC236}">
                <a16:creationId xmlns:a16="http://schemas.microsoft.com/office/drawing/2014/main" id="{ED202566-68B5-49F6-B69C-A8256F635234}"/>
              </a:ext>
            </a:extLst>
          </p:cNvPr>
          <p:cNvSpPr>
            <a:spLocks xmlns:a="http://schemas.openxmlformats.org/drawingml/2006/main" noGrp="1"/>
          </p:cNvSpPr>
          <p:nvPr/>
        </p:nvSpPr>
        <p:spPr>
          <a:xfrm xmlns:a="http://schemas.openxmlformats.org/drawingml/2006/main">
            <a:off x="6572250" y="3905250"/>
            <a:ext cx="257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7598"/>
          </a:bodyPr>
          <a:lstStyle xmlns:a="http://schemas.openxmlformats.org/drawingml/2006/main"/>
          <a:p xmlns:a="http://schemas.openxmlformats.org/drawingml/2006/main">
            <a:pPr algn="l">
              <a:lnSpc>
                <a:spcPct val="104000"/>
              </a:lnSpc>
              <a:buNone/>
              <a:defRPr sz="1425" b="1">
                <a:solidFill>
                  <a:srgbClr val="F97316"/>
                </a:solidFill>
                <a:latin typeface="Arial"/>
                <a:ea typeface="Arial"/>
                <a:cs typeface="Arial"/>
              </a:defRPr>
            </a:pPr>
            <a:r>
              <a:rPr sz="1425" b="1">
                <a:solidFill>
                  <a:srgbClr val="F97316"/>
                </a:solidFill>
                <a:latin typeface="Arial"/>
                <a:ea typeface="Arial"/>
                <a:cs typeface="Arial"/>
              </a:rPr>
              <a:t>Practical benchmark result</a:t>
            </a:r>
          </a:p>
        </p:txBody>
      </p:sp>
      <p:sp>
        <p:nvSpPr>
          <p:cNvPr id="12" name="">
            <a:extLst xmlns:a="http://schemas.openxmlformats.org/drawingml/2006/main">
              <a:ext uri="{FF2B5EF4-FFF2-40B4-BE49-F238E27FC236}">
                <a16:creationId xmlns:a16="http://schemas.microsoft.com/office/drawing/2014/main" id="{DFBF4A01-1E1A-47C4-9BD7-40B84F344267}"/>
              </a:ext>
            </a:extLst>
          </p:cNvPr>
          <p:cNvSpPr>
            <a:spLocks xmlns:a="http://schemas.openxmlformats.org/drawingml/2006/main" noGrp="1"/>
          </p:cNvSpPr>
          <p:nvPr/>
        </p:nvSpPr>
        <p:spPr>
          <a:xfrm xmlns:a="http://schemas.openxmlformats.org/drawingml/2006/main">
            <a:off x="6572250" y="4286250"/>
            <a:ext cx="4095750" cy="1085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7457"/>
          </a:bodyPr>
          <a:lstStyle xmlns:a="http://schemas.openxmlformats.org/drawingml/2006/main"/>
          <a:p xmlns:a="http://schemas.openxmlformats.org/drawingml/2006/main">
            <a:pPr algn="l">
              <a:lnSpc>
                <a:spcPct val="104000"/>
              </a:lnSpc>
              <a:buNone/>
              <a:defRPr sz="2025" b="1">
                <a:solidFill>
                  <a:srgbClr val="FFFFFF"/>
                </a:solidFill>
                <a:latin typeface="Arial"/>
                <a:ea typeface="Arial"/>
                <a:cs typeface="Arial"/>
              </a:defRPr>
            </a:pPr>
            <a:r>
              <a:rPr sz="2025" b="1">
                <a:solidFill>
                  <a:srgbClr val="FFFFFF"/>
                </a:solidFill>
                <a:latin typeface="Arial"/>
                <a:ea typeface="Arial"/>
                <a:cs typeface="Arial"/>
              </a:rPr>
              <a:t>RNA SVD-ridge reaches 0.6379 RMSLE versus 1.0539 for FusionVI, so the neural advantage is small within a weaker model family.</a:t>
            </a:r>
          </a:p>
        </p:txBody>
      </p:sp>
      <p:sp>
        <p:nvSpPr>
          <p:cNvPr id="13" name="">
            <a:extLst xmlns:a="http://schemas.openxmlformats.org/drawingml/2006/main">
              <a:ext uri="{FF2B5EF4-FFF2-40B4-BE49-F238E27FC236}">
                <a16:creationId xmlns:a16="http://schemas.microsoft.com/office/drawing/2014/main" id="{9AB55407-3D66-4CF2-BE5D-5A0F610B0BC2}"/>
              </a:ext>
            </a:extLst>
          </p:cNvPr>
          <p:cNvSpPr>
            <a:spLocks xmlns:a="http://schemas.openxmlformats.org/drawingml/2006/main" noGrp="1"/>
          </p:cNvSpPr>
          <p:nvPr/>
        </p:nvSpPr>
        <p:spPr>
          <a:xfrm xmlns:a="http://schemas.openxmlformats.org/drawingml/2006/main">
            <a:off x="8420100" y="6019800"/>
            <a:ext cx="2857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8443"/>
          </a:bodyPr>
          <a:lstStyle xmlns:a="http://schemas.openxmlformats.org/drawingml/2006/main"/>
          <a:p xmlns:a="http://schemas.openxmlformats.org/drawingml/2006/main">
            <a:pPr algn="r">
              <a:lnSpc>
                <a:spcPct val="104000"/>
              </a:lnSpc>
              <a:buNone/>
              <a:defRPr sz="2100" b="1">
                <a:solidFill>
                  <a:srgbClr val="E6FFFB"/>
                </a:solidFill>
                <a:latin typeface="Arial"/>
                <a:ea typeface="Arial"/>
                <a:cs typeface="Arial"/>
              </a:defRPr>
            </a:pPr>
            <a:r>
              <a:rPr sz="2100" b="1">
                <a:solidFill>
                  <a:srgbClr val="E6FFFB"/>
                </a:solidFill>
                <a:latin typeface="Arial"/>
                <a:ea typeface="Arial"/>
                <a:cs typeface="Arial"/>
              </a:rPr>
              <a:t>Questions?</a:t>
            </a:r>
          </a:p>
        </p:txBody>
      </p:sp>
    </p:spTree>
    <p:extLst>
      <p:ext uri="{BB962C8B-B14F-4D97-AF65-F5344CB8AC3E}">
        <p14:creationId xmlns:p14="http://schemas.microsoft.com/office/powerpoint/2010/main" val="1237912092"/>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2026-10-04T07:31:39.6770000Z</dcterms:created>
  <dcterms:modified xsi:type="dcterms:W3CDTF">2026-10-04T07:31:39.6770000Z</dcterms:modified>
</coreProperties>
</file>