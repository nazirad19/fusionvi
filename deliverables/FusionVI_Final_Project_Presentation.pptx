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951fdea2de4215" /><Relationship Type="http://schemas.openxmlformats.org/officeDocument/2006/relationships/extended-properties" Target="/docProps/app.xml" Id="Rb606a3d266dc4228" /><Relationship Type="http://schemas.openxmlformats.org/officeDocument/2006/relationships/officeDocument" Target="/ppt/presentation.xml" Id="R18c5926b656e490d" /></Relationships>
</file>

<file path=ppt/presentation.xml><?xml version="1.0" encoding="utf-8"?>
<p:presentation xmlns:p="http://schemas.openxmlformats.org/presentationml/2006/main">
  <p:sldMasterIdLst>
    <p:sldMasterId xmlns:r="http://schemas.openxmlformats.org/officeDocument/2006/relationships" id="2147483648" r:id="R2701edbd3dd2421e"/>
  </p:sldMasterIdLst>
  <p:notesMasterIdLst>
    <p:notesMasterId xmlns:r="http://schemas.openxmlformats.org/officeDocument/2006/relationships" r:id="R80560154f40548da"/>
  </p:notesMasterIdLst>
  <p:sldIdLst>
    <p:sldId xmlns:r="http://schemas.openxmlformats.org/officeDocument/2006/relationships" id="256" r:id="R5e2bde8af84c4d95"/>
    <p:sldId xmlns:r="http://schemas.openxmlformats.org/officeDocument/2006/relationships" id="257" r:id="Rf4f59a86b2f64ef0"/>
    <p:sldId xmlns:r="http://schemas.openxmlformats.org/officeDocument/2006/relationships" id="258" r:id="Rfd37063f83624e83"/>
    <p:sldId xmlns:r="http://schemas.openxmlformats.org/officeDocument/2006/relationships" id="259" r:id="R145690de67e64f70"/>
    <p:sldId xmlns:r="http://schemas.openxmlformats.org/officeDocument/2006/relationships" id="260" r:id="R46b7e6ec1063440e"/>
    <p:sldId xmlns:r="http://schemas.openxmlformats.org/officeDocument/2006/relationships" id="261" r:id="R82c17b04d7e544a3"/>
    <p:sldId xmlns:r="http://schemas.openxmlformats.org/officeDocument/2006/relationships" id="262" r:id="R348bec4336ab42cb"/>
    <p:sldId xmlns:r="http://schemas.openxmlformats.org/officeDocument/2006/relationships" id="263" r:id="R26445190d6f948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4a89b60ea48f0" /><Relationship Type="http://schemas.openxmlformats.org/officeDocument/2006/relationships/slideMaster" Target="/ppt/slideMasters/slideMaster1.xml" Id="R2701edbd3dd2421e" /><Relationship Type="http://schemas.openxmlformats.org/officeDocument/2006/relationships/notesMaster" Target="/ppt/notesMasters/notesMaster1.xml" Id="R80560154f40548da" /><Relationship Type="http://schemas.openxmlformats.org/officeDocument/2006/relationships/presProps" Target="/ppt/presProps.xml" Id="R38a67e2f95ec4a04" /><Relationship Type="http://schemas.openxmlformats.org/officeDocument/2006/relationships/tableStyles" Target="/ppt/tableStyles.xml" Id="R709d78e701804fcc" /><Relationship Type="http://schemas.openxmlformats.org/officeDocument/2006/relationships/slide" Target="/ppt/slides/slide1.xml" Id="R5e2bde8af84c4d95" /><Relationship Type="http://schemas.openxmlformats.org/officeDocument/2006/relationships/slide" Target="/ppt/slides/slide2.xml" Id="Rf4f59a86b2f64ef0" /><Relationship Type="http://schemas.openxmlformats.org/officeDocument/2006/relationships/slide" Target="/ppt/slides/slide3.xml" Id="Rfd37063f83624e83" /><Relationship Type="http://schemas.openxmlformats.org/officeDocument/2006/relationships/slide" Target="/ppt/slides/slide4.xml" Id="R145690de67e64f70" /><Relationship Type="http://schemas.openxmlformats.org/officeDocument/2006/relationships/slide" Target="/ppt/slides/slide5.xml" Id="R46b7e6ec1063440e" /><Relationship Type="http://schemas.openxmlformats.org/officeDocument/2006/relationships/slide" Target="/ppt/slides/slide6.xml" Id="R82c17b04d7e544a3" /><Relationship Type="http://schemas.openxmlformats.org/officeDocument/2006/relationships/slide" Target="/ppt/slides/slide7.xml" Id="R348bec4336ab42cb" /><Relationship Type="http://schemas.openxmlformats.org/officeDocument/2006/relationships/slide" Target="/ppt/slides/slide8.xml" Id="R26445190d6f948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947b4d644741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eaf4991c14803" /><Relationship Type="http://schemas.openxmlformats.org/officeDocument/2006/relationships/notesMaster" Target="/ppt/notesMasters/notesMaster1.xml" Id="R1f74d1d7e5734f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d04f3fe69a48f2" /><Relationship Type="http://schemas.openxmlformats.org/officeDocument/2006/relationships/notesMaster" Target="/ppt/notesMasters/notesMaster1.xml" Id="Rf7a5ef406afa49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622fd6c7e42ab" /><Relationship Type="http://schemas.openxmlformats.org/officeDocument/2006/relationships/notesMaster" Target="/ppt/notesMasters/notesMaster1.xml" Id="R0872cecfea1848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9a26b822b44f84" /><Relationship Type="http://schemas.openxmlformats.org/officeDocument/2006/relationships/notesMaster" Target="/ppt/notesMasters/notesMaster1.xml" Id="R4521eedc959c4d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999b24a36c4a6a" /><Relationship Type="http://schemas.openxmlformats.org/officeDocument/2006/relationships/notesMaster" Target="/ppt/notesMasters/notesMaster1.xml" Id="R8478752fd50c4c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2ee3b349474b6f" /><Relationship Type="http://schemas.openxmlformats.org/officeDocument/2006/relationships/notesMaster" Target="/ppt/notesMasters/notesMaster1.xml" Id="R5220f379d52142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8b7f59d1dc42c5" /><Relationship Type="http://schemas.openxmlformats.org/officeDocument/2006/relationships/notesMaster" Target="/ppt/notesMasters/notesMaster1.xml" Id="Re97272a682f442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57742d40f145ab" /><Relationship Type="http://schemas.openxmlformats.org/officeDocument/2006/relationships/notesMaster" Target="/ppt/notesMasters/notesMaster1.xml" Id="R41229c9a1b8844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only two final systems: the paper totalVI baseline and our model, FusionVI. The task is to recover four missing immune surface markers in a mouse never seen during training. Timing: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biological question is about immune-cell identity. CD20 is an established therapeutic target. CD28 reflects costimulation, while CD4 and CD8a distinguish major T-cell lineages. We hide all four and ask whether multimodal context can reconstruct them in another mouse.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the exact SLN111 object released with totalVI. Each fold holds out an entire mouse, including both tissues. This prevents leakage between cells from the same animal. The source has only two biological replicates, so this is a technical transfer study.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totalVI uses its native decoder. FusionVI separates RNA and protein branches, combines them with a cell-specific gate, then uses a fixed Ridge readout with the latent state, other proteins and one prespecified transcript. We compare the complete pipelines, and we state that clearly. Timing: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four neural runs: two models in two leave-one-mouse-out folds, each for 25 epochs. We hide all four markers at once. The metric is Spearman correlation between measured and predicted protein abundance. With only two animals, we show fold values and do not calculate cell-based p-values.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FusionVI increases the mean correlation from 0.578 to 0.673. It improves all four proteins, and the result holds in both transfer directions. CD20 and CD8a show the largest gains. Timing: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biological interpretation is strongest for lineage markers. Other ADTs preserve B-cell and cytotoxic-T-cell identity, which helps reconstruct CD20 and CD8a. CD28 depends more on activation state. The main limitation is two mice, and this comparison evaluates full pipelines rather than isolating the encoder contribution. Timing: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statement is that FusionVI improves missing-marker recovery on the original totalVI dataset. The result is consistent across four proteins and both transfer directions. It is a technical cross-mouse result, and the next experiment needs more biological replicates. Timing: 35 seconds, leaving three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976df6fb0446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ed606df2384ace" /><Relationship Type="http://schemas.openxmlformats.org/officeDocument/2006/relationships/slideLayout" Target="/ppt/slideLayouts/slideLayout1.xml" Id="Ra9f51302f32842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f51302f32842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ded50ecd8f4618" /><Relationship Type="http://schemas.openxmlformats.org/officeDocument/2006/relationships/notesSlide" Target="/ppt/notesSlides/notesSlide1.xml" Id="R16c790d34ec447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db5fd599684c72" /><Relationship Type="http://schemas.openxmlformats.org/officeDocument/2006/relationships/notesSlide" Target="/ppt/notesSlides/notesSlide2.xml" Id="Rd4eb9ce1c58e40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3aacae15b34119" /><Relationship Type="http://schemas.openxmlformats.org/officeDocument/2006/relationships/notesSlide" Target="/ppt/notesSlides/notesSlide3.xml" Id="R1211b1b1e50144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fa609e10a24e19" /><Relationship Type="http://schemas.openxmlformats.org/officeDocument/2006/relationships/notesSlide" Target="/ppt/notesSlides/notesSlide4.xml" Id="Rdac76ed6fd9344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02f38ff68e4f0f" /><Relationship Type="http://schemas.openxmlformats.org/officeDocument/2006/relationships/notesSlide" Target="/ppt/notesSlides/notesSlide5.xml" Id="R594ee82ba9d340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6489b3a20344e1" /><Relationship Type="http://schemas.openxmlformats.org/officeDocument/2006/relationships/image" Target="/ppt/media/image.png" Id="Rea347b6711534ccd" /><Relationship Type="http://schemas.openxmlformats.org/officeDocument/2006/relationships/notesSlide" Target="/ppt/notesSlides/notesSlide6.xml" Id="R160032fc0d824c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dfd48040274334" /><Relationship Type="http://schemas.openxmlformats.org/officeDocument/2006/relationships/notesSlide" Target="/ppt/notesSlides/notesSlide7.xml" Id="R1017f52bd89f45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492e88a47046cb" /><Relationship Type="http://schemas.openxmlformats.org/officeDocument/2006/relationships/notesSlide" Target="/ppt/notesSlides/notesSlide8.xml" Id="Ref2352c664b542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ECBD6DE-D6EB-4C46-9F72-1225263E905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792DD9-045C-4A9F-B983-F080499F587A}"/>
              </a:ext>
            </a:extLst>
          </p:cNvPr>
          <p:cNvSpPr>
            <a:spLocks xmlns:a="http://schemas.openxmlformats.org/drawingml/2006/main" noGrp="1"/>
          </p:cNvSpPr>
          <p:nvPr/>
        </p:nvSpPr>
        <p:spPr>
          <a:xfrm xmlns:a="http://schemas.openxmlformats.org/drawingml/2006/main">
            <a:off x="8382000" y="0"/>
            <a:ext cx="3810000" cy="6858000"/>
          </a:xfrm>
          <a:prstGeom xmlns:a="http://schemas.openxmlformats.org/drawingml/2006/main" prst="rect">
            <a:avLst/>
          </a:prstGeom>
          <a:solidFill xmlns:a="http://schemas.openxmlformats.org/drawingml/2006/main">
            <a:srgbClr val="EEF2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1E4260-6DFA-4C0E-8E91-7A71BE1198AF}"/>
              </a:ext>
            </a:extLst>
          </p:cNvPr>
          <p:cNvSpPr>
            <a:spLocks xmlns:a="http://schemas.openxmlformats.org/drawingml/2006/main" noGrp="1"/>
          </p:cNvSpPr>
          <p:nvPr/>
        </p:nvSpPr>
        <p:spPr>
          <a:xfrm xmlns:a="http://schemas.openxmlformats.org/drawingml/2006/main">
            <a:off x="666750" y="533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FUSIONVI</a:t>
            </a:r>
          </a:p>
        </p:txBody>
      </p:sp>
      <p:sp>
        <p:nvSpPr>
          <p:cNvPr id="4" name="">
            <a:extLst xmlns:a="http://schemas.openxmlformats.org/drawingml/2006/main">
              <a:ext uri="{FF2B5EF4-FFF2-40B4-BE49-F238E27FC236}">
                <a16:creationId xmlns:a16="http://schemas.microsoft.com/office/drawing/2014/main" id="{103F6B00-195F-4A6C-B0D9-F1ECBB22D3F3}"/>
              </a:ext>
            </a:extLst>
          </p:cNvPr>
          <p:cNvSpPr>
            <a:spLocks xmlns:a="http://schemas.openxmlformats.org/drawingml/2006/main" noGrp="1"/>
          </p:cNvSpPr>
          <p:nvPr/>
        </p:nvSpPr>
        <p:spPr>
          <a:xfrm xmlns:a="http://schemas.openxmlformats.org/drawingml/2006/main">
            <a:off x="666750" y="1200150"/>
            <a:ext cx="723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22"/>
          </a:bodyPr>
          <a:lstStyle xmlns:a="http://schemas.openxmlformats.org/drawingml/2006/main"/>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Can multimodal context</a:t>
            </a:r>
          </a:p>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recover a missing</a:t>
            </a:r>
          </a:p>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surface marker?</a:t>
            </a:r>
          </a:p>
        </p:txBody>
      </p:sp>
      <p:sp>
        <p:nvSpPr>
          <p:cNvPr id="5" name="">
            <a:extLst xmlns:a="http://schemas.openxmlformats.org/drawingml/2006/main">
              <a:ext uri="{FF2B5EF4-FFF2-40B4-BE49-F238E27FC236}">
                <a16:creationId xmlns:a16="http://schemas.microsoft.com/office/drawing/2014/main" id="{CECC2B22-3B5F-4459-B935-D99612A5A39C}"/>
              </a:ext>
            </a:extLst>
          </p:cNvPr>
          <p:cNvSpPr>
            <a:spLocks xmlns:a="http://schemas.openxmlformats.org/drawingml/2006/main" noGrp="1"/>
          </p:cNvSpPr>
          <p:nvPr/>
        </p:nvSpPr>
        <p:spPr>
          <a:xfrm xmlns:a="http://schemas.openxmlformats.org/drawingml/2006/main">
            <a:off x="704850" y="348615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800" b="0">
                <a:solidFill>
                  <a:srgbClr val="4F46E5"/>
                </a:solidFill>
                <a:latin typeface="Arial"/>
                <a:ea typeface="Arial"/>
                <a:cs typeface="Arial"/>
              </a:defRPr>
            </a:pPr>
            <a:r>
              <a:rPr sz="1800" b="0">
                <a:solidFill>
                  <a:srgbClr val="4F46E5"/>
                </a:solidFill>
                <a:latin typeface="Arial"/>
                <a:ea typeface="Arial"/>
                <a:cs typeface="Arial"/>
              </a:rPr>
              <a:t>Paper totalVI versus our final FusionVI pipeline on the original totalVI dataset</a:t>
            </a:r>
          </a:p>
        </p:txBody>
      </p:sp>
      <p:sp>
        <p:nvSpPr>
          <p:cNvPr id="6" name="">
            <a:extLst xmlns:a="http://schemas.openxmlformats.org/drawingml/2006/main">
              <a:ext uri="{FF2B5EF4-FFF2-40B4-BE49-F238E27FC236}">
                <a16:creationId xmlns:a16="http://schemas.microsoft.com/office/drawing/2014/main" id="{BE32713A-6057-4490-96D6-D000858109EC}"/>
              </a:ext>
            </a:extLst>
          </p:cNvPr>
          <p:cNvSpPr>
            <a:spLocks xmlns:a="http://schemas.openxmlformats.org/drawingml/2006/main" noGrp="1"/>
          </p:cNvSpPr>
          <p:nvPr/>
        </p:nvSpPr>
        <p:spPr>
          <a:xfrm xmlns:a="http://schemas.openxmlformats.org/drawingml/2006/main">
            <a:off x="704850" y="4629150"/>
            <a:ext cx="1752600" cy="1066800"/>
          </a:xfrm>
          <a:prstGeom xmlns:a="http://schemas.openxmlformats.org/drawingml/2006/main" prst="roundRect">
            <a:avLst>
              <a:gd name="adj" fmla="val 10714"/>
            </a:avLst>
          </a:prstGeom>
          <a:solidFill xmlns:a="http://schemas.openxmlformats.org/drawingml/2006/main">
            <a:srgbClr val="E6FF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0248F6-76B0-4049-B320-E1769E554719}"/>
              </a:ext>
            </a:extLst>
          </p:cNvPr>
          <p:cNvSpPr>
            <a:spLocks xmlns:a="http://schemas.openxmlformats.org/drawingml/2006/main" noGrp="1"/>
          </p:cNvSpPr>
          <p:nvPr/>
        </p:nvSpPr>
        <p:spPr>
          <a:xfrm xmlns:a="http://schemas.openxmlformats.org/drawingml/2006/main">
            <a:off x="81915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16,813</a:t>
            </a:r>
          </a:p>
        </p:txBody>
      </p:sp>
      <p:sp>
        <p:nvSpPr>
          <p:cNvPr id="8" name="">
            <a:extLst xmlns:a="http://schemas.openxmlformats.org/drawingml/2006/main">
              <a:ext uri="{FF2B5EF4-FFF2-40B4-BE49-F238E27FC236}">
                <a16:creationId xmlns:a16="http://schemas.microsoft.com/office/drawing/2014/main" id="{5B165CFD-8332-442A-9A08-B86A012B5EA4}"/>
              </a:ext>
            </a:extLst>
          </p:cNvPr>
          <p:cNvSpPr>
            <a:spLocks xmlns:a="http://schemas.openxmlformats.org/drawingml/2006/main" noGrp="1"/>
          </p:cNvSpPr>
          <p:nvPr/>
        </p:nvSpPr>
        <p:spPr>
          <a:xfrm xmlns:a="http://schemas.openxmlformats.org/drawingml/2006/main">
            <a:off x="81915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cells</a:t>
            </a:r>
          </a:p>
        </p:txBody>
      </p:sp>
      <p:sp>
        <p:nvSpPr>
          <p:cNvPr id="9" name="">
            <a:extLst xmlns:a="http://schemas.openxmlformats.org/drawingml/2006/main">
              <a:ext uri="{FF2B5EF4-FFF2-40B4-BE49-F238E27FC236}">
                <a16:creationId xmlns:a16="http://schemas.microsoft.com/office/drawing/2014/main" id="{729828A1-4F3C-48C2-BE91-8214A59F4727}"/>
              </a:ext>
            </a:extLst>
          </p:cNvPr>
          <p:cNvSpPr>
            <a:spLocks xmlns:a="http://schemas.openxmlformats.org/drawingml/2006/main" noGrp="1"/>
          </p:cNvSpPr>
          <p:nvPr/>
        </p:nvSpPr>
        <p:spPr>
          <a:xfrm xmlns:a="http://schemas.openxmlformats.org/drawingml/2006/main">
            <a:off x="2628900" y="4629150"/>
            <a:ext cx="1752600" cy="1066800"/>
          </a:xfrm>
          <a:prstGeom xmlns:a="http://schemas.openxmlformats.org/drawingml/2006/main" prst="roundRect">
            <a:avLst>
              <a:gd name="adj" fmla="val 10714"/>
            </a:avLst>
          </a:prstGeom>
          <a:solidFill xmlns:a="http://schemas.openxmlformats.org/drawingml/2006/main">
            <a:srgbClr val="FFF7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3A8FD7-784F-46C9-A3F1-126B8E40E230}"/>
              </a:ext>
            </a:extLst>
          </p:cNvPr>
          <p:cNvSpPr>
            <a:spLocks xmlns:a="http://schemas.openxmlformats.org/drawingml/2006/main" noGrp="1"/>
          </p:cNvSpPr>
          <p:nvPr/>
        </p:nvSpPr>
        <p:spPr>
          <a:xfrm xmlns:a="http://schemas.openxmlformats.org/drawingml/2006/main">
            <a:off x="274320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2AF4F800-E29D-4616-92C5-66DC8D6A3805}"/>
              </a:ext>
            </a:extLst>
          </p:cNvPr>
          <p:cNvSpPr>
            <a:spLocks xmlns:a="http://schemas.openxmlformats.org/drawingml/2006/main" noGrp="1"/>
          </p:cNvSpPr>
          <p:nvPr/>
        </p:nvSpPr>
        <p:spPr>
          <a:xfrm xmlns:a="http://schemas.openxmlformats.org/drawingml/2006/main">
            <a:off x="274320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hidden proteins</a:t>
            </a:r>
          </a:p>
        </p:txBody>
      </p:sp>
      <p:sp>
        <p:nvSpPr>
          <p:cNvPr id="12" name="">
            <a:extLst xmlns:a="http://schemas.openxmlformats.org/drawingml/2006/main">
              <a:ext uri="{FF2B5EF4-FFF2-40B4-BE49-F238E27FC236}">
                <a16:creationId xmlns:a16="http://schemas.microsoft.com/office/drawing/2014/main" id="{C2742146-A2B6-4B21-A1B2-AD0FEC66A54C}"/>
              </a:ext>
            </a:extLst>
          </p:cNvPr>
          <p:cNvSpPr>
            <a:spLocks xmlns:a="http://schemas.openxmlformats.org/drawingml/2006/main" noGrp="1"/>
          </p:cNvSpPr>
          <p:nvPr/>
        </p:nvSpPr>
        <p:spPr>
          <a:xfrm xmlns:a="http://schemas.openxmlformats.org/drawingml/2006/main">
            <a:off x="4552950" y="4629150"/>
            <a:ext cx="1752600" cy="1066800"/>
          </a:xfrm>
          <a:prstGeom xmlns:a="http://schemas.openxmlformats.org/drawingml/2006/main" prst="roundRect">
            <a:avLst>
              <a:gd name="adj" fmla="val 10714"/>
            </a:avLst>
          </a:prstGeom>
          <a:solidFill xmlns:a="http://schemas.openxmlformats.org/drawingml/2006/main">
            <a:srgbClr val="EEF2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50A449-962F-42BA-80AD-FE9D70FFCCDD}"/>
              </a:ext>
            </a:extLst>
          </p:cNvPr>
          <p:cNvSpPr>
            <a:spLocks xmlns:a="http://schemas.openxmlformats.org/drawingml/2006/main" noGrp="1"/>
          </p:cNvSpPr>
          <p:nvPr/>
        </p:nvSpPr>
        <p:spPr>
          <a:xfrm xmlns:a="http://schemas.openxmlformats.org/drawingml/2006/main">
            <a:off x="466725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F5F88A39-2D35-4FDA-A24A-37DA1DF8F63E}"/>
              </a:ext>
            </a:extLst>
          </p:cNvPr>
          <p:cNvSpPr>
            <a:spLocks xmlns:a="http://schemas.openxmlformats.org/drawingml/2006/main" noGrp="1"/>
          </p:cNvSpPr>
          <p:nvPr/>
        </p:nvSpPr>
        <p:spPr>
          <a:xfrm xmlns:a="http://schemas.openxmlformats.org/drawingml/2006/main">
            <a:off x="466725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held-out mice</a:t>
            </a:r>
          </a:p>
        </p:txBody>
      </p:sp>
      <p:sp>
        <p:nvSpPr>
          <p:cNvPr id="15" name="">
            <a:extLst xmlns:a="http://schemas.openxmlformats.org/drawingml/2006/main">
              <a:ext uri="{FF2B5EF4-FFF2-40B4-BE49-F238E27FC236}">
                <a16:creationId xmlns:a16="http://schemas.microsoft.com/office/drawing/2014/main" id="{0E9D10EE-F3A3-4923-BF41-E07007861E04}"/>
              </a:ext>
            </a:extLst>
          </p:cNvPr>
          <p:cNvSpPr>
            <a:spLocks xmlns:a="http://schemas.openxmlformats.org/drawingml/2006/main" noGrp="1"/>
          </p:cNvSpPr>
          <p:nvPr/>
        </p:nvSpPr>
        <p:spPr>
          <a:xfrm xmlns:a="http://schemas.openxmlformats.org/drawingml/2006/main">
            <a:off x="704850" y="61912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4748B"/>
                </a:solidFill>
                <a:latin typeface="Arial"/>
                <a:ea typeface="Arial"/>
                <a:cs typeface="Arial"/>
              </a:defRPr>
            </a:pPr>
            <a:r>
              <a:rPr sz="1350" b="1">
                <a:solidFill>
                  <a:srgbClr val="64748B"/>
                </a:solidFill>
                <a:latin typeface="Arial"/>
                <a:ea typeface="Arial"/>
                <a:cs typeface="Arial"/>
              </a:rPr>
              <a:t>Multimodal AI for therapeutic discovery</a:t>
            </a:r>
          </a:p>
        </p:txBody>
      </p:sp>
      <p:sp>
        <p:nvSpPr>
          <p:cNvPr id="16" name="">
            <a:extLst xmlns:a="http://schemas.openxmlformats.org/drawingml/2006/main">
              <a:ext uri="{FF2B5EF4-FFF2-40B4-BE49-F238E27FC236}">
                <a16:creationId xmlns:a16="http://schemas.microsoft.com/office/drawing/2014/main" id="{2D020F1B-1F0D-4C98-A9D8-FC6C4A35D986}"/>
              </a:ext>
            </a:extLst>
          </p:cNvPr>
          <p:cNvSpPr>
            <a:spLocks xmlns:a="http://schemas.openxmlformats.org/drawingml/2006/main" noGrp="1"/>
          </p:cNvSpPr>
          <p:nvPr/>
        </p:nvSpPr>
        <p:spPr>
          <a:xfrm xmlns:a="http://schemas.openxmlformats.org/drawingml/2006/main">
            <a:off x="8915400" y="180975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4200" b="1">
                <a:solidFill>
                  <a:srgbClr val="F97316"/>
                </a:solidFill>
                <a:latin typeface="Arial"/>
                <a:ea typeface="Arial"/>
                <a:cs typeface="Arial"/>
              </a:defRPr>
            </a:pPr>
            <a:r>
              <a:rPr sz="4200" b="1">
                <a:solidFill>
                  <a:srgbClr val="F97316"/>
                </a:solidFill>
                <a:latin typeface="Arial"/>
                <a:ea typeface="Arial"/>
                <a:cs typeface="Arial"/>
              </a:rPr>
              <a:t>0.673</a:t>
            </a:r>
          </a:p>
        </p:txBody>
      </p:sp>
      <p:sp>
        <p:nvSpPr>
          <p:cNvPr id="17" name="">
            <a:extLst xmlns:a="http://schemas.openxmlformats.org/drawingml/2006/main">
              <a:ext uri="{FF2B5EF4-FFF2-40B4-BE49-F238E27FC236}">
                <a16:creationId xmlns:a16="http://schemas.microsoft.com/office/drawing/2014/main" id="{2383783B-8465-4D8F-9BD7-6D93EFC16FB1}"/>
              </a:ext>
            </a:extLst>
          </p:cNvPr>
          <p:cNvSpPr>
            <a:spLocks xmlns:a="http://schemas.openxmlformats.org/drawingml/2006/main" noGrp="1"/>
          </p:cNvSpPr>
          <p:nvPr/>
        </p:nvSpPr>
        <p:spPr>
          <a:xfrm xmlns:a="http://schemas.openxmlformats.org/drawingml/2006/main">
            <a:off x="8915400" y="26098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ctr">
              <a:lnSpc>
                <a:spcPct val="104000"/>
              </a:lnSpc>
              <a:buNone/>
              <a:defRPr sz="1350" b="1">
                <a:solidFill>
                  <a:srgbClr val="64748B"/>
                </a:solidFill>
                <a:latin typeface="Arial"/>
                <a:ea typeface="Arial"/>
                <a:cs typeface="Arial"/>
              </a:defRPr>
            </a:pPr>
            <a:r>
              <a:rPr sz="1350" b="1">
                <a:solidFill>
                  <a:srgbClr val="64748B"/>
                </a:solidFill>
                <a:latin typeface="Arial"/>
                <a:ea typeface="Arial"/>
                <a:cs typeface="Arial"/>
              </a:rPr>
              <a:t>FusionVI mean Spearman</a:t>
            </a:r>
          </a:p>
        </p:txBody>
      </p:sp>
      <p:sp>
        <p:nvSpPr>
          <p:cNvPr id="18" name="">
            <a:extLst xmlns:a="http://schemas.openxmlformats.org/drawingml/2006/main">
              <a:ext uri="{FF2B5EF4-FFF2-40B4-BE49-F238E27FC236}">
                <a16:creationId xmlns:a16="http://schemas.microsoft.com/office/drawing/2014/main" id="{AEC4D4EC-F55D-4471-99DD-F1FFE57D05E3}"/>
              </a:ext>
            </a:extLst>
          </p:cNvPr>
          <p:cNvSpPr>
            <a:spLocks xmlns:a="http://schemas.openxmlformats.org/drawingml/2006/main" noGrp="1"/>
          </p:cNvSpPr>
          <p:nvPr/>
        </p:nvSpPr>
        <p:spPr>
          <a:xfrm xmlns:a="http://schemas.openxmlformats.org/drawingml/2006/main">
            <a:off x="8915400" y="30670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585"/>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vs 0.578 for totalVI</a:t>
            </a:r>
          </a:p>
        </p:txBody>
      </p:sp>
    </p:spTree>
    <p:extLst>
      <p:ext uri="{BB962C8B-B14F-4D97-AF65-F5344CB8AC3E}">
        <p14:creationId xmlns:p14="http://schemas.microsoft.com/office/powerpoint/2010/main" val="6276227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36923D3-C53F-4CF1-B2A7-F6BA2774A5F1}"/>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BIOLOGICAL QUESTION</a:t>
            </a:r>
          </a:p>
        </p:txBody>
      </p:sp>
      <p:sp>
        <p:nvSpPr>
          <p:cNvPr id="2" name="">
            <a:extLst xmlns:a="http://schemas.openxmlformats.org/drawingml/2006/main">
              <a:ext uri="{FF2B5EF4-FFF2-40B4-BE49-F238E27FC236}">
                <a16:creationId xmlns:a16="http://schemas.microsoft.com/office/drawing/2014/main" id="{CA6CB5CE-F538-4CF7-A020-4427B0FFB523}"/>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A missing protein can erase drug-relevant cell identity</a:t>
            </a:r>
          </a:p>
        </p:txBody>
      </p:sp>
      <p:sp>
        <p:nvSpPr>
          <p:cNvPr id="3" name="">
            <a:extLst xmlns:a="http://schemas.openxmlformats.org/drawingml/2006/main">
              <a:ext uri="{FF2B5EF4-FFF2-40B4-BE49-F238E27FC236}">
                <a16:creationId xmlns:a16="http://schemas.microsoft.com/office/drawing/2014/main" id="{05F21C3D-B83C-4D93-9F5F-65F6B7567381}"/>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46A317-E197-4263-A986-FCF160F658D2}"/>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0C376FB-08A7-486F-8FFA-F172585C75CA}"/>
              </a:ext>
            </a:extLst>
          </p:cNvPr>
          <p:cNvSpPr>
            <a:spLocks xmlns:a="http://schemas.openxmlformats.org/drawingml/2006/main" noGrp="1"/>
          </p:cNvSpPr>
          <p:nvPr/>
        </p:nvSpPr>
        <p:spPr>
          <a:xfrm xmlns:a="http://schemas.openxmlformats.org/drawingml/2006/main">
            <a:off x="647700" y="15049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57"/>
          </a:bodyPr>
          <a:lstStyle xmlns:a="http://schemas.openxmlformats.org/drawingml/2006/main"/>
          <a:p xmlns:a="http://schemas.openxmlformats.org/drawingml/2006/main">
            <a:pPr algn="ctr">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Can RNA and the remaining surface panel recover a missing immune marker in a new biological replicate?</a:t>
            </a:r>
          </a:p>
        </p:txBody>
      </p:sp>
      <p:sp>
        <p:nvSpPr>
          <p:cNvPr id="6" name="">
            <a:extLst xmlns:a="http://schemas.openxmlformats.org/drawingml/2006/main">
              <a:ext uri="{FF2B5EF4-FFF2-40B4-BE49-F238E27FC236}">
                <a16:creationId xmlns:a16="http://schemas.microsoft.com/office/drawing/2014/main" id="{1DD62638-81BF-4358-B8D4-3F1DDA5689CF}"/>
              </a:ext>
            </a:extLst>
          </p:cNvPr>
          <p:cNvSpPr>
            <a:spLocks xmlns:a="http://schemas.openxmlformats.org/drawingml/2006/main" noGrp="1"/>
          </p:cNvSpPr>
          <p:nvPr/>
        </p:nvSpPr>
        <p:spPr>
          <a:xfrm xmlns:a="http://schemas.openxmlformats.org/drawingml/2006/main">
            <a:off x="609600" y="2533650"/>
            <a:ext cx="2571750" cy="2324100"/>
          </a:xfrm>
          <a:prstGeom xmlns:a="http://schemas.openxmlformats.org/drawingml/2006/main" prst="roundRect">
            <a:avLst>
              <a:gd name="adj" fmla="val 4918"/>
            </a:avLst>
          </a:prstGeom>
          <a:solidFill xmlns:a="http://schemas.openxmlformats.org/drawingml/2006/main">
            <a:srgbClr val="FFF7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B2E282-4D04-4642-A47F-FD22AC54E7E1}"/>
              </a:ext>
            </a:extLst>
          </p:cNvPr>
          <p:cNvSpPr>
            <a:spLocks xmlns:a="http://schemas.openxmlformats.org/drawingml/2006/main" noGrp="1"/>
          </p:cNvSpPr>
          <p:nvPr/>
        </p:nvSpPr>
        <p:spPr>
          <a:xfrm xmlns:a="http://schemas.openxmlformats.org/drawingml/2006/main">
            <a:off x="80010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CD20</a:t>
            </a:r>
          </a:p>
        </p:txBody>
      </p:sp>
      <p:sp>
        <p:nvSpPr>
          <p:cNvPr id="8" name="">
            <a:extLst xmlns:a="http://schemas.openxmlformats.org/drawingml/2006/main">
              <a:ext uri="{FF2B5EF4-FFF2-40B4-BE49-F238E27FC236}">
                <a16:creationId xmlns:a16="http://schemas.microsoft.com/office/drawing/2014/main" id="{B1C72F4B-11AE-4E0E-ADB5-A32618046059}"/>
              </a:ext>
            </a:extLst>
          </p:cNvPr>
          <p:cNvSpPr>
            <a:spLocks xmlns:a="http://schemas.openxmlformats.org/drawingml/2006/main" noGrp="1"/>
          </p:cNvSpPr>
          <p:nvPr/>
        </p:nvSpPr>
        <p:spPr>
          <a:xfrm xmlns:a="http://schemas.openxmlformats.org/drawingml/2006/main">
            <a:off x="78105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B-cell identity</a:t>
            </a:r>
          </a:p>
        </p:txBody>
      </p:sp>
      <p:sp>
        <p:nvSpPr>
          <p:cNvPr id="9" name="">
            <a:extLst xmlns:a="http://schemas.openxmlformats.org/drawingml/2006/main">
              <a:ext uri="{FF2B5EF4-FFF2-40B4-BE49-F238E27FC236}">
                <a16:creationId xmlns:a16="http://schemas.microsoft.com/office/drawing/2014/main" id="{276A9EA2-BE60-4313-91B3-AF8B2D686222}"/>
              </a:ext>
            </a:extLst>
          </p:cNvPr>
          <p:cNvSpPr>
            <a:spLocks xmlns:a="http://schemas.openxmlformats.org/drawingml/2006/main" noGrp="1"/>
          </p:cNvSpPr>
          <p:nvPr/>
        </p:nvSpPr>
        <p:spPr>
          <a:xfrm xmlns:a="http://schemas.openxmlformats.org/drawingml/2006/main">
            <a:off x="78105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therapeutic target</a:t>
            </a:r>
          </a:p>
        </p:txBody>
      </p:sp>
      <p:sp>
        <p:nvSpPr>
          <p:cNvPr id="10" name="">
            <a:extLst xmlns:a="http://schemas.openxmlformats.org/drawingml/2006/main">
              <a:ext uri="{FF2B5EF4-FFF2-40B4-BE49-F238E27FC236}">
                <a16:creationId xmlns:a16="http://schemas.microsoft.com/office/drawing/2014/main" id="{136EDD74-A327-4382-AE7D-9E4208287AE8}"/>
              </a:ext>
            </a:extLst>
          </p:cNvPr>
          <p:cNvSpPr>
            <a:spLocks xmlns:a="http://schemas.openxmlformats.org/drawingml/2006/main" noGrp="1"/>
          </p:cNvSpPr>
          <p:nvPr/>
        </p:nvSpPr>
        <p:spPr>
          <a:xfrm xmlns:a="http://schemas.openxmlformats.org/drawingml/2006/main">
            <a:off x="933450" y="4400550"/>
            <a:ext cx="1924050" cy="342900"/>
          </a:xfrm>
          <a:prstGeom xmlns:a="http://schemas.openxmlformats.org/drawingml/2006/main" prst="roundRect">
            <a:avLst>
              <a:gd name="adj" fmla="val 33333"/>
            </a:avLst>
          </a:prstGeom>
          <a:solidFill xmlns:a="http://schemas.openxmlformats.org/drawingml/2006/main">
            <a:srgbClr val="F9731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257D48-32CE-4241-A4D7-06FD9810B230}"/>
              </a:ext>
            </a:extLst>
          </p:cNvPr>
          <p:cNvSpPr>
            <a:spLocks xmlns:a="http://schemas.openxmlformats.org/drawingml/2006/main" noGrp="1"/>
          </p:cNvSpPr>
          <p:nvPr/>
        </p:nvSpPr>
        <p:spPr>
          <a:xfrm xmlns:a="http://schemas.openxmlformats.org/drawingml/2006/main">
            <a:off x="100965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measurement hidden</a:t>
            </a:r>
          </a:p>
        </p:txBody>
      </p:sp>
      <p:sp>
        <p:nvSpPr>
          <p:cNvPr id="12" name="">
            <a:extLst xmlns:a="http://schemas.openxmlformats.org/drawingml/2006/main">
              <a:ext uri="{FF2B5EF4-FFF2-40B4-BE49-F238E27FC236}">
                <a16:creationId xmlns:a16="http://schemas.microsoft.com/office/drawing/2014/main" id="{D91A45FF-C880-4222-A802-AB0D15AC9247}"/>
              </a:ext>
            </a:extLst>
          </p:cNvPr>
          <p:cNvSpPr>
            <a:spLocks xmlns:a="http://schemas.openxmlformats.org/drawingml/2006/main" noGrp="1"/>
          </p:cNvSpPr>
          <p:nvPr/>
        </p:nvSpPr>
        <p:spPr>
          <a:xfrm xmlns:a="http://schemas.openxmlformats.org/drawingml/2006/main">
            <a:off x="3448050" y="2533650"/>
            <a:ext cx="2571750" cy="2324100"/>
          </a:xfrm>
          <a:prstGeom xmlns:a="http://schemas.openxmlformats.org/drawingml/2006/main" prst="roundRect">
            <a:avLst>
              <a:gd name="adj" fmla="val 4918"/>
            </a:avLst>
          </a:prstGeom>
          <a:solidFill xmlns:a="http://schemas.openxmlformats.org/drawingml/2006/main">
            <a:srgbClr val="E6FF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9192D5-E38A-43CA-87FB-E6E8212BA4A3}"/>
              </a:ext>
            </a:extLst>
          </p:cNvPr>
          <p:cNvSpPr>
            <a:spLocks xmlns:a="http://schemas.openxmlformats.org/drawingml/2006/main" noGrp="1"/>
          </p:cNvSpPr>
          <p:nvPr/>
        </p:nvSpPr>
        <p:spPr>
          <a:xfrm xmlns:a="http://schemas.openxmlformats.org/drawingml/2006/main">
            <a:off x="363855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0F9F9A"/>
                </a:solidFill>
                <a:latin typeface="Arial"/>
                <a:ea typeface="Arial"/>
                <a:cs typeface="Arial"/>
              </a:defRPr>
            </a:pPr>
            <a:r>
              <a:rPr sz="2850" b="1">
                <a:solidFill>
                  <a:srgbClr val="0F9F9A"/>
                </a:solidFill>
                <a:latin typeface="Arial"/>
                <a:ea typeface="Arial"/>
                <a:cs typeface="Arial"/>
              </a:rPr>
              <a:t>CD28</a:t>
            </a:r>
          </a:p>
        </p:txBody>
      </p:sp>
      <p:sp>
        <p:nvSpPr>
          <p:cNvPr id="14" name="">
            <a:extLst xmlns:a="http://schemas.openxmlformats.org/drawingml/2006/main">
              <a:ext uri="{FF2B5EF4-FFF2-40B4-BE49-F238E27FC236}">
                <a16:creationId xmlns:a16="http://schemas.microsoft.com/office/drawing/2014/main" id="{E15FEA3E-59F6-4F51-8359-4A0A395D795A}"/>
              </a:ext>
            </a:extLst>
          </p:cNvPr>
          <p:cNvSpPr>
            <a:spLocks xmlns:a="http://schemas.openxmlformats.org/drawingml/2006/main" noGrp="1"/>
          </p:cNvSpPr>
          <p:nvPr/>
        </p:nvSpPr>
        <p:spPr>
          <a:xfrm xmlns:a="http://schemas.openxmlformats.org/drawingml/2006/main">
            <a:off x="361950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T-cell costimulation</a:t>
            </a:r>
          </a:p>
        </p:txBody>
      </p:sp>
      <p:sp>
        <p:nvSpPr>
          <p:cNvPr id="15" name="">
            <a:extLst xmlns:a="http://schemas.openxmlformats.org/drawingml/2006/main">
              <a:ext uri="{FF2B5EF4-FFF2-40B4-BE49-F238E27FC236}">
                <a16:creationId xmlns:a16="http://schemas.microsoft.com/office/drawing/2014/main" id="{9F0551F7-508D-410F-BAE2-00C4E2735AF7}"/>
              </a:ext>
            </a:extLst>
          </p:cNvPr>
          <p:cNvSpPr>
            <a:spLocks xmlns:a="http://schemas.openxmlformats.org/drawingml/2006/main" noGrp="1"/>
          </p:cNvSpPr>
          <p:nvPr/>
        </p:nvSpPr>
        <p:spPr>
          <a:xfrm xmlns:a="http://schemas.openxmlformats.org/drawingml/2006/main">
            <a:off x="361950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activation state</a:t>
            </a:r>
          </a:p>
        </p:txBody>
      </p:sp>
      <p:sp>
        <p:nvSpPr>
          <p:cNvPr id="16" name="">
            <a:extLst xmlns:a="http://schemas.openxmlformats.org/drawingml/2006/main">
              <a:ext uri="{FF2B5EF4-FFF2-40B4-BE49-F238E27FC236}">
                <a16:creationId xmlns:a16="http://schemas.microsoft.com/office/drawing/2014/main" id="{45876454-2FAE-4DE9-87BD-C4CA43863971}"/>
              </a:ext>
            </a:extLst>
          </p:cNvPr>
          <p:cNvSpPr>
            <a:spLocks xmlns:a="http://schemas.openxmlformats.org/drawingml/2006/main" noGrp="1"/>
          </p:cNvSpPr>
          <p:nvPr/>
        </p:nvSpPr>
        <p:spPr>
          <a:xfrm xmlns:a="http://schemas.openxmlformats.org/drawingml/2006/main">
            <a:off x="3771900" y="4400550"/>
            <a:ext cx="1924050" cy="342900"/>
          </a:xfrm>
          <a:prstGeom xmlns:a="http://schemas.openxmlformats.org/drawingml/2006/main" prst="roundRect">
            <a:avLst>
              <a:gd name="adj" fmla="val 33333"/>
            </a:avLst>
          </a:prstGeom>
          <a:solidFill xmlns:a="http://schemas.openxmlformats.org/drawingml/2006/main">
            <a:srgbClr val="0F9F9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3D3FF4F-021C-4CAD-9BEB-4F4EC454E00A}"/>
              </a:ext>
            </a:extLst>
          </p:cNvPr>
          <p:cNvSpPr>
            <a:spLocks xmlns:a="http://schemas.openxmlformats.org/drawingml/2006/main" noGrp="1"/>
          </p:cNvSpPr>
          <p:nvPr/>
        </p:nvSpPr>
        <p:spPr>
          <a:xfrm xmlns:a="http://schemas.openxmlformats.org/drawingml/2006/main">
            <a:off x="384810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measurement hidden</a:t>
            </a:r>
          </a:p>
        </p:txBody>
      </p:sp>
      <p:sp>
        <p:nvSpPr>
          <p:cNvPr id="18" name="">
            <a:extLst xmlns:a="http://schemas.openxmlformats.org/drawingml/2006/main">
              <a:ext uri="{FF2B5EF4-FFF2-40B4-BE49-F238E27FC236}">
                <a16:creationId xmlns:a16="http://schemas.microsoft.com/office/drawing/2014/main" id="{8A297D4D-EC29-4981-A600-E8E6B860587A}"/>
              </a:ext>
            </a:extLst>
          </p:cNvPr>
          <p:cNvSpPr>
            <a:spLocks xmlns:a="http://schemas.openxmlformats.org/drawingml/2006/main" noGrp="1"/>
          </p:cNvSpPr>
          <p:nvPr/>
        </p:nvSpPr>
        <p:spPr>
          <a:xfrm xmlns:a="http://schemas.openxmlformats.org/drawingml/2006/main">
            <a:off x="6286500" y="2533650"/>
            <a:ext cx="2571750" cy="2324100"/>
          </a:xfrm>
          <a:prstGeom xmlns:a="http://schemas.openxmlformats.org/drawingml/2006/main" prst="roundRect">
            <a:avLst>
              <a:gd name="adj" fmla="val 4918"/>
            </a:avLst>
          </a:prstGeom>
          <a:solidFill xmlns:a="http://schemas.openxmlformats.org/drawingml/2006/main">
            <a:srgbClr val="EEF2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F90051-4430-48BD-874F-5B88CBF0316D}"/>
              </a:ext>
            </a:extLst>
          </p:cNvPr>
          <p:cNvSpPr>
            <a:spLocks xmlns:a="http://schemas.openxmlformats.org/drawingml/2006/main" noGrp="1"/>
          </p:cNvSpPr>
          <p:nvPr/>
        </p:nvSpPr>
        <p:spPr>
          <a:xfrm xmlns:a="http://schemas.openxmlformats.org/drawingml/2006/main">
            <a:off x="647700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4F46E5"/>
                </a:solidFill>
                <a:latin typeface="Arial"/>
                <a:ea typeface="Arial"/>
                <a:cs typeface="Arial"/>
              </a:defRPr>
            </a:pPr>
            <a:r>
              <a:rPr sz="2850" b="1">
                <a:solidFill>
                  <a:srgbClr val="4F46E5"/>
                </a:solidFill>
                <a:latin typeface="Arial"/>
                <a:ea typeface="Arial"/>
                <a:cs typeface="Arial"/>
              </a:rPr>
              <a:t>CD4</a:t>
            </a:r>
          </a:p>
        </p:txBody>
      </p:sp>
      <p:sp>
        <p:nvSpPr>
          <p:cNvPr id="20" name="">
            <a:extLst xmlns:a="http://schemas.openxmlformats.org/drawingml/2006/main">
              <a:ext uri="{FF2B5EF4-FFF2-40B4-BE49-F238E27FC236}">
                <a16:creationId xmlns:a16="http://schemas.microsoft.com/office/drawing/2014/main" id="{CF3F7BE9-31F3-4F0E-9822-CB8B8CE3D7FF}"/>
              </a:ext>
            </a:extLst>
          </p:cNvPr>
          <p:cNvSpPr>
            <a:spLocks xmlns:a="http://schemas.openxmlformats.org/drawingml/2006/main" noGrp="1"/>
          </p:cNvSpPr>
          <p:nvPr/>
        </p:nvSpPr>
        <p:spPr>
          <a:xfrm xmlns:a="http://schemas.openxmlformats.org/drawingml/2006/main">
            <a:off x="645795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helper T cells</a:t>
            </a:r>
          </a:p>
        </p:txBody>
      </p:sp>
      <p:sp>
        <p:nvSpPr>
          <p:cNvPr id="21" name="">
            <a:extLst xmlns:a="http://schemas.openxmlformats.org/drawingml/2006/main">
              <a:ext uri="{FF2B5EF4-FFF2-40B4-BE49-F238E27FC236}">
                <a16:creationId xmlns:a16="http://schemas.microsoft.com/office/drawing/2014/main" id="{56E01B50-F789-4DF8-AF01-0645DE2B0248}"/>
              </a:ext>
            </a:extLst>
          </p:cNvPr>
          <p:cNvSpPr>
            <a:spLocks xmlns:a="http://schemas.openxmlformats.org/drawingml/2006/main" noGrp="1"/>
          </p:cNvSpPr>
          <p:nvPr/>
        </p:nvSpPr>
        <p:spPr>
          <a:xfrm xmlns:a="http://schemas.openxmlformats.org/drawingml/2006/main">
            <a:off x="645795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lineage marker</a:t>
            </a:r>
          </a:p>
        </p:txBody>
      </p:sp>
      <p:sp>
        <p:nvSpPr>
          <p:cNvPr id="22" name="">
            <a:extLst xmlns:a="http://schemas.openxmlformats.org/drawingml/2006/main">
              <a:ext uri="{FF2B5EF4-FFF2-40B4-BE49-F238E27FC236}">
                <a16:creationId xmlns:a16="http://schemas.microsoft.com/office/drawing/2014/main" id="{8299087C-C726-4884-A759-598DB9D3C3AA}"/>
              </a:ext>
            </a:extLst>
          </p:cNvPr>
          <p:cNvSpPr>
            <a:spLocks xmlns:a="http://schemas.openxmlformats.org/drawingml/2006/main" noGrp="1"/>
          </p:cNvSpPr>
          <p:nvPr/>
        </p:nvSpPr>
        <p:spPr>
          <a:xfrm xmlns:a="http://schemas.openxmlformats.org/drawingml/2006/main">
            <a:off x="6610350" y="4400550"/>
            <a:ext cx="1924050" cy="342900"/>
          </a:xfrm>
          <a:prstGeom xmlns:a="http://schemas.openxmlformats.org/drawingml/2006/main" prst="roundRect">
            <a:avLst>
              <a:gd name="adj" fmla="val 33333"/>
            </a:avLst>
          </a:prstGeom>
          <a:solidFill xmlns:a="http://schemas.openxmlformats.org/drawingml/2006/main">
            <a:srgbClr val="4F46E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AC57CB-FDD2-4A7F-A95F-5C2DEA9AEC16}"/>
              </a:ext>
            </a:extLst>
          </p:cNvPr>
          <p:cNvSpPr>
            <a:spLocks xmlns:a="http://schemas.openxmlformats.org/drawingml/2006/main" noGrp="1"/>
          </p:cNvSpPr>
          <p:nvPr/>
        </p:nvSpPr>
        <p:spPr>
          <a:xfrm xmlns:a="http://schemas.openxmlformats.org/drawingml/2006/main">
            <a:off x="668655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measurement hidden</a:t>
            </a:r>
          </a:p>
        </p:txBody>
      </p:sp>
      <p:sp>
        <p:nvSpPr>
          <p:cNvPr id="24" name="">
            <a:extLst xmlns:a="http://schemas.openxmlformats.org/drawingml/2006/main">
              <a:ext uri="{FF2B5EF4-FFF2-40B4-BE49-F238E27FC236}">
                <a16:creationId xmlns:a16="http://schemas.microsoft.com/office/drawing/2014/main" id="{78DD82CD-EEDC-402A-A94D-D60D86C499F9}"/>
              </a:ext>
            </a:extLst>
          </p:cNvPr>
          <p:cNvSpPr>
            <a:spLocks xmlns:a="http://schemas.openxmlformats.org/drawingml/2006/main" noGrp="1"/>
          </p:cNvSpPr>
          <p:nvPr/>
        </p:nvSpPr>
        <p:spPr>
          <a:xfrm xmlns:a="http://schemas.openxmlformats.org/drawingml/2006/main">
            <a:off x="9124950" y="2533650"/>
            <a:ext cx="2571750" cy="2324100"/>
          </a:xfrm>
          <a:prstGeom xmlns:a="http://schemas.openxmlformats.org/drawingml/2006/main" prst="roundRect">
            <a:avLst>
              <a:gd name="adj" fmla="val 4918"/>
            </a:avLst>
          </a:prstGeom>
          <a:solidFill xmlns:a="http://schemas.openxmlformats.org/drawingml/2006/main">
            <a:srgbClr val="FFF7E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E2AAF88-CE7D-45C3-B42E-4B9A9A98FD59}"/>
              </a:ext>
            </a:extLst>
          </p:cNvPr>
          <p:cNvSpPr>
            <a:spLocks xmlns:a="http://schemas.openxmlformats.org/drawingml/2006/main" noGrp="1"/>
          </p:cNvSpPr>
          <p:nvPr/>
        </p:nvSpPr>
        <p:spPr>
          <a:xfrm xmlns:a="http://schemas.openxmlformats.org/drawingml/2006/main">
            <a:off x="931545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CD8a</a:t>
            </a:r>
          </a:p>
        </p:txBody>
      </p:sp>
      <p:sp>
        <p:nvSpPr>
          <p:cNvPr id="26" name="">
            <a:extLst xmlns:a="http://schemas.openxmlformats.org/drawingml/2006/main">
              <a:ext uri="{FF2B5EF4-FFF2-40B4-BE49-F238E27FC236}">
                <a16:creationId xmlns:a16="http://schemas.microsoft.com/office/drawing/2014/main" id="{FD89DF50-66CD-459A-85F3-27CE42A346BA}"/>
              </a:ext>
            </a:extLst>
          </p:cNvPr>
          <p:cNvSpPr>
            <a:spLocks xmlns:a="http://schemas.openxmlformats.org/drawingml/2006/main" noGrp="1"/>
          </p:cNvSpPr>
          <p:nvPr/>
        </p:nvSpPr>
        <p:spPr>
          <a:xfrm xmlns:a="http://schemas.openxmlformats.org/drawingml/2006/main">
            <a:off x="929640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cytotoxic T cells</a:t>
            </a:r>
          </a:p>
        </p:txBody>
      </p:sp>
      <p:sp>
        <p:nvSpPr>
          <p:cNvPr id="27" name="">
            <a:extLst xmlns:a="http://schemas.openxmlformats.org/drawingml/2006/main">
              <a:ext uri="{FF2B5EF4-FFF2-40B4-BE49-F238E27FC236}">
                <a16:creationId xmlns:a16="http://schemas.microsoft.com/office/drawing/2014/main" id="{F94CC119-989E-413E-B96F-5C583548DC96}"/>
              </a:ext>
            </a:extLst>
          </p:cNvPr>
          <p:cNvSpPr>
            <a:spLocks xmlns:a="http://schemas.openxmlformats.org/drawingml/2006/main" noGrp="1"/>
          </p:cNvSpPr>
          <p:nvPr/>
        </p:nvSpPr>
        <p:spPr>
          <a:xfrm xmlns:a="http://schemas.openxmlformats.org/drawingml/2006/main">
            <a:off x="929640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lineage marker</a:t>
            </a:r>
          </a:p>
        </p:txBody>
      </p:sp>
      <p:sp>
        <p:nvSpPr>
          <p:cNvPr id="28" name="">
            <a:extLst xmlns:a="http://schemas.openxmlformats.org/drawingml/2006/main">
              <a:ext uri="{FF2B5EF4-FFF2-40B4-BE49-F238E27FC236}">
                <a16:creationId xmlns:a16="http://schemas.microsoft.com/office/drawing/2014/main" id="{C343817A-6C46-4826-A0E2-FBF51CFBEFAE}"/>
              </a:ext>
            </a:extLst>
          </p:cNvPr>
          <p:cNvSpPr>
            <a:spLocks xmlns:a="http://schemas.openxmlformats.org/drawingml/2006/main" noGrp="1"/>
          </p:cNvSpPr>
          <p:nvPr/>
        </p:nvSpPr>
        <p:spPr>
          <a:xfrm xmlns:a="http://schemas.openxmlformats.org/drawingml/2006/main">
            <a:off x="9448800" y="4400550"/>
            <a:ext cx="1924050" cy="342900"/>
          </a:xfrm>
          <a:prstGeom xmlns:a="http://schemas.openxmlformats.org/drawingml/2006/main" prst="roundRect">
            <a:avLst>
              <a:gd name="adj" fmla="val 33333"/>
            </a:avLst>
          </a:prstGeom>
          <a:solidFill xmlns:a="http://schemas.openxmlformats.org/drawingml/2006/main">
            <a:srgbClr val="F97316"/>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540C910-DA4E-4BEC-8097-B2E32DAA5DF9}"/>
              </a:ext>
            </a:extLst>
          </p:cNvPr>
          <p:cNvSpPr>
            <a:spLocks xmlns:a="http://schemas.openxmlformats.org/drawingml/2006/main" noGrp="1"/>
          </p:cNvSpPr>
          <p:nvPr/>
        </p:nvSpPr>
        <p:spPr>
          <a:xfrm xmlns:a="http://schemas.openxmlformats.org/drawingml/2006/main">
            <a:off x="952500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measurement hidden</a:t>
            </a:r>
          </a:p>
        </p:txBody>
      </p:sp>
      <p:sp>
        <p:nvSpPr>
          <p:cNvPr id="30" name="">
            <a:extLst xmlns:a="http://schemas.openxmlformats.org/drawingml/2006/main">
              <a:ext uri="{FF2B5EF4-FFF2-40B4-BE49-F238E27FC236}">
                <a16:creationId xmlns:a16="http://schemas.microsoft.com/office/drawing/2014/main" id="{245A0695-EB56-4045-AD09-275D387B43EE}"/>
              </a:ext>
            </a:extLst>
          </p:cNvPr>
          <p:cNvSpPr>
            <a:spLocks xmlns:a="http://schemas.openxmlformats.org/drawingml/2006/main" noGrp="1"/>
          </p:cNvSpPr>
          <p:nvPr/>
        </p:nvSpPr>
        <p:spPr>
          <a:xfrm xmlns:a="http://schemas.openxmlformats.org/drawingml/2006/main">
            <a:off x="1352550" y="5314950"/>
            <a:ext cx="9486900"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CBD5E1"/>
            </a:solidFill>
          </a:ln>
        </p:spPr>
      </p:sp>
      <p:sp>
        <p:nvSpPr>
          <p:cNvPr id="31" name="">
            <a:extLst xmlns:a="http://schemas.openxmlformats.org/drawingml/2006/main">
              <a:ext uri="{FF2B5EF4-FFF2-40B4-BE49-F238E27FC236}">
                <a16:creationId xmlns:a16="http://schemas.microsoft.com/office/drawing/2014/main" id="{CA295339-05C3-48F4-92ED-4A1430E51E7D}"/>
              </a:ext>
            </a:extLst>
          </p:cNvPr>
          <p:cNvSpPr>
            <a:spLocks xmlns:a="http://schemas.openxmlformats.org/drawingml/2006/main" noGrp="1"/>
          </p:cNvSpPr>
          <p:nvPr/>
        </p:nvSpPr>
        <p:spPr>
          <a:xfrm xmlns:a="http://schemas.openxmlformats.org/drawingml/2006/main">
            <a:off x="1619250" y="548640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26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Therapeutic relevance: reconstructing missing markers can support biomarker panels and immune-target profiling when an antibody measurement is absent or unreliable.</a:t>
            </a:r>
          </a:p>
        </p:txBody>
      </p:sp>
    </p:spTree>
    <p:extLst>
      <p:ext uri="{BB962C8B-B14F-4D97-AF65-F5344CB8AC3E}">
        <p14:creationId xmlns:p14="http://schemas.microsoft.com/office/powerpoint/2010/main" val="1792845117"/>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4781EFB-1160-4592-A865-50E6E10F8991}"/>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STUDY DESIGN</a:t>
            </a:r>
          </a:p>
        </p:txBody>
      </p:sp>
      <p:sp>
        <p:nvSpPr>
          <p:cNvPr id="2" name="">
            <a:extLst xmlns:a="http://schemas.openxmlformats.org/drawingml/2006/main">
              <a:ext uri="{FF2B5EF4-FFF2-40B4-BE49-F238E27FC236}">
                <a16:creationId xmlns:a16="http://schemas.microsoft.com/office/drawing/2014/main" id="{0E533A76-7C42-4272-863B-B1A2B211A9FB}"/>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The original totalVI dataset provides a direct transfer test</a:t>
            </a:r>
          </a:p>
        </p:txBody>
      </p:sp>
      <p:sp>
        <p:nvSpPr>
          <p:cNvPr id="3" name="">
            <a:extLst xmlns:a="http://schemas.openxmlformats.org/drawingml/2006/main">
              <a:ext uri="{FF2B5EF4-FFF2-40B4-BE49-F238E27FC236}">
                <a16:creationId xmlns:a16="http://schemas.microsoft.com/office/drawing/2014/main" id="{17BF149A-8ADA-446B-AB96-6B4FBB13C4C8}"/>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A64DB3-EE7E-4B9A-975C-CD6DE73076AC}"/>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3C3AE0A-D00B-4D3C-9239-F258519E84F2}"/>
              </a:ext>
            </a:extLst>
          </p:cNvPr>
          <p:cNvSpPr>
            <a:spLocks xmlns:a="http://schemas.openxmlformats.org/drawingml/2006/main" noGrp="1"/>
          </p:cNvSpPr>
          <p:nvPr/>
        </p:nvSpPr>
        <p:spPr>
          <a:xfrm xmlns:a="http://schemas.openxmlformats.org/drawingml/2006/main">
            <a:off x="685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CB7EF1-C799-472D-8337-188B2249E7B4}"/>
              </a:ext>
            </a:extLst>
          </p:cNvPr>
          <p:cNvSpPr>
            <a:spLocks xmlns:a="http://schemas.openxmlformats.org/drawingml/2006/main" noGrp="1"/>
          </p:cNvSpPr>
          <p:nvPr/>
        </p:nvSpPr>
        <p:spPr>
          <a:xfrm xmlns:a="http://schemas.openxmlformats.org/drawingml/2006/main">
            <a:off x="800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16,813</a:t>
            </a:r>
          </a:p>
        </p:txBody>
      </p:sp>
      <p:sp>
        <p:nvSpPr>
          <p:cNvPr id="7" name="">
            <a:extLst xmlns:a="http://schemas.openxmlformats.org/drawingml/2006/main">
              <a:ext uri="{FF2B5EF4-FFF2-40B4-BE49-F238E27FC236}">
                <a16:creationId xmlns:a16="http://schemas.microsoft.com/office/drawing/2014/main" id="{A7E508A7-6DA3-48C0-9253-455D610F7EFD}"/>
              </a:ext>
            </a:extLst>
          </p:cNvPr>
          <p:cNvSpPr>
            <a:spLocks xmlns:a="http://schemas.openxmlformats.org/drawingml/2006/main" noGrp="1"/>
          </p:cNvSpPr>
          <p:nvPr/>
        </p:nvSpPr>
        <p:spPr>
          <a:xfrm xmlns:a="http://schemas.openxmlformats.org/drawingml/2006/main">
            <a:off x="800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cells</a:t>
            </a:r>
          </a:p>
        </p:txBody>
      </p:sp>
      <p:sp>
        <p:nvSpPr>
          <p:cNvPr id="8" name="">
            <a:extLst xmlns:a="http://schemas.openxmlformats.org/drawingml/2006/main">
              <a:ext uri="{FF2B5EF4-FFF2-40B4-BE49-F238E27FC236}">
                <a16:creationId xmlns:a16="http://schemas.microsoft.com/office/drawing/2014/main" id="{85D6EC04-A533-49CC-BF22-2F1FC0D52B27}"/>
              </a:ext>
            </a:extLst>
          </p:cNvPr>
          <p:cNvSpPr>
            <a:spLocks xmlns:a="http://schemas.openxmlformats.org/drawingml/2006/main" noGrp="1"/>
          </p:cNvSpPr>
          <p:nvPr/>
        </p:nvSpPr>
        <p:spPr>
          <a:xfrm xmlns:a="http://schemas.openxmlformats.org/drawingml/2006/main">
            <a:off x="2971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525201-E9A1-4717-B40F-CFB608A06EC8}"/>
              </a:ext>
            </a:extLst>
          </p:cNvPr>
          <p:cNvSpPr>
            <a:spLocks xmlns:a="http://schemas.openxmlformats.org/drawingml/2006/main" noGrp="1"/>
          </p:cNvSpPr>
          <p:nvPr/>
        </p:nvSpPr>
        <p:spPr>
          <a:xfrm xmlns:a="http://schemas.openxmlformats.org/drawingml/2006/main">
            <a:off x="3086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4,000</a:t>
            </a:r>
          </a:p>
        </p:txBody>
      </p:sp>
      <p:sp>
        <p:nvSpPr>
          <p:cNvPr id="10" name="">
            <a:extLst xmlns:a="http://schemas.openxmlformats.org/drawingml/2006/main">
              <a:ext uri="{FF2B5EF4-FFF2-40B4-BE49-F238E27FC236}">
                <a16:creationId xmlns:a16="http://schemas.microsoft.com/office/drawing/2014/main" id="{4F3CDFAD-288D-4CE1-AE2B-65E801898E70}"/>
              </a:ext>
            </a:extLst>
          </p:cNvPr>
          <p:cNvSpPr>
            <a:spLocks xmlns:a="http://schemas.openxmlformats.org/drawingml/2006/main" noGrp="1"/>
          </p:cNvSpPr>
          <p:nvPr/>
        </p:nvSpPr>
        <p:spPr>
          <a:xfrm xmlns:a="http://schemas.openxmlformats.org/drawingml/2006/main">
            <a:off x="3086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genes</a:t>
            </a:r>
          </a:p>
        </p:txBody>
      </p:sp>
      <p:sp>
        <p:nvSpPr>
          <p:cNvPr id="11" name="">
            <a:extLst xmlns:a="http://schemas.openxmlformats.org/drawingml/2006/main">
              <a:ext uri="{FF2B5EF4-FFF2-40B4-BE49-F238E27FC236}">
                <a16:creationId xmlns:a16="http://schemas.microsoft.com/office/drawing/2014/main" id="{B25E0BD4-3DB3-46C1-A179-90D3C07353AF}"/>
              </a:ext>
            </a:extLst>
          </p:cNvPr>
          <p:cNvSpPr>
            <a:spLocks xmlns:a="http://schemas.openxmlformats.org/drawingml/2006/main" noGrp="1"/>
          </p:cNvSpPr>
          <p:nvPr/>
        </p:nvSpPr>
        <p:spPr>
          <a:xfrm xmlns:a="http://schemas.openxmlformats.org/drawingml/2006/main">
            <a:off x="5257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61E751-3D52-4173-8EAC-EDE41A6E08BB}"/>
              </a:ext>
            </a:extLst>
          </p:cNvPr>
          <p:cNvSpPr>
            <a:spLocks xmlns:a="http://schemas.openxmlformats.org/drawingml/2006/main" noGrp="1"/>
          </p:cNvSpPr>
          <p:nvPr/>
        </p:nvSpPr>
        <p:spPr>
          <a:xfrm xmlns:a="http://schemas.openxmlformats.org/drawingml/2006/main">
            <a:off x="5372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110</a:t>
            </a:r>
          </a:p>
        </p:txBody>
      </p:sp>
      <p:sp>
        <p:nvSpPr>
          <p:cNvPr id="13" name="">
            <a:extLst xmlns:a="http://schemas.openxmlformats.org/drawingml/2006/main">
              <a:ext uri="{FF2B5EF4-FFF2-40B4-BE49-F238E27FC236}">
                <a16:creationId xmlns:a16="http://schemas.microsoft.com/office/drawing/2014/main" id="{9100CD8A-E5A7-40E7-89E7-ABD2697EE221}"/>
              </a:ext>
            </a:extLst>
          </p:cNvPr>
          <p:cNvSpPr>
            <a:spLocks xmlns:a="http://schemas.openxmlformats.org/drawingml/2006/main" noGrp="1"/>
          </p:cNvSpPr>
          <p:nvPr/>
        </p:nvSpPr>
        <p:spPr>
          <a:xfrm xmlns:a="http://schemas.openxmlformats.org/drawingml/2006/main">
            <a:off x="5372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proteins</a:t>
            </a:r>
          </a:p>
        </p:txBody>
      </p:sp>
      <p:sp>
        <p:nvSpPr>
          <p:cNvPr id="14" name="">
            <a:extLst xmlns:a="http://schemas.openxmlformats.org/drawingml/2006/main">
              <a:ext uri="{FF2B5EF4-FFF2-40B4-BE49-F238E27FC236}">
                <a16:creationId xmlns:a16="http://schemas.microsoft.com/office/drawing/2014/main" id="{C8431836-C561-472D-8F67-E181BD330242}"/>
              </a:ext>
            </a:extLst>
          </p:cNvPr>
          <p:cNvSpPr>
            <a:spLocks xmlns:a="http://schemas.openxmlformats.org/drawingml/2006/main" noGrp="1"/>
          </p:cNvSpPr>
          <p:nvPr/>
        </p:nvSpPr>
        <p:spPr>
          <a:xfrm xmlns:a="http://schemas.openxmlformats.org/drawingml/2006/main">
            <a:off x="7543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9E85D4-6858-413B-BBB0-4CCD9FB34E3F}"/>
              </a:ext>
            </a:extLst>
          </p:cNvPr>
          <p:cNvSpPr>
            <a:spLocks xmlns:a="http://schemas.openxmlformats.org/drawingml/2006/main" noGrp="1"/>
          </p:cNvSpPr>
          <p:nvPr/>
        </p:nvSpPr>
        <p:spPr>
          <a:xfrm xmlns:a="http://schemas.openxmlformats.org/drawingml/2006/main">
            <a:off x="7658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DAC7476D-7002-400F-8B58-9ACCB6A0EDCF}"/>
              </a:ext>
            </a:extLst>
          </p:cNvPr>
          <p:cNvSpPr>
            <a:spLocks xmlns:a="http://schemas.openxmlformats.org/drawingml/2006/main" noGrp="1"/>
          </p:cNvSpPr>
          <p:nvPr/>
        </p:nvSpPr>
        <p:spPr>
          <a:xfrm xmlns:a="http://schemas.openxmlformats.org/drawingml/2006/main">
            <a:off x="7658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mice</a:t>
            </a:r>
          </a:p>
        </p:txBody>
      </p:sp>
      <p:sp>
        <p:nvSpPr>
          <p:cNvPr id="17" name="">
            <a:extLst xmlns:a="http://schemas.openxmlformats.org/drawingml/2006/main">
              <a:ext uri="{FF2B5EF4-FFF2-40B4-BE49-F238E27FC236}">
                <a16:creationId xmlns:a16="http://schemas.microsoft.com/office/drawing/2014/main" id="{1899C446-A415-4560-9EF5-5DBF9DC5B081}"/>
              </a:ext>
            </a:extLst>
          </p:cNvPr>
          <p:cNvSpPr>
            <a:spLocks xmlns:a="http://schemas.openxmlformats.org/drawingml/2006/main" noGrp="1"/>
          </p:cNvSpPr>
          <p:nvPr/>
        </p:nvSpPr>
        <p:spPr>
          <a:xfrm xmlns:a="http://schemas.openxmlformats.org/drawingml/2006/main">
            <a:off x="9829800" y="1562100"/>
            <a:ext cx="16764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C24C154-3911-4F55-8985-F3515636E2A9}"/>
              </a:ext>
            </a:extLst>
          </p:cNvPr>
          <p:cNvSpPr>
            <a:spLocks xmlns:a="http://schemas.openxmlformats.org/drawingml/2006/main" noGrp="1"/>
          </p:cNvSpPr>
          <p:nvPr/>
        </p:nvSpPr>
        <p:spPr>
          <a:xfrm xmlns:a="http://schemas.openxmlformats.org/drawingml/2006/main">
            <a:off x="9944100" y="1695450"/>
            <a:ext cx="144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2</a:t>
            </a:r>
          </a:p>
        </p:txBody>
      </p:sp>
      <p:sp>
        <p:nvSpPr>
          <p:cNvPr id="19" name="">
            <a:extLst xmlns:a="http://schemas.openxmlformats.org/drawingml/2006/main">
              <a:ext uri="{FF2B5EF4-FFF2-40B4-BE49-F238E27FC236}">
                <a16:creationId xmlns:a16="http://schemas.microsoft.com/office/drawing/2014/main" id="{E3F8EAB9-8800-4B29-A8A7-2F8480D09B07}"/>
              </a:ext>
            </a:extLst>
          </p:cNvPr>
          <p:cNvSpPr>
            <a:spLocks xmlns:a="http://schemas.openxmlformats.org/drawingml/2006/main" noGrp="1"/>
          </p:cNvSpPr>
          <p:nvPr/>
        </p:nvSpPr>
        <p:spPr>
          <a:xfrm xmlns:a="http://schemas.openxmlformats.org/drawingml/2006/main">
            <a:off x="9944100" y="2181225"/>
            <a:ext cx="144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tissues</a:t>
            </a:r>
          </a:p>
        </p:txBody>
      </p:sp>
      <p:sp>
        <p:nvSpPr>
          <p:cNvPr id="20" name="">
            <a:extLst xmlns:a="http://schemas.openxmlformats.org/drawingml/2006/main">
              <a:ext uri="{FF2B5EF4-FFF2-40B4-BE49-F238E27FC236}">
                <a16:creationId xmlns:a16="http://schemas.microsoft.com/office/drawing/2014/main" id="{8CD8AA8A-9037-4088-A008-0F72D659D1CE}"/>
              </a:ext>
            </a:extLst>
          </p:cNvPr>
          <p:cNvSpPr>
            <a:spLocks xmlns:a="http://schemas.openxmlformats.org/drawingml/2006/main" noGrp="1"/>
          </p:cNvSpPr>
          <p:nvPr/>
        </p:nvSpPr>
        <p:spPr>
          <a:xfrm xmlns:a="http://schemas.openxmlformats.org/drawingml/2006/main">
            <a:off x="800100" y="3162300"/>
            <a:ext cx="46482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B8728E1B-C590-421E-88E3-196D90CB359F}"/>
              </a:ext>
            </a:extLst>
          </p:cNvPr>
          <p:cNvSpPr>
            <a:spLocks xmlns:a="http://schemas.openxmlformats.org/drawingml/2006/main" noGrp="1"/>
          </p:cNvSpPr>
          <p:nvPr/>
        </p:nvSpPr>
        <p:spPr>
          <a:xfrm xmlns:a="http://schemas.openxmlformats.org/drawingml/2006/main">
            <a:off x="1028700" y="33528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83"/>
          </a:bodyPr>
          <a:lstStyle xmlns:a="http://schemas.openxmlformats.org/drawingml/2006/main"/>
          <a:p xmlns:a="http://schemas.openxmlformats.org/drawingml/2006/main">
            <a:pPr algn="l">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Mouse 0</a:t>
            </a:r>
          </a:p>
        </p:txBody>
      </p:sp>
      <p:sp>
        <p:nvSpPr>
          <p:cNvPr id="22" name="">
            <a:extLst xmlns:a="http://schemas.openxmlformats.org/drawingml/2006/main">
              <a:ext uri="{FF2B5EF4-FFF2-40B4-BE49-F238E27FC236}">
                <a16:creationId xmlns:a16="http://schemas.microsoft.com/office/drawing/2014/main" id="{9EAEA243-9B4F-46EF-A2E6-F3F7279E6D8B}"/>
              </a:ext>
            </a:extLst>
          </p:cNvPr>
          <p:cNvSpPr>
            <a:spLocks xmlns:a="http://schemas.openxmlformats.org/drawingml/2006/main" noGrp="1"/>
          </p:cNvSpPr>
          <p:nvPr/>
        </p:nvSpPr>
        <p:spPr>
          <a:xfrm xmlns:a="http://schemas.openxmlformats.org/drawingml/2006/main">
            <a:off x="1028700" y="3790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70"/>
          </a:bodyPr>
          <a:lstStyle xmlns:a="http://schemas.openxmlformats.org/drawingml/2006/main"/>
          <a:p xmlns:a="http://schemas.openxmlformats.org/drawingml/2006/main">
            <a:pPr algn="l">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9,251 cells</a:t>
            </a:r>
          </a:p>
        </p:txBody>
      </p:sp>
      <p:sp>
        <p:nvSpPr>
          <p:cNvPr id="23" name="">
            <a:extLst xmlns:a="http://schemas.openxmlformats.org/drawingml/2006/main">
              <a:ext uri="{FF2B5EF4-FFF2-40B4-BE49-F238E27FC236}">
                <a16:creationId xmlns:a16="http://schemas.microsoft.com/office/drawing/2014/main" id="{46736025-1E41-4E31-B9CB-638964AC999D}"/>
              </a:ext>
            </a:extLst>
          </p:cNvPr>
          <p:cNvSpPr>
            <a:spLocks xmlns:a="http://schemas.openxmlformats.org/drawingml/2006/main" noGrp="1"/>
          </p:cNvSpPr>
          <p:nvPr/>
        </p:nvSpPr>
        <p:spPr>
          <a:xfrm xmlns:a="http://schemas.openxmlformats.org/drawingml/2006/main">
            <a:off x="1028700" y="42100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0">
                <a:solidFill>
                  <a:srgbClr val="64748B"/>
                </a:solidFill>
                <a:latin typeface="Arial"/>
                <a:ea typeface="Arial"/>
                <a:cs typeface="Arial"/>
              </a:defRPr>
            </a:pPr>
            <a:r>
              <a:rPr sz="1350" b="0">
                <a:solidFill>
                  <a:srgbClr val="64748B"/>
                </a:solidFill>
                <a:latin typeface="Arial"/>
                <a:ea typeface="Arial"/>
                <a:cs typeface="Arial"/>
              </a:rPr>
              <a:t>Spleen + lymph node</a:t>
            </a:r>
          </a:p>
        </p:txBody>
      </p:sp>
      <p:sp>
        <p:nvSpPr>
          <p:cNvPr id="24" name="">
            <a:extLst xmlns:a="http://schemas.openxmlformats.org/drawingml/2006/main">
              <a:ext uri="{FF2B5EF4-FFF2-40B4-BE49-F238E27FC236}">
                <a16:creationId xmlns:a16="http://schemas.microsoft.com/office/drawing/2014/main" id="{D4DB4D01-84FE-4228-863E-AAAED97362A8}"/>
              </a:ext>
            </a:extLst>
          </p:cNvPr>
          <p:cNvSpPr>
            <a:spLocks xmlns:a="http://schemas.openxmlformats.org/drawingml/2006/main" noGrp="1"/>
          </p:cNvSpPr>
          <p:nvPr/>
        </p:nvSpPr>
        <p:spPr>
          <a:xfrm xmlns:a="http://schemas.openxmlformats.org/drawingml/2006/main">
            <a:off x="3562350" y="3619500"/>
            <a:ext cx="1562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TEST in fold 0</a:t>
            </a:r>
          </a:p>
          <a:p xmlns:a="http://schemas.openxmlformats.org/drawingml/2006/main">
            <a:pPr algn="ctr">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TRAIN in fold 1</a:t>
            </a:r>
          </a:p>
        </p:txBody>
      </p:sp>
      <p:sp>
        <p:nvSpPr>
          <p:cNvPr id="25" name="">
            <a:extLst xmlns:a="http://schemas.openxmlformats.org/drawingml/2006/main">
              <a:ext uri="{FF2B5EF4-FFF2-40B4-BE49-F238E27FC236}">
                <a16:creationId xmlns:a16="http://schemas.microsoft.com/office/drawing/2014/main" id="{AC724612-C843-4E63-BD19-0EF1A604D215}"/>
              </a:ext>
            </a:extLst>
          </p:cNvPr>
          <p:cNvSpPr>
            <a:spLocks xmlns:a="http://schemas.openxmlformats.org/drawingml/2006/main" noGrp="1"/>
          </p:cNvSpPr>
          <p:nvPr/>
        </p:nvSpPr>
        <p:spPr>
          <a:xfrm xmlns:a="http://schemas.openxmlformats.org/drawingml/2006/main">
            <a:off x="6743700" y="3162300"/>
            <a:ext cx="46482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9525">
            <a:solidFill>
              <a:srgbClr val="CBD5E1"/>
            </a:solidFill>
          </a:ln>
        </p:spPr>
      </p:sp>
      <p:sp>
        <p:nvSpPr>
          <p:cNvPr id="26" name="">
            <a:extLst xmlns:a="http://schemas.openxmlformats.org/drawingml/2006/main">
              <a:ext uri="{FF2B5EF4-FFF2-40B4-BE49-F238E27FC236}">
                <a16:creationId xmlns:a16="http://schemas.microsoft.com/office/drawing/2014/main" id="{46446474-F867-4AC5-A7CB-F5A5E8708314}"/>
              </a:ext>
            </a:extLst>
          </p:cNvPr>
          <p:cNvSpPr>
            <a:spLocks xmlns:a="http://schemas.openxmlformats.org/drawingml/2006/main" noGrp="1"/>
          </p:cNvSpPr>
          <p:nvPr/>
        </p:nvSpPr>
        <p:spPr>
          <a:xfrm xmlns:a="http://schemas.openxmlformats.org/drawingml/2006/main">
            <a:off x="6972300" y="33528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83"/>
          </a:bodyPr>
          <a:lstStyle xmlns:a="http://schemas.openxmlformats.org/drawingml/2006/main"/>
          <a:p xmlns:a="http://schemas.openxmlformats.org/drawingml/2006/main">
            <a:pPr algn="l">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Mouse 1</a:t>
            </a:r>
          </a:p>
        </p:txBody>
      </p:sp>
      <p:sp>
        <p:nvSpPr>
          <p:cNvPr id="27" name="">
            <a:extLst xmlns:a="http://schemas.openxmlformats.org/drawingml/2006/main">
              <a:ext uri="{FF2B5EF4-FFF2-40B4-BE49-F238E27FC236}">
                <a16:creationId xmlns:a16="http://schemas.microsoft.com/office/drawing/2014/main" id="{585271BB-2C91-4025-BF95-966D2D5A6347}"/>
              </a:ext>
            </a:extLst>
          </p:cNvPr>
          <p:cNvSpPr>
            <a:spLocks xmlns:a="http://schemas.openxmlformats.org/drawingml/2006/main" noGrp="1"/>
          </p:cNvSpPr>
          <p:nvPr/>
        </p:nvSpPr>
        <p:spPr>
          <a:xfrm xmlns:a="http://schemas.openxmlformats.org/drawingml/2006/main">
            <a:off x="6972300" y="3790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70"/>
          </a:bodyPr>
          <a:lstStyle xmlns:a="http://schemas.openxmlformats.org/drawingml/2006/main"/>
          <a:p xmlns:a="http://schemas.openxmlformats.org/drawingml/2006/main">
            <a:pPr algn="l">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7,562 cells</a:t>
            </a:r>
          </a:p>
        </p:txBody>
      </p:sp>
      <p:sp>
        <p:nvSpPr>
          <p:cNvPr id="28" name="">
            <a:extLst xmlns:a="http://schemas.openxmlformats.org/drawingml/2006/main">
              <a:ext uri="{FF2B5EF4-FFF2-40B4-BE49-F238E27FC236}">
                <a16:creationId xmlns:a16="http://schemas.microsoft.com/office/drawing/2014/main" id="{72D20953-ABCB-4ABA-834E-B54DD26BB6E9}"/>
              </a:ext>
            </a:extLst>
          </p:cNvPr>
          <p:cNvSpPr>
            <a:spLocks xmlns:a="http://schemas.openxmlformats.org/drawingml/2006/main" noGrp="1"/>
          </p:cNvSpPr>
          <p:nvPr/>
        </p:nvSpPr>
        <p:spPr>
          <a:xfrm xmlns:a="http://schemas.openxmlformats.org/drawingml/2006/main">
            <a:off x="6972300" y="42100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0">
                <a:solidFill>
                  <a:srgbClr val="64748B"/>
                </a:solidFill>
                <a:latin typeface="Arial"/>
                <a:ea typeface="Arial"/>
                <a:cs typeface="Arial"/>
              </a:defRPr>
            </a:pPr>
            <a:r>
              <a:rPr sz="1350" b="0">
                <a:solidFill>
                  <a:srgbClr val="64748B"/>
                </a:solidFill>
                <a:latin typeface="Arial"/>
                <a:ea typeface="Arial"/>
                <a:cs typeface="Arial"/>
              </a:rPr>
              <a:t>Spleen + lymph node</a:t>
            </a:r>
          </a:p>
        </p:txBody>
      </p:sp>
      <p:sp>
        <p:nvSpPr>
          <p:cNvPr id="29" name="">
            <a:extLst xmlns:a="http://schemas.openxmlformats.org/drawingml/2006/main">
              <a:ext uri="{FF2B5EF4-FFF2-40B4-BE49-F238E27FC236}">
                <a16:creationId xmlns:a16="http://schemas.microsoft.com/office/drawing/2014/main" id="{542EC252-9CC0-4712-9A96-1A6A3C7BA197}"/>
              </a:ext>
            </a:extLst>
          </p:cNvPr>
          <p:cNvSpPr>
            <a:spLocks xmlns:a="http://schemas.openxmlformats.org/drawingml/2006/main" noGrp="1"/>
          </p:cNvSpPr>
          <p:nvPr/>
        </p:nvSpPr>
        <p:spPr>
          <a:xfrm xmlns:a="http://schemas.openxmlformats.org/drawingml/2006/main">
            <a:off x="9505950" y="3619500"/>
            <a:ext cx="1562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350" b="1">
                <a:solidFill>
                  <a:srgbClr val="0F9F9A"/>
                </a:solidFill>
                <a:latin typeface="Arial"/>
                <a:ea typeface="Arial"/>
                <a:cs typeface="Arial"/>
              </a:defRPr>
            </a:pPr>
            <a:r>
              <a:rPr sz="1350" b="1">
                <a:solidFill>
                  <a:srgbClr val="0F9F9A"/>
                </a:solidFill>
                <a:latin typeface="Arial"/>
                <a:ea typeface="Arial"/>
                <a:cs typeface="Arial"/>
              </a:rPr>
              <a:t>TRAIN in fold 0</a:t>
            </a:r>
          </a:p>
          <a:p xmlns:a="http://schemas.openxmlformats.org/drawingml/2006/main">
            <a:pPr algn="ctr">
              <a:lnSpc>
                <a:spcPct val="104000"/>
              </a:lnSpc>
              <a:buNone/>
              <a:defRPr sz="1350" b="1">
                <a:solidFill>
                  <a:srgbClr val="0F9F9A"/>
                </a:solidFill>
                <a:latin typeface="Arial"/>
                <a:ea typeface="Arial"/>
                <a:cs typeface="Arial"/>
              </a:defRPr>
            </a:pPr>
            <a:r>
              <a:rPr sz="1350" b="1">
                <a:solidFill>
                  <a:srgbClr val="0F9F9A"/>
                </a:solidFill>
                <a:latin typeface="Arial"/>
                <a:ea typeface="Arial"/>
                <a:cs typeface="Arial"/>
              </a:rPr>
              <a:t>TEST in fold 1</a:t>
            </a:r>
          </a:p>
        </p:txBody>
      </p:sp>
      <p:sp>
        <p:nvSpPr>
          <p:cNvPr id="30" name="">
            <a:extLst xmlns:a="http://schemas.openxmlformats.org/drawingml/2006/main">
              <a:ext uri="{FF2B5EF4-FFF2-40B4-BE49-F238E27FC236}">
                <a16:creationId xmlns:a16="http://schemas.microsoft.com/office/drawing/2014/main" id="{918153A2-3CF7-4E9A-ABD9-7C1C4D5F76B8}"/>
              </a:ext>
            </a:extLst>
          </p:cNvPr>
          <p:cNvSpPr>
            <a:spLocks xmlns:a="http://schemas.openxmlformats.org/drawingml/2006/main" noGrp="1"/>
          </p:cNvSpPr>
          <p:nvPr/>
        </p:nvSpPr>
        <p:spPr>
          <a:xfrm xmlns:a="http://schemas.openxmlformats.org/drawingml/2006/main">
            <a:off x="1676400" y="5715000"/>
            <a:ext cx="883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Every cell from one mouse stays entirely in training or test data</a:t>
            </a:r>
          </a:p>
        </p:txBody>
      </p:sp>
      <p:sp>
        <p:nvSpPr>
          <p:cNvPr id="31" name="">
            <a:extLst xmlns:a="http://schemas.openxmlformats.org/drawingml/2006/main">
              <a:ext uri="{FF2B5EF4-FFF2-40B4-BE49-F238E27FC236}">
                <a16:creationId xmlns:a16="http://schemas.microsoft.com/office/drawing/2014/main" id="{D663563E-D5BF-48A0-A83F-E591A9B2CE62}"/>
              </a:ext>
            </a:extLst>
          </p:cNvPr>
          <p:cNvSpPr>
            <a:spLocks xmlns:a="http://schemas.openxmlformats.org/drawingml/2006/main" noGrp="1"/>
          </p:cNvSpPr>
          <p:nvPr/>
        </p:nvSpPr>
        <p:spPr>
          <a:xfrm xmlns:a="http://schemas.openxmlformats.org/drawingml/2006/main">
            <a:off x="1714500" y="61912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971"/>
          </a:bodyPr>
          <a:lstStyle xmlns:a="http://schemas.openxmlformats.org/drawingml/2006/main"/>
          <a:p xmlns:a="http://schemas.openxmlformats.org/drawingml/2006/main">
            <a:pPr algn="ctr">
              <a:lnSpc>
                <a:spcPct val="104000"/>
              </a:lnSpc>
              <a:buNone/>
              <a:defRPr sz="1050" b="0">
                <a:solidFill>
                  <a:srgbClr val="64748B"/>
                </a:solidFill>
                <a:latin typeface="Arial"/>
                <a:ea typeface="Arial"/>
                <a:cs typeface="Arial"/>
              </a:defRPr>
            </a:pPr>
            <a:r>
              <a:rPr sz="1050" b="0">
                <a:solidFill>
                  <a:srgbClr val="64748B"/>
                </a:solidFill>
                <a:latin typeface="Arial"/>
                <a:ea typeface="Arial"/>
                <a:cs typeface="Arial"/>
              </a:rPr>
              <a:t>Source: Gayoso et al., Nature Methods 2021; official totalVI reproducibility object</a:t>
            </a:r>
          </a:p>
        </p:txBody>
      </p:sp>
    </p:spTree>
    <p:extLst>
      <p:ext uri="{BB962C8B-B14F-4D97-AF65-F5344CB8AC3E}">
        <p14:creationId xmlns:p14="http://schemas.microsoft.com/office/powerpoint/2010/main" val="9623451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BE5B5C6-980B-4F86-9B80-C79510595B50}"/>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METHODS</a:t>
            </a:r>
          </a:p>
        </p:txBody>
      </p:sp>
      <p:sp>
        <p:nvSpPr>
          <p:cNvPr id="2" name="">
            <a:extLst xmlns:a="http://schemas.openxmlformats.org/drawingml/2006/main">
              <a:ext uri="{FF2B5EF4-FFF2-40B4-BE49-F238E27FC236}">
                <a16:creationId xmlns:a16="http://schemas.microsoft.com/office/drawing/2014/main" id="{F20FEC33-A446-44C5-9955-F78F1F24D450}"/>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Two complete prediction pipelines</a:t>
            </a:r>
          </a:p>
        </p:txBody>
      </p:sp>
      <p:sp>
        <p:nvSpPr>
          <p:cNvPr id="3" name="">
            <a:extLst xmlns:a="http://schemas.openxmlformats.org/drawingml/2006/main">
              <a:ext uri="{FF2B5EF4-FFF2-40B4-BE49-F238E27FC236}">
                <a16:creationId xmlns:a16="http://schemas.microsoft.com/office/drawing/2014/main" id="{1A8E724A-CD46-4A2B-92AC-0A2CAEC262C1}"/>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80729E-EFCF-405C-9C2C-CA3D5B919508}"/>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248EA4D-AF70-4863-864A-A57706540DD5}"/>
              </a:ext>
            </a:extLst>
          </p:cNvPr>
          <p:cNvSpPr>
            <a:spLocks xmlns:a="http://schemas.openxmlformats.org/drawingml/2006/main" noGrp="1"/>
          </p:cNvSpPr>
          <p:nvPr/>
        </p:nvSpPr>
        <p:spPr>
          <a:xfrm xmlns:a="http://schemas.openxmlformats.org/drawingml/2006/main">
            <a:off x="609600" y="1504950"/>
            <a:ext cx="5219700" cy="4362450"/>
          </a:xfrm>
          <a:prstGeom xmlns:a="http://schemas.openxmlformats.org/drawingml/2006/main" prst="roundRect">
            <a:avLst>
              <a:gd name="adj" fmla="val 2620"/>
            </a:avLst>
          </a:prstGeom>
          <a:solidFill xmlns:a="http://schemas.openxmlformats.org/drawingml/2006/main">
            <a:srgbClr val="F8FAFC"/>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4BDFB6F7-4992-48DE-A61B-8C93CD9FB08F}"/>
              </a:ext>
            </a:extLst>
          </p:cNvPr>
          <p:cNvSpPr>
            <a:spLocks xmlns:a="http://schemas.openxmlformats.org/drawingml/2006/main" noGrp="1"/>
          </p:cNvSpPr>
          <p:nvPr/>
        </p:nvSpPr>
        <p:spPr>
          <a:xfrm xmlns:a="http://schemas.openxmlformats.org/drawingml/2006/main">
            <a:off x="85725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2400" b="1">
                <a:solidFill>
                  <a:srgbClr val="4F46E5"/>
                </a:solidFill>
                <a:latin typeface="Arial"/>
                <a:ea typeface="Arial"/>
                <a:cs typeface="Arial"/>
              </a:defRPr>
            </a:pPr>
            <a:r>
              <a:rPr sz="2400" b="1">
                <a:solidFill>
                  <a:srgbClr val="4F46E5"/>
                </a:solidFill>
                <a:latin typeface="Arial"/>
                <a:ea typeface="Arial"/>
                <a:cs typeface="Arial"/>
              </a:rPr>
              <a:t>totalVI</a:t>
            </a:r>
          </a:p>
        </p:txBody>
      </p:sp>
      <p:sp>
        <p:nvSpPr>
          <p:cNvPr id="7" name="">
            <a:extLst xmlns:a="http://schemas.openxmlformats.org/drawingml/2006/main">
              <a:ext uri="{FF2B5EF4-FFF2-40B4-BE49-F238E27FC236}">
                <a16:creationId xmlns:a16="http://schemas.microsoft.com/office/drawing/2014/main" id="{35FAB548-0905-464B-92D3-5E87E9E859F0}"/>
              </a:ext>
            </a:extLst>
          </p:cNvPr>
          <p:cNvSpPr>
            <a:spLocks xmlns:a="http://schemas.openxmlformats.org/drawingml/2006/main" noGrp="1"/>
          </p:cNvSpPr>
          <p:nvPr/>
        </p:nvSpPr>
        <p:spPr>
          <a:xfrm xmlns:a="http://schemas.openxmlformats.org/drawingml/2006/main">
            <a:off x="3371850" y="1790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Paper baseline</a:t>
            </a:r>
          </a:p>
        </p:txBody>
      </p:sp>
      <p:sp>
        <p:nvSpPr>
          <p:cNvPr id="8" name="">
            <a:extLst xmlns:a="http://schemas.openxmlformats.org/drawingml/2006/main">
              <a:ext uri="{FF2B5EF4-FFF2-40B4-BE49-F238E27FC236}">
                <a16:creationId xmlns:a16="http://schemas.microsoft.com/office/drawing/2014/main" id="{804D3C86-E974-479E-9183-DEA1393F5FFB}"/>
              </a:ext>
            </a:extLst>
          </p:cNvPr>
          <p:cNvSpPr>
            <a:spLocks xmlns:a="http://schemas.openxmlformats.org/drawingml/2006/main" noGrp="1"/>
          </p:cNvSpPr>
          <p:nvPr/>
        </p:nvSpPr>
        <p:spPr>
          <a:xfrm xmlns:a="http://schemas.openxmlformats.org/drawingml/2006/main">
            <a:off x="895350" y="24003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RNA + 106 visible proteins</a:t>
            </a:r>
          </a:p>
        </p:txBody>
      </p:sp>
      <p:sp>
        <p:nvSpPr>
          <p:cNvPr id="9" name="">
            <a:extLst xmlns:a="http://schemas.openxmlformats.org/drawingml/2006/main">
              <a:ext uri="{FF2B5EF4-FFF2-40B4-BE49-F238E27FC236}">
                <a16:creationId xmlns:a16="http://schemas.microsoft.com/office/drawing/2014/main" id="{E2625095-42AA-481F-9C14-4706B8250427}"/>
              </a:ext>
            </a:extLst>
          </p:cNvPr>
          <p:cNvSpPr>
            <a:spLocks xmlns:a="http://schemas.openxmlformats.org/drawingml/2006/main" noGrp="1"/>
          </p:cNvSpPr>
          <p:nvPr/>
        </p:nvSpPr>
        <p:spPr>
          <a:xfrm xmlns:a="http://schemas.openxmlformats.org/drawingml/2006/main">
            <a:off x="2762250" y="2781300"/>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61"/>
          </a:bodyPr>
          <a:lstStyle xmlns:a="http://schemas.openxmlformats.org/drawingml/2006/main"/>
          <a:p xmlns:a="http://schemas.openxmlformats.org/drawingml/2006/main">
            <a:pPr algn="ctr">
              <a:lnSpc>
                <a:spcPct val="104000"/>
              </a:lnSpc>
              <a:buNone/>
              <a:defRPr sz="1950" b="1">
                <a:solidFill>
                  <a:srgbClr val="64748B"/>
                </a:solidFill>
                <a:latin typeface="Arial"/>
                <a:ea typeface="Arial"/>
                <a:cs typeface="Arial"/>
              </a:defRPr>
            </a:pPr>
            <a:r>
              <a:rPr sz="1950" b="1">
                <a:solidFill>
                  <a:srgbClr val="64748B"/>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225BA9FE-4755-4CC0-9DD8-33A1890D56C9}"/>
              </a:ext>
            </a:extLst>
          </p:cNvPr>
          <p:cNvSpPr>
            <a:spLocks xmlns:a="http://schemas.openxmlformats.org/drawingml/2006/main" noGrp="1"/>
          </p:cNvSpPr>
          <p:nvPr/>
        </p:nvSpPr>
        <p:spPr>
          <a:xfrm xmlns:a="http://schemas.openxmlformats.org/drawingml/2006/main">
            <a:off x="1485900" y="3162300"/>
            <a:ext cx="3467100" cy="6858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1CF2D2-1FF7-4530-811A-7BEAE8EBB6BA}"/>
              </a:ext>
            </a:extLst>
          </p:cNvPr>
          <p:cNvSpPr>
            <a:spLocks xmlns:a="http://schemas.openxmlformats.org/drawingml/2006/main" noGrp="1"/>
          </p:cNvSpPr>
          <p:nvPr/>
        </p:nvSpPr>
        <p:spPr>
          <a:xfrm xmlns:a="http://schemas.openxmlformats.org/drawingml/2006/main">
            <a:off x="1676400" y="3333750"/>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4F46E5"/>
                </a:solidFill>
                <a:latin typeface="Arial"/>
                <a:ea typeface="Arial"/>
                <a:cs typeface="Arial"/>
              </a:defRPr>
            </a:pPr>
            <a:r>
              <a:rPr sz="1725" b="1">
                <a:solidFill>
                  <a:srgbClr val="4F46E5"/>
                </a:solidFill>
                <a:latin typeface="Arial"/>
                <a:ea typeface="Arial"/>
                <a:cs typeface="Arial"/>
              </a:rPr>
              <a:t>joint encoder</a:t>
            </a:r>
          </a:p>
        </p:txBody>
      </p:sp>
      <p:sp>
        <p:nvSpPr>
          <p:cNvPr id="12" name="">
            <a:extLst xmlns:a="http://schemas.openxmlformats.org/drawingml/2006/main">
              <a:ext uri="{FF2B5EF4-FFF2-40B4-BE49-F238E27FC236}">
                <a16:creationId xmlns:a16="http://schemas.microsoft.com/office/drawing/2014/main" id="{7F6EF7D0-F05D-40B5-A242-EEFD44CF402D}"/>
              </a:ext>
            </a:extLst>
          </p:cNvPr>
          <p:cNvSpPr>
            <a:spLocks xmlns:a="http://schemas.openxmlformats.org/drawingml/2006/main" noGrp="1"/>
          </p:cNvSpPr>
          <p:nvPr/>
        </p:nvSpPr>
        <p:spPr>
          <a:xfrm xmlns:a="http://schemas.openxmlformats.org/drawingml/2006/main">
            <a:off x="1485900" y="40386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64748B"/>
                </a:solidFill>
                <a:latin typeface="Arial"/>
                <a:ea typeface="Arial"/>
                <a:cs typeface="Arial"/>
              </a:defRPr>
            </a:pPr>
            <a:r>
              <a:rPr sz="1425" b="1">
                <a:solidFill>
                  <a:srgbClr val="64748B"/>
                </a:solidFill>
                <a:latin typeface="Arial"/>
                <a:ea typeface="Arial"/>
                <a:cs typeface="Arial"/>
              </a:rPr>
              <a:t>↓  15-dimensional latent state  ↓</a:t>
            </a:r>
          </a:p>
        </p:txBody>
      </p:sp>
      <p:sp>
        <p:nvSpPr>
          <p:cNvPr id="13" name="">
            <a:extLst xmlns:a="http://schemas.openxmlformats.org/drawingml/2006/main">
              <a:ext uri="{FF2B5EF4-FFF2-40B4-BE49-F238E27FC236}">
                <a16:creationId xmlns:a16="http://schemas.microsoft.com/office/drawing/2014/main" id="{8D7F883C-EA6F-4EF5-8AD8-7FC98A4AC580}"/>
              </a:ext>
            </a:extLst>
          </p:cNvPr>
          <p:cNvSpPr>
            <a:spLocks xmlns:a="http://schemas.openxmlformats.org/drawingml/2006/main" noGrp="1"/>
          </p:cNvSpPr>
          <p:nvPr/>
        </p:nvSpPr>
        <p:spPr>
          <a:xfrm xmlns:a="http://schemas.openxmlformats.org/drawingml/2006/main">
            <a:off x="1485900" y="4552950"/>
            <a:ext cx="34671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4F46E5"/>
            </a:solidFill>
          </a:ln>
        </p:spPr>
      </p:sp>
      <p:sp>
        <p:nvSpPr>
          <p:cNvPr id="14" name="">
            <a:extLst xmlns:a="http://schemas.openxmlformats.org/drawingml/2006/main">
              <a:ext uri="{FF2B5EF4-FFF2-40B4-BE49-F238E27FC236}">
                <a16:creationId xmlns:a16="http://schemas.microsoft.com/office/drawing/2014/main" id="{C7FF25BD-5BB7-48B5-9B63-6895BBD1C453}"/>
              </a:ext>
            </a:extLst>
          </p:cNvPr>
          <p:cNvSpPr>
            <a:spLocks xmlns:a="http://schemas.openxmlformats.org/drawingml/2006/main" noGrp="1"/>
          </p:cNvSpPr>
          <p:nvPr/>
        </p:nvSpPr>
        <p:spPr>
          <a:xfrm xmlns:a="http://schemas.openxmlformats.org/drawingml/2006/main">
            <a:off x="1676400" y="4724400"/>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69"/>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native protein decoder</a:t>
            </a:r>
          </a:p>
        </p:txBody>
      </p:sp>
      <p:sp>
        <p:nvSpPr>
          <p:cNvPr id="15" name="">
            <a:extLst xmlns:a="http://schemas.openxmlformats.org/drawingml/2006/main">
              <a:ext uri="{FF2B5EF4-FFF2-40B4-BE49-F238E27FC236}">
                <a16:creationId xmlns:a16="http://schemas.microsoft.com/office/drawing/2014/main" id="{07F7E420-CB1D-4E9B-8C9C-309BC0A685D7}"/>
              </a:ext>
            </a:extLst>
          </p:cNvPr>
          <p:cNvSpPr>
            <a:spLocks xmlns:a="http://schemas.openxmlformats.org/drawingml/2006/main" noGrp="1"/>
          </p:cNvSpPr>
          <p:nvPr/>
        </p:nvSpPr>
        <p:spPr>
          <a:xfrm xmlns:a="http://schemas.openxmlformats.org/drawingml/2006/main">
            <a:off x="1485900" y="5429250"/>
            <a:ext cx="346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hidden protein estimate</a:t>
            </a:r>
          </a:p>
        </p:txBody>
      </p:sp>
      <p:sp>
        <p:nvSpPr>
          <p:cNvPr id="16" name="">
            <a:extLst xmlns:a="http://schemas.openxmlformats.org/drawingml/2006/main">
              <a:ext uri="{FF2B5EF4-FFF2-40B4-BE49-F238E27FC236}">
                <a16:creationId xmlns:a16="http://schemas.microsoft.com/office/drawing/2014/main" id="{5FFC169E-5843-4BA9-ACBF-C68BA692CFB9}"/>
              </a:ext>
            </a:extLst>
          </p:cNvPr>
          <p:cNvSpPr>
            <a:spLocks xmlns:a="http://schemas.openxmlformats.org/drawingml/2006/main" noGrp="1"/>
          </p:cNvSpPr>
          <p:nvPr/>
        </p:nvSpPr>
        <p:spPr>
          <a:xfrm xmlns:a="http://schemas.openxmlformats.org/drawingml/2006/main">
            <a:off x="6362700" y="1504950"/>
            <a:ext cx="5219700" cy="4362450"/>
          </a:xfrm>
          <a:prstGeom xmlns:a="http://schemas.openxmlformats.org/drawingml/2006/main" prst="roundRect">
            <a:avLst>
              <a:gd name="adj" fmla="val 2620"/>
            </a:avLst>
          </a:prstGeom>
          <a:solidFill xmlns:a="http://schemas.openxmlformats.org/drawingml/2006/main">
            <a:srgbClr val="FFF7ED"/>
          </a:solidFill>
          <a:ln xmlns:a="http://schemas.openxmlformats.org/drawingml/2006/main" w="9525">
            <a:solidFill>
              <a:srgbClr val="FDBA74"/>
            </a:solidFill>
          </a:ln>
        </p:spPr>
      </p:sp>
      <p:sp>
        <p:nvSpPr>
          <p:cNvPr id="17" name="">
            <a:extLst xmlns:a="http://schemas.openxmlformats.org/drawingml/2006/main">
              <a:ext uri="{FF2B5EF4-FFF2-40B4-BE49-F238E27FC236}">
                <a16:creationId xmlns:a16="http://schemas.microsoft.com/office/drawing/2014/main" id="{8ED019EE-662E-4E5B-BA4F-C96D32D98DFE}"/>
              </a:ext>
            </a:extLst>
          </p:cNvPr>
          <p:cNvSpPr>
            <a:spLocks xmlns:a="http://schemas.openxmlformats.org/drawingml/2006/main" noGrp="1"/>
          </p:cNvSpPr>
          <p:nvPr/>
        </p:nvSpPr>
        <p:spPr>
          <a:xfrm xmlns:a="http://schemas.openxmlformats.org/drawingml/2006/main">
            <a:off x="661035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2400" b="1">
                <a:solidFill>
                  <a:srgbClr val="F97316"/>
                </a:solidFill>
                <a:latin typeface="Arial"/>
                <a:ea typeface="Arial"/>
                <a:cs typeface="Arial"/>
              </a:defRPr>
            </a:pPr>
            <a:r>
              <a:rPr sz="2400" b="1">
                <a:solidFill>
                  <a:srgbClr val="F97316"/>
                </a:solidFill>
                <a:latin typeface="Arial"/>
                <a:ea typeface="Arial"/>
                <a:cs typeface="Arial"/>
              </a:rPr>
              <a:t>FusionVI</a:t>
            </a:r>
          </a:p>
        </p:txBody>
      </p:sp>
      <p:sp>
        <p:nvSpPr>
          <p:cNvPr id="18" name="">
            <a:extLst xmlns:a="http://schemas.openxmlformats.org/drawingml/2006/main">
              <a:ext uri="{FF2B5EF4-FFF2-40B4-BE49-F238E27FC236}">
                <a16:creationId xmlns:a16="http://schemas.microsoft.com/office/drawing/2014/main" id="{2A32C6F3-0226-4D28-A558-260686CF8713}"/>
              </a:ext>
            </a:extLst>
          </p:cNvPr>
          <p:cNvSpPr>
            <a:spLocks xmlns:a="http://schemas.openxmlformats.org/drawingml/2006/main" noGrp="1"/>
          </p:cNvSpPr>
          <p:nvPr/>
        </p:nvSpPr>
        <p:spPr>
          <a:xfrm xmlns:a="http://schemas.openxmlformats.org/drawingml/2006/main">
            <a:off x="9124950" y="1790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Our final model</a:t>
            </a:r>
          </a:p>
        </p:txBody>
      </p:sp>
      <p:sp>
        <p:nvSpPr>
          <p:cNvPr id="19" name="">
            <a:extLst xmlns:a="http://schemas.openxmlformats.org/drawingml/2006/main">
              <a:ext uri="{FF2B5EF4-FFF2-40B4-BE49-F238E27FC236}">
                <a16:creationId xmlns:a16="http://schemas.microsoft.com/office/drawing/2014/main" id="{3A72975B-56C9-4FBF-BAC0-B53CB0D10643}"/>
              </a:ext>
            </a:extLst>
          </p:cNvPr>
          <p:cNvSpPr>
            <a:spLocks xmlns:a="http://schemas.openxmlformats.org/drawingml/2006/main" noGrp="1"/>
          </p:cNvSpPr>
          <p:nvPr/>
        </p:nvSpPr>
        <p:spPr>
          <a:xfrm xmlns:a="http://schemas.openxmlformats.org/drawingml/2006/main">
            <a:off x="6762750" y="2381250"/>
            <a:ext cx="2000250" cy="685800"/>
          </a:xfrm>
          <a:prstGeom xmlns:a="http://schemas.openxmlformats.org/drawingml/2006/main" prst="roundRect">
            <a:avLst>
              <a:gd name="adj" fmla="val 16667"/>
            </a:avLst>
          </a:prstGeom>
          <a:solidFill xmlns:a="http://schemas.openxmlformats.org/drawingml/2006/main">
            <a:srgbClr val="E6FFF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5AD2058-B324-4C7D-A7EB-F71BAB964943}"/>
              </a:ext>
            </a:extLst>
          </p:cNvPr>
          <p:cNvSpPr>
            <a:spLocks xmlns:a="http://schemas.openxmlformats.org/drawingml/2006/main" noGrp="1"/>
          </p:cNvSpPr>
          <p:nvPr/>
        </p:nvSpPr>
        <p:spPr>
          <a:xfrm xmlns:a="http://schemas.openxmlformats.org/drawingml/2006/main">
            <a:off x="9182100" y="2381250"/>
            <a:ext cx="2000250" cy="6858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523793-E2EF-46E8-9260-5D590DD4B3C2}"/>
              </a:ext>
            </a:extLst>
          </p:cNvPr>
          <p:cNvSpPr>
            <a:spLocks xmlns:a="http://schemas.openxmlformats.org/drawingml/2006/main" noGrp="1"/>
          </p:cNvSpPr>
          <p:nvPr/>
        </p:nvSpPr>
        <p:spPr>
          <a:xfrm xmlns:a="http://schemas.openxmlformats.org/drawingml/2006/main">
            <a:off x="6953250" y="25527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1"/>
          </a:bodyPr>
          <a:lstStyle xmlns:a="http://schemas.openxmlformats.org/drawingml/2006/main"/>
          <a:p xmlns:a="http://schemas.openxmlformats.org/drawingml/2006/main">
            <a:pPr algn="ctr">
              <a:lnSpc>
                <a:spcPct val="104000"/>
              </a:lnSpc>
              <a:buNone/>
              <a:defRPr sz="1575" b="1">
                <a:solidFill>
                  <a:srgbClr val="0F9F9A"/>
                </a:solidFill>
                <a:latin typeface="Arial"/>
                <a:ea typeface="Arial"/>
                <a:cs typeface="Arial"/>
              </a:defRPr>
            </a:pPr>
            <a:r>
              <a:rPr sz="1575" b="1">
                <a:solidFill>
                  <a:srgbClr val="0F9F9A"/>
                </a:solidFill>
                <a:latin typeface="Arial"/>
                <a:ea typeface="Arial"/>
                <a:cs typeface="Arial"/>
              </a:rPr>
              <a:t>RNA branch</a:t>
            </a:r>
          </a:p>
        </p:txBody>
      </p:sp>
      <p:sp>
        <p:nvSpPr>
          <p:cNvPr id="22" name="">
            <a:extLst xmlns:a="http://schemas.openxmlformats.org/drawingml/2006/main">
              <a:ext uri="{FF2B5EF4-FFF2-40B4-BE49-F238E27FC236}">
                <a16:creationId xmlns:a16="http://schemas.microsoft.com/office/drawing/2014/main" id="{FEBFB8DC-AAC9-498E-B192-6F2C2D85CDD0}"/>
              </a:ext>
            </a:extLst>
          </p:cNvPr>
          <p:cNvSpPr>
            <a:spLocks xmlns:a="http://schemas.openxmlformats.org/drawingml/2006/main" noGrp="1"/>
          </p:cNvSpPr>
          <p:nvPr/>
        </p:nvSpPr>
        <p:spPr>
          <a:xfrm xmlns:a="http://schemas.openxmlformats.org/drawingml/2006/main">
            <a:off x="9372600" y="25527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1"/>
          </a:bodyPr>
          <a:lstStyle xmlns:a="http://schemas.openxmlformats.org/drawingml/2006/main"/>
          <a:p xmlns:a="http://schemas.openxmlformats.org/drawingml/2006/main">
            <a:pPr algn="ctr">
              <a:lnSpc>
                <a:spcPct val="104000"/>
              </a:lnSpc>
              <a:buNone/>
              <a:defRPr sz="1575" b="1">
                <a:solidFill>
                  <a:srgbClr val="4F46E5"/>
                </a:solidFill>
                <a:latin typeface="Arial"/>
                <a:ea typeface="Arial"/>
                <a:cs typeface="Arial"/>
              </a:defRPr>
            </a:pPr>
            <a:r>
              <a:rPr sz="1575" b="1">
                <a:solidFill>
                  <a:srgbClr val="4F46E5"/>
                </a:solidFill>
                <a:latin typeface="Arial"/>
                <a:ea typeface="Arial"/>
                <a:cs typeface="Arial"/>
              </a:rPr>
              <a:t>protein branch</a:t>
            </a:r>
          </a:p>
        </p:txBody>
      </p:sp>
      <p:sp>
        <p:nvSpPr>
          <p:cNvPr id="23" name="">
            <a:extLst xmlns:a="http://schemas.openxmlformats.org/drawingml/2006/main">
              <a:ext uri="{FF2B5EF4-FFF2-40B4-BE49-F238E27FC236}">
                <a16:creationId xmlns:a16="http://schemas.microsoft.com/office/drawing/2014/main" id="{65386E58-8946-416F-AE0E-0A04A581F4EB}"/>
              </a:ext>
            </a:extLst>
          </p:cNvPr>
          <p:cNvSpPr>
            <a:spLocks xmlns:a="http://schemas.openxmlformats.org/drawingml/2006/main" noGrp="1"/>
          </p:cNvSpPr>
          <p:nvPr/>
        </p:nvSpPr>
        <p:spPr>
          <a:xfrm xmlns:a="http://schemas.openxmlformats.org/drawingml/2006/main">
            <a:off x="7467600" y="327660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56"/>
          </a:bodyPr>
          <a:lstStyle xmlns:a="http://schemas.openxmlformats.org/drawingml/2006/main"/>
          <a:p xmlns:a="http://schemas.openxmlformats.org/drawingml/2006/main">
            <a:pPr algn="ctr">
              <a:lnSpc>
                <a:spcPct val="104000"/>
              </a:lnSpc>
              <a:buNone/>
              <a:defRPr sz="1500" b="1">
                <a:solidFill>
                  <a:srgbClr val="F97316"/>
                </a:solidFill>
                <a:latin typeface="Arial"/>
                <a:ea typeface="Arial"/>
                <a:cs typeface="Arial"/>
              </a:defRPr>
            </a:pPr>
            <a:r>
              <a:rPr sz="1500" b="1">
                <a:solidFill>
                  <a:srgbClr val="F97316"/>
                </a:solidFill>
                <a:latin typeface="Arial"/>
                <a:ea typeface="Arial"/>
                <a:cs typeface="Arial"/>
              </a:rPr>
              <a:t>cell-specific gate</a:t>
            </a:r>
          </a:p>
        </p:txBody>
      </p:sp>
      <p:sp>
        <p:nvSpPr>
          <p:cNvPr id="24" name="">
            <a:extLst xmlns:a="http://schemas.openxmlformats.org/drawingml/2006/main">
              <a:ext uri="{FF2B5EF4-FFF2-40B4-BE49-F238E27FC236}">
                <a16:creationId xmlns:a16="http://schemas.microsoft.com/office/drawing/2014/main" id="{7C881BDC-66D5-4F82-946B-AB4D4CA08952}"/>
              </a:ext>
            </a:extLst>
          </p:cNvPr>
          <p:cNvSpPr>
            <a:spLocks xmlns:a="http://schemas.openxmlformats.org/drawingml/2006/main" noGrp="1"/>
          </p:cNvSpPr>
          <p:nvPr/>
        </p:nvSpPr>
        <p:spPr>
          <a:xfrm xmlns:a="http://schemas.openxmlformats.org/drawingml/2006/main">
            <a:off x="7239000" y="37338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64748B"/>
                </a:solidFill>
                <a:latin typeface="Arial"/>
                <a:ea typeface="Arial"/>
                <a:cs typeface="Arial"/>
              </a:defRPr>
            </a:pPr>
            <a:r>
              <a:rPr sz="1425" b="1">
                <a:solidFill>
                  <a:srgbClr val="64748B"/>
                </a:solidFill>
                <a:latin typeface="Arial"/>
                <a:ea typeface="Arial"/>
                <a:cs typeface="Arial"/>
              </a:rPr>
              <a:t>↓  15-dimensional latent state  ↓</a:t>
            </a:r>
          </a:p>
        </p:txBody>
      </p:sp>
      <p:sp>
        <p:nvSpPr>
          <p:cNvPr id="25" name="">
            <a:extLst xmlns:a="http://schemas.openxmlformats.org/drawingml/2006/main">
              <a:ext uri="{FF2B5EF4-FFF2-40B4-BE49-F238E27FC236}">
                <a16:creationId xmlns:a16="http://schemas.microsoft.com/office/drawing/2014/main" id="{07D26D57-355D-404C-BDEB-EF128588A31B}"/>
              </a:ext>
            </a:extLst>
          </p:cNvPr>
          <p:cNvSpPr>
            <a:spLocks xmlns:a="http://schemas.openxmlformats.org/drawingml/2006/main" noGrp="1"/>
          </p:cNvSpPr>
          <p:nvPr/>
        </p:nvSpPr>
        <p:spPr>
          <a:xfrm xmlns:a="http://schemas.openxmlformats.org/drawingml/2006/main">
            <a:off x="6991350" y="4267200"/>
            <a:ext cx="39624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F97316"/>
            </a:solidFill>
          </a:ln>
        </p:spPr>
      </p:sp>
      <p:sp>
        <p:nvSpPr>
          <p:cNvPr id="26" name="">
            <a:extLst xmlns:a="http://schemas.openxmlformats.org/drawingml/2006/main">
              <a:ext uri="{FF2B5EF4-FFF2-40B4-BE49-F238E27FC236}">
                <a16:creationId xmlns:a16="http://schemas.microsoft.com/office/drawing/2014/main" id="{A9DF196E-4437-43C1-8325-A60846ABB3A4}"/>
              </a:ext>
            </a:extLst>
          </p:cNvPr>
          <p:cNvSpPr>
            <a:spLocks xmlns:a="http://schemas.openxmlformats.org/drawingml/2006/main" noGrp="1"/>
          </p:cNvSpPr>
          <p:nvPr/>
        </p:nvSpPr>
        <p:spPr>
          <a:xfrm xmlns:a="http://schemas.openxmlformats.org/drawingml/2006/main">
            <a:off x="7181850" y="4400550"/>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1"/>
          </a:bodyPr>
          <a:lstStyle xmlns:a="http://schemas.openxmlformats.org/drawingml/2006/main"/>
          <a:p xmlns:a="http://schemas.openxmlformats.org/drawingml/2006/main">
            <a:pPr algn="ctr">
              <a:lnSpc>
                <a:spcPct val="104000"/>
              </a:lnSpc>
              <a:buNone/>
              <a:defRPr sz="1650" b="1">
                <a:solidFill>
                  <a:srgbClr val="F97316"/>
                </a:solidFill>
                <a:latin typeface="Arial"/>
                <a:ea typeface="Arial"/>
                <a:cs typeface="Arial"/>
              </a:defRPr>
            </a:pPr>
            <a:r>
              <a:rPr sz="1650" b="1">
                <a:solidFill>
                  <a:srgbClr val="F97316"/>
                </a:solidFill>
                <a:latin typeface="Arial"/>
                <a:ea typeface="Arial"/>
                <a:cs typeface="Arial"/>
              </a:rPr>
              <a:t>fixed Ridge readout</a:t>
            </a:r>
          </a:p>
        </p:txBody>
      </p:sp>
      <p:sp>
        <p:nvSpPr>
          <p:cNvPr id="27" name="">
            <a:extLst xmlns:a="http://schemas.openxmlformats.org/drawingml/2006/main">
              <a:ext uri="{FF2B5EF4-FFF2-40B4-BE49-F238E27FC236}">
                <a16:creationId xmlns:a16="http://schemas.microsoft.com/office/drawing/2014/main" id="{23AB9E44-6BA2-4038-8E99-A42F94B66A06}"/>
              </a:ext>
            </a:extLst>
          </p:cNvPr>
          <p:cNvSpPr>
            <a:spLocks xmlns:a="http://schemas.openxmlformats.org/drawingml/2006/main" noGrp="1"/>
          </p:cNvSpPr>
          <p:nvPr/>
        </p:nvSpPr>
        <p:spPr>
          <a:xfrm xmlns:a="http://schemas.openxmlformats.org/drawingml/2006/main">
            <a:off x="7181850" y="481965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131"/>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latent + 106 proteins + marker RNA</a:t>
            </a:r>
          </a:p>
        </p:txBody>
      </p:sp>
      <p:sp>
        <p:nvSpPr>
          <p:cNvPr id="28" name="">
            <a:extLst xmlns:a="http://schemas.openxmlformats.org/drawingml/2006/main">
              <a:ext uri="{FF2B5EF4-FFF2-40B4-BE49-F238E27FC236}">
                <a16:creationId xmlns:a16="http://schemas.microsoft.com/office/drawing/2014/main" id="{28B49811-7440-40EF-B727-4511B2979E73}"/>
              </a:ext>
            </a:extLst>
          </p:cNvPr>
          <p:cNvSpPr>
            <a:spLocks xmlns:a="http://schemas.openxmlformats.org/drawingml/2006/main" noGrp="1"/>
          </p:cNvSpPr>
          <p:nvPr/>
        </p:nvSpPr>
        <p:spPr>
          <a:xfrm xmlns:a="http://schemas.openxmlformats.org/drawingml/2006/main">
            <a:off x="7239000" y="5429250"/>
            <a:ext cx="346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hidden protein estimate</a:t>
            </a:r>
          </a:p>
        </p:txBody>
      </p:sp>
      <p:sp>
        <p:nvSpPr>
          <p:cNvPr id="29" name="">
            <a:extLst xmlns:a="http://schemas.openxmlformats.org/drawingml/2006/main">
              <a:ext uri="{FF2B5EF4-FFF2-40B4-BE49-F238E27FC236}">
                <a16:creationId xmlns:a16="http://schemas.microsoft.com/office/drawing/2014/main" id="{03928A01-0443-434A-AB43-65DE4BE6D315}"/>
              </a:ext>
            </a:extLst>
          </p:cNvPr>
          <p:cNvSpPr>
            <a:spLocks xmlns:a="http://schemas.openxmlformats.org/drawingml/2006/main" noGrp="1"/>
          </p:cNvSpPr>
          <p:nvPr/>
        </p:nvSpPr>
        <p:spPr>
          <a:xfrm xmlns:a="http://schemas.openxmlformats.org/drawingml/2006/main">
            <a:off x="2857500" y="61531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ctr">
              <a:lnSpc>
                <a:spcPct val="104000"/>
              </a:lnSpc>
              <a:buNone/>
              <a:defRPr sz="1350" b="1">
                <a:solidFill>
                  <a:srgbClr val="172554"/>
                </a:solidFill>
                <a:latin typeface="Arial"/>
                <a:ea typeface="Arial"/>
                <a:cs typeface="Arial"/>
              </a:defRPr>
            </a:pPr>
            <a:r>
              <a:rPr sz="1350" b="1">
                <a:solidFill>
                  <a:srgbClr val="172554"/>
                </a:solidFill>
                <a:latin typeface="Arial"/>
                <a:ea typeface="Arial"/>
                <a:cs typeface="Arial"/>
              </a:rPr>
              <a:t>The target protein is absent from both model inputs</a:t>
            </a:r>
          </a:p>
        </p:txBody>
      </p:sp>
    </p:spTree>
    <p:extLst>
      <p:ext uri="{BB962C8B-B14F-4D97-AF65-F5344CB8AC3E}">
        <p14:creationId xmlns:p14="http://schemas.microsoft.com/office/powerpoint/2010/main" val="164075632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BDF99C1-8374-4ECF-83BF-7D1E7DCBD044}"/>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30823705-92FA-40A2-A866-96D580EDA332}"/>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Each mouse is evaluated exactly once</a:t>
            </a:r>
          </a:p>
        </p:txBody>
      </p:sp>
      <p:sp>
        <p:nvSpPr>
          <p:cNvPr id="3" name="">
            <a:extLst xmlns:a="http://schemas.openxmlformats.org/drawingml/2006/main">
              <a:ext uri="{FF2B5EF4-FFF2-40B4-BE49-F238E27FC236}">
                <a16:creationId xmlns:a16="http://schemas.microsoft.com/office/drawing/2014/main" id="{68D64409-6EED-4E5F-A4B0-E0947585032C}"/>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B68A19-369A-4F3F-B91C-FBF100FC5920}"/>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017910F-456C-4DF2-B5D5-01F7916C1A96}"/>
              </a:ext>
            </a:extLst>
          </p:cNvPr>
          <p:cNvSpPr>
            <a:spLocks xmlns:a="http://schemas.openxmlformats.org/drawingml/2006/main" noGrp="1"/>
          </p:cNvSpPr>
          <p:nvPr/>
        </p:nvSpPr>
        <p:spPr>
          <a:xfrm xmlns:a="http://schemas.openxmlformats.org/drawingml/2006/main">
            <a:off x="742950" y="1619250"/>
            <a:ext cx="4953000" cy="3067050"/>
          </a:xfrm>
          <a:prstGeom xmlns:a="http://schemas.openxmlformats.org/drawingml/2006/main" prst="roundRect">
            <a:avLst>
              <a:gd name="adj" fmla="val 3727"/>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3FF00756-2E31-402A-ACDE-EAA0822484A3}"/>
              </a:ext>
            </a:extLst>
          </p:cNvPr>
          <p:cNvSpPr>
            <a:spLocks xmlns:a="http://schemas.openxmlformats.org/drawingml/2006/main" noGrp="1"/>
          </p:cNvSpPr>
          <p:nvPr/>
        </p:nvSpPr>
        <p:spPr>
          <a:xfrm xmlns:a="http://schemas.openxmlformats.org/drawingml/2006/main">
            <a:off x="971550" y="18097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lnSpc>
                <a:spcPct val="104000"/>
              </a:lnSpc>
              <a:buNone/>
              <a:defRPr sz="1875" b="1">
                <a:solidFill>
                  <a:srgbClr val="4F46E5"/>
                </a:solidFill>
                <a:latin typeface="Arial"/>
                <a:ea typeface="Arial"/>
                <a:cs typeface="Arial"/>
              </a:defRPr>
            </a:pPr>
            <a:r>
              <a:rPr sz="1875" b="1">
                <a:solidFill>
                  <a:srgbClr val="4F46E5"/>
                </a:solidFill>
                <a:latin typeface="Arial"/>
                <a:ea typeface="Arial"/>
                <a:cs typeface="Arial"/>
              </a:rPr>
              <a:t>Fold 0</a:t>
            </a:r>
          </a:p>
        </p:txBody>
      </p:sp>
      <p:sp>
        <p:nvSpPr>
          <p:cNvPr id="7" name="">
            <a:extLst xmlns:a="http://schemas.openxmlformats.org/drawingml/2006/main">
              <a:ext uri="{FF2B5EF4-FFF2-40B4-BE49-F238E27FC236}">
                <a16:creationId xmlns:a16="http://schemas.microsoft.com/office/drawing/2014/main" id="{BF62B9F3-922F-49F6-83CC-15634D658DBB}"/>
              </a:ext>
            </a:extLst>
          </p:cNvPr>
          <p:cNvSpPr>
            <a:spLocks xmlns:a="http://schemas.openxmlformats.org/drawingml/2006/main" noGrp="1"/>
          </p:cNvSpPr>
          <p:nvPr/>
        </p:nvSpPr>
        <p:spPr>
          <a:xfrm xmlns:a="http://schemas.openxmlformats.org/drawingml/2006/main">
            <a:off x="112395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0F9F9A"/>
                </a:solidFill>
                <a:latin typeface="Arial"/>
                <a:ea typeface="Arial"/>
                <a:cs typeface="Arial"/>
              </a:defRPr>
            </a:pPr>
            <a:r>
              <a:rPr sz="1725" b="1">
                <a:solidFill>
                  <a:srgbClr val="0F9F9A"/>
                </a:solidFill>
                <a:latin typeface="Arial"/>
                <a:ea typeface="Arial"/>
                <a:cs typeface="Arial"/>
              </a:rPr>
              <a:t>Mouse 1</a:t>
            </a:r>
          </a:p>
        </p:txBody>
      </p:sp>
      <p:sp>
        <p:nvSpPr>
          <p:cNvPr id="8" name="">
            <a:extLst xmlns:a="http://schemas.openxmlformats.org/drawingml/2006/main">
              <a:ext uri="{FF2B5EF4-FFF2-40B4-BE49-F238E27FC236}">
                <a16:creationId xmlns:a16="http://schemas.microsoft.com/office/drawing/2014/main" id="{3C4F959A-D4A8-4901-BDE5-70739AEDBB18}"/>
              </a:ext>
            </a:extLst>
          </p:cNvPr>
          <p:cNvSpPr>
            <a:spLocks xmlns:a="http://schemas.openxmlformats.org/drawingml/2006/main" noGrp="1"/>
          </p:cNvSpPr>
          <p:nvPr/>
        </p:nvSpPr>
        <p:spPr>
          <a:xfrm xmlns:a="http://schemas.openxmlformats.org/drawingml/2006/main">
            <a:off x="112395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TRAIN</a:t>
            </a:r>
          </a:p>
        </p:txBody>
      </p:sp>
      <p:sp>
        <p:nvSpPr>
          <p:cNvPr id="9" name="">
            <a:extLst xmlns:a="http://schemas.openxmlformats.org/drawingml/2006/main">
              <a:ext uri="{FF2B5EF4-FFF2-40B4-BE49-F238E27FC236}">
                <a16:creationId xmlns:a16="http://schemas.microsoft.com/office/drawing/2014/main" id="{C63B5CA5-5F91-4C57-A36E-DA7A8CCEA50E}"/>
              </a:ext>
            </a:extLst>
          </p:cNvPr>
          <p:cNvSpPr>
            <a:spLocks xmlns:a="http://schemas.openxmlformats.org/drawingml/2006/main" noGrp="1"/>
          </p:cNvSpPr>
          <p:nvPr/>
        </p:nvSpPr>
        <p:spPr>
          <a:xfrm xmlns:a="http://schemas.openxmlformats.org/drawingml/2006/main">
            <a:off x="2667000" y="26098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11"/>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9F086DC9-0E27-40A0-AE51-1B285BDA4DEF}"/>
              </a:ext>
            </a:extLst>
          </p:cNvPr>
          <p:cNvSpPr>
            <a:spLocks xmlns:a="http://schemas.openxmlformats.org/drawingml/2006/main" noGrp="1"/>
          </p:cNvSpPr>
          <p:nvPr/>
        </p:nvSpPr>
        <p:spPr>
          <a:xfrm xmlns:a="http://schemas.openxmlformats.org/drawingml/2006/main">
            <a:off x="369570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F97316"/>
                </a:solidFill>
                <a:latin typeface="Arial"/>
                <a:ea typeface="Arial"/>
                <a:cs typeface="Arial"/>
              </a:defRPr>
            </a:pPr>
            <a:r>
              <a:rPr sz="1725" b="1">
                <a:solidFill>
                  <a:srgbClr val="F97316"/>
                </a:solidFill>
                <a:latin typeface="Arial"/>
                <a:ea typeface="Arial"/>
                <a:cs typeface="Arial"/>
              </a:rPr>
              <a:t>Mouse 0</a:t>
            </a:r>
          </a:p>
        </p:txBody>
      </p:sp>
      <p:sp>
        <p:nvSpPr>
          <p:cNvPr id="11" name="">
            <a:extLst xmlns:a="http://schemas.openxmlformats.org/drawingml/2006/main">
              <a:ext uri="{FF2B5EF4-FFF2-40B4-BE49-F238E27FC236}">
                <a16:creationId xmlns:a16="http://schemas.microsoft.com/office/drawing/2014/main" id="{732849B5-0B18-46BE-A14F-8A0E51C6DB8B}"/>
              </a:ext>
            </a:extLst>
          </p:cNvPr>
          <p:cNvSpPr>
            <a:spLocks xmlns:a="http://schemas.openxmlformats.org/drawingml/2006/main" noGrp="1"/>
          </p:cNvSpPr>
          <p:nvPr/>
        </p:nvSpPr>
        <p:spPr>
          <a:xfrm xmlns:a="http://schemas.openxmlformats.org/drawingml/2006/main">
            <a:off x="369570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TEST</a:t>
            </a:r>
          </a:p>
        </p:txBody>
      </p:sp>
      <p:sp>
        <p:nvSpPr>
          <p:cNvPr id="12" name="">
            <a:extLst xmlns:a="http://schemas.openxmlformats.org/drawingml/2006/main">
              <a:ext uri="{FF2B5EF4-FFF2-40B4-BE49-F238E27FC236}">
                <a16:creationId xmlns:a16="http://schemas.microsoft.com/office/drawing/2014/main" id="{DB403E97-88DB-4F60-878F-D44B55400253}"/>
              </a:ext>
            </a:extLst>
          </p:cNvPr>
          <p:cNvSpPr>
            <a:spLocks xmlns:a="http://schemas.openxmlformats.org/drawingml/2006/main" noGrp="1"/>
          </p:cNvSpPr>
          <p:nvPr/>
        </p:nvSpPr>
        <p:spPr>
          <a:xfrm xmlns:a="http://schemas.openxmlformats.org/drawingml/2006/main">
            <a:off x="1562100" y="37909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172554"/>
                </a:solidFill>
                <a:latin typeface="Arial"/>
                <a:ea typeface="Arial"/>
                <a:cs typeface="Arial"/>
              </a:defRPr>
            </a:pPr>
            <a:r>
              <a:rPr sz="1425" b="1">
                <a:solidFill>
                  <a:srgbClr val="172554"/>
                </a:solidFill>
                <a:latin typeface="Arial"/>
                <a:ea typeface="Arial"/>
                <a:cs typeface="Arial"/>
              </a:rPr>
              <a:t>9,251 held-out cells</a:t>
            </a:r>
          </a:p>
        </p:txBody>
      </p:sp>
      <p:sp>
        <p:nvSpPr>
          <p:cNvPr id="13" name="">
            <a:extLst xmlns:a="http://schemas.openxmlformats.org/drawingml/2006/main">
              <a:ext uri="{FF2B5EF4-FFF2-40B4-BE49-F238E27FC236}">
                <a16:creationId xmlns:a16="http://schemas.microsoft.com/office/drawing/2014/main" id="{0978D00C-B7C8-4834-9AB4-2B6457E79781}"/>
              </a:ext>
            </a:extLst>
          </p:cNvPr>
          <p:cNvSpPr>
            <a:spLocks xmlns:a="http://schemas.openxmlformats.org/drawingml/2006/main" noGrp="1"/>
          </p:cNvSpPr>
          <p:nvPr/>
        </p:nvSpPr>
        <p:spPr>
          <a:xfrm xmlns:a="http://schemas.openxmlformats.org/drawingml/2006/main">
            <a:off x="6496050" y="1619250"/>
            <a:ext cx="4953000" cy="3067050"/>
          </a:xfrm>
          <a:prstGeom xmlns:a="http://schemas.openxmlformats.org/drawingml/2006/main" prst="roundRect">
            <a:avLst>
              <a:gd name="adj" fmla="val 3727"/>
            </a:avLst>
          </a:prstGeom>
          <a:solidFill xmlns:a="http://schemas.openxmlformats.org/drawingml/2006/main">
            <a:srgbClr val="FFFFFF"/>
          </a:solidFill>
          <a:ln xmlns:a="http://schemas.openxmlformats.org/drawingml/2006/main" w="9525">
            <a:solidFill>
              <a:srgbClr val="CBD5E1"/>
            </a:solidFill>
          </a:ln>
        </p:spPr>
      </p:sp>
      <p:sp>
        <p:nvSpPr>
          <p:cNvPr id="14" name="">
            <a:extLst xmlns:a="http://schemas.openxmlformats.org/drawingml/2006/main">
              <a:ext uri="{FF2B5EF4-FFF2-40B4-BE49-F238E27FC236}">
                <a16:creationId xmlns:a16="http://schemas.microsoft.com/office/drawing/2014/main" id="{3BFD5E64-17D0-496C-8EEF-74976A61239A}"/>
              </a:ext>
            </a:extLst>
          </p:cNvPr>
          <p:cNvSpPr>
            <a:spLocks xmlns:a="http://schemas.openxmlformats.org/drawingml/2006/main" noGrp="1"/>
          </p:cNvSpPr>
          <p:nvPr/>
        </p:nvSpPr>
        <p:spPr>
          <a:xfrm xmlns:a="http://schemas.openxmlformats.org/drawingml/2006/main">
            <a:off x="6724650" y="18097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lnSpc>
                <a:spcPct val="104000"/>
              </a:lnSpc>
              <a:buNone/>
              <a:defRPr sz="1875" b="1">
                <a:solidFill>
                  <a:srgbClr val="4F46E5"/>
                </a:solidFill>
                <a:latin typeface="Arial"/>
                <a:ea typeface="Arial"/>
                <a:cs typeface="Arial"/>
              </a:defRPr>
            </a:pPr>
            <a:r>
              <a:rPr sz="1875" b="1">
                <a:solidFill>
                  <a:srgbClr val="4F46E5"/>
                </a:solidFill>
                <a:latin typeface="Arial"/>
                <a:ea typeface="Arial"/>
                <a:cs typeface="Arial"/>
              </a:rPr>
              <a:t>Fold 1</a:t>
            </a:r>
          </a:p>
        </p:txBody>
      </p:sp>
      <p:sp>
        <p:nvSpPr>
          <p:cNvPr id="15" name="">
            <a:extLst xmlns:a="http://schemas.openxmlformats.org/drawingml/2006/main">
              <a:ext uri="{FF2B5EF4-FFF2-40B4-BE49-F238E27FC236}">
                <a16:creationId xmlns:a16="http://schemas.microsoft.com/office/drawing/2014/main" id="{2500C68D-8330-4D17-A76E-63DD531BA8F2}"/>
              </a:ext>
            </a:extLst>
          </p:cNvPr>
          <p:cNvSpPr>
            <a:spLocks xmlns:a="http://schemas.openxmlformats.org/drawingml/2006/main" noGrp="1"/>
          </p:cNvSpPr>
          <p:nvPr/>
        </p:nvSpPr>
        <p:spPr>
          <a:xfrm xmlns:a="http://schemas.openxmlformats.org/drawingml/2006/main">
            <a:off x="687705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0F9F9A"/>
                </a:solidFill>
                <a:latin typeface="Arial"/>
                <a:ea typeface="Arial"/>
                <a:cs typeface="Arial"/>
              </a:defRPr>
            </a:pPr>
            <a:r>
              <a:rPr sz="1725" b="1">
                <a:solidFill>
                  <a:srgbClr val="0F9F9A"/>
                </a:solidFill>
                <a:latin typeface="Arial"/>
                <a:ea typeface="Arial"/>
                <a:cs typeface="Arial"/>
              </a:rPr>
              <a:t>Mouse 0</a:t>
            </a:r>
          </a:p>
        </p:txBody>
      </p:sp>
      <p:sp>
        <p:nvSpPr>
          <p:cNvPr id="16" name="">
            <a:extLst xmlns:a="http://schemas.openxmlformats.org/drawingml/2006/main">
              <a:ext uri="{FF2B5EF4-FFF2-40B4-BE49-F238E27FC236}">
                <a16:creationId xmlns:a16="http://schemas.microsoft.com/office/drawing/2014/main" id="{45758FCB-C6B2-4F78-886A-59E64D49DDC9}"/>
              </a:ext>
            </a:extLst>
          </p:cNvPr>
          <p:cNvSpPr>
            <a:spLocks xmlns:a="http://schemas.openxmlformats.org/drawingml/2006/main" noGrp="1"/>
          </p:cNvSpPr>
          <p:nvPr/>
        </p:nvSpPr>
        <p:spPr>
          <a:xfrm xmlns:a="http://schemas.openxmlformats.org/drawingml/2006/main">
            <a:off x="687705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TRAIN</a:t>
            </a:r>
          </a:p>
        </p:txBody>
      </p:sp>
      <p:sp>
        <p:nvSpPr>
          <p:cNvPr id="17" name="">
            <a:extLst xmlns:a="http://schemas.openxmlformats.org/drawingml/2006/main">
              <a:ext uri="{FF2B5EF4-FFF2-40B4-BE49-F238E27FC236}">
                <a16:creationId xmlns:a16="http://schemas.microsoft.com/office/drawing/2014/main" id="{48BF84DF-E78B-4919-BAB4-2FE9AC14B317}"/>
              </a:ext>
            </a:extLst>
          </p:cNvPr>
          <p:cNvSpPr>
            <a:spLocks xmlns:a="http://schemas.openxmlformats.org/drawingml/2006/main" noGrp="1"/>
          </p:cNvSpPr>
          <p:nvPr/>
        </p:nvSpPr>
        <p:spPr>
          <a:xfrm xmlns:a="http://schemas.openxmlformats.org/drawingml/2006/main">
            <a:off x="8420100" y="26098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11"/>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4A26D99E-E1B9-4261-9503-55A8D5C46557}"/>
              </a:ext>
            </a:extLst>
          </p:cNvPr>
          <p:cNvSpPr>
            <a:spLocks xmlns:a="http://schemas.openxmlformats.org/drawingml/2006/main" noGrp="1"/>
          </p:cNvSpPr>
          <p:nvPr/>
        </p:nvSpPr>
        <p:spPr>
          <a:xfrm xmlns:a="http://schemas.openxmlformats.org/drawingml/2006/main">
            <a:off x="944880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F97316"/>
                </a:solidFill>
                <a:latin typeface="Arial"/>
                <a:ea typeface="Arial"/>
                <a:cs typeface="Arial"/>
              </a:defRPr>
            </a:pPr>
            <a:r>
              <a:rPr sz="1725" b="1">
                <a:solidFill>
                  <a:srgbClr val="F97316"/>
                </a:solidFill>
                <a:latin typeface="Arial"/>
                <a:ea typeface="Arial"/>
                <a:cs typeface="Arial"/>
              </a:rPr>
              <a:t>Mouse 1</a:t>
            </a:r>
          </a:p>
        </p:txBody>
      </p:sp>
      <p:sp>
        <p:nvSpPr>
          <p:cNvPr id="19" name="">
            <a:extLst xmlns:a="http://schemas.openxmlformats.org/drawingml/2006/main">
              <a:ext uri="{FF2B5EF4-FFF2-40B4-BE49-F238E27FC236}">
                <a16:creationId xmlns:a16="http://schemas.microsoft.com/office/drawing/2014/main" id="{C313DE94-8EF1-4213-AE02-BA008BEEC958}"/>
              </a:ext>
            </a:extLst>
          </p:cNvPr>
          <p:cNvSpPr>
            <a:spLocks xmlns:a="http://schemas.openxmlformats.org/drawingml/2006/main" noGrp="1"/>
          </p:cNvSpPr>
          <p:nvPr/>
        </p:nvSpPr>
        <p:spPr>
          <a:xfrm xmlns:a="http://schemas.openxmlformats.org/drawingml/2006/main">
            <a:off x="944880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TEST</a:t>
            </a:r>
          </a:p>
        </p:txBody>
      </p:sp>
      <p:sp>
        <p:nvSpPr>
          <p:cNvPr id="20" name="">
            <a:extLst xmlns:a="http://schemas.openxmlformats.org/drawingml/2006/main">
              <a:ext uri="{FF2B5EF4-FFF2-40B4-BE49-F238E27FC236}">
                <a16:creationId xmlns:a16="http://schemas.microsoft.com/office/drawing/2014/main" id="{CADF7E40-3C31-4435-9C95-905AE7F3D991}"/>
              </a:ext>
            </a:extLst>
          </p:cNvPr>
          <p:cNvSpPr>
            <a:spLocks xmlns:a="http://schemas.openxmlformats.org/drawingml/2006/main" noGrp="1"/>
          </p:cNvSpPr>
          <p:nvPr/>
        </p:nvSpPr>
        <p:spPr>
          <a:xfrm xmlns:a="http://schemas.openxmlformats.org/drawingml/2006/main">
            <a:off x="7315200" y="37909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172554"/>
                </a:solidFill>
                <a:latin typeface="Arial"/>
                <a:ea typeface="Arial"/>
                <a:cs typeface="Arial"/>
              </a:defRPr>
            </a:pPr>
            <a:r>
              <a:rPr sz="1425" b="1">
                <a:solidFill>
                  <a:srgbClr val="172554"/>
                </a:solidFill>
                <a:latin typeface="Arial"/>
                <a:ea typeface="Arial"/>
                <a:cs typeface="Arial"/>
              </a:rPr>
              <a:t>7,562 held-out cells</a:t>
            </a:r>
          </a:p>
        </p:txBody>
      </p:sp>
      <p:sp>
        <p:nvSpPr>
          <p:cNvPr id="21" name="">
            <a:extLst xmlns:a="http://schemas.openxmlformats.org/drawingml/2006/main">
              <a:ext uri="{FF2B5EF4-FFF2-40B4-BE49-F238E27FC236}">
                <a16:creationId xmlns:a16="http://schemas.microsoft.com/office/drawing/2014/main" id="{B8407948-EE97-48D0-AC2E-A5FE46DA7203}"/>
              </a:ext>
            </a:extLst>
          </p:cNvPr>
          <p:cNvSpPr>
            <a:spLocks xmlns:a="http://schemas.openxmlformats.org/drawingml/2006/main" noGrp="1"/>
          </p:cNvSpPr>
          <p:nvPr/>
        </p:nvSpPr>
        <p:spPr>
          <a:xfrm xmlns:a="http://schemas.openxmlformats.org/drawingml/2006/main">
            <a:off x="933450" y="5162550"/>
            <a:ext cx="2781300" cy="1066800"/>
          </a:xfrm>
          <a:prstGeom xmlns:a="http://schemas.openxmlformats.org/drawingml/2006/main" prst="roundRect">
            <a:avLst>
              <a:gd name="adj" fmla="val 10714"/>
            </a:avLst>
          </a:prstGeom>
          <a:solidFill xmlns:a="http://schemas.openxmlformats.org/drawingml/2006/main">
            <a:srgbClr val="EEF2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AFF4DAB-36A5-49D4-BD24-3855C1AB24FE}"/>
              </a:ext>
            </a:extLst>
          </p:cNvPr>
          <p:cNvSpPr>
            <a:spLocks xmlns:a="http://schemas.openxmlformats.org/drawingml/2006/main" noGrp="1"/>
          </p:cNvSpPr>
          <p:nvPr/>
        </p:nvSpPr>
        <p:spPr>
          <a:xfrm xmlns:a="http://schemas.openxmlformats.org/drawingml/2006/main">
            <a:off x="10477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25</a:t>
            </a:r>
          </a:p>
        </p:txBody>
      </p:sp>
      <p:sp>
        <p:nvSpPr>
          <p:cNvPr id="23" name="">
            <a:extLst xmlns:a="http://schemas.openxmlformats.org/drawingml/2006/main">
              <a:ext uri="{FF2B5EF4-FFF2-40B4-BE49-F238E27FC236}">
                <a16:creationId xmlns:a16="http://schemas.microsoft.com/office/drawing/2014/main" id="{09BAFA56-3124-49E7-BC3E-3C6FB01CCF52}"/>
              </a:ext>
            </a:extLst>
          </p:cNvPr>
          <p:cNvSpPr>
            <a:spLocks xmlns:a="http://schemas.openxmlformats.org/drawingml/2006/main" noGrp="1"/>
          </p:cNvSpPr>
          <p:nvPr/>
        </p:nvSpPr>
        <p:spPr>
          <a:xfrm xmlns:a="http://schemas.openxmlformats.org/drawingml/2006/main">
            <a:off x="10477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epochs per model and fold</a:t>
            </a:r>
          </a:p>
        </p:txBody>
      </p:sp>
      <p:sp>
        <p:nvSpPr>
          <p:cNvPr id="24" name="">
            <a:extLst xmlns:a="http://schemas.openxmlformats.org/drawingml/2006/main">
              <a:ext uri="{FF2B5EF4-FFF2-40B4-BE49-F238E27FC236}">
                <a16:creationId xmlns:a16="http://schemas.microsoft.com/office/drawing/2014/main" id="{98AE51F0-7544-4DC1-BB28-0C904EB3D6C1}"/>
              </a:ext>
            </a:extLst>
          </p:cNvPr>
          <p:cNvSpPr>
            <a:spLocks xmlns:a="http://schemas.openxmlformats.org/drawingml/2006/main" noGrp="1"/>
          </p:cNvSpPr>
          <p:nvPr/>
        </p:nvSpPr>
        <p:spPr>
          <a:xfrm xmlns:a="http://schemas.openxmlformats.org/drawingml/2006/main">
            <a:off x="4705350" y="5162550"/>
            <a:ext cx="2781300" cy="1066800"/>
          </a:xfrm>
          <a:prstGeom xmlns:a="http://schemas.openxmlformats.org/drawingml/2006/main" prst="roundRect">
            <a:avLst>
              <a:gd name="adj" fmla="val 10714"/>
            </a:avLst>
          </a:prstGeom>
          <a:solidFill xmlns:a="http://schemas.openxmlformats.org/drawingml/2006/main">
            <a:srgbClr val="FFF7E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58DE7FF-1B96-4E8E-A235-E3EDFC9BF2D0}"/>
              </a:ext>
            </a:extLst>
          </p:cNvPr>
          <p:cNvSpPr>
            <a:spLocks xmlns:a="http://schemas.openxmlformats.org/drawingml/2006/main" noGrp="1"/>
          </p:cNvSpPr>
          <p:nvPr/>
        </p:nvSpPr>
        <p:spPr>
          <a:xfrm xmlns:a="http://schemas.openxmlformats.org/drawingml/2006/main">
            <a:off x="48196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E73E0E2A-F2BB-42F3-A095-9B13D5F9AFB5}"/>
              </a:ext>
            </a:extLst>
          </p:cNvPr>
          <p:cNvSpPr>
            <a:spLocks xmlns:a="http://schemas.openxmlformats.org/drawingml/2006/main" noGrp="1"/>
          </p:cNvSpPr>
          <p:nvPr/>
        </p:nvSpPr>
        <p:spPr>
          <a:xfrm xmlns:a="http://schemas.openxmlformats.org/drawingml/2006/main">
            <a:off x="48196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proteins hidden together</a:t>
            </a:r>
          </a:p>
        </p:txBody>
      </p:sp>
      <p:sp>
        <p:nvSpPr>
          <p:cNvPr id="27" name="">
            <a:extLst xmlns:a="http://schemas.openxmlformats.org/drawingml/2006/main">
              <a:ext uri="{FF2B5EF4-FFF2-40B4-BE49-F238E27FC236}">
                <a16:creationId xmlns:a16="http://schemas.microsoft.com/office/drawing/2014/main" id="{12EE282A-54D3-44F4-902D-5AADD3FB530F}"/>
              </a:ext>
            </a:extLst>
          </p:cNvPr>
          <p:cNvSpPr>
            <a:spLocks xmlns:a="http://schemas.openxmlformats.org/drawingml/2006/main" noGrp="1"/>
          </p:cNvSpPr>
          <p:nvPr/>
        </p:nvSpPr>
        <p:spPr>
          <a:xfrm xmlns:a="http://schemas.openxmlformats.org/drawingml/2006/main">
            <a:off x="8477250" y="5162550"/>
            <a:ext cx="2781300" cy="1066800"/>
          </a:xfrm>
          <a:prstGeom xmlns:a="http://schemas.openxmlformats.org/drawingml/2006/main" prst="roundRect">
            <a:avLst>
              <a:gd name="adj" fmla="val 10714"/>
            </a:avLst>
          </a:prstGeom>
          <a:solidFill xmlns:a="http://schemas.openxmlformats.org/drawingml/2006/main">
            <a:srgbClr val="E6FF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46A129F-9866-46FD-9E05-39B4A7435D61}"/>
              </a:ext>
            </a:extLst>
          </p:cNvPr>
          <p:cNvSpPr>
            <a:spLocks xmlns:a="http://schemas.openxmlformats.org/drawingml/2006/main" noGrp="1"/>
          </p:cNvSpPr>
          <p:nvPr/>
        </p:nvSpPr>
        <p:spPr>
          <a:xfrm xmlns:a="http://schemas.openxmlformats.org/drawingml/2006/main">
            <a:off x="85915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ρ</a:t>
            </a:r>
          </a:p>
        </p:txBody>
      </p:sp>
      <p:sp>
        <p:nvSpPr>
          <p:cNvPr id="29" name="">
            <a:extLst xmlns:a="http://schemas.openxmlformats.org/drawingml/2006/main">
              <a:ext uri="{FF2B5EF4-FFF2-40B4-BE49-F238E27FC236}">
                <a16:creationId xmlns:a16="http://schemas.microsoft.com/office/drawing/2014/main" id="{13349B22-BFCD-4AAB-955D-6441591D0192}"/>
              </a:ext>
            </a:extLst>
          </p:cNvPr>
          <p:cNvSpPr>
            <a:spLocks xmlns:a="http://schemas.openxmlformats.org/drawingml/2006/main" noGrp="1"/>
          </p:cNvSpPr>
          <p:nvPr/>
        </p:nvSpPr>
        <p:spPr>
          <a:xfrm xmlns:a="http://schemas.openxmlformats.org/drawingml/2006/main">
            <a:off x="85915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Spearman rank correlation</a:t>
            </a:r>
          </a:p>
        </p:txBody>
      </p:sp>
    </p:spTree>
    <p:extLst>
      <p:ext uri="{BB962C8B-B14F-4D97-AF65-F5344CB8AC3E}">
        <p14:creationId xmlns:p14="http://schemas.microsoft.com/office/powerpoint/2010/main" val="8929817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F267E6-61F2-45D9-B0AF-FAA129137D17}"/>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667908BC-F6F2-40F0-B811-06958F3D64C2}"/>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FusionVI improves every hidden marker</a:t>
            </a:r>
          </a:p>
        </p:txBody>
      </p:sp>
      <p:sp>
        <p:nvSpPr>
          <p:cNvPr id="3" name="">
            <a:extLst xmlns:a="http://schemas.openxmlformats.org/drawingml/2006/main">
              <a:ext uri="{FF2B5EF4-FFF2-40B4-BE49-F238E27FC236}">
                <a16:creationId xmlns:a16="http://schemas.microsoft.com/office/drawing/2014/main" id="{344ED4BE-14D5-4F63-B7DD-91F5CF6C05C9}"/>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B8ECBE-FB8B-4E70-928B-93DE5B6DCC4C}"/>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347b6711534ccd"/>
          <a:stretch xmlns:a="http://schemas.openxmlformats.org/drawingml/2006/main"/>
        </p:blipFill>
        <p:spPr>
          <a:xfrm xmlns:a="http://schemas.openxmlformats.org/drawingml/2006/main">
            <a:off x="400050" y="1796191"/>
            <a:ext cx="8382000" cy="395141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317CC44-B0BD-4712-99AD-7087D1CE7A99}"/>
              </a:ext>
            </a:extLst>
          </p:cNvPr>
          <p:cNvSpPr>
            <a:spLocks xmlns:a="http://schemas.openxmlformats.org/drawingml/2006/main" noGrp="1"/>
          </p:cNvSpPr>
          <p:nvPr/>
        </p:nvSpPr>
        <p:spPr>
          <a:xfrm xmlns:a="http://schemas.openxmlformats.org/drawingml/2006/main">
            <a:off x="8896350" y="1581150"/>
            <a:ext cx="2705100" cy="1562100"/>
          </a:xfrm>
          <a:prstGeom xmlns:a="http://schemas.openxmlformats.org/drawingml/2006/main" prst="roundRect">
            <a:avLst>
              <a:gd name="adj" fmla="val 7317"/>
            </a:avLst>
          </a:prstGeom>
          <a:solidFill xmlns:a="http://schemas.openxmlformats.org/drawingml/2006/main">
            <a:srgbClr val="FFF7ED"/>
          </a:solidFill>
          <a:ln xmlns:a="http://schemas.openxmlformats.org/drawingml/2006/main" w="9525">
            <a:solidFill>
              <a:srgbClr val="FDBA74"/>
            </a:solidFill>
          </a:ln>
        </p:spPr>
      </p:sp>
      <p:sp>
        <p:nvSpPr>
          <p:cNvPr id="7" name="">
            <a:extLst xmlns:a="http://schemas.openxmlformats.org/drawingml/2006/main">
              <a:ext uri="{FF2B5EF4-FFF2-40B4-BE49-F238E27FC236}">
                <a16:creationId xmlns:a16="http://schemas.microsoft.com/office/drawing/2014/main" id="{8FD55909-2206-49E3-87D0-A9B30A8AFDC8}"/>
              </a:ext>
            </a:extLst>
          </p:cNvPr>
          <p:cNvSpPr>
            <a:spLocks xmlns:a="http://schemas.openxmlformats.org/drawingml/2006/main" noGrp="1"/>
          </p:cNvSpPr>
          <p:nvPr/>
        </p:nvSpPr>
        <p:spPr>
          <a:xfrm xmlns:a="http://schemas.openxmlformats.org/drawingml/2006/main">
            <a:off x="9086850" y="175260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841"/>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+0.095</a:t>
            </a:r>
          </a:p>
        </p:txBody>
      </p:sp>
      <p:sp>
        <p:nvSpPr>
          <p:cNvPr id="8" name="">
            <a:extLst xmlns:a="http://schemas.openxmlformats.org/drawingml/2006/main">
              <a:ext uri="{FF2B5EF4-FFF2-40B4-BE49-F238E27FC236}">
                <a16:creationId xmlns:a16="http://schemas.microsoft.com/office/drawing/2014/main" id="{50A4FB8A-D794-4913-895D-771393A6FE65}"/>
              </a:ext>
            </a:extLst>
          </p:cNvPr>
          <p:cNvSpPr>
            <a:spLocks xmlns:a="http://schemas.openxmlformats.org/drawingml/2006/main" noGrp="1"/>
          </p:cNvSpPr>
          <p:nvPr/>
        </p:nvSpPr>
        <p:spPr>
          <a:xfrm xmlns:a="http://schemas.openxmlformats.org/drawingml/2006/main">
            <a:off x="9086850" y="23431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ctr">
              <a:lnSpc>
                <a:spcPct val="104000"/>
              </a:lnSpc>
              <a:buNone/>
              <a:defRPr sz="1275" b="1">
                <a:solidFill>
                  <a:srgbClr val="64748B"/>
                </a:solidFill>
                <a:latin typeface="Arial"/>
                <a:ea typeface="Arial"/>
                <a:cs typeface="Arial"/>
              </a:defRPr>
            </a:pPr>
            <a:r>
              <a:rPr sz="1275" b="1">
                <a:solidFill>
                  <a:srgbClr val="64748B"/>
                </a:solidFill>
                <a:latin typeface="Arial"/>
                <a:ea typeface="Arial"/>
                <a:cs typeface="Arial"/>
              </a:rPr>
              <a:t>mean Spearman gain</a:t>
            </a:r>
          </a:p>
        </p:txBody>
      </p:sp>
      <p:sp>
        <p:nvSpPr>
          <p:cNvPr id="9" name="">
            <a:extLst xmlns:a="http://schemas.openxmlformats.org/drawingml/2006/main">
              <a:ext uri="{FF2B5EF4-FFF2-40B4-BE49-F238E27FC236}">
                <a16:creationId xmlns:a16="http://schemas.microsoft.com/office/drawing/2014/main" id="{732A923F-32B8-4CF9-B665-A6BDDB65916D}"/>
              </a:ext>
            </a:extLst>
          </p:cNvPr>
          <p:cNvSpPr>
            <a:spLocks xmlns:a="http://schemas.openxmlformats.org/drawingml/2006/main" noGrp="1"/>
          </p:cNvSpPr>
          <p:nvPr/>
        </p:nvSpPr>
        <p:spPr>
          <a:xfrm xmlns:a="http://schemas.openxmlformats.org/drawingml/2006/main">
            <a:off x="9086850" y="27432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ctr">
              <a:lnSpc>
                <a:spcPct val="104000"/>
              </a:lnSpc>
              <a:buNone/>
              <a:defRPr sz="1500" b="1">
                <a:solidFill>
                  <a:srgbClr val="172554"/>
                </a:solidFill>
                <a:latin typeface="Arial"/>
                <a:ea typeface="Arial"/>
                <a:cs typeface="Arial"/>
              </a:defRPr>
            </a:pPr>
            <a:r>
              <a:rPr sz="1500" b="1">
                <a:solidFill>
                  <a:srgbClr val="172554"/>
                </a:solidFill>
                <a:latin typeface="Arial"/>
                <a:ea typeface="Arial"/>
                <a:cs typeface="Arial"/>
              </a:rPr>
              <a:t>0.578 → 0.673</a:t>
            </a:r>
          </a:p>
        </p:txBody>
      </p:sp>
      <p:sp>
        <p:nvSpPr>
          <p:cNvPr id="10" name="">
            <a:extLst xmlns:a="http://schemas.openxmlformats.org/drawingml/2006/main">
              <a:ext uri="{FF2B5EF4-FFF2-40B4-BE49-F238E27FC236}">
                <a16:creationId xmlns:a16="http://schemas.microsoft.com/office/drawing/2014/main" id="{08300759-39E3-4CF1-820E-A11602EAD414}"/>
              </a:ext>
            </a:extLst>
          </p:cNvPr>
          <p:cNvSpPr>
            <a:spLocks xmlns:a="http://schemas.openxmlformats.org/drawingml/2006/main" noGrp="1"/>
          </p:cNvSpPr>
          <p:nvPr/>
        </p:nvSpPr>
        <p:spPr>
          <a:xfrm xmlns:a="http://schemas.openxmlformats.org/drawingml/2006/main">
            <a:off x="8896350" y="3371850"/>
            <a:ext cx="27051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CBD5E1"/>
            </a:solidFill>
          </a:ln>
        </p:spPr>
      </p:sp>
      <p:sp>
        <p:nvSpPr>
          <p:cNvPr id="11" name="">
            <a:extLst xmlns:a="http://schemas.openxmlformats.org/drawingml/2006/main">
              <a:ext uri="{FF2B5EF4-FFF2-40B4-BE49-F238E27FC236}">
                <a16:creationId xmlns:a16="http://schemas.microsoft.com/office/drawing/2014/main" id="{1345081A-BC6A-4C65-B072-FFA6C3951AA3}"/>
              </a:ext>
            </a:extLst>
          </p:cNvPr>
          <p:cNvSpPr>
            <a:spLocks xmlns:a="http://schemas.openxmlformats.org/drawingml/2006/main" noGrp="1"/>
          </p:cNvSpPr>
          <p:nvPr/>
        </p:nvSpPr>
        <p:spPr>
          <a:xfrm xmlns:a="http://schemas.openxmlformats.org/drawingml/2006/main">
            <a:off x="9086850" y="35623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32"/>
          </a:bodyPr>
          <a:lstStyle xmlns:a="http://schemas.openxmlformats.org/drawingml/2006/main"/>
          <a:p xmlns:a="http://schemas.openxmlformats.org/drawingml/2006/main">
            <a:pPr algn="ctr">
              <a:lnSpc>
                <a:spcPct val="104000"/>
              </a:lnSpc>
              <a:buNone/>
              <a:defRPr sz="1425" b="1">
                <a:solidFill>
                  <a:srgbClr val="4F46E5"/>
                </a:solidFill>
                <a:latin typeface="Arial"/>
                <a:ea typeface="Arial"/>
                <a:cs typeface="Arial"/>
              </a:defRPr>
            </a:pPr>
            <a:r>
              <a:rPr sz="1425" b="1">
                <a:solidFill>
                  <a:srgbClr val="4F46E5"/>
                </a:solidFill>
                <a:latin typeface="Arial"/>
                <a:ea typeface="Arial"/>
                <a:cs typeface="Arial"/>
              </a:rPr>
              <a:t>Gain by marker</a:t>
            </a:r>
          </a:p>
        </p:txBody>
      </p:sp>
      <p:sp>
        <p:nvSpPr>
          <p:cNvPr id="12" name="">
            <a:extLst xmlns:a="http://schemas.openxmlformats.org/drawingml/2006/main">
              <a:ext uri="{FF2B5EF4-FFF2-40B4-BE49-F238E27FC236}">
                <a16:creationId xmlns:a16="http://schemas.microsoft.com/office/drawing/2014/main" id="{DB6548DB-2197-47E4-805B-5199FB458C2B}"/>
              </a:ext>
            </a:extLst>
          </p:cNvPr>
          <p:cNvSpPr>
            <a:spLocks xmlns:a="http://schemas.openxmlformats.org/drawingml/2006/main" noGrp="1"/>
          </p:cNvSpPr>
          <p:nvPr/>
        </p:nvSpPr>
        <p:spPr>
          <a:xfrm xmlns:a="http://schemas.openxmlformats.org/drawingml/2006/main">
            <a:off x="9353550" y="4057650"/>
            <a:ext cx="1809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CD20   +0.115</a:t>
            </a:r>
          </a:p>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CD28   +0.072</a:t>
            </a:r>
          </a:p>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CD4     +0.084</a:t>
            </a:r>
          </a:p>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CD8a   +0.110</a:t>
            </a:r>
          </a:p>
        </p:txBody>
      </p:sp>
      <p:sp>
        <p:nvSpPr>
          <p:cNvPr id="13" name="">
            <a:extLst xmlns:a="http://schemas.openxmlformats.org/drawingml/2006/main">
              <a:ext uri="{FF2B5EF4-FFF2-40B4-BE49-F238E27FC236}">
                <a16:creationId xmlns:a16="http://schemas.microsoft.com/office/drawing/2014/main" id="{F35BEFAB-1C48-406F-98A0-D113E5455B98}"/>
              </a:ext>
            </a:extLst>
          </p:cNvPr>
          <p:cNvSpPr>
            <a:spLocks xmlns:a="http://schemas.openxmlformats.org/drawingml/2006/main" noGrp="1"/>
          </p:cNvSpPr>
          <p:nvPr/>
        </p:nvSpPr>
        <p:spPr>
          <a:xfrm xmlns:a="http://schemas.openxmlformats.org/drawingml/2006/main">
            <a:off x="9010650" y="5886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16A34A"/>
                </a:solidFill>
                <a:latin typeface="Arial"/>
                <a:ea typeface="Arial"/>
                <a:cs typeface="Arial"/>
              </a:defRPr>
            </a:pPr>
            <a:r>
              <a:rPr sz="1200" b="1">
                <a:solidFill>
                  <a:srgbClr val="16A34A"/>
                </a:solidFill>
                <a:latin typeface="Arial"/>
                <a:ea typeface="Arial"/>
                <a:cs typeface="Arial"/>
              </a:rPr>
              <a:t>Both held-out directions improved</a:t>
            </a:r>
          </a:p>
        </p:txBody>
      </p:sp>
    </p:spTree>
    <p:extLst>
      <p:ext uri="{BB962C8B-B14F-4D97-AF65-F5344CB8AC3E}">
        <p14:creationId xmlns:p14="http://schemas.microsoft.com/office/powerpoint/2010/main" val="162567536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565159-F534-450A-9E0D-E614FF783A4C}"/>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ED8CF314-CC16-4DF7-927B-B179C62995DB}"/>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Lineage context drives the largest gains</a:t>
            </a:r>
          </a:p>
        </p:txBody>
      </p:sp>
      <p:sp>
        <p:nvSpPr>
          <p:cNvPr id="3" name="">
            <a:extLst xmlns:a="http://schemas.openxmlformats.org/drawingml/2006/main">
              <a:ext uri="{FF2B5EF4-FFF2-40B4-BE49-F238E27FC236}">
                <a16:creationId xmlns:a16="http://schemas.microsoft.com/office/drawing/2014/main" id="{9EA83102-8C6E-4BEF-97CF-01C8294D8495}"/>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13BFF6-7938-406D-BD8B-09AD81DEA686}"/>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3FAF111-7ADB-4D8D-8244-B0B41805C553}"/>
              </a:ext>
            </a:extLst>
          </p:cNvPr>
          <p:cNvSpPr>
            <a:spLocks xmlns:a="http://schemas.openxmlformats.org/drawingml/2006/main" noGrp="1"/>
          </p:cNvSpPr>
          <p:nvPr/>
        </p:nvSpPr>
        <p:spPr>
          <a:xfrm xmlns:a="http://schemas.openxmlformats.org/drawingml/2006/main">
            <a:off x="628650" y="1581150"/>
            <a:ext cx="5219700" cy="19050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7653D063-2364-4DA3-83F0-9AB30ED0A9E0}"/>
              </a:ext>
            </a:extLst>
          </p:cNvPr>
          <p:cNvSpPr>
            <a:spLocks xmlns:a="http://schemas.openxmlformats.org/drawingml/2006/main" noGrp="1"/>
          </p:cNvSpPr>
          <p:nvPr/>
        </p:nvSpPr>
        <p:spPr>
          <a:xfrm xmlns:a="http://schemas.openxmlformats.org/drawingml/2006/main">
            <a:off x="857250" y="17907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826"/>
          </a:bodyPr>
          <a:lstStyle xmlns:a="http://schemas.openxmlformats.org/drawingml/2006/main"/>
          <a:p xmlns:a="http://schemas.openxmlformats.org/drawingml/2006/main">
            <a:pPr algn="l">
              <a:lnSpc>
                <a:spcPct val="104000"/>
              </a:lnSpc>
              <a:buNone/>
              <a:defRPr sz="2100" b="1">
                <a:solidFill>
                  <a:srgbClr val="F97316"/>
                </a:solidFill>
                <a:latin typeface="Arial"/>
                <a:ea typeface="Arial"/>
                <a:cs typeface="Arial"/>
              </a:defRPr>
            </a:pPr>
            <a:r>
              <a:rPr sz="2100" b="1">
                <a:solidFill>
                  <a:srgbClr val="F97316"/>
                </a:solidFill>
                <a:latin typeface="Arial"/>
                <a:ea typeface="Arial"/>
                <a:cs typeface="Arial"/>
              </a:rPr>
              <a:t>CD20 and CD8a</a:t>
            </a:r>
          </a:p>
        </p:txBody>
      </p:sp>
      <p:sp>
        <p:nvSpPr>
          <p:cNvPr id="7" name="">
            <a:extLst xmlns:a="http://schemas.openxmlformats.org/drawingml/2006/main">
              <a:ext uri="{FF2B5EF4-FFF2-40B4-BE49-F238E27FC236}">
                <a16:creationId xmlns:a16="http://schemas.microsoft.com/office/drawing/2014/main" id="{4D945D87-BF14-4D1A-A192-8B781D5FFEAB}"/>
              </a:ext>
            </a:extLst>
          </p:cNvPr>
          <p:cNvSpPr>
            <a:spLocks xmlns:a="http://schemas.openxmlformats.org/drawingml/2006/main" noGrp="1"/>
          </p:cNvSpPr>
          <p:nvPr/>
        </p:nvSpPr>
        <p:spPr>
          <a:xfrm xmlns:a="http://schemas.openxmlformats.org/drawingml/2006/main">
            <a:off x="857250" y="228600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75" b="0">
                <a:solidFill>
                  <a:srgbClr val="172554"/>
                </a:solidFill>
                <a:latin typeface="Arial"/>
                <a:ea typeface="Arial"/>
                <a:cs typeface="Arial"/>
              </a:defRPr>
            </a:pPr>
            <a:r>
              <a:rPr sz="1575" b="0">
                <a:solidFill>
                  <a:srgbClr val="172554"/>
                </a:solidFill>
                <a:latin typeface="Arial"/>
                <a:ea typeface="Arial"/>
                <a:cs typeface="Arial"/>
              </a:rPr>
              <a:t>The remaining protein panel strongly encodes B-cell and cytotoxic-T-cell identity. FusionVI can use that context when the target marker is missing.</a:t>
            </a:r>
          </a:p>
        </p:txBody>
      </p:sp>
      <p:sp>
        <p:nvSpPr>
          <p:cNvPr id="8" name="">
            <a:extLst xmlns:a="http://schemas.openxmlformats.org/drawingml/2006/main">
              <a:ext uri="{FF2B5EF4-FFF2-40B4-BE49-F238E27FC236}">
                <a16:creationId xmlns:a16="http://schemas.microsoft.com/office/drawing/2014/main" id="{470888BD-9ECE-4C75-8AE5-793D0CB2C3DE}"/>
              </a:ext>
            </a:extLst>
          </p:cNvPr>
          <p:cNvSpPr>
            <a:spLocks xmlns:a="http://schemas.openxmlformats.org/drawingml/2006/main" noGrp="1"/>
          </p:cNvSpPr>
          <p:nvPr/>
        </p:nvSpPr>
        <p:spPr>
          <a:xfrm xmlns:a="http://schemas.openxmlformats.org/drawingml/2006/main">
            <a:off x="6343650" y="1581150"/>
            <a:ext cx="5219700" cy="19050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981E7FD3-055A-4258-A679-8122C15DAA47}"/>
              </a:ext>
            </a:extLst>
          </p:cNvPr>
          <p:cNvSpPr>
            <a:spLocks xmlns:a="http://schemas.openxmlformats.org/drawingml/2006/main" noGrp="1"/>
          </p:cNvSpPr>
          <p:nvPr/>
        </p:nvSpPr>
        <p:spPr>
          <a:xfrm xmlns:a="http://schemas.openxmlformats.org/drawingml/2006/main">
            <a:off x="6572250" y="17907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826"/>
          </a:bodyPr>
          <a:lstStyle xmlns:a="http://schemas.openxmlformats.org/drawingml/2006/main"/>
          <a:p xmlns:a="http://schemas.openxmlformats.org/drawingml/2006/main">
            <a:pPr algn="l">
              <a:lnSpc>
                <a:spcPct val="104000"/>
              </a:lnSpc>
              <a:buNone/>
              <a:defRPr sz="2100" b="1">
                <a:solidFill>
                  <a:srgbClr val="0F9F9A"/>
                </a:solidFill>
                <a:latin typeface="Arial"/>
                <a:ea typeface="Arial"/>
                <a:cs typeface="Arial"/>
              </a:defRPr>
            </a:pPr>
            <a:r>
              <a:rPr sz="2100" b="1">
                <a:solidFill>
                  <a:srgbClr val="0F9F9A"/>
                </a:solidFill>
                <a:latin typeface="Arial"/>
                <a:ea typeface="Arial"/>
                <a:cs typeface="Arial"/>
              </a:rPr>
              <a:t>CD28</a:t>
            </a:r>
          </a:p>
        </p:txBody>
      </p:sp>
      <p:sp>
        <p:nvSpPr>
          <p:cNvPr id="10" name="">
            <a:extLst xmlns:a="http://schemas.openxmlformats.org/drawingml/2006/main">
              <a:ext uri="{FF2B5EF4-FFF2-40B4-BE49-F238E27FC236}">
                <a16:creationId xmlns:a16="http://schemas.microsoft.com/office/drawing/2014/main" id="{73B9DE85-DEE7-41FE-9C34-67B0860A9D52}"/>
              </a:ext>
            </a:extLst>
          </p:cNvPr>
          <p:cNvSpPr>
            <a:spLocks xmlns:a="http://schemas.openxmlformats.org/drawingml/2006/main" noGrp="1"/>
          </p:cNvSpPr>
          <p:nvPr/>
        </p:nvSpPr>
        <p:spPr>
          <a:xfrm xmlns:a="http://schemas.openxmlformats.org/drawingml/2006/main">
            <a:off x="6572250" y="228600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75" b="0">
                <a:solidFill>
                  <a:srgbClr val="172554"/>
                </a:solidFill>
                <a:latin typeface="Arial"/>
                <a:ea typeface="Arial"/>
                <a:cs typeface="Arial"/>
              </a:defRPr>
            </a:pPr>
            <a:r>
              <a:rPr sz="1575" b="0">
                <a:solidFill>
                  <a:srgbClr val="172554"/>
                </a:solidFill>
                <a:latin typeface="Arial"/>
                <a:ea typeface="Arial"/>
                <a:cs typeface="Arial"/>
              </a:rPr>
              <a:t>The smaller gain fits a costimulatory state marker that is less tightly determined by lineage alone.</a:t>
            </a:r>
          </a:p>
        </p:txBody>
      </p:sp>
      <p:sp>
        <p:nvSpPr>
          <p:cNvPr id="11" name="">
            <a:extLst xmlns:a="http://schemas.openxmlformats.org/drawingml/2006/main">
              <a:ext uri="{FF2B5EF4-FFF2-40B4-BE49-F238E27FC236}">
                <a16:creationId xmlns:a16="http://schemas.microsoft.com/office/drawing/2014/main" id="{CA324857-978E-426F-B7D7-F6EF0121759D}"/>
              </a:ext>
            </a:extLst>
          </p:cNvPr>
          <p:cNvSpPr>
            <a:spLocks xmlns:a="http://schemas.openxmlformats.org/drawingml/2006/main" noGrp="1"/>
          </p:cNvSpPr>
          <p:nvPr/>
        </p:nvSpPr>
        <p:spPr>
          <a:xfrm xmlns:a="http://schemas.openxmlformats.org/drawingml/2006/main">
            <a:off x="685800" y="4000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839"/>
          </a:bodyPr>
          <a:lstStyle xmlns:a="http://schemas.openxmlformats.org/drawingml/2006/main"/>
          <a:p xmlns:a="http://schemas.openxmlformats.org/drawingml/2006/main">
            <a:pPr algn="l">
              <a:lnSpc>
                <a:spcPct val="104000"/>
              </a:lnSpc>
              <a:buNone/>
              <a:defRPr sz="1575" b="1">
                <a:solidFill>
                  <a:srgbClr val="4F46E5"/>
                </a:solidFill>
                <a:latin typeface="Arial"/>
                <a:ea typeface="Arial"/>
                <a:cs typeface="Arial"/>
              </a:defRPr>
            </a:pPr>
            <a:r>
              <a:rPr sz="1575" b="1">
                <a:solidFill>
                  <a:srgbClr val="4F46E5"/>
                </a:solidFill>
                <a:latin typeface="Arial"/>
                <a:ea typeface="Arial"/>
                <a:cs typeface="Arial"/>
              </a:rPr>
              <a:t>What the result supports</a:t>
            </a:r>
          </a:p>
        </p:txBody>
      </p:sp>
      <p:sp>
        <p:nvSpPr>
          <p:cNvPr id="12" name="">
            <a:extLst xmlns:a="http://schemas.openxmlformats.org/drawingml/2006/main">
              <a:ext uri="{FF2B5EF4-FFF2-40B4-BE49-F238E27FC236}">
                <a16:creationId xmlns:a16="http://schemas.microsoft.com/office/drawing/2014/main" id="{21467CA5-D876-4B71-A84F-F23319AEB9ED}"/>
              </a:ext>
            </a:extLst>
          </p:cNvPr>
          <p:cNvSpPr>
            <a:spLocks xmlns:a="http://schemas.openxmlformats.org/drawingml/2006/main" noGrp="1"/>
          </p:cNvSpPr>
          <p:nvPr/>
        </p:nvSpPr>
        <p:spPr>
          <a:xfrm xmlns:a="http://schemas.openxmlformats.org/drawingml/2006/main">
            <a:off x="685800" y="43815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34"/>
          </a:bodyPr>
          <a:lstStyle xmlns:a="http://schemas.openxmlformats.org/drawingml/2006/main"/>
          <a:p xmlns:a="http://schemas.openxmlformats.org/drawingml/2006/main">
            <a:pPr algn="l">
              <a:lnSpc>
                <a:spcPct val="104000"/>
              </a:lnSpc>
              <a:buNone/>
              <a:defRPr sz="1875" b="1">
                <a:solidFill>
                  <a:srgbClr val="172554"/>
                </a:solidFill>
                <a:latin typeface="Arial"/>
                <a:ea typeface="Arial"/>
                <a:cs typeface="Arial"/>
              </a:defRPr>
            </a:pPr>
            <a:r>
              <a:rPr sz="1875" b="1">
                <a:solidFill>
                  <a:srgbClr val="172554"/>
                </a:solidFill>
                <a:latin typeface="Arial"/>
                <a:ea typeface="Arial"/>
                <a:cs typeface="Arial"/>
              </a:rPr>
              <a:t>Cross-modal context helps reconstruct missing immune surface measurements in an unseen mouse.</a:t>
            </a:r>
          </a:p>
        </p:txBody>
      </p:sp>
      <p:sp>
        <p:nvSpPr>
          <p:cNvPr id="13" name="">
            <a:extLst xmlns:a="http://schemas.openxmlformats.org/drawingml/2006/main">
              <a:ext uri="{FF2B5EF4-FFF2-40B4-BE49-F238E27FC236}">
                <a16:creationId xmlns:a16="http://schemas.microsoft.com/office/drawing/2014/main" id="{186EFDBE-A04F-43AD-8176-0B931B712D5C}"/>
              </a:ext>
            </a:extLst>
          </p:cNvPr>
          <p:cNvSpPr>
            <a:spLocks xmlns:a="http://schemas.openxmlformats.org/drawingml/2006/main" noGrp="1"/>
          </p:cNvSpPr>
          <p:nvPr/>
        </p:nvSpPr>
        <p:spPr>
          <a:xfrm xmlns:a="http://schemas.openxmlformats.org/drawingml/2006/main">
            <a:off x="6400800" y="4000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839"/>
          </a:bodyPr>
          <a:lstStyle xmlns:a="http://schemas.openxmlformats.org/drawingml/2006/main"/>
          <a:p xmlns:a="http://schemas.openxmlformats.org/drawingml/2006/main">
            <a:pPr algn="l">
              <a:lnSpc>
                <a:spcPct val="104000"/>
              </a:lnSpc>
              <a:buNone/>
              <a:defRPr sz="1575" b="1">
                <a:solidFill>
                  <a:srgbClr val="F97316"/>
                </a:solidFill>
                <a:latin typeface="Arial"/>
                <a:ea typeface="Arial"/>
                <a:cs typeface="Arial"/>
              </a:defRPr>
            </a:pPr>
            <a:r>
              <a:rPr sz="1575" b="1">
                <a:solidFill>
                  <a:srgbClr val="F97316"/>
                </a:solidFill>
                <a:latin typeface="Arial"/>
                <a:ea typeface="Arial"/>
                <a:cs typeface="Arial"/>
              </a:rPr>
              <a:t>What remains uncertain</a:t>
            </a:r>
          </a:p>
        </p:txBody>
      </p:sp>
      <p:sp>
        <p:nvSpPr>
          <p:cNvPr id="14" name="">
            <a:extLst xmlns:a="http://schemas.openxmlformats.org/drawingml/2006/main">
              <a:ext uri="{FF2B5EF4-FFF2-40B4-BE49-F238E27FC236}">
                <a16:creationId xmlns:a16="http://schemas.microsoft.com/office/drawing/2014/main" id="{2D25B50C-216B-439B-A0A4-0034497E2D7D}"/>
              </a:ext>
            </a:extLst>
          </p:cNvPr>
          <p:cNvSpPr>
            <a:spLocks xmlns:a="http://schemas.openxmlformats.org/drawingml/2006/main" noGrp="1"/>
          </p:cNvSpPr>
          <p:nvPr/>
        </p:nvSpPr>
        <p:spPr>
          <a:xfrm xmlns:a="http://schemas.openxmlformats.org/drawingml/2006/main">
            <a:off x="6400800" y="43815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82"/>
          </a:bodyPr>
          <a:lstStyle xmlns:a="http://schemas.openxmlformats.org/drawingml/2006/main"/>
          <a:p xmlns:a="http://schemas.openxmlformats.org/drawingml/2006/main">
            <a:pPr algn="l">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Two mice cannot establish population-level or clinical generalization. FusionVI includes a supervised readout, so the full gain cannot be assigned to the encoder alone.</a:t>
            </a:r>
          </a:p>
        </p:txBody>
      </p:sp>
    </p:spTree>
    <p:extLst>
      <p:ext uri="{BB962C8B-B14F-4D97-AF65-F5344CB8AC3E}">
        <p14:creationId xmlns:p14="http://schemas.microsoft.com/office/powerpoint/2010/main" val="1802120828"/>
      </p:ext>
    </p:extLst>
  </p:cSld>
</p:sld>
</file>

<file path=ppt/slides/slide8.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18A317-A739-4FAA-A0DF-A18CAE0C8E59}"/>
              </a:ext>
            </a:extLst>
          </p:cNvPr>
          <p:cNvSpPr>
            <a:spLocks xmlns:a="http://schemas.openxmlformats.org/drawingml/2006/main" noGrp="1"/>
          </p:cNvSpPr>
          <p:nvPr/>
        </p:nvSpPr>
        <p:spPr>
          <a:xfrm xmlns:a="http://schemas.openxmlformats.org/drawingml/2006/main">
            <a:off x="685800" y="419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923"/>
          </a:bodyPr>
          <a:lstStyle xmlns:a="http://schemas.openxmlformats.org/drawingml/2006/main"/>
          <a:p xmlns:a="http://schemas.openxmlformats.org/drawingml/2006/main">
            <a:pPr algn="l">
              <a:lnSpc>
                <a:spcPct val="104000"/>
              </a:lnSpc>
              <a:buNone/>
              <a:defRPr sz="1125" b="1">
                <a:solidFill>
                  <a:srgbClr val="E6FFFB"/>
                </a:solidFill>
                <a:latin typeface="Arial"/>
                <a:ea typeface="Arial"/>
                <a:cs typeface="Arial"/>
              </a:defRPr>
            </a:pPr>
            <a:r>
              <a:rPr sz="1125" b="1">
                <a:solidFill>
                  <a:srgbClr val="E6FFFB"/>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58E4EC47-301E-44BA-8044-F5F1BD5569CE}"/>
              </a:ext>
            </a:extLst>
          </p:cNvPr>
          <p:cNvSpPr>
            <a:spLocks xmlns:a="http://schemas.openxmlformats.org/drawingml/2006/main" noGrp="1"/>
          </p:cNvSpPr>
          <p:nvPr/>
        </p:nvSpPr>
        <p:spPr>
          <a:xfrm xmlns:a="http://schemas.openxmlformats.org/drawingml/2006/main">
            <a:off x="685800" y="876300"/>
            <a:ext cx="1019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61"/>
          </a:bodyPr>
          <a:lstStyle xmlns:a="http://schemas.openxmlformats.org/drawingml/2006/main"/>
          <a:p xmlns:a="http://schemas.openxmlformats.org/drawingml/2006/main">
            <a:pPr algn="l">
              <a:lnSpc>
                <a:spcPct val="104000"/>
              </a:lnSpc>
              <a:buNone/>
              <a:defRPr sz="3150" b="1">
                <a:solidFill>
                  <a:srgbClr val="FFFFFF"/>
                </a:solidFill>
                <a:latin typeface="Arial"/>
                <a:ea typeface="Arial"/>
                <a:cs typeface="Arial"/>
              </a:defRPr>
            </a:pPr>
            <a:r>
              <a:rPr sz="3150" b="1">
                <a:solidFill>
                  <a:srgbClr val="FFFFFF"/>
                </a:solidFill>
                <a:latin typeface="Arial"/>
                <a:ea typeface="Arial"/>
                <a:cs typeface="Arial"/>
              </a:rPr>
              <a:t>FusionVI recovers missing immune markers better than totalVI</a:t>
            </a:r>
          </a:p>
        </p:txBody>
      </p:sp>
      <p:sp>
        <p:nvSpPr>
          <p:cNvPr id="3" name="">
            <a:extLst xmlns:a="http://schemas.openxmlformats.org/drawingml/2006/main">
              <a:ext uri="{FF2B5EF4-FFF2-40B4-BE49-F238E27FC236}">
                <a16:creationId xmlns:a16="http://schemas.microsoft.com/office/drawing/2014/main" id="{E390F762-A6D0-462E-80AB-1B211B97DDA5}"/>
              </a:ext>
            </a:extLst>
          </p:cNvPr>
          <p:cNvSpPr>
            <a:spLocks xmlns:a="http://schemas.openxmlformats.org/drawingml/2006/main" noGrp="1"/>
          </p:cNvSpPr>
          <p:nvPr/>
        </p:nvSpPr>
        <p:spPr>
          <a:xfrm xmlns:a="http://schemas.openxmlformats.org/drawingml/2006/main">
            <a:off x="685800" y="1847850"/>
            <a:ext cx="9906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E6CD25-C2AB-4F3E-80E8-E1D94372738F}"/>
              </a:ext>
            </a:extLst>
          </p:cNvPr>
          <p:cNvSpPr>
            <a:spLocks xmlns:a="http://schemas.openxmlformats.org/drawingml/2006/main" noGrp="1"/>
          </p:cNvSpPr>
          <p:nvPr/>
        </p:nvSpPr>
        <p:spPr>
          <a:xfrm xmlns:a="http://schemas.openxmlformats.org/drawingml/2006/main">
            <a:off x="838200" y="2381250"/>
            <a:ext cx="219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150" b="1">
                <a:solidFill>
                  <a:srgbClr val="CBD5E1"/>
                </a:solidFill>
                <a:latin typeface="Arial"/>
                <a:ea typeface="Arial"/>
                <a:cs typeface="Arial"/>
              </a:defRPr>
            </a:pPr>
            <a:r>
              <a:rPr sz="3150" b="1">
                <a:solidFill>
                  <a:srgbClr val="CBD5E1"/>
                </a:solidFill>
                <a:latin typeface="Arial"/>
                <a:ea typeface="Arial"/>
                <a:cs typeface="Arial"/>
              </a:rPr>
              <a:t>0.578</a:t>
            </a:r>
          </a:p>
        </p:txBody>
      </p:sp>
      <p:sp>
        <p:nvSpPr>
          <p:cNvPr id="5" name="">
            <a:extLst xmlns:a="http://schemas.openxmlformats.org/drawingml/2006/main">
              <a:ext uri="{FF2B5EF4-FFF2-40B4-BE49-F238E27FC236}">
                <a16:creationId xmlns:a16="http://schemas.microsoft.com/office/drawing/2014/main" id="{159CD02C-BCB0-4C93-874F-02B2E9675E3D}"/>
              </a:ext>
            </a:extLst>
          </p:cNvPr>
          <p:cNvSpPr>
            <a:spLocks xmlns:a="http://schemas.openxmlformats.org/drawingml/2006/main" noGrp="1"/>
          </p:cNvSpPr>
          <p:nvPr/>
        </p:nvSpPr>
        <p:spPr>
          <a:xfrm xmlns:a="http://schemas.openxmlformats.org/drawingml/2006/main">
            <a:off x="838200" y="30480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27"/>
          </a:bodyPr>
          <a:lstStyle xmlns:a="http://schemas.openxmlformats.org/drawingml/2006/main"/>
          <a:p xmlns:a="http://schemas.openxmlformats.org/drawingml/2006/main">
            <a:pPr algn="ctr">
              <a:lnSpc>
                <a:spcPct val="104000"/>
              </a:lnSpc>
              <a:buNone/>
              <a:defRPr sz="1275" b="1">
                <a:solidFill>
                  <a:srgbClr val="CBD5E1"/>
                </a:solidFill>
                <a:latin typeface="Arial"/>
                <a:ea typeface="Arial"/>
                <a:cs typeface="Arial"/>
              </a:defRPr>
            </a:pPr>
            <a:r>
              <a:rPr sz="1275" b="1">
                <a:solidFill>
                  <a:srgbClr val="CBD5E1"/>
                </a:solidFill>
                <a:latin typeface="Arial"/>
                <a:ea typeface="Arial"/>
                <a:cs typeface="Arial"/>
              </a:rPr>
              <a:t>totalVI</a:t>
            </a:r>
          </a:p>
        </p:txBody>
      </p:sp>
      <p:sp>
        <p:nvSpPr>
          <p:cNvPr id="6" name="">
            <a:extLst xmlns:a="http://schemas.openxmlformats.org/drawingml/2006/main">
              <a:ext uri="{FF2B5EF4-FFF2-40B4-BE49-F238E27FC236}">
                <a16:creationId xmlns:a16="http://schemas.microsoft.com/office/drawing/2014/main" id="{9C118BF4-496F-4284-8705-870537CBA93C}"/>
              </a:ext>
            </a:extLst>
          </p:cNvPr>
          <p:cNvSpPr>
            <a:spLocks xmlns:a="http://schemas.openxmlformats.org/drawingml/2006/main" noGrp="1"/>
          </p:cNvSpPr>
          <p:nvPr/>
        </p:nvSpPr>
        <p:spPr>
          <a:xfrm xmlns:a="http://schemas.openxmlformats.org/drawingml/2006/main">
            <a:off x="3333750" y="2571750"/>
            <a:ext cx="95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22"/>
          </a:bodyPr>
          <a:lstStyle xmlns:a="http://schemas.openxmlformats.org/drawingml/2006/main"/>
          <a:p xmlns:a="http://schemas.openxmlformats.org/drawingml/2006/main">
            <a:pPr algn="ctr">
              <a:lnSpc>
                <a:spcPct val="104000"/>
              </a:lnSpc>
              <a:buNone/>
              <a:defRPr sz="2700" b="1">
                <a:solidFill>
                  <a:srgbClr val="F97316"/>
                </a:solidFill>
                <a:latin typeface="Arial"/>
                <a:ea typeface="Arial"/>
                <a:cs typeface="Arial"/>
              </a:defRPr>
            </a:pPr>
            <a:r>
              <a:rPr sz="2700" b="1">
                <a:solidFill>
                  <a:srgbClr val="F97316"/>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CD0536B3-3CFA-4B5D-BCA6-E530FD8B81AE}"/>
              </a:ext>
            </a:extLst>
          </p:cNvPr>
          <p:cNvSpPr>
            <a:spLocks xmlns:a="http://schemas.openxmlformats.org/drawingml/2006/main" noGrp="1"/>
          </p:cNvSpPr>
          <p:nvPr/>
        </p:nvSpPr>
        <p:spPr>
          <a:xfrm xmlns:a="http://schemas.openxmlformats.org/drawingml/2006/main">
            <a:off x="4572000" y="2381250"/>
            <a:ext cx="219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150" b="1">
                <a:solidFill>
                  <a:srgbClr val="F97316"/>
                </a:solidFill>
                <a:latin typeface="Arial"/>
                <a:ea typeface="Arial"/>
                <a:cs typeface="Arial"/>
              </a:defRPr>
            </a:pPr>
            <a:r>
              <a:rPr sz="3150" b="1">
                <a:solidFill>
                  <a:srgbClr val="F97316"/>
                </a:solidFill>
                <a:latin typeface="Arial"/>
                <a:ea typeface="Arial"/>
                <a:cs typeface="Arial"/>
              </a:rPr>
              <a:t>0.673</a:t>
            </a:r>
          </a:p>
        </p:txBody>
      </p:sp>
      <p:sp>
        <p:nvSpPr>
          <p:cNvPr id="8" name="">
            <a:extLst xmlns:a="http://schemas.openxmlformats.org/drawingml/2006/main">
              <a:ext uri="{FF2B5EF4-FFF2-40B4-BE49-F238E27FC236}">
                <a16:creationId xmlns:a16="http://schemas.microsoft.com/office/drawing/2014/main" id="{EE79B28F-5B3B-4513-BF62-DB7655FEB9F0}"/>
              </a:ext>
            </a:extLst>
          </p:cNvPr>
          <p:cNvSpPr>
            <a:spLocks xmlns:a="http://schemas.openxmlformats.org/drawingml/2006/main" noGrp="1"/>
          </p:cNvSpPr>
          <p:nvPr/>
        </p:nvSpPr>
        <p:spPr>
          <a:xfrm xmlns:a="http://schemas.openxmlformats.org/drawingml/2006/main">
            <a:off x="4572000" y="30480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27"/>
          </a:bodyPr>
          <a:lstStyle xmlns:a="http://schemas.openxmlformats.org/drawingml/2006/main"/>
          <a:p xmlns:a="http://schemas.openxmlformats.org/drawingml/2006/main">
            <a:pPr algn="ctr">
              <a:lnSpc>
                <a:spcPct val="104000"/>
              </a:lnSpc>
              <a:buNone/>
              <a:defRPr sz="1275" b="1">
                <a:solidFill>
                  <a:srgbClr val="FFF7ED"/>
                </a:solidFill>
                <a:latin typeface="Arial"/>
                <a:ea typeface="Arial"/>
                <a:cs typeface="Arial"/>
              </a:defRPr>
            </a:pPr>
            <a:r>
              <a:rPr sz="1275" b="1">
                <a:solidFill>
                  <a:srgbClr val="FFF7ED"/>
                </a:solidFill>
                <a:latin typeface="Arial"/>
                <a:ea typeface="Arial"/>
                <a:cs typeface="Arial"/>
              </a:rPr>
              <a:t>FusionVI</a:t>
            </a:r>
          </a:p>
        </p:txBody>
      </p:sp>
      <p:sp>
        <p:nvSpPr>
          <p:cNvPr id="9" name="">
            <a:extLst xmlns:a="http://schemas.openxmlformats.org/drawingml/2006/main">
              <a:ext uri="{FF2B5EF4-FFF2-40B4-BE49-F238E27FC236}">
                <a16:creationId xmlns:a16="http://schemas.microsoft.com/office/drawing/2014/main" id="{BF8347B3-98EF-4F7E-98A1-29948946285C}"/>
              </a:ext>
            </a:extLst>
          </p:cNvPr>
          <p:cNvSpPr>
            <a:spLocks xmlns:a="http://schemas.openxmlformats.org/drawingml/2006/main" noGrp="1"/>
          </p:cNvSpPr>
          <p:nvPr/>
        </p:nvSpPr>
        <p:spPr>
          <a:xfrm xmlns:a="http://schemas.openxmlformats.org/drawingml/2006/main">
            <a:off x="742950" y="39052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598"/>
          </a:bodyPr>
          <a:lstStyle xmlns:a="http://schemas.openxmlformats.org/drawingml/2006/main"/>
          <a:p xmlns:a="http://schemas.openxmlformats.org/drawingml/2006/main">
            <a:pPr algn="l">
              <a:lnSpc>
                <a:spcPct val="104000"/>
              </a:lnSpc>
              <a:buNone/>
              <a:defRPr sz="1425" b="1">
                <a:solidFill>
                  <a:srgbClr val="E6FFFB"/>
                </a:solidFill>
                <a:latin typeface="Arial"/>
                <a:ea typeface="Arial"/>
                <a:cs typeface="Arial"/>
              </a:defRPr>
            </a:pPr>
            <a:r>
              <a:rPr sz="1425" b="1">
                <a:solidFill>
                  <a:srgbClr val="E6FFFB"/>
                </a:solidFill>
                <a:latin typeface="Arial"/>
                <a:ea typeface="Arial"/>
                <a:cs typeface="Arial"/>
              </a:rPr>
              <a:t>The useful contribution</a:t>
            </a:r>
          </a:p>
        </p:txBody>
      </p:sp>
      <p:sp>
        <p:nvSpPr>
          <p:cNvPr id="10" name="">
            <a:extLst xmlns:a="http://schemas.openxmlformats.org/drawingml/2006/main">
              <a:ext uri="{FF2B5EF4-FFF2-40B4-BE49-F238E27FC236}">
                <a16:creationId xmlns:a16="http://schemas.microsoft.com/office/drawing/2014/main" id="{3CF002D5-FD86-4B58-AE10-27AD1250C4CD}"/>
              </a:ext>
            </a:extLst>
          </p:cNvPr>
          <p:cNvSpPr>
            <a:spLocks xmlns:a="http://schemas.openxmlformats.org/drawingml/2006/main" noGrp="1"/>
          </p:cNvSpPr>
          <p:nvPr/>
        </p:nvSpPr>
        <p:spPr>
          <a:xfrm xmlns:a="http://schemas.openxmlformats.org/drawingml/2006/main">
            <a:off x="742950" y="42862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35"/>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A dual-branch representation plus targeted cross-modal readout preserves cell identity when a surface marker is absent.</a:t>
            </a:r>
          </a:p>
        </p:txBody>
      </p:sp>
      <p:sp>
        <p:nvSpPr>
          <p:cNvPr id="11" name="">
            <a:extLst xmlns:a="http://schemas.openxmlformats.org/drawingml/2006/main">
              <a:ext uri="{FF2B5EF4-FFF2-40B4-BE49-F238E27FC236}">
                <a16:creationId xmlns:a16="http://schemas.microsoft.com/office/drawing/2014/main" id="{CFB2B1F0-8C5F-44D8-A165-FD5E237A5419}"/>
              </a:ext>
            </a:extLst>
          </p:cNvPr>
          <p:cNvSpPr>
            <a:spLocks xmlns:a="http://schemas.openxmlformats.org/drawingml/2006/main" noGrp="1"/>
          </p:cNvSpPr>
          <p:nvPr/>
        </p:nvSpPr>
        <p:spPr>
          <a:xfrm xmlns:a="http://schemas.openxmlformats.org/drawingml/2006/main">
            <a:off x="6572250" y="39052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598"/>
          </a:bodyPr>
          <a:lstStyle xmlns:a="http://schemas.openxmlformats.org/drawingml/2006/main"/>
          <a:p xmlns:a="http://schemas.openxmlformats.org/drawingml/2006/main">
            <a:pPr algn="l">
              <a:lnSpc>
                <a:spcPct val="104000"/>
              </a:lnSpc>
              <a:buNone/>
              <a:defRPr sz="1425" b="1">
                <a:solidFill>
                  <a:srgbClr val="F97316"/>
                </a:solidFill>
                <a:latin typeface="Arial"/>
                <a:ea typeface="Arial"/>
                <a:cs typeface="Arial"/>
              </a:defRPr>
            </a:pPr>
            <a:r>
              <a:rPr sz="1425" b="1">
                <a:solidFill>
                  <a:srgbClr val="F97316"/>
                </a:solidFill>
                <a:latin typeface="Arial"/>
                <a:ea typeface="Arial"/>
                <a:cs typeface="Arial"/>
              </a:rPr>
              <a:t>The boundary</a:t>
            </a:r>
          </a:p>
        </p:txBody>
      </p:sp>
      <p:sp>
        <p:nvSpPr>
          <p:cNvPr id="12" name="">
            <a:extLst xmlns:a="http://schemas.openxmlformats.org/drawingml/2006/main">
              <a:ext uri="{FF2B5EF4-FFF2-40B4-BE49-F238E27FC236}">
                <a16:creationId xmlns:a16="http://schemas.microsoft.com/office/drawing/2014/main" id="{BDD00BB4-6319-4A1C-AA7D-4A405B62DD87}"/>
              </a:ext>
            </a:extLst>
          </p:cNvPr>
          <p:cNvSpPr>
            <a:spLocks xmlns:a="http://schemas.openxmlformats.org/drawingml/2006/main" noGrp="1"/>
          </p:cNvSpPr>
          <p:nvPr/>
        </p:nvSpPr>
        <p:spPr>
          <a:xfrm xmlns:a="http://schemas.openxmlformats.org/drawingml/2006/main">
            <a:off x="6572250" y="4286250"/>
            <a:ext cx="4095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17"/>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The evidence supports technical transfer across two mice. Larger biological cohorts are the next test.</a:t>
            </a:r>
          </a:p>
        </p:txBody>
      </p:sp>
      <p:sp>
        <p:nvSpPr>
          <p:cNvPr id="13" name="">
            <a:extLst xmlns:a="http://schemas.openxmlformats.org/drawingml/2006/main">
              <a:ext uri="{FF2B5EF4-FFF2-40B4-BE49-F238E27FC236}">
                <a16:creationId xmlns:a16="http://schemas.microsoft.com/office/drawing/2014/main" id="{733F19AA-106C-4595-AB83-95BA64B7884C}"/>
              </a:ext>
            </a:extLst>
          </p:cNvPr>
          <p:cNvSpPr>
            <a:spLocks xmlns:a="http://schemas.openxmlformats.org/drawingml/2006/main" noGrp="1"/>
          </p:cNvSpPr>
          <p:nvPr/>
        </p:nvSpPr>
        <p:spPr>
          <a:xfrm xmlns:a="http://schemas.openxmlformats.org/drawingml/2006/main">
            <a:off x="8420100" y="60198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43"/>
          </a:bodyPr>
          <a:lstStyle xmlns:a="http://schemas.openxmlformats.org/drawingml/2006/main"/>
          <a:p xmlns:a="http://schemas.openxmlformats.org/drawingml/2006/main">
            <a:pPr algn="r">
              <a:lnSpc>
                <a:spcPct val="104000"/>
              </a:lnSpc>
              <a:buNone/>
              <a:defRPr sz="2100" b="1">
                <a:solidFill>
                  <a:srgbClr val="E6FFFB"/>
                </a:solidFill>
                <a:latin typeface="Arial"/>
                <a:ea typeface="Arial"/>
                <a:cs typeface="Arial"/>
              </a:defRPr>
            </a:pPr>
            <a:r>
              <a:rPr sz="2100" b="1">
                <a:solidFill>
                  <a:srgbClr val="E6FFFB"/>
                </a:solidFill>
                <a:latin typeface="Arial"/>
                <a:ea typeface="Arial"/>
                <a:cs typeface="Arial"/>
              </a:rPr>
              <a:t>Questions?</a:t>
            </a:r>
          </a:p>
        </p:txBody>
      </p:sp>
    </p:spTree>
    <p:extLst>
      <p:ext uri="{BB962C8B-B14F-4D97-AF65-F5344CB8AC3E}">
        <p14:creationId xmlns:p14="http://schemas.microsoft.com/office/powerpoint/2010/main" val="12310242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2026-10-02T14:41:45.9120000Z</dcterms:created>
  <dcterms:modified xsi:type="dcterms:W3CDTF">2026-10-02T14:41:45.9120000Z</dcterms:modified>
</coreProperties>
</file>